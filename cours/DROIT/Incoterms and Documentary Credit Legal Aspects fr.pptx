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9"/>
  </p:notesMasterIdLst>
  <p:handoutMasterIdLst>
    <p:handoutMasterId r:id="rId100"/>
  </p:handoutMasterIdLst>
  <p:sldIdLst>
    <p:sldId id="256" r:id="rId2"/>
    <p:sldId id="633" r:id="rId3"/>
    <p:sldId id="660" r:id="rId4"/>
    <p:sldId id="661" r:id="rId5"/>
    <p:sldId id="662" r:id="rId6"/>
    <p:sldId id="663" r:id="rId7"/>
    <p:sldId id="664" r:id="rId8"/>
    <p:sldId id="384" r:id="rId9"/>
    <p:sldId id="596" r:id="rId10"/>
    <p:sldId id="385" r:id="rId11"/>
    <p:sldId id="386" r:id="rId12"/>
    <p:sldId id="387" r:id="rId13"/>
    <p:sldId id="388" r:id="rId14"/>
    <p:sldId id="389" r:id="rId15"/>
    <p:sldId id="665" r:id="rId16"/>
    <p:sldId id="390" r:id="rId17"/>
    <p:sldId id="391" r:id="rId18"/>
    <p:sldId id="392" r:id="rId19"/>
    <p:sldId id="393" r:id="rId20"/>
    <p:sldId id="591" r:id="rId21"/>
    <p:sldId id="592" r:id="rId22"/>
    <p:sldId id="634" r:id="rId23"/>
    <p:sldId id="593" r:id="rId24"/>
    <p:sldId id="635" r:id="rId25"/>
    <p:sldId id="597" r:id="rId26"/>
    <p:sldId id="636" r:id="rId27"/>
    <p:sldId id="598" r:id="rId28"/>
    <p:sldId id="637" r:id="rId29"/>
    <p:sldId id="599" r:id="rId30"/>
    <p:sldId id="638" r:id="rId31"/>
    <p:sldId id="600" r:id="rId32"/>
    <p:sldId id="639" r:id="rId33"/>
    <p:sldId id="394" r:id="rId34"/>
    <p:sldId id="640" r:id="rId35"/>
    <p:sldId id="395" r:id="rId36"/>
    <p:sldId id="641" r:id="rId37"/>
    <p:sldId id="642" r:id="rId38"/>
    <p:sldId id="396" r:id="rId39"/>
    <p:sldId id="643" r:id="rId40"/>
    <p:sldId id="397" r:id="rId41"/>
    <p:sldId id="644" r:id="rId42"/>
    <p:sldId id="594" r:id="rId43"/>
    <p:sldId id="645" r:id="rId44"/>
    <p:sldId id="668" r:id="rId45"/>
    <p:sldId id="669" r:id="rId46"/>
    <p:sldId id="601" r:id="rId47"/>
    <p:sldId id="398" r:id="rId48"/>
    <p:sldId id="602" r:id="rId49"/>
    <p:sldId id="399" r:id="rId50"/>
    <p:sldId id="400" r:id="rId51"/>
    <p:sldId id="401" r:id="rId52"/>
    <p:sldId id="402" r:id="rId53"/>
    <p:sldId id="403" r:id="rId54"/>
    <p:sldId id="404" r:id="rId55"/>
    <p:sldId id="405" r:id="rId56"/>
    <p:sldId id="406" r:id="rId57"/>
    <p:sldId id="407" r:id="rId58"/>
    <p:sldId id="408" r:id="rId59"/>
    <p:sldId id="409" r:id="rId60"/>
    <p:sldId id="410" r:id="rId61"/>
    <p:sldId id="411" r:id="rId62"/>
    <p:sldId id="412" r:id="rId63"/>
    <p:sldId id="666" r:id="rId64"/>
    <p:sldId id="413" r:id="rId65"/>
    <p:sldId id="414" r:id="rId66"/>
    <p:sldId id="415" r:id="rId67"/>
    <p:sldId id="416" r:id="rId68"/>
    <p:sldId id="417" r:id="rId69"/>
    <p:sldId id="418" r:id="rId70"/>
    <p:sldId id="646" r:id="rId71"/>
    <p:sldId id="647" r:id="rId72"/>
    <p:sldId id="648" r:id="rId73"/>
    <p:sldId id="649" r:id="rId74"/>
    <p:sldId id="650" r:id="rId75"/>
    <p:sldId id="652" r:id="rId76"/>
    <p:sldId id="651" r:id="rId77"/>
    <p:sldId id="653" r:id="rId78"/>
    <p:sldId id="654" r:id="rId79"/>
    <p:sldId id="655" r:id="rId80"/>
    <p:sldId id="656" r:id="rId81"/>
    <p:sldId id="419" r:id="rId82"/>
    <p:sldId id="631" r:id="rId83"/>
    <p:sldId id="420" r:id="rId84"/>
    <p:sldId id="421" r:id="rId85"/>
    <p:sldId id="422" r:id="rId86"/>
    <p:sldId id="603" r:id="rId87"/>
    <p:sldId id="604" r:id="rId88"/>
    <p:sldId id="605" r:id="rId89"/>
    <p:sldId id="606" r:id="rId90"/>
    <p:sldId id="607" r:id="rId91"/>
    <p:sldId id="608" r:id="rId92"/>
    <p:sldId id="609" r:id="rId93"/>
    <p:sldId id="657" r:id="rId94"/>
    <p:sldId id="658" r:id="rId95"/>
    <p:sldId id="659" r:id="rId96"/>
    <p:sldId id="667" r:id="rId97"/>
    <p:sldId id="611" r:id="rId98"/>
  </p:sldIdLst>
  <p:sldSz cx="9144000" cy="6858000" type="screen4x3"/>
  <p:notesSz cx="6735763" cy="98663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854" autoAdjust="0"/>
    <p:restoredTop sz="94660"/>
  </p:normalViewPr>
  <p:slideViewPr>
    <p:cSldViewPr snapToGrid="0">
      <p:cViewPr varScale="1">
        <p:scale>
          <a:sx n="89" d="100"/>
          <a:sy n="89" d="100"/>
        </p:scale>
        <p:origin x="960" y="48"/>
      </p:cViewPr>
      <p:guideLst/>
    </p:cSldViewPr>
  </p:slideViewPr>
  <p:notesTextViewPr>
    <p:cViewPr>
      <p:scale>
        <a:sx n="3" d="2"/>
        <a:sy n="3" d="2"/>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notesMaster" Target="notesMasters/notesMaster1.xml"/><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56D7FC5C-C4CE-4717-8448-D4F750A726DE}"/>
              </a:ext>
            </a:extLst>
          </p:cNvPr>
          <p:cNvSpPr>
            <a:spLocks noGrp="1"/>
          </p:cNvSpPr>
          <p:nvPr>
            <p:ph type="hdr" sz="quarter"/>
          </p:nvPr>
        </p:nvSpPr>
        <p:spPr>
          <a:xfrm>
            <a:off x="0" y="0"/>
            <a:ext cx="2918831" cy="495029"/>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084FEB56-40ED-4A34-9BED-C11B6E5FEE79}"/>
              </a:ext>
            </a:extLst>
          </p:cNvPr>
          <p:cNvSpPr>
            <a:spLocks noGrp="1"/>
          </p:cNvSpPr>
          <p:nvPr>
            <p:ph type="dt" sz="quarter" idx="1"/>
          </p:nvPr>
        </p:nvSpPr>
        <p:spPr>
          <a:xfrm>
            <a:off x="3815373" y="0"/>
            <a:ext cx="2918831" cy="495029"/>
          </a:xfrm>
          <a:prstGeom prst="rect">
            <a:avLst/>
          </a:prstGeom>
        </p:spPr>
        <p:txBody>
          <a:bodyPr vert="horz" lIns="91440" tIns="45720" rIns="91440" bIns="45720" rtlCol="0"/>
          <a:lstStyle>
            <a:lvl1pPr algn="r">
              <a:defRPr sz="1200"/>
            </a:lvl1pPr>
          </a:lstStyle>
          <a:p>
            <a:fld id="{AAEAF9F6-9BFE-4452-9E55-961F31B1A444}" type="datetimeFigureOut">
              <a:rPr lang="fr-FR" smtClean="0"/>
              <a:t>25/08/2025</a:t>
            </a:fld>
            <a:endParaRPr lang="fr-FR"/>
          </a:p>
        </p:txBody>
      </p:sp>
      <p:sp>
        <p:nvSpPr>
          <p:cNvPr id="4" name="Espace réservé du pied de page 3">
            <a:extLst>
              <a:ext uri="{FF2B5EF4-FFF2-40B4-BE49-F238E27FC236}">
                <a16:creationId xmlns:a16="http://schemas.microsoft.com/office/drawing/2014/main" id="{6B9FC3E4-25D8-45DA-A5D6-2E68BE4EDDCE}"/>
              </a:ext>
            </a:extLst>
          </p:cNvPr>
          <p:cNvSpPr>
            <a:spLocks noGrp="1"/>
          </p:cNvSpPr>
          <p:nvPr>
            <p:ph type="ftr" sz="quarter" idx="2"/>
          </p:nvPr>
        </p:nvSpPr>
        <p:spPr>
          <a:xfrm>
            <a:off x="0" y="9371286"/>
            <a:ext cx="2918831" cy="495028"/>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E8EFAC36-85C0-4361-A59B-6A2DF53C2621}"/>
              </a:ext>
            </a:extLst>
          </p:cNvPr>
          <p:cNvSpPr>
            <a:spLocks noGrp="1"/>
          </p:cNvSpPr>
          <p:nvPr>
            <p:ph type="sldNum" sz="quarter" idx="3"/>
          </p:nvPr>
        </p:nvSpPr>
        <p:spPr>
          <a:xfrm>
            <a:off x="3815373" y="9371286"/>
            <a:ext cx="2918831" cy="495028"/>
          </a:xfrm>
          <a:prstGeom prst="rect">
            <a:avLst/>
          </a:prstGeom>
        </p:spPr>
        <p:txBody>
          <a:bodyPr vert="horz" lIns="91440" tIns="45720" rIns="91440" bIns="45720" rtlCol="0" anchor="b"/>
          <a:lstStyle>
            <a:lvl1pPr algn="r">
              <a:defRPr sz="1200"/>
            </a:lvl1pPr>
          </a:lstStyle>
          <a:p>
            <a:fld id="{94E03806-E76C-4041-935B-F5F02A076C9C}" type="slidenum">
              <a:rPr lang="fr-FR" smtClean="0"/>
              <a:t>‹N°›</a:t>
            </a:fld>
            <a:endParaRPr lang="fr-FR"/>
          </a:p>
        </p:txBody>
      </p:sp>
    </p:spTree>
    <p:extLst>
      <p:ext uri="{BB962C8B-B14F-4D97-AF65-F5344CB8AC3E}">
        <p14:creationId xmlns:p14="http://schemas.microsoft.com/office/powerpoint/2010/main" val="367782264"/>
      </p:ext>
    </p:extLst>
  </p:cSld>
  <p:clrMap bg1="lt1" tx1="dk1" bg2="lt2" tx2="dk2" accent1="accent1" accent2="accent2" accent3="accent3" accent4="accent4" accent5="accent5" accent6="accent6" hlink="hlink" folHlink="folHlink"/>
  <p:hf hdr="0" dt="0"/>
</p:handoutMaster>
</file>

<file path=ppt/ink/ink1.xml><?xml version="1.0" encoding="utf-8"?>
<inkml:ink xmlns:inkml="http://www.w3.org/2003/InkML">
  <inkml:definitions>
    <inkml:context xml:id="ctx0">
      <inkml:inkSource xml:id="inkSrc0">
        <inkml:traceFormat>
          <inkml:channel name="X" type="integer" max="32767" units="cm"/>
          <inkml:channel name="Y" type="integer" max="18432" units="cm"/>
          <inkml:channel name="F" type="integer" max="4095" units="cm"/>
          <inkml:channel name="T" type="integer" max="2.14748E9" units="dev"/>
        </inkml:traceFormat>
        <inkml:channelProperties>
          <inkml:channelProperty channel="X" name="resolution" value="377.1958" units="1/cm"/>
          <inkml:channelProperty channel="Y" name="resolution" value="369.89764" units="1/cm"/>
          <inkml:channelProperty channel="F" name="resolution" value="82.17941" units="1/cm"/>
          <inkml:channelProperty channel="T" name="resolution" value="1" units="1/dev"/>
        </inkml:channelProperties>
      </inkml:inkSource>
      <inkml:timestamp xml:id="ts0" timeString="2023-04-27T06:11:18.848"/>
    </inkml:context>
    <inkml:brush xml:id="br0">
      <inkml:brushProperty name="width" value="0.05292" units="cm"/>
      <inkml:brushProperty name="height" value="0.05292" units="cm"/>
      <inkml:brushProperty name="color" value="#FF0000"/>
    </inkml:brush>
  </inkml:definitions>
  <inkml:trace contextRef="#ctx0" brushRef="#br0">18836 10756 201 0,'0'0'0'0</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72.91293" units="1/cm"/>
          <inkml:channelProperty channel="Y" name="resolution" value="307.38275" units="1/cm"/>
          <inkml:channelProperty channel="F" name="resolution" value="22.75" units="1/deg"/>
          <inkml:channelProperty channel="T" name="resolution" value="1" units="1/dev"/>
        </inkml:channelProperties>
      </inkml:inkSource>
      <inkml:timestamp xml:id="ts0" timeString="2023-04-27T09:01:59.353"/>
    </inkml:context>
    <inkml:brush xml:id="br0">
      <inkml:brushProperty name="width" value="0.05292" units="cm"/>
      <inkml:brushProperty name="height" value="0.05292" units="cm"/>
      <inkml:brushProperty name="color" value="#FF0000"/>
    </inkml:brush>
  </inkml:definitions>
  <inkml:trace contextRef="#ctx0" brushRef="#br0">5463 8597 2048 0,'0'-3'0'0,"-3"18"0"15,1-9 0-15,2 0 0 0,-3 0 0 16</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72.91293" units="1/cm"/>
          <inkml:channelProperty channel="Y" name="resolution" value="307.38275" units="1/cm"/>
          <inkml:channelProperty channel="F" name="resolution" value="22.75" units="1/deg"/>
          <inkml:channelProperty channel="T" name="resolution" value="1" units="1/dev"/>
        </inkml:channelProperties>
      </inkml:inkSource>
      <inkml:timestamp xml:id="ts0" timeString="2023-04-27T09:21:00.050"/>
    </inkml:context>
    <inkml:brush xml:id="br0">
      <inkml:brushProperty name="width" value="0.05292" units="cm"/>
      <inkml:brushProperty name="height" value="0.05292" units="cm"/>
      <inkml:brushProperty name="color" value="#FF0000"/>
    </inkml:brush>
  </inkml:definitions>
  <inkml:trace contextRef="#ctx0" brushRef="#br0">18099 8431 2048 0,'0'0'0'0</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18432" units="cm"/>
          <inkml:channel name="F" type="integer" max="4095" units="cm"/>
          <inkml:channel name="T" type="integer" max="2.14748E9" units="dev"/>
        </inkml:traceFormat>
        <inkml:channelProperties>
          <inkml:channelProperty channel="X" name="resolution" value="377.1958" units="1/cm"/>
          <inkml:channelProperty channel="Y" name="resolution" value="369.89764" units="1/cm"/>
          <inkml:channelProperty channel="F" name="resolution" value="82.17941" units="1/cm"/>
          <inkml:channelProperty channel="T" name="resolution" value="1" units="1/dev"/>
        </inkml:channelProperties>
      </inkml:inkSource>
      <inkml:timestamp xml:id="ts0" timeString="2023-04-27T07:29:16.749"/>
    </inkml:context>
    <inkml:brush xml:id="br0">
      <inkml:brushProperty name="width" value="0.05292" units="cm"/>
      <inkml:brushProperty name="height" value="0.05292" units="cm"/>
      <inkml:brushProperty name="color" value="#FF0000"/>
    </inkml:brush>
  </inkml:definitions>
  <inkml:trace contextRef="#ctx0" brushRef="#br0">10662 12783 201 0,'0'0'0'0,"0"0"0"0,0 0 0 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18831" cy="495029"/>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15373" y="0"/>
            <a:ext cx="2918831" cy="495029"/>
          </a:xfrm>
          <a:prstGeom prst="rect">
            <a:avLst/>
          </a:prstGeom>
        </p:spPr>
        <p:txBody>
          <a:bodyPr vert="horz" lIns="91440" tIns="45720" rIns="91440" bIns="45720" rtlCol="0"/>
          <a:lstStyle>
            <a:lvl1pPr algn="r">
              <a:defRPr sz="1200"/>
            </a:lvl1pPr>
          </a:lstStyle>
          <a:p>
            <a:fld id="{C2198644-FE29-47BE-AE4B-6E8E18F48F42}" type="datetimeFigureOut">
              <a:rPr lang="fr-FR" smtClean="0"/>
              <a:t>25/08/2025</a:t>
            </a:fld>
            <a:endParaRPr lang="fr-FR"/>
          </a:p>
        </p:txBody>
      </p:sp>
      <p:sp>
        <p:nvSpPr>
          <p:cNvPr id="4" name="Espace réservé de l'image des diapositives 3"/>
          <p:cNvSpPr>
            <a:spLocks noGrp="1" noRot="1" noChangeAspect="1"/>
          </p:cNvSpPr>
          <p:nvPr>
            <p:ph type="sldImg" idx="2"/>
          </p:nvPr>
        </p:nvSpPr>
        <p:spPr>
          <a:xfrm>
            <a:off x="1149350" y="1233488"/>
            <a:ext cx="4437063" cy="3328987"/>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73577" y="4748163"/>
            <a:ext cx="5388610" cy="3884861"/>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371286"/>
            <a:ext cx="2918831" cy="495028"/>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15373" y="9371286"/>
            <a:ext cx="2918831" cy="495028"/>
          </a:xfrm>
          <a:prstGeom prst="rect">
            <a:avLst/>
          </a:prstGeom>
        </p:spPr>
        <p:txBody>
          <a:bodyPr vert="horz" lIns="91440" tIns="45720" rIns="91440" bIns="45720" rtlCol="0" anchor="b"/>
          <a:lstStyle>
            <a:lvl1pPr algn="r">
              <a:defRPr sz="1200"/>
            </a:lvl1pPr>
          </a:lstStyle>
          <a:p>
            <a:fld id="{BFA1AB9F-E17F-4BD4-A2A9-97807F8FD19E}" type="slidenum">
              <a:rPr lang="fr-FR" smtClean="0"/>
              <a:t>‹N°›</a:t>
            </a:fld>
            <a:endParaRPr lang="fr-FR"/>
          </a:p>
        </p:txBody>
      </p:sp>
    </p:spTree>
    <p:extLst>
      <p:ext uri="{BB962C8B-B14F-4D97-AF65-F5344CB8AC3E}">
        <p14:creationId xmlns:p14="http://schemas.microsoft.com/office/powerpoint/2010/main" val="2448228909"/>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177B9564-80A9-41BC-A0DD-95B1BF545AC1}" type="datetime1">
              <a:rPr lang="fr-FR" smtClean="0"/>
              <a:t>25/08/2025</a:t>
            </a:fld>
            <a:endParaRPr lang="fr-FR"/>
          </a:p>
        </p:txBody>
      </p:sp>
      <p:sp>
        <p:nvSpPr>
          <p:cNvPr id="5" name="Footer Placeholder 4"/>
          <p:cNvSpPr>
            <a:spLocks noGrp="1"/>
          </p:cNvSpPr>
          <p:nvPr>
            <p:ph type="ftr" sz="quarter" idx="11"/>
          </p:nvPr>
        </p:nvSpPr>
        <p:spPr/>
        <p:txBody>
          <a:bodyPr/>
          <a:lstStyle/>
          <a:p>
            <a:r>
              <a:rPr lang="fr-FR"/>
              <a:t>International sales – 2023</a:t>
            </a:r>
          </a:p>
        </p:txBody>
      </p:sp>
      <p:sp>
        <p:nvSpPr>
          <p:cNvPr id="6" name="Slide Number Placeholder 5"/>
          <p:cNvSpPr>
            <a:spLocks noGrp="1"/>
          </p:cNvSpPr>
          <p:nvPr>
            <p:ph type="sldNum" sz="quarter" idx="12"/>
          </p:nvPr>
        </p:nvSpPr>
        <p:spPr/>
        <p:txBody>
          <a:bodyPr/>
          <a:lstStyle/>
          <a:p>
            <a:fld id="{4435D016-8A5B-451C-9985-B5E5C241B00B}" type="slidenum">
              <a:rPr lang="fr-FR" smtClean="0"/>
              <a:t>‹N°›</a:t>
            </a:fld>
            <a:endParaRPr lang="fr-FR"/>
          </a:p>
        </p:txBody>
      </p:sp>
    </p:spTree>
    <p:extLst>
      <p:ext uri="{BB962C8B-B14F-4D97-AF65-F5344CB8AC3E}">
        <p14:creationId xmlns:p14="http://schemas.microsoft.com/office/powerpoint/2010/main" val="2625622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lgn="ctr">
              <a:defRPr>
                <a:latin typeface="Corbel" panose="020B0503020204020204" pitchFamily="34" charset="0"/>
              </a:defRPr>
            </a:lvl1pPr>
          </a:lstStyle>
          <a:p>
            <a:r>
              <a:rPr lang="fr-FR" dirty="0"/>
              <a:t>MODIFIEZ LE STYLE DU TITRE</a:t>
            </a:r>
            <a:endParaRPr lang="en-US" dirty="0"/>
          </a:p>
        </p:txBody>
      </p:sp>
      <p:sp>
        <p:nvSpPr>
          <p:cNvPr id="3" name="Content Placeholder 2"/>
          <p:cNvSpPr>
            <a:spLocks noGrp="1"/>
          </p:cNvSpPr>
          <p:nvPr>
            <p:ph idx="1"/>
          </p:nvPr>
        </p:nvSpPr>
        <p:spPr/>
        <p:txBody>
          <a:bodyPr anchor="ctr">
            <a:normAutofit/>
          </a:bodyPr>
          <a:lstStyle>
            <a:lvl1pPr algn="just">
              <a:spcBef>
                <a:spcPts val="2000"/>
              </a:spcBef>
              <a:defRPr sz="2800">
                <a:solidFill>
                  <a:srgbClr val="002060"/>
                </a:solidFill>
                <a:latin typeface="Corbel" panose="020B0503020204020204" pitchFamily="34" charset="0"/>
              </a:defRPr>
            </a:lvl1pPr>
            <a:lvl2pPr algn="just">
              <a:defRPr sz="2000">
                <a:solidFill>
                  <a:srgbClr val="002060"/>
                </a:solidFill>
                <a:latin typeface="Corbel" panose="020B0503020204020204" pitchFamily="34" charset="0"/>
              </a:defRPr>
            </a:lvl2pPr>
            <a:lvl3pPr algn="just">
              <a:defRPr sz="2000">
                <a:solidFill>
                  <a:srgbClr val="002060"/>
                </a:solidFill>
                <a:latin typeface="Corbel" panose="020B0503020204020204" pitchFamily="34" charset="0"/>
              </a:defRPr>
            </a:lvl3pPr>
            <a:lvl4pPr algn="just">
              <a:defRPr sz="2000">
                <a:solidFill>
                  <a:srgbClr val="002060"/>
                </a:solidFill>
                <a:latin typeface="Corbel" panose="020B0503020204020204" pitchFamily="34" charset="0"/>
              </a:defRPr>
            </a:lvl4pPr>
            <a:lvl5pPr algn="just">
              <a:defRPr sz="2000">
                <a:solidFill>
                  <a:srgbClr val="002060"/>
                </a:solidFill>
                <a:latin typeface="Corbel" panose="020B0503020204020204" pitchFamily="34" charset="0"/>
              </a:defRPr>
            </a:lvl5pPr>
          </a:lstStyle>
          <a:p>
            <a:pPr lvl="0"/>
            <a:r>
              <a:rPr lang="en-GB" noProof="0" dirty="0" err="1"/>
              <a:t>Cliquez</a:t>
            </a:r>
            <a:r>
              <a:rPr lang="en-GB" noProof="0" dirty="0"/>
              <a:t> pour modifier les styles du </a:t>
            </a:r>
            <a:r>
              <a:rPr lang="en-GB" noProof="0" dirty="0" err="1"/>
              <a:t>texte</a:t>
            </a:r>
            <a:r>
              <a:rPr lang="en-GB" noProof="0" dirty="0"/>
              <a:t> du masque</a:t>
            </a:r>
          </a:p>
          <a:p>
            <a:pPr lvl="1"/>
            <a:r>
              <a:rPr lang="en-GB" noProof="0" dirty="0" err="1"/>
              <a:t>Deuxième</a:t>
            </a:r>
            <a:r>
              <a:rPr lang="en-GB" noProof="0" dirty="0"/>
              <a:t> </a:t>
            </a:r>
            <a:r>
              <a:rPr lang="en-GB" noProof="0" dirty="0" err="1"/>
              <a:t>niveau</a:t>
            </a:r>
            <a:endParaRPr lang="en-GB" noProof="0" dirty="0"/>
          </a:p>
          <a:p>
            <a:pPr lvl="2"/>
            <a:r>
              <a:rPr lang="en-GB" noProof="0" dirty="0" err="1"/>
              <a:t>Troisième</a:t>
            </a:r>
            <a:r>
              <a:rPr lang="en-GB" noProof="0" dirty="0"/>
              <a:t> </a:t>
            </a:r>
            <a:r>
              <a:rPr lang="en-GB" noProof="0" dirty="0" err="1"/>
              <a:t>niveau</a:t>
            </a:r>
            <a:endParaRPr lang="en-GB" noProof="0" dirty="0"/>
          </a:p>
          <a:p>
            <a:pPr lvl="3"/>
            <a:r>
              <a:rPr lang="en-GB" noProof="0" dirty="0" err="1"/>
              <a:t>Quatrième</a:t>
            </a:r>
            <a:r>
              <a:rPr lang="en-GB" noProof="0" dirty="0"/>
              <a:t> </a:t>
            </a:r>
            <a:r>
              <a:rPr lang="en-GB" noProof="0" dirty="0" err="1"/>
              <a:t>niveau</a:t>
            </a:r>
            <a:endParaRPr lang="en-GB" noProof="0" dirty="0"/>
          </a:p>
          <a:p>
            <a:pPr lvl="4"/>
            <a:r>
              <a:rPr lang="en-GB" noProof="0" dirty="0" err="1"/>
              <a:t>Cinquième</a:t>
            </a:r>
            <a:r>
              <a:rPr lang="en-GB" noProof="0" dirty="0"/>
              <a:t> </a:t>
            </a:r>
            <a:r>
              <a:rPr lang="en-GB" noProof="0" dirty="0" err="1"/>
              <a:t>niveau</a:t>
            </a:r>
            <a:endParaRPr lang="en-GB" noProof="0" dirty="0"/>
          </a:p>
        </p:txBody>
      </p:sp>
      <p:sp>
        <p:nvSpPr>
          <p:cNvPr id="4" name="Date Placeholder 3"/>
          <p:cNvSpPr>
            <a:spLocks noGrp="1"/>
          </p:cNvSpPr>
          <p:nvPr>
            <p:ph type="dt" sz="half" idx="10"/>
          </p:nvPr>
        </p:nvSpPr>
        <p:spPr/>
        <p:txBody>
          <a:bodyPr/>
          <a:lstStyle/>
          <a:p>
            <a:fld id="{38BCBA13-A055-4B60-B675-39EA00F65652}" type="datetime1">
              <a:rPr lang="fr-FR" smtClean="0"/>
              <a:t>25/08/2025</a:t>
            </a:fld>
            <a:endParaRPr lang="fr-FR"/>
          </a:p>
        </p:txBody>
      </p:sp>
      <p:sp>
        <p:nvSpPr>
          <p:cNvPr id="5" name="Footer Placeholder 4"/>
          <p:cNvSpPr>
            <a:spLocks noGrp="1"/>
          </p:cNvSpPr>
          <p:nvPr>
            <p:ph type="ftr" sz="quarter" idx="11"/>
          </p:nvPr>
        </p:nvSpPr>
        <p:spPr/>
        <p:txBody>
          <a:bodyPr/>
          <a:lstStyle/>
          <a:p>
            <a:r>
              <a:rPr lang="fr-FR"/>
              <a:t>International sales – 2023</a:t>
            </a:r>
          </a:p>
        </p:txBody>
      </p:sp>
      <p:sp>
        <p:nvSpPr>
          <p:cNvPr id="6" name="Slide Number Placeholder 5"/>
          <p:cNvSpPr>
            <a:spLocks noGrp="1"/>
          </p:cNvSpPr>
          <p:nvPr>
            <p:ph type="sldNum" sz="quarter" idx="12"/>
          </p:nvPr>
        </p:nvSpPr>
        <p:spPr/>
        <p:txBody>
          <a:bodyPr/>
          <a:lstStyle/>
          <a:p>
            <a:fld id="{4435D016-8A5B-451C-9985-B5E5C241B00B}" type="slidenum">
              <a:rPr lang="fr-FR" smtClean="0"/>
              <a:t>‹N°›</a:t>
            </a:fld>
            <a:endParaRPr lang="fr-FR"/>
          </a:p>
        </p:txBody>
      </p:sp>
    </p:spTree>
    <p:extLst>
      <p:ext uri="{BB962C8B-B14F-4D97-AF65-F5344CB8AC3E}">
        <p14:creationId xmlns:p14="http://schemas.microsoft.com/office/powerpoint/2010/main" val="638621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2FFF5380-8CFE-44EF-9F0A-F4AB91E00EC8}" type="datetime1">
              <a:rPr lang="fr-FR" smtClean="0"/>
              <a:t>25/08/2025</a:t>
            </a:fld>
            <a:endParaRPr lang="fr-FR"/>
          </a:p>
        </p:txBody>
      </p:sp>
      <p:sp>
        <p:nvSpPr>
          <p:cNvPr id="5" name="Footer Placeholder 4"/>
          <p:cNvSpPr>
            <a:spLocks noGrp="1"/>
          </p:cNvSpPr>
          <p:nvPr>
            <p:ph type="ftr" sz="quarter" idx="11"/>
          </p:nvPr>
        </p:nvSpPr>
        <p:spPr/>
        <p:txBody>
          <a:bodyPr/>
          <a:lstStyle/>
          <a:p>
            <a:r>
              <a:rPr lang="fr-FR"/>
              <a:t>International sales – 2023</a:t>
            </a:r>
          </a:p>
        </p:txBody>
      </p:sp>
      <p:sp>
        <p:nvSpPr>
          <p:cNvPr id="6" name="Slide Number Placeholder 5"/>
          <p:cNvSpPr>
            <a:spLocks noGrp="1"/>
          </p:cNvSpPr>
          <p:nvPr>
            <p:ph type="sldNum" sz="quarter" idx="12"/>
          </p:nvPr>
        </p:nvSpPr>
        <p:spPr/>
        <p:txBody>
          <a:bodyPr/>
          <a:lstStyle/>
          <a:p>
            <a:fld id="{4435D016-8A5B-451C-9985-B5E5C241B00B}" type="slidenum">
              <a:rPr lang="fr-FR" smtClean="0"/>
              <a:t>‹N°›</a:t>
            </a:fld>
            <a:endParaRPr lang="fr-FR"/>
          </a:p>
        </p:txBody>
      </p:sp>
    </p:spTree>
    <p:extLst>
      <p:ext uri="{BB962C8B-B14F-4D97-AF65-F5344CB8AC3E}">
        <p14:creationId xmlns:p14="http://schemas.microsoft.com/office/powerpoint/2010/main" val="2893672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DDC89DB5-D9E9-475D-BCA5-F5B96762CB80}" type="datetime1">
              <a:rPr lang="fr-FR" smtClean="0"/>
              <a:t>25/08/2025</a:t>
            </a:fld>
            <a:endParaRPr lang="fr-FR"/>
          </a:p>
        </p:txBody>
      </p:sp>
      <p:sp>
        <p:nvSpPr>
          <p:cNvPr id="6" name="Footer Placeholder 5"/>
          <p:cNvSpPr>
            <a:spLocks noGrp="1"/>
          </p:cNvSpPr>
          <p:nvPr>
            <p:ph type="ftr" sz="quarter" idx="11"/>
          </p:nvPr>
        </p:nvSpPr>
        <p:spPr/>
        <p:txBody>
          <a:bodyPr/>
          <a:lstStyle/>
          <a:p>
            <a:r>
              <a:rPr lang="fr-FR"/>
              <a:t>International sales – 2023</a:t>
            </a:r>
          </a:p>
        </p:txBody>
      </p:sp>
      <p:sp>
        <p:nvSpPr>
          <p:cNvPr id="7" name="Slide Number Placeholder 6"/>
          <p:cNvSpPr>
            <a:spLocks noGrp="1"/>
          </p:cNvSpPr>
          <p:nvPr>
            <p:ph type="sldNum" sz="quarter" idx="12"/>
          </p:nvPr>
        </p:nvSpPr>
        <p:spPr/>
        <p:txBody>
          <a:bodyPr/>
          <a:lstStyle/>
          <a:p>
            <a:fld id="{4435D016-8A5B-451C-9985-B5E5C241B00B}" type="slidenum">
              <a:rPr lang="fr-FR" smtClean="0"/>
              <a:t>‹N°›</a:t>
            </a:fld>
            <a:endParaRPr lang="fr-FR"/>
          </a:p>
        </p:txBody>
      </p:sp>
    </p:spTree>
    <p:extLst>
      <p:ext uri="{BB962C8B-B14F-4D97-AF65-F5344CB8AC3E}">
        <p14:creationId xmlns:p14="http://schemas.microsoft.com/office/powerpoint/2010/main" val="1466659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29842" y="2505075"/>
            <a:ext cx="3868340"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4629150" y="2505075"/>
            <a:ext cx="3887391"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2AE0192D-6B02-4B10-986A-60FD53DA8D0E}" type="datetime1">
              <a:rPr lang="fr-FR" smtClean="0"/>
              <a:t>25/08/2025</a:t>
            </a:fld>
            <a:endParaRPr lang="fr-FR"/>
          </a:p>
        </p:txBody>
      </p:sp>
      <p:sp>
        <p:nvSpPr>
          <p:cNvPr id="8" name="Footer Placeholder 7"/>
          <p:cNvSpPr>
            <a:spLocks noGrp="1"/>
          </p:cNvSpPr>
          <p:nvPr>
            <p:ph type="ftr" sz="quarter" idx="11"/>
          </p:nvPr>
        </p:nvSpPr>
        <p:spPr/>
        <p:txBody>
          <a:bodyPr/>
          <a:lstStyle/>
          <a:p>
            <a:r>
              <a:rPr lang="fr-FR"/>
              <a:t>International sales – 2023</a:t>
            </a:r>
          </a:p>
        </p:txBody>
      </p:sp>
      <p:sp>
        <p:nvSpPr>
          <p:cNvPr id="9" name="Slide Number Placeholder 8"/>
          <p:cNvSpPr>
            <a:spLocks noGrp="1"/>
          </p:cNvSpPr>
          <p:nvPr>
            <p:ph type="sldNum" sz="quarter" idx="12"/>
          </p:nvPr>
        </p:nvSpPr>
        <p:spPr/>
        <p:txBody>
          <a:bodyPr/>
          <a:lstStyle/>
          <a:p>
            <a:fld id="{4435D016-8A5B-451C-9985-B5E5C241B00B}" type="slidenum">
              <a:rPr lang="fr-FR" smtClean="0"/>
              <a:t>‹N°›</a:t>
            </a:fld>
            <a:endParaRPr lang="fr-FR"/>
          </a:p>
        </p:txBody>
      </p:sp>
    </p:spTree>
    <p:extLst>
      <p:ext uri="{BB962C8B-B14F-4D97-AF65-F5344CB8AC3E}">
        <p14:creationId xmlns:p14="http://schemas.microsoft.com/office/powerpoint/2010/main" val="636309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C29239D3-028C-4EDE-9166-D9B6E25EB9D9}" type="datetime1">
              <a:rPr lang="fr-FR" smtClean="0"/>
              <a:t>25/08/2025</a:t>
            </a:fld>
            <a:endParaRPr lang="fr-FR"/>
          </a:p>
        </p:txBody>
      </p:sp>
      <p:sp>
        <p:nvSpPr>
          <p:cNvPr id="4" name="Footer Placeholder 3"/>
          <p:cNvSpPr>
            <a:spLocks noGrp="1"/>
          </p:cNvSpPr>
          <p:nvPr>
            <p:ph type="ftr" sz="quarter" idx="11"/>
          </p:nvPr>
        </p:nvSpPr>
        <p:spPr/>
        <p:txBody>
          <a:bodyPr/>
          <a:lstStyle/>
          <a:p>
            <a:r>
              <a:rPr lang="fr-FR"/>
              <a:t>International sales – 2023</a:t>
            </a:r>
          </a:p>
        </p:txBody>
      </p:sp>
      <p:sp>
        <p:nvSpPr>
          <p:cNvPr id="5" name="Slide Number Placeholder 4"/>
          <p:cNvSpPr>
            <a:spLocks noGrp="1"/>
          </p:cNvSpPr>
          <p:nvPr>
            <p:ph type="sldNum" sz="quarter" idx="12"/>
          </p:nvPr>
        </p:nvSpPr>
        <p:spPr/>
        <p:txBody>
          <a:bodyPr/>
          <a:lstStyle/>
          <a:p>
            <a:fld id="{4435D016-8A5B-451C-9985-B5E5C241B00B}" type="slidenum">
              <a:rPr lang="fr-FR" smtClean="0"/>
              <a:t>‹N°›</a:t>
            </a:fld>
            <a:endParaRPr lang="fr-FR"/>
          </a:p>
        </p:txBody>
      </p:sp>
    </p:spTree>
    <p:extLst>
      <p:ext uri="{BB962C8B-B14F-4D97-AF65-F5344CB8AC3E}">
        <p14:creationId xmlns:p14="http://schemas.microsoft.com/office/powerpoint/2010/main" val="2017778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E31227-687D-49E9-A8AA-99F33D34E42A}" type="datetime1">
              <a:rPr lang="fr-FR" smtClean="0"/>
              <a:t>25/08/2025</a:t>
            </a:fld>
            <a:endParaRPr lang="fr-FR"/>
          </a:p>
        </p:txBody>
      </p:sp>
      <p:sp>
        <p:nvSpPr>
          <p:cNvPr id="3" name="Footer Placeholder 2"/>
          <p:cNvSpPr>
            <a:spLocks noGrp="1"/>
          </p:cNvSpPr>
          <p:nvPr>
            <p:ph type="ftr" sz="quarter" idx="11"/>
          </p:nvPr>
        </p:nvSpPr>
        <p:spPr/>
        <p:txBody>
          <a:bodyPr/>
          <a:lstStyle/>
          <a:p>
            <a:r>
              <a:rPr lang="fr-FR"/>
              <a:t>International sales – 2023</a:t>
            </a:r>
          </a:p>
        </p:txBody>
      </p:sp>
      <p:sp>
        <p:nvSpPr>
          <p:cNvPr id="4" name="Slide Number Placeholder 3"/>
          <p:cNvSpPr>
            <a:spLocks noGrp="1"/>
          </p:cNvSpPr>
          <p:nvPr>
            <p:ph type="sldNum" sz="quarter" idx="12"/>
          </p:nvPr>
        </p:nvSpPr>
        <p:spPr/>
        <p:txBody>
          <a:bodyPr/>
          <a:lstStyle/>
          <a:p>
            <a:fld id="{4435D016-8A5B-451C-9985-B5E5C241B00B}" type="slidenum">
              <a:rPr lang="fr-FR" smtClean="0"/>
              <a:t>‹N°›</a:t>
            </a:fld>
            <a:endParaRPr lang="fr-FR"/>
          </a:p>
        </p:txBody>
      </p:sp>
    </p:spTree>
    <p:extLst>
      <p:ext uri="{BB962C8B-B14F-4D97-AF65-F5344CB8AC3E}">
        <p14:creationId xmlns:p14="http://schemas.microsoft.com/office/powerpoint/2010/main" val="39844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256C896A-70D4-470F-AF32-484656C3F908}" type="datetime1">
              <a:rPr lang="fr-FR" smtClean="0"/>
              <a:t>25/08/2025</a:t>
            </a:fld>
            <a:endParaRPr lang="fr-FR"/>
          </a:p>
        </p:txBody>
      </p:sp>
      <p:sp>
        <p:nvSpPr>
          <p:cNvPr id="6" name="Footer Placeholder 5"/>
          <p:cNvSpPr>
            <a:spLocks noGrp="1"/>
          </p:cNvSpPr>
          <p:nvPr>
            <p:ph type="ftr" sz="quarter" idx="11"/>
          </p:nvPr>
        </p:nvSpPr>
        <p:spPr/>
        <p:txBody>
          <a:bodyPr/>
          <a:lstStyle/>
          <a:p>
            <a:r>
              <a:rPr lang="fr-FR"/>
              <a:t>International sales – 2023</a:t>
            </a:r>
          </a:p>
        </p:txBody>
      </p:sp>
      <p:sp>
        <p:nvSpPr>
          <p:cNvPr id="7" name="Slide Number Placeholder 6"/>
          <p:cNvSpPr>
            <a:spLocks noGrp="1"/>
          </p:cNvSpPr>
          <p:nvPr>
            <p:ph type="sldNum" sz="quarter" idx="12"/>
          </p:nvPr>
        </p:nvSpPr>
        <p:spPr/>
        <p:txBody>
          <a:bodyPr/>
          <a:lstStyle/>
          <a:p>
            <a:fld id="{4435D016-8A5B-451C-9985-B5E5C241B00B}" type="slidenum">
              <a:rPr lang="fr-FR" smtClean="0"/>
              <a:t>‹N°›</a:t>
            </a:fld>
            <a:endParaRPr lang="fr-FR"/>
          </a:p>
        </p:txBody>
      </p:sp>
    </p:spTree>
    <p:extLst>
      <p:ext uri="{BB962C8B-B14F-4D97-AF65-F5344CB8AC3E}">
        <p14:creationId xmlns:p14="http://schemas.microsoft.com/office/powerpoint/2010/main" val="2882729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59BDCFDD-8128-4AC0-9C25-3FA102CD54B7}" type="datetime1">
              <a:rPr lang="fr-FR" smtClean="0"/>
              <a:t>25/08/2025</a:t>
            </a:fld>
            <a:endParaRPr lang="fr-FR"/>
          </a:p>
        </p:txBody>
      </p:sp>
      <p:sp>
        <p:nvSpPr>
          <p:cNvPr id="6" name="Footer Placeholder 5"/>
          <p:cNvSpPr>
            <a:spLocks noGrp="1"/>
          </p:cNvSpPr>
          <p:nvPr>
            <p:ph type="ftr" sz="quarter" idx="11"/>
          </p:nvPr>
        </p:nvSpPr>
        <p:spPr/>
        <p:txBody>
          <a:bodyPr/>
          <a:lstStyle/>
          <a:p>
            <a:r>
              <a:rPr lang="fr-FR"/>
              <a:t>International sales – 2023</a:t>
            </a:r>
          </a:p>
        </p:txBody>
      </p:sp>
      <p:sp>
        <p:nvSpPr>
          <p:cNvPr id="7" name="Slide Number Placeholder 6"/>
          <p:cNvSpPr>
            <a:spLocks noGrp="1"/>
          </p:cNvSpPr>
          <p:nvPr>
            <p:ph type="sldNum" sz="quarter" idx="12"/>
          </p:nvPr>
        </p:nvSpPr>
        <p:spPr/>
        <p:txBody>
          <a:bodyPr/>
          <a:lstStyle/>
          <a:p>
            <a:fld id="{4435D016-8A5B-451C-9985-B5E5C241B00B}" type="slidenum">
              <a:rPr lang="fr-FR" smtClean="0"/>
              <a:t>‹N°›</a:t>
            </a:fld>
            <a:endParaRPr lang="fr-FR"/>
          </a:p>
        </p:txBody>
      </p:sp>
    </p:spTree>
    <p:extLst>
      <p:ext uri="{BB962C8B-B14F-4D97-AF65-F5344CB8AC3E}">
        <p14:creationId xmlns:p14="http://schemas.microsoft.com/office/powerpoint/2010/main" val="645377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2E83A0FA-D861-4881-8077-88198ABA9CD3}" type="datetime1">
              <a:rPr lang="fr-FR" smtClean="0"/>
              <a:t>25/08/2025</a:t>
            </a:fld>
            <a:endParaRPr lang="fr-FR"/>
          </a:p>
        </p:txBody>
      </p:sp>
      <p:sp>
        <p:nvSpPr>
          <p:cNvPr id="5" name="Footer Placeholder 4"/>
          <p:cNvSpPr>
            <a:spLocks noGrp="1"/>
          </p:cNvSpPr>
          <p:nvPr>
            <p:ph type="ftr" sz="quarter" idx="11"/>
          </p:nvPr>
        </p:nvSpPr>
        <p:spPr/>
        <p:txBody>
          <a:bodyPr/>
          <a:lstStyle/>
          <a:p>
            <a:r>
              <a:rPr lang="fr-FR"/>
              <a:t>International sales – 2023</a:t>
            </a:r>
          </a:p>
        </p:txBody>
      </p:sp>
      <p:sp>
        <p:nvSpPr>
          <p:cNvPr id="6" name="Slide Number Placeholder 5"/>
          <p:cNvSpPr>
            <a:spLocks noGrp="1"/>
          </p:cNvSpPr>
          <p:nvPr>
            <p:ph type="sldNum" sz="quarter" idx="12"/>
          </p:nvPr>
        </p:nvSpPr>
        <p:spPr/>
        <p:txBody>
          <a:bodyPr/>
          <a:lstStyle/>
          <a:p>
            <a:fld id="{4435D016-8A5B-451C-9985-B5E5C241B00B}" type="slidenum">
              <a:rPr lang="fr-FR" smtClean="0"/>
              <a:t>‹N°›</a:t>
            </a:fld>
            <a:endParaRPr lang="fr-FR"/>
          </a:p>
        </p:txBody>
      </p:sp>
    </p:spTree>
    <p:extLst>
      <p:ext uri="{BB962C8B-B14F-4D97-AF65-F5344CB8AC3E}">
        <p14:creationId xmlns:p14="http://schemas.microsoft.com/office/powerpoint/2010/main" val="1865507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391F498-B775-49AA-B05E-99D381868A71}" type="datetime1">
              <a:rPr lang="fr-FR" smtClean="0"/>
              <a:t>25/08/2025</a:t>
            </a:fld>
            <a:endParaRPr lang="fr-FR"/>
          </a:p>
        </p:txBody>
      </p:sp>
      <p:sp>
        <p:nvSpPr>
          <p:cNvPr id="5" name="Footer Placeholder 4"/>
          <p:cNvSpPr>
            <a:spLocks noGrp="1"/>
          </p:cNvSpPr>
          <p:nvPr>
            <p:ph type="ftr" sz="quarter" idx="11"/>
          </p:nvPr>
        </p:nvSpPr>
        <p:spPr/>
        <p:txBody>
          <a:bodyPr/>
          <a:lstStyle/>
          <a:p>
            <a:r>
              <a:rPr lang="fr-FR"/>
              <a:t>International sales – 2023</a:t>
            </a:r>
          </a:p>
        </p:txBody>
      </p:sp>
      <p:sp>
        <p:nvSpPr>
          <p:cNvPr id="6" name="Slide Number Placeholder 5"/>
          <p:cNvSpPr>
            <a:spLocks noGrp="1"/>
          </p:cNvSpPr>
          <p:nvPr>
            <p:ph type="sldNum" sz="quarter" idx="12"/>
          </p:nvPr>
        </p:nvSpPr>
        <p:spPr/>
        <p:txBody>
          <a:bodyPr/>
          <a:lstStyle/>
          <a:p>
            <a:fld id="{4435D016-8A5B-451C-9985-B5E5C241B00B}" type="slidenum">
              <a:rPr lang="fr-FR" smtClean="0"/>
              <a:t>‹N°›</a:t>
            </a:fld>
            <a:endParaRPr lang="fr-FR"/>
          </a:p>
        </p:txBody>
      </p:sp>
    </p:spTree>
    <p:extLst>
      <p:ext uri="{BB962C8B-B14F-4D97-AF65-F5344CB8AC3E}">
        <p14:creationId xmlns:p14="http://schemas.microsoft.com/office/powerpoint/2010/main" val="3043066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chor="ctr">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0D313D-4432-4B6B-9443-F6AFF6E62A26}" type="datetime1">
              <a:rPr lang="fr-FR" smtClean="0"/>
              <a:t>25/08/2025</a:t>
            </a:fld>
            <a:endParaRPr lang="fr-F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r-FR"/>
              <a:t>Ventes internationales – 2023</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35D016-8A5B-451C-9985-B5E5C241B00B}" type="slidenum">
              <a:rPr lang="fr-FR" smtClean="0"/>
              <a:t>‹N°›</a:t>
            </a:fld>
            <a:endParaRPr lang="fr-FR"/>
          </a:p>
        </p:txBody>
      </p:sp>
    </p:spTree>
    <p:extLst>
      <p:ext uri="{BB962C8B-B14F-4D97-AF65-F5344CB8AC3E}">
        <p14:creationId xmlns:p14="http://schemas.microsoft.com/office/powerpoint/2010/main" val="37892529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algn="ctr" defTabSz="914400" rtl="0" eaLnBrk="1" latinLnBrk="0" hangingPunct="1">
        <a:lnSpc>
          <a:spcPct val="90000"/>
        </a:lnSpc>
        <a:spcBef>
          <a:spcPct val="0"/>
        </a:spcBef>
        <a:buNone/>
        <a:defRPr sz="4400" kern="1200">
          <a:solidFill>
            <a:schemeClr val="tx1"/>
          </a:solidFill>
          <a:latin typeface="Corbel" panose="020B0503020204020204" pitchFamily="34" charset="0"/>
          <a:ea typeface="+mj-ea"/>
          <a:cs typeface="+mj-cs"/>
        </a:defRPr>
      </a:lvl1pPr>
    </p:titleStyle>
    <p:bodyStyle>
      <a:lvl1pPr marL="228600" indent="-228600" algn="just" defTabSz="914400" rtl="0" eaLnBrk="1" latinLnBrk="0" hangingPunct="1">
        <a:lnSpc>
          <a:spcPct val="90000"/>
        </a:lnSpc>
        <a:spcBef>
          <a:spcPts val="2000"/>
        </a:spcBef>
        <a:buFont typeface="Arial" panose="020B0604020202020204" pitchFamily="34" charset="0"/>
        <a:buChar char="•"/>
        <a:defRPr sz="2800" kern="1200">
          <a:solidFill>
            <a:srgbClr val="002060"/>
          </a:solidFill>
          <a:latin typeface="Corbel" panose="020B0503020204020204" pitchFamily="34" charset="0"/>
          <a:ea typeface="+mn-ea"/>
          <a:cs typeface="+mn-cs"/>
        </a:defRPr>
      </a:lvl1pPr>
      <a:lvl2pPr marL="685800" indent="-228600" algn="just" defTabSz="914400" rtl="0" eaLnBrk="1" latinLnBrk="0" hangingPunct="1">
        <a:lnSpc>
          <a:spcPct val="90000"/>
        </a:lnSpc>
        <a:spcBef>
          <a:spcPts val="2000"/>
        </a:spcBef>
        <a:buFont typeface="Arial" panose="020B0604020202020204" pitchFamily="34" charset="0"/>
        <a:buChar char="•"/>
        <a:defRPr sz="2000" kern="1200">
          <a:solidFill>
            <a:srgbClr val="002060"/>
          </a:solidFill>
          <a:latin typeface="Corbel" panose="020B0503020204020204" pitchFamily="34" charset="0"/>
          <a:ea typeface="+mn-ea"/>
          <a:cs typeface="+mn-cs"/>
        </a:defRPr>
      </a:lvl2pPr>
      <a:lvl3pPr marL="1143000" indent="-228600" algn="just" defTabSz="914400" rtl="0" eaLnBrk="1" latinLnBrk="0" hangingPunct="1">
        <a:lnSpc>
          <a:spcPct val="90000"/>
        </a:lnSpc>
        <a:spcBef>
          <a:spcPts val="2000"/>
        </a:spcBef>
        <a:buFont typeface="Arial" panose="020B0604020202020204" pitchFamily="34" charset="0"/>
        <a:buChar char="•"/>
        <a:defRPr sz="2000" kern="1200">
          <a:solidFill>
            <a:srgbClr val="002060"/>
          </a:solidFill>
          <a:latin typeface="Corbel" panose="020B0503020204020204" pitchFamily="34" charset="0"/>
          <a:ea typeface="+mn-ea"/>
          <a:cs typeface="+mn-cs"/>
        </a:defRPr>
      </a:lvl3pPr>
      <a:lvl4pPr marL="1600200" indent="-228600" algn="just" defTabSz="914400" rtl="0" eaLnBrk="1" latinLnBrk="0" hangingPunct="1">
        <a:lnSpc>
          <a:spcPct val="90000"/>
        </a:lnSpc>
        <a:spcBef>
          <a:spcPts val="2000"/>
        </a:spcBef>
        <a:buFont typeface="Arial" panose="020B0604020202020204" pitchFamily="34" charset="0"/>
        <a:buChar char="•"/>
        <a:defRPr sz="2000" kern="1200">
          <a:solidFill>
            <a:srgbClr val="002060"/>
          </a:solidFill>
          <a:latin typeface="Corbel" panose="020B0503020204020204" pitchFamily="34" charset="0"/>
          <a:ea typeface="+mn-ea"/>
          <a:cs typeface="+mn-cs"/>
        </a:defRPr>
      </a:lvl4pPr>
      <a:lvl5pPr marL="2057400" indent="-228600" algn="just" defTabSz="914400" rtl="0" eaLnBrk="1" latinLnBrk="0" hangingPunct="1">
        <a:lnSpc>
          <a:spcPct val="90000"/>
        </a:lnSpc>
        <a:spcBef>
          <a:spcPts val="2000"/>
        </a:spcBef>
        <a:buFont typeface="Arial" panose="020B0604020202020204" pitchFamily="34" charset="0"/>
        <a:buChar char="•"/>
        <a:defRPr sz="2000" kern="1200">
          <a:solidFill>
            <a:srgbClr val="002060"/>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customXml" Target="../ink/ink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6.jp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8.jp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9.jpg"/><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0.jpg"/><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1.jpg"/><Relationship Id="rId4" Type="http://schemas.openxmlformats.org/officeDocument/2006/relationships/image" Target="../media/image5.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2.jpg"/><Relationship Id="rId4" Type="http://schemas.openxmlformats.org/officeDocument/2006/relationships/image" Target="../media/image5.png"/></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3.jpg"/><Relationship Id="rId4" Type="http://schemas.openxmlformats.org/officeDocument/2006/relationships/image" Target="../media/image5.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4.jpg"/><Relationship Id="rId4" Type="http://schemas.openxmlformats.org/officeDocument/2006/relationships/image" Target="../media/image5.png"/></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5.jpg"/><Relationship Id="rId4" Type="http://schemas.openxmlformats.org/officeDocument/2006/relationships/image" Target="../media/image5.png"/></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customXml" Target="../ink/ink3.xml"/><Relationship Id="rId5" Type="http://schemas.openxmlformats.org/officeDocument/2006/relationships/image" Target="../media/image16.jpg"/><Relationship Id="rId4" Type="http://schemas.openxmlformats.org/officeDocument/2006/relationships/image" Target="../media/image5.png"/></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5.png"/></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5.png"/></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customXml" Target="../ink/ink4.xml"/><Relationship Id="rId4" Type="http://schemas.openxmlformats.org/officeDocument/2006/relationships/image" Target="../media/image5.png"/></Relationships>
</file>

<file path=ppt/slides/_rels/slide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21.jpg"/><Relationship Id="rId5" Type="http://schemas.openxmlformats.org/officeDocument/2006/relationships/image" Target="../media/image20.jpg"/><Relationship Id="rId4" Type="http://schemas.openxmlformats.org/officeDocument/2006/relationships/image" Target="../media/image5.png"/></Relationships>
</file>

<file path=ppt/slides/_rels/slide6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23.jpg"/><Relationship Id="rId5" Type="http://schemas.openxmlformats.org/officeDocument/2006/relationships/image" Target="../media/image22.png"/><Relationship Id="rId4" Type="http://schemas.openxmlformats.org/officeDocument/2006/relationships/image" Target="../media/image5.png"/></Relationships>
</file>

<file path=ppt/slides/_rels/slide6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8.jpg"/><Relationship Id="rId4" Type="http://schemas.openxmlformats.org/officeDocument/2006/relationships/image" Target="../media/image5.png"/></Relationships>
</file>

<file path=ppt/slides/_rels/slide7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8.jpg"/><Relationship Id="rId4" Type="http://schemas.openxmlformats.org/officeDocument/2006/relationships/image" Target="../media/image5.png"/></Relationships>
</file>

<file path=ppt/slides/_rels/slide7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3.jpg"/><Relationship Id="rId4" Type="http://schemas.openxmlformats.org/officeDocument/2006/relationships/image" Target="../media/image5.png"/></Relationships>
</file>

<file path=ppt/slides/_rels/slide8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3.jpg"/><Relationship Id="rId4" Type="http://schemas.openxmlformats.org/officeDocument/2006/relationships/image" Target="../media/image5.png"/></Relationships>
</file>

<file path=ppt/slides/_rels/slide8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5.png"/></Relationships>
</file>

<file path=ppt/slides/_rels/slide9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hyperlink" Target="https://iccwbo.org/resources-for-business/incoterms-rules/incoterms-2020/" TargetMode="Externa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9" name="Image 8" descr="Une image contenant dessin&#10;&#10;Description générée automatiquement">
            <a:extLst>
              <a:ext uri="{FF2B5EF4-FFF2-40B4-BE49-F238E27FC236}">
                <a16:creationId xmlns:a16="http://schemas.microsoft.com/office/drawing/2014/main" id="{BF956A54-4746-496F-955F-9B7C27352D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768" y="224445"/>
            <a:ext cx="2732933" cy="1196971"/>
          </a:xfrm>
          <a:prstGeom prst="rect">
            <a:avLst/>
          </a:prstGeom>
        </p:spPr>
      </p:pic>
      <p:sp>
        <p:nvSpPr>
          <p:cNvPr id="10" name="Rectangle 4">
            <a:extLst>
              <a:ext uri="{FF2B5EF4-FFF2-40B4-BE49-F238E27FC236}">
                <a16:creationId xmlns:a16="http://schemas.microsoft.com/office/drawing/2014/main" id="{53C387A4-1840-4096-A5BA-FE1AB07C996E}"/>
              </a:ext>
            </a:extLst>
          </p:cNvPr>
          <p:cNvSpPr txBox="1">
            <a:spLocks noChangeArrowheads="1"/>
          </p:cNvSpPr>
          <p:nvPr/>
        </p:nvSpPr>
        <p:spPr>
          <a:xfrm>
            <a:off x="153618" y="1903953"/>
            <a:ext cx="6405444" cy="1800026"/>
          </a:xfrm>
          <a:prstGeom prst="rect">
            <a:avLst/>
          </a:prstGeom>
          <a:ln>
            <a:noFill/>
          </a:ln>
        </p:spPr>
        <p:txBody>
          <a:bodyPr vert="horz" lIns="0" tIns="36000" rIns="18000" bIns="3600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fr-FR" sz="2000" dirty="0">
                <a:solidFill>
                  <a:schemeClr val="bg1"/>
                </a:solidFill>
                <a:latin typeface="Verdana" pitchFamily="34" charset="0"/>
              </a:rPr>
              <a:t>Ventes internationales et transport international de </a:t>
            </a:r>
            <a:r>
              <a:rPr lang="fr-FR" sz="2000" dirty="0" err="1">
                <a:solidFill>
                  <a:schemeClr val="bg1"/>
                </a:solidFill>
                <a:latin typeface="Verdana" pitchFamily="34" charset="0"/>
              </a:rPr>
              <a:t>marchandises</a:t>
            </a:r>
            <a:endParaRPr lang="fr-FR" sz="2000" dirty="0">
              <a:solidFill>
                <a:schemeClr val="bg1"/>
              </a:solidFill>
              <a:latin typeface="Verdana" pitchFamily="34"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fr-FR" sz="2000" dirty="0">
                <a:solidFill>
                  <a:schemeClr val="bg1"/>
                </a:solidFill>
                <a:latin typeface="Verdana" pitchFamily="34" charset="0"/>
              </a:rPr>
              <a:t> INCOTERMS et documents</a:t>
            </a:r>
            <a:r>
              <a:rPr lang="fr-FR" sz="2000" dirty="0" err="1">
                <a:solidFill>
                  <a:schemeClr val="bg1"/>
                </a:solidFill>
                <a:latin typeface="Verdana" pitchFamily="34" charset="0"/>
              </a:rPr>
              <a:t> </a:t>
            </a:r>
            <a:br>
              <a:rPr lang="fr-FR" sz="2000" dirty="0">
                <a:solidFill>
                  <a:schemeClr val="bg1"/>
                </a:solidFill>
                <a:latin typeface="Verdana" pitchFamily="34" charset="0"/>
              </a:rPr>
            </a:br>
            <a:r>
              <a:rPr lang="fr-FR" sz="2000" dirty="0" err="1">
                <a:solidFill>
                  <a:schemeClr val="bg1"/>
                </a:solidFill>
                <a:latin typeface="Verdana" pitchFamily="34" charset="0"/>
              </a:rPr>
              <a:t>Crédit</a:t>
            </a:r>
            <a:br>
              <a:rPr lang="fr-FR" sz="2000" dirty="0">
                <a:solidFill>
                  <a:schemeClr val="bg1"/>
                </a:solidFill>
                <a:latin typeface="Verdana" pitchFamily="34" charset="0"/>
              </a:rPr>
            </a:br>
            <a:endParaRPr kumimoji="0" lang="en-US" sz="1600" b="0" i="0" u="none" strike="noStrike" kern="1200" cap="none" spc="0" normalizeH="0" baseline="0" noProof="0" dirty="0">
              <a:ln>
                <a:noFill/>
              </a:ln>
              <a:solidFill>
                <a:prstClr val="white"/>
              </a:solidFill>
              <a:effectLst/>
              <a:uLnTx/>
              <a:uFillTx/>
              <a:latin typeface="Verdana" pitchFamily="34" charset="0"/>
              <a:ea typeface="+mn-ea"/>
              <a:cs typeface="+mn-cs"/>
            </a:endParaRPr>
          </a:p>
          <a:p>
            <a:pPr algn="r"/>
            <a:endParaRPr lang="fr-FR" sz="1600" dirty="0">
              <a:solidFill>
                <a:schemeClr val="bg1"/>
              </a:solidFill>
              <a:latin typeface="Verdana" pitchFamily="34" charset="0"/>
            </a:endParaRPr>
          </a:p>
          <a:p>
            <a:pPr algn="r"/>
            <a:br>
              <a:rPr lang="en-US" sz="2000" dirty="0">
                <a:latin typeface="Verdana" pitchFamily="34" charset="0"/>
              </a:rPr>
            </a:br>
            <a:br>
              <a:rPr lang="en-US" sz="2000" dirty="0">
                <a:latin typeface="Verdana" pitchFamily="34" charset="0"/>
              </a:rPr>
            </a:br>
            <a:r>
              <a:rPr lang="fr-FR" sz="2000" dirty="0">
                <a:solidFill>
                  <a:schemeClr val="bg1"/>
                </a:solidFill>
                <a:latin typeface="Verdana" pitchFamily="34" charset="0"/>
              </a:rPr>
              <a:t> </a:t>
            </a:r>
            <a:br>
              <a:rPr lang="fr-FR" sz="1100" dirty="0">
                <a:latin typeface="Verdana" pitchFamily="34" charset="0"/>
              </a:rPr>
            </a:br>
            <a:endParaRPr lang="en-GB" sz="1100" dirty="0">
              <a:latin typeface="Verdana" pitchFamily="34" charset="0"/>
            </a:endParaRPr>
          </a:p>
        </p:txBody>
      </p:sp>
      <p:sp>
        <p:nvSpPr>
          <p:cNvPr id="11" name="Rectangle 5">
            <a:extLst>
              <a:ext uri="{FF2B5EF4-FFF2-40B4-BE49-F238E27FC236}">
                <a16:creationId xmlns:a16="http://schemas.microsoft.com/office/drawing/2014/main" id="{76F4E89B-67F0-4F24-967F-B7960C6A6616}"/>
              </a:ext>
            </a:extLst>
          </p:cNvPr>
          <p:cNvSpPr>
            <a:spLocks noChangeArrowheads="1"/>
          </p:cNvSpPr>
          <p:nvPr/>
        </p:nvSpPr>
        <p:spPr bwMode="auto">
          <a:xfrm>
            <a:off x="2411760" y="3414074"/>
            <a:ext cx="4284662" cy="1850969"/>
          </a:xfrm>
          <a:prstGeom prst="rect">
            <a:avLst/>
          </a:prstGeom>
          <a:noFill/>
          <a:ln w="9525">
            <a:noFill/>
            <a:miter lim="800000"/>
            <a:headEnd/>
            <a:tailEnd/>
          </a:ln>
        </p:spPr>
        <p:txBody>
          <a:bodyPr wrap="none" anchor="ctr"/>
          <a:lstStyle/>
          <a:p>
            <a:pPr defTabSz="914400"/>
            <a:r>
              <a:rPr lang="fr-FR" sz="1400" dirty="0">
                <a:solidFill>
                  <a:schemeClr val="bg1"/>
                </a:solidFill>
                <a:latin typeface="Trebuchet MS" pitchFamily="34" charset="0"/>
                <a:cs typeface="Arial" pitchFamily="34" charset="0"/>
              </a:rPr>
              <a:t>Philippe Corruble EMN</a:t>
            </a:r>
          </a:p>
          <a:p>
            <a:pPr defTabSz="914400"/>
            <a:r>
              <a:rPr lang="en-GB" sz="1400" dirty="0">
                <a:solidFill>
                  <a:schemeClr val="bg1"/>
                </a:solidFill>
                <a:latin typeface="Trebuchet MS" pitchFamily="34" charset="0"/>
                <a:cs typeface="Arial" pitchFamily="34" charset="0"/>
              </a:rPr>
              <a:t>Avocat</a:t>
            </a:r>
          </a:p>
          <a:p>
            <a:pPr defTabSz="914400"/>
            <a:r>
              <a:rPr lang="en-GB" sz="1400" dirty="0">
                <a:solidFill>
                  <a:schemeClr val="bg1"/>
                </a:solidFill>
                <a:latin typeface="Trebuchet MS" pitchFamily="34" charset="0"/>
                <a:cs typeface="Arial" pitchFamily="34" charset="0"/>
              </a:rPr>
              <a:t>Stream avocats &amp; Solicitors</a:t>
            </a:r>
          </a:p>
          <a:p>
            <a:pPr defTabSz="914400"/>
            <a:r>
              <a:rPr lang="en-GB" sz="1400" dirty="0">
                <a:solidFill>
                  <a:schemeClr val="bg1"/>
                </a:solidFill>
                <a:latin typeface="Trebuchet MS" pitchFamily="34" charset="0"/>
                <a:cs typeface="Arial" pitchFamily="34" charset="0"/>
              </a:rPr>
              <a:t>Barreau du Havre</a:t>
            </a:r>
          </a:p>
        </p:txBody>
      </p:sp>
      <p:sp>
        <p:nvSpPr>
          <p:cNvPr id="2" name="Espace réservé du pied de page 1">
            <a:extLst>
              <a:ext uri="{FF2B5EF4-FFF2-40B4-BE49-F238E27FC236}">
                <a16:creationId xmlns:a16="http://schemas.microsoft.com/office/drawing/2014/main" id="{D2EDBE94-0D5A-C022-BC6A-47637D15E3A1}"/>
              </a:ext>
            </a:extLst>
          </p:cNvPr>
          <p:cNvSpPr>
            <a:spLocks noGrp="1"/>
          </p:cNvSpPr>
          <p:nvPr>
            <p:ph type="ftr" sz="quarter" idx="11"/>
          </p:nvPr>
        </p:nvSpPr>
        <p:spPr/>
        <p:txBody>
          <a:bodyPr/>
          <a:lstStyle/>
          <a:p>
            <a:r>
              <a:rPr lang="fr-FR"/>
              <a:t>Ventes internationales – 2023</a:t>
            </a:r>
          </a:p>
        </p:txBody>
      </p:sp>
    </p:spTree>
    <p:extLst>
      <p:ext uri="{BB962C8B-B14F-4D97-AF65-F5344CB8AC3E}">
        <p14:creationId xmlns:p14="http://schemas.microsoft.com/office/powerpoint/2010/main" val="2466411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1" name="Espace réservé du contenu 2">
            <a:extLst>
              <a:ext uri="{FF2B5EF4-FFF2-40B4-BE49-F238E27FC236}">
                <a16:creationId xmlns:a16="http://schemas.microsoft.com/office/drawing/2014/main" id="{4B86E5DF-10D6-49C7-99AD-6B1B3502DAA0}"/>
              </a:ext>
            </a:extLst>
          </p:cNvPr>
          <p:cNvSpPr>
            <a:spLocks noGrp="1"/>
          </p:cNvSpPr>
          <p:nvPr>
            <p:ph idx="1"/>
          </p:nvPr>
        </p:nvSpPr>
        <p:spPr>
          <a:xfrm>
            <a:off x="380999" y="1719071"/>
            <a:ext cx="8407893" cy="4407408"/>
          </a:xfrm>
        </p:spPr>
        <p:txBody>
          <a:bodyPr/>
          <a:lstStyle/>
          <a:p>
            <a:pPr algn="ctr">
              <a:buFontTx/>
              <a:buNone/>
            </a:pPr>
            <a:r>
              <a:rPr lang="fr-FR" sz="4000" dirty="0"/>
              <a:t>Ventes internationales : </a:t>
            </a:r>
            <a:r>
              <a:rPr lang="fr-FR" sz="4000" dirty="0" err="1"/>
              <a:t>quels outils juridiques </a:t>
            </a:r>
            <a:r>
              <a:rPr lang="fr-FR" sz="4000" dirty="0"/>
              <a:t>?</a:t>
            </a:r>
          </a:p>
        </p:txBody>
      </p:sp>
      <p:sp>
        <p:nvSpPr>
          <p:cNvPr id="12" name="Titre 1">
            <a:extLst>
              <a:ext uri="{FF2B5EF4-FFF2-40B4-BE49-F238E27FC236}">
                <a16:creationId xmlns:a16="http://schemas.microsoft.com/office/drawing/2014/main" id="{964E9230-BC0B-4517-A693-EABB87247F98}"/>
              </a:ext>
            </a:extLst>
          </p:cNvPr>
          <p:cNvSpPr>
            <a:spLocks noGrp="1"/>
          </p:cNvSpPr>
          <p:nvPr>
            <p:ph type="title"/>
          </p:nvPr>
        </p:nvSpPr>
        <p:spPr>
          <a:xfrm>
            <a:off x="381000" y="355847"/>
            <a:ext cx="8381260" cy="1054394"/>
          </a:xfrm>
        </p:spPr>
        <p:txBody>
          <a:bodyPr>
            <a:normAutofit/>
          </a:bodyPr>
          <a:lstStyle/>
          <a:p>
            <a:pPr algn="ctr"/>
            <a:r>
              <a:rPr lang="fr-FR" dirty="0">
                <a:solidFill>
                  <a:schemeClr val="bg1"/>
                </a:solidFill>
                <a:latin typeface="Franklin Gothic Book" panose="020B0503020102020204" pitchFamily="34" charset="0"/>
              </a:rPr>
              <a:t>Ventes internationales : introduction</a:t>
            </a:r>
          </a:p>
        </p:txBody>
      </p:sp>
      <p:sp>
        <p:nvSpPr>
          <p:cNvPr id="8" name="Footer Placeholder 3">
            <a:extLst>
              <a:ext uri="{FF2B5EF4-FFF2-40B4-BE49-F238E27FC236}">
                <a16:creationId xmlns:a16="http://schemas.microsoft.com/office/drawing/2014/main" id="{F986894F-1F18-48C6-B9AC-88118032AE54}"/>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234915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1" name="Espace réservé du contenu 2">
            <a:extLst>
              <a:ext uri="{FF2B5EF4-FFF2-40B4-BE49-F238E27FC236}">
                <a16:creationId xmlns:a16="http://schemas.microsoft.com/office/drawing/2014/main" id="{4B86E5DF-10D6-49C7-99AD-6B1B3502DAA0}"/>
              </a:ext>
            </a:extLst>
          </p:cNvPr>
          <p:cNvSpPr>
            <a:spLocks noGrp="1"/>
          </p:cNvSpPr>
          <p:nvPr>
            <p:ph idx="1"/>
          </p:nvPr>
        </p:nvSpPr>
        <p:spPr>
          <a:xfrm>
            <a:off x="380999" y="1719071"/>
            <a:ext cx="8407893" cy="4407408"/>
          </a:xfrm>
        </p:spPr>
        <p:txBody>
          <a:bodyPr>
            <a:normAutofit/>
          </a:bodyPr>
          <a:lstStyle/>
          <a:p>
            <a:pPr algn="ctr">
              <a:buFontTx/>
              <a:buNone/>
            </a:pPr>
            <a:r>
              <a:rPr lang="en-US" sz="2400" dirty="0"/>
              <a:t>Vendre un bien implique deux mouvements :</a:t>
            </a:r>
          </a:p>
          <a:p>
            <a:pPr algn="ctr">
              <a:buFontTx/>
              <a:buChar char="-"/>
            </a:pPr>
            <a:r>
              <a:rPr lang="en-US" sz="2400" dirty="0"/>
              <a:t>Un transfert d'argent</a:t>
            </a:r>
          </a:p>
          <a:p>
            <a:pPr algn="ctr">
              <a:buFontTx/>
              <a:buChar char="-"/>
            </a:pPr>
            <a:r>
              <a:rPr lang="en-US" sz="2400" dirty="0"/>
              <a:t>Un transfert de propriété du bien</a:t>
            </a:r>
            <a:endParaRPr lang="fr-FR" sz="2400" dirty="0"/>
          </a:p>
        </p:txBody>
      </p:sp>
      <p:sp>
        <p:nvSpPr>
          <p:cNvPr id="12" name="Titre 1">
            <a:extLst>
              <a:ext uri="{FF2B5EF4-FFF2-40B4-BE49-F238E27FC236}">
                <a16:creationId xmlns:a16="http://schemas.microsoft.com/office/drawing/2014/main" id="{964E9230-BC0B-4517-A693-EABB87247F98}"/>
              </a:ext>
            </a:extLst>
          </p:cNvPr>
          <p:cNvSpPr>
            <a:spLocks noGrp="1"/>
          </p:cNvSpPr>
          <p:nvPr>
            <p:ph type="title"/>
          </p:nvPr>
        </p:nvSpPr>
        <p:spPr>
          <a:xfrm>
            <a:off x="381000" y="355847"/>
            <a:ext cx="8381260" cy="1054394"/>
          </a:xfrm>
        </p:spPr>
        <p:txBody>
          <a:bodyPr>
            <a:normAutofit/>
          </a:bodyPr>
          <a:lstStyle/>
          <a:p>
            <a:pPr algn="ctr"/>
            <a:r>
              <a:rPr lang="fr-FR" dirty="0">
                <a:solidFill>
                  <a:schemeClr val="bg1"/>
                </a:solidFill>
                <a:latin typeface="Franklin Gothic Book" panose="020B0503020102020204" pitchFamily="34" charset="0"/>
              </a:rPr>
              <a:t>Ventes internationales : introduction</a:t>
            </a:r>
          </a:p>
        </p:txBody>
      </p:sp>
      <p:sp>
        <p:nvSpPr>
          <p:cNvPr id="8" name="Footer Placeholder 3">
            <a:extLst>
              <a:ext uri="{FF2B5EF4-FFF2-40B4-BE49-F238E27FC236}">
                <a16:creationId xmlns:a16="http://schemas.microsoft.com/office/drawing/2014/main" id="{F986894F-1F18-48C6-B9AC-88118032AE54}"/>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830386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1" name="Espace réservé du contenu 2">
            <a:extLst>
              <a:ext uri="{FF2B5EF4-FFF2-40B4-BE49-F238E27FC236}">
                <a16:creationId xmlns:a16="http://schemas.microsoft.com/office/drawing/2014/main" id="{4B86E5DF-10D6-49C7-99AD-6B1B3502DAA0}"/>
              </a:ext>
            </a:extLst>
          </p:cNvPr>
          <p:cNvSpPr>
            <a:spLocks noGrp="1"/>
          </p:cNvSpPr>
          <p:nvPr>
            <p:ph idx="1"/>
          </p:nvPr>
        </p:nvSpPr>
        <p:spPr>
          <a:xfrm>
            <a:off x="380999" y="1719071"/>
            <a:ext cx="8407893" cy="4407408"/>
          </a:xfrm>
        </p:spPr>
        <p:txBody>
          <a:bodyPr>
            <a:normAutofit/>
          </a:bodyPr>
          <a:lstStyle/>
          <a:p>
            <a:pPr algn="ctr">
              <a:buFontTx/>
              <a:buNone/>
            </a:pPr>
            <a:r>
              <a:rPr lang="fr-FR" sz="2200" dirty="0"/>
              <a:t>D'un point de </a:t>
            </a:r>
            <a:r>
              <a:rPr lang="fr-FR" sz="2200" dirty="0" err="1"/>
              <a:t>vue juridique</a:t>
            </a:r>
            <a:r>
              <a:rPr lang="fr-FR" sz="2200" dirty="0"/>
              <a:t>, un </a:t>
            </a:r>
            <a:r>
              <a:rPr lang="fr-FR" sz="2200" dirty="0" err="1"/>
              <a:t>contrat</a:t>
            </a:r>
            <a:r>
              <a:rPr lang="fr-FR" sz="2200" dirty="0"/>
              <a:t> de vente </a:t>
            </a:r>
            <a:r>
              <a:rPr lang="fr-FR" sz="2200" dirty="0" err="1"/>
              <a:t>est conclu lorsque </a:t>
            </a:r>
            <a:r>
              <a:rPr lang="fr-FR" sz="2200" dirty="0"/>
              <a:t>les parties </a:t>
            </a:r>
            <a:r>
              <a:rPr lang="fr-FR" sz="2200" dirty="0" err="1"/>
              <a:t>s'accordent </a:t>
            </a:r>
            <a:r>
              <a:rPr lang="fr-FR" sz="2200" dirty="0"/>
              <a:t>sur </a:t>
            </a:r>
            <a:r>
              <a:rPr lang="fr-FR" sz="2200" dirty="0" err="1"/>
              <a:t>deux points </a:t>
            </a:r>
            <a:r>
              <a:rPr lang="fr-FR" sz="2200" dirty="0"/>
              <a:t>:</a:t>
            </a:r>
          </a:p>
          <a:p>
            <a:pPr algn="ctr">
              <a:buFontTx/>
              <a:buChar char="-"/>
            </a:pPr>
            <a:r>
              <a:rPr lang="fr-FR" sz="2200" dirty="0"/>
              <a:t>Les </a:t>
            </a:r>
            <a:r>
              <a:rPr lang="fr-FR" sz="2200" dirty="0" err="1"/>
              <a:t>biens qui seront vendus</a:t>
            </a:r>
            <a:endParaRPr lang="fr-FR" sz="2200" dirty="0"/>
          </a:p>
          <a:p>
            <a:pPr algn="ctr">
              <a:buFontTx/>
              <a:buChar char="-"/>
            </a:pPr>
            <a:r>
              <a:rPr lang="fr-FR" sz="2200" dirty="0"/>
              <a:t>Le prix de ces biens.</a:t>
            </a:r>
          </a:p>
          <a:p>
            <a:pPr marL="0" indent="0" algn="ctr">
              <a:buNone/>
            </a:pPr>
            <a:endParaRPr lang="fr-FR" sz="2200" dirty="0"/>
          </a:p>
          <a:p>
            <a:pPr marL="0" indent="0" algn="ctr">
              <a:buNone/>
            </a:pPr>
            <a:r>
              <a:rPr lang="en-US" sz="2200" dirty="0"/>
              <a:t>Mais quelles difficultés peuvent surgir dans un contexte international, même lorsque les parties se sont mises d'accord sur ces deux points ?</a:t>
            </a:r>
            <a:endParaRPr lang="fr-FR" sz="2200" dirty="0"/>
          </a:p>
        </p:txBody>
      </p:sp>
      <p:sp>
        <p:nvSpPr>
          <p:cNvPr id="12" name="Titre 1">
            <a:extLst>
              <a:ext uri="{FF2B5EF4-FFF2-40B4-BE49-F238E27FC236}">
                <a16:creationId xmlns:a16="http://schemas.microsoft.com/office/drawing/2014/main" id="{964E9230-BC0B-4517-A693-EABB87247F98}"/>
              </a:ext>
            </a:extLst>
          </p:cNvPr>
          <p:cNvSpPr>
            <a:spLocks noGrp="1"/>
          </p:cNvSpPr>
          <p:nvPr>
            <p:ph type="title"/>
          </p:nvPr>
        </p:nvSpPr>
        <p:spPr>
          <a:xfrm>
            <a:off x="381000" y="355847"/>
            <a:ext cx="8381260" cy="1054394"/>
          </a:xfrm>
        </p:spPr>
        <p:txBody>
          <a:bodyPr>
            <a:normAutofit/>
          </a:bodyPr>
          <a:lstStyle/>
          <a:p>
            <a:pPr algn="ctr"/>
            <a:r>
              <a:rPr lang="fr-FR" dirty="0">
                <a:solidFill>
                  <a:schemeClr val="bg1"/>
                </a:solidFill>
                <a:latin typeface="Franklin Gothic Book" panose="020B0503020102020204" pitchFamily="34" charset="0"/>
              </a:rPr>
              <a:t>Ventes internationales : introduction</a:t>
            </a:r>
          </a:p>
        </p:txBody>
      </p:sp>
      <p:sp>
        <p:nvSpPr>
          <p:cNvPr id="8" name="Footer Placeholder 3">
            <a:extLst>
              <a:ext uri="{FF2B5EF4-FFF2-40B4-BE49-F238E27FC236}">
                <a16:creationId xmlns:a16="http://schemas.microsoft.com/office/drawing/2014/main" id="{F986894F-1F18-48C6-B9AC-88118032AE54}"/>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1603269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1" name="Espace réservé du contenu 2">
            <a:extLst>
              <a:ext uri="{FF2B5EF4-FFF2-40B4-BE49-F238E27FC236}">
                <a16:creationId xmlns:a16="http://schemas.microsoft.com/office/drawing/2014/main" id="{4B86E5DF-10D6-49C7-99AD-6B1B3502DAA0}"/>
              </a:ext>
            </a:extLst>
          </p:cNvPr>
          <p:cNvSpPr>
            <a:spLocks noGrp="1"/>
          </p:cNvSpPr>
          <p:nvPr>
            <p:ph idx="1"/>
          </p:nvPr>
        </p:nvSpPr>
        <p:spPr>
          <a:xfrm>
            <a:off x="380999" y="1719071"/>
            <a:ext cx="8407893" cy="4407408"/>
          </a:xfrm>
        </p:spPr>
        <p:txBody>
          <a:bodyPr>
            <a:normAutofit/>
          </a:bodyPr>
          <a:lstStyle/>
          <a:p>
            <a:pPr algn="ctr">
              <a:buFontTx/>
              <a:buNone/>
            </a:pPr>
            <a:r>
              <a:rPr lang="en-US" dirty="0"/>
              <a:t>Même si un vendeur et un acheteur parviennent à conclure un contrat de vente, quelles difficultés peuvent-ils rencontrer ?</a:t>
            </a:r>
            <a:endParaRPr lang="fr-FR" dirty="0"/>
          </a:p>
        </p:txBody>
      </p:sp>
      <p:sp>
        <p:nvSpPr>
          <p:cNvPr id="12" name="Titre 1">
            <a:extLst>
              <a:ext uri="{FF2B5EF4-FFF2-40B4-BE49-F238E27FC236}">
                <a16:creationId xmlns:a16="http://schemas.microsoft.com/office/drawing/2014/main" id="{964E9230-BC0B-4517-A693-EABB87247F98}"/>
              </a:ext>
            </a:extLst>
          </p:cNvPr>
          <p:cNvSpPr>
            <a:spLocks noGrp="1"/>
          </p:cNvSpPr>
          <p:nvPr>
            <p:ph type="title"/>
          </p:nvPr>
        </p:nvSpPr>
        <p:spPr>
          <a:xfrm>
            <a:off x="381000" y="355847"/>
            <a:ext cx="8381260" cy="1054394"/>
          </a:xfrm>
        </p:spPr>
        <p:txBody>
          <a:bodyPr>
            <a:normAutofit/>
          </a:bodyPr>
          <a:lstStyle/>
          <a:p>
            <a:pPr algn="ctr"/>
            <a:r>
              <a:rPr lang="fr-FR" dirty="0">
                <a:solidFill>
                  <a:schemeClr val="bg1"/>
                </a:solidFill>
                <a:latin typeface="Franklin Gothic Book" panose="020B0503020102020204" pitchFamily="34" charset="0"/>
              </a:rPr>
              <a:t>Ventes internationales : introduction</a:t>
            </a:r>
          </a:p>
        </p:txBody>
      </p:sp>
      <p:sp>
        <p:nvSpPr>
          <p:cNvPr id="8" name="Footer Placeholder 3">
            <a:extLst>
              <a:ext uri="{FF2B5EF4-FFF2-40B4-BE49-F238E27FC236}">
                <a16:creationId xmlns:a16="http://schemas.microsoft.com/office/drawing/2014/main" id="{F986894F-1F18-48C6-B9AC-88118032AE54}"/>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1339308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1" name="Espace réservé du contenu 2">
            <a:extLst>
              <a:ext uri="{FF2B5EF4-FFF2-40B4-BE49-F238E27FC236}">
                <a16:creationId xmlns:a16="http://schemas.microsoft.com/office/drawing/2014/main" id="{4B86E5DF-10D6-49C7-99AD-6B1B3502DAA0}"/>
              </a:ext>
            </a:extLst>
          </p:cNvPr>
          <p:cNvSpPr>
            <a:spLocks noGrp="1"/>
          </p:cNvSpPr>
          <p:nvPr>
            <p:ph idx="1"/>
          </p:nvPr>
        </p:nvSpPr>
        <p:spPr>
          <a:xfrm>
            <a:off x="380999" y="1719071"/>
            <a:ext cx="8407893" cy="4407408"/>
          </a:xfrm>
        </p:spPr>
        <p:txBody>
          <a:bodyPr>
            <a:normAutofit/>
          </a:bodyPr>
          <a:lstStyle/>
          <a:p>
            <a:pPr algn="ctr">
              <a:buFontTx/>
              <a:buNone/>
            </a:pPr>
            <a:r>
              <a:rPr lang="en-US" sz="2200" dirty="0"/>
              <a:t>Deux traders de pays différents qui ne se connaissent pas bien :</a:t>
            </a:r>
          </a:p>
          <a:p>
            <a:pPr algn="ctr">
              <a:buFontTx/>
              <a:buChar char="-"/>
            </a:pPr>
            <a:r>
              <a:rPr lang="en-US" sz="2200" dirty="0"/>
              <a:t>Ne se comprennent pas bien</a:t>
            </a:r>
          </a:p>
          <a:p>
            <a:pPr algn="ctr">
              <a:buFontTx/>
              <a:buChar char="-"/>
            </a:pPr>
            <a:r>
              <a:rPr lang="en-US" sz="2200" dirty="0"/>
              <a:t>Ne se font pas entièrement confiance.</a:t>
            </a:r>
          </a:p>
          <a:p>
            <a:pPr algn="ctr">
              <a:buFontTx/>
              <a:buChar char="-"/>
            </a:pPr>
            <a:endParaRPr lang="en-US" sz="2200" dirty="0"/>
          </a:p>
          <a:p>
            <a:pPr marL="0" indent="0" algn="ctr">
              <a:buNone/>
            </a:pPr>
            <a:r>
              <a:rPr lang="en-US" sz="2200" dirty="0"/>
              <a:t>Deux outils juridiques peuvent résoudre ces problèmes. Lesquels ?</a:t>
            </a:r>
            <a:endParaRPr lang="fr-FR" sz="2200" dirty="0"/>
          </a:p>
        </p:txBody>
      </p:sp>
      <p:sp>
        <p:nvSpPr>
          <p:cNvPr id="12" name="Titre 1">
            <a:extLst>
              <a:ext uri="{FF2B5EF4-FFF2-40B4-BE49-F238E27FC236}">
                <a16:creationId xmlns:a16="http://schemas.microsoft.com/office/drawing/2014/main" id="{964E9230-BC0B-4517-A693-EABB87247F98}"/>
              </a:ext>
            </a:extLst>
          </p:cNvPr>
          <p:cNvSpPr>
            <a:spLocks noGrp="1"/>
          </p:cNvSpPr>
          <p:nvPr>
            <p:ph type="title"/>
          </p:nvPr>
        </p:nvSpPr>
        <p:spPr>
          <a:xfrm>
            <a:off x="381000" y="355847"/>
            <a:ext cx="8381260" cy="1054394"/>
          </a:xfrm>
        </p:spPr>
        <p:txBody>
          <a:bodyPr>
            <a:normAutofit/>
          </a:bodyPr>
          <a:lstStyle/>
          <a:p>
            <a:pPr algn="ctr"/>
            <a:r>
              <a:rPr lang="fr-FR" dirty="0">
                <a:solidFill>
                  <a:schemeClr val="bg1"/>
                </a:solidFill>
                <a:latin typeface="Franklin Gothic Book" panose="020B0503020102020204" pitchFamily="34" charset="0"/>
              </a:rPr>
              <a:t>Ventes internationales : introduction</a:t>
            </a:r>
          </a:p>
        </p:txBody>
      </p:sp>
      <p:sp>
        <p:nvSpPr>
          <p:cNvPr id="8" name="Footer Placeholder 3">
            <a:extLst>
              <a:ext uri="{FF2B5EF4-FFF2-40B4-BE49-F238E27FC236}">
                <a16:creationId xmlns:a16="http://schemas.microsoft.com/office/drawing/2014/main" id="{F986894F-1F18-48C6-B9AC-88118032AE54}"/>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993064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1" name="Espace réservé du contenu 2">
            <a:extLst>
              <a:ext uri="{FF2B5EF4-FFF2-40B4-BE49-F238E27FC236}">
                <a16:creationId xmlns:a16="http://schemas.microsoft.com/office/drawing/2014/main" id="{4B86E5DF-10D6-49C7-99AD-6B1B3502DAA0}"/>
              </a:ext>
            </a:extLst>
          </p:cNvPr>
          <p:cNvSpPr>
            <a:spLocks noGrp="1"/>
          </p:cNvSpPr>
          <p:nvPr>
            <p:ph idx="1"/>
          </p:nvPr>
        </p:nvSpPr>
        <p:spPr>
          <a:xfrm>
            <a:off x="380999" y="1719071"/>
            <a:ext cx="8407893" cy="4407408"/>
          </a:xfrm>
        </p:spPr>
        <p:txBody>
          <a:bodyPr>
            <a:normAutofit/>
          </a:bodyPr>
          <a:lstStyle/>
          <a:p>
            <a:pPr algn="ctr">
              <a:buFontTx/>
              <a:buNone/>
            </a:pPr>
            <a:r>
              <a:rPr lang="en-US" sz="2200" u="sng" dirty="0"/>
              <a:t>Pour pallier un manque de compréhension :</a:t>
            </a:r>
          </a:p>
          <a:p>
            <a:pPr algn="ctr">
              <a:buFontTx/>
              <a:buNone/>
            </a:pPr>
            <a:r>
              <a:rPr lang="en-US" sz="2400" i="1" dirty="0"/>
              <a:t>Incoterms </a:t>
            </a:r>
            <a:r>
              <a:rPr lang="en-US" sz="2200" dirty="0"/>
              <a:t>(termes commerciaux internationaux</a:t>
            </a:r>
            <a:r>
              <a:rPr lang="fr-FR" sz="2200" dirty="0"/>
              <a:t>) = </a:t>
            </a:r>
            <a:r>
              <a:rPr lang="fr-FR" sz="2200" dirty="0" err="1"/>
              <a:t>contrats</a:t>
            </a:r>
            <a:r>
              <a:rPr lang="fr-FR" sz="2200" dirty="0"/>
              <a:t> de vente </a:t>
            </a:r>
            <a:r>
              <a:rPr lang="fr-FR" sz="2200" dirty="0" err="1"/>
              <a:t>standardisés</a:t>
            </a:r>
            <a:r>
              <a:rPr lang="fr-FR" sz="2200" dirty="0"/>
              <a:t> à l'échelle internationale.</a:t>
            </a:r>
          </a:p>
          <a:p>
            <a:pPr algn="ctr">
              <a:buFontTx/>
              <a:buNone/>
            </a:pPr>
            <a:endParaRPr lang="fr-FR" sz="2200" dirty="0"/>
          </a:p>
          <a:p>
            <a:pPr algn="ctr">
              <a:buFontTx/>
              <a:buNone/>
            </a:pPr>
            <a:endParaRPr lang="fr-FR" sz="2200" dirty="0"/>
          </a:p>
          <a:p>
            <a:pPr algn="ctr">
              <a:buFontTx/>
              <a:buNone/>
            </a:pPr>
            <a:r>
              <a:rPr lang="fr-FR" sz="2200" u="sng" dirty="0"/>
              <a:t>Pour </a:t>
            </a:r>
            <a:r>
              <a:rPr lang="fr-FR" sz="2200" u="sng" dirty="0" err="1"/>
              <a:t>pallier </a:t>
            </a:r>
            <a:r>
              <a:rPr lang="fr-FR" sz="2200" u="sng" dirty="0"/>
              <a:t>le </a:t>
            </a:r>
            <a:r>
              <a:rPr lang="fr-FR" sz="2200" u="sng" dirty="0" err="1"/>
              <a:t>manque </a:t>
            </a:r>
            <a:r>
              <a:rPr lang="fr-FR" sz="2200" u="sng" dirty="0"/>
              <a:t>de confiance :</a:t>
            </a:r>
          </a:p>
          <a:p>
            <a:pPr algn="ctr">
              <a:buFontTx/>
              <a:buNone/>
            </a:pPr>
            <a:r>
              <a:rPr lang="fr-FR" sz="2400" i="1" dirty="0" err="1"/>
              <a:t>Crédits documentaires </a:t>
            </a:r>
            <a:r>
              <a:rPr lang="fr-FR" sz="2200" dirty="0"/>
              <a:t>et </a:t>
            </a:r>
            <a:r>
              <a:rPr lang="fr-FR" sz="2200" dirty="0" err="1"/>
              <a:t>autres méthodes </a:t>
            </a:r>
            <a:r>
              <a:rPr lang="fr-FR" sz="2200" dirty="0"/>
              <a:t>de </a:t>
            </a:r>
            <a:r>
              <a:rPr lang="fr-FR" sz="2200" dirty="0" err="1"/>
              <a:t>paiement</a:t>
            </a:r>
            <a:r>
              <a:rPr lang="fr-FR" sz="2200" dirty="0"/>
              <a:t>.</a:t>
            </a:r>
            <a:endParaRPr lang="en-US" sz="2200" dirty="0"/>
          </a:p>
        </p:txBody>
      </p:sp>
      <p:sp>
        <p:nvSpPr>
          <p:cNvPr id="12" name="Titre 1">
            <a:extLst>
              <a:ext uri="{FF2B5EF4-FFF2-40B4-BE49-F238E27FC236}">
                <a16:creationId xmlns:a16="http://schemas.microsoft.com/office/drawing/2014/main" id="{964E9230-BC0B-4517-A693-EABB87247F98}"/>
              </a:ext>
            </a:extLst>
          </p:cNvPr>
          <p:cNvSpPr>
            <a:spLocks noGrp="1"/>
          </p:cNvSpPr>
          <p:nvPr>
            <p:ph type="title"/>
          </p:nvPr>
        </p:nvSpPr>
        <p:spPr>
          <a:xfrm>
            <a:off x="381000" y="355847"/>
            <a:ext cx="8381260" cy="1054394"/>
          </a:xfrm>
        </p:spPr>
        <p:txBody>
          <a:bodyPr>
            <a:normAutofit/>
          </a:bodyPr>
          <a:lstStyle/>
          <a:p>
            <a:pPr algn="ctr"/>
            <a:r>
              <a:rPr lang="fr-FR" dirty="0">
                <a:solidFill>
                  <a:schemeClr val="bg1"/>
                </a:solidFill>
                <a:latin typeface="Franklin Gothic Book" panose="020B0503020102020204" pitchFamily="34" charset="0"/>
              </a:rPr>
              <a:t>Ventes internationales : introduction</a:t>
            </a:r>
          </a:p>
        </p:txBody>
      </p:sp>
      <p:sp>
        <p:nvSpPr>
          <p:cNvPr id="8" name="Footer Placeholder 3">
            <a:extLst>
              <a:ext uri="{FF2B5EF4-FFF2-40B4-BE49-F238E27FC236}">
                <a16:creationId xmlns:a16="http://schemas.microsoft.com/office/drawing/2014/main" id="{F986894F-1F18-48C6-B9AC-88118032AE54}"/>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mc:AlternateContent xmlns:mc="http://schemas.openxmlformats.org/markup-compatibility/2006" xmlns:p14="http://schemas.microsoft.com/office/powerpoint/2010/main">
        <mc:Choice Requires="p14">
          <p:contentPart p14:bwMode="auto" r:id="rId5">
            <p14:nvContentPartPr>
              <p14:cNvPr id="2" name="Encre 1">
                <a:extLst>
                  <a:ext uri="{FF2B5EF4-FFF2-40B4-BE49-F238E27FC236}">
                    <a16:creationId xmlns:a16="http://schemas.microsoft.com/office/drawing/2014/main" id="{905756B7-2DDE-4933-ACA0-94B21350DFF4}"/>
                  </a:ext>
                </a:extLst>
              </p14:cNvPr>
              <p14:cNvContentPartPr/>
              <p14:nvPr/>
            </p14:nvContentPartPr>
            <p14:xfrm>
              <a:off x="6780960" y="3872160"/>
              <a:ext cx="360" cy="360"/>
            </p14:xfrm>
          </p:contentPart>
        </mc:Choice>
        <mc:Fallback xmlns="" xmlns:a16="http://schemas.microsoft.com/office/drawing/2014/main" xmlns:a14="http://schemas.microsoft.com/office/drawing/2010/main">
          <p:pic>
            <p:nvPicPr>
              <p:cNvPr id="2" name="Encre 1">
                <a:extLst>
                  <a:ext uri="{FF2B5EF4-FFF2-40B4-BE49-F238E27FC236}">
                    <a16:creationId xmlns:a16="http://schemas.microsoft.com/office/drawing/2014/main" id="{905756B7-2DDE-4933-ACA0-94B21350DFF4}"/>
                  </a:ext>
                </a:extLst>
              </p:cNvPr>
              <p:cNvPicPr/>
              <p:nvPr/>
            </p:nvPicPr>
            <p:blipFill>
              <a:blip r:embed="rId6"/>
              <a:stretch>
                <a:fillRect/>
              </a:stretch>
            </p:blipFill>
            <p:spPr>
              <a:xfrm>
                <a:off x="6771600" y="3862800"/>
                <a:ext cx="19080" cy="19080"/>
              </a:xfrm>
              <a:prstGeom prst="rect">
                <a:avLst/>
              </a:prstGeom>
            </p:spPr>
          </p:pic>
        </mc:Fallback>
      </mc:AlternateContent>
    </p:spTree>
    <p:extLst>
      <p:ext uri="{BB962C8B-B14F-4D97-AF65-F5344CB8AC3E}">
        <p14:creationId xmlns:p14="http://schemas.microsoft.com/office/powerpoint/2010/main" val="1645738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1" name="Espace réservé du contenu 2">
            <a:extLst>
              <a:ext uri="{FF2B5EF4-FFF2-40B4-BE49-F238E27FC236}">
                <a16:creationId xmlns:a16="http://schemas.microsoft.com/office/drawing/2014/main" id="{F13CBB85-1536-4CC6-AC3B-DA62E3345FD9}"/>
              </a:ext>
            </a:extLst>
          </p:cNvPr>
          <p:cNvSpPr>
            <a:spLocks noGrp="1"/>
          </p:cNvSpPr>
          <p:nvPr>
            <p:ph idx="1"/>
          </p:nvPr>
        </p:nvSpPr>
        <p:spPr>
          <a:xfrm>
            <a:off x="380999" y="1719071"/>
            <a:ext cx="8407893" cy="4407408"/>
          </a:xfrm>
        </p:spPr>
        <p:txBody>
          <a:bodyPr/>
          <a:lstStyle/>
          <a:p>
            <a:pPr marL="857250" indent="-857250" algn="ctr">
              <a:buFontTx/>
              <a:buAutoNum type="romanUcPeriod"/>
            </a:pPr>
            <a:r>
              <a:rPr lang="en-GB" sz="3600" dirty="0"/>
              <a:t>Incoterms</a:t>
            </a:r>
          </a:p>
          <a:p>
            <a:pPr marL="857250" indent="-857250" algn="ctr">
              <a:buFontTx/>
              <a:buAutoNum type="romanUcPeriod"/>
            </a:pPr>
            <a:r>
              <a:rPr lang="en-GB" sz="3600" dirty="0"/>
              <a:t>Modes de paiement</a:t>
            </a:r>
          </a:p>
        </p:txBody>
      </p:sp>
      <p:sp>
        <p:nvSpPr>
          <p:cNvPr id="12" name="Titre 1">
            <a:extLst>
              <a:ext uri="{FF2B5EF4-FFF2-40B4-BE49-F238E27FC236}">
                <a16:creationId xmlns:a16="http://schemas.microsoft.com/office/drawing/2014/main" id="{F19B9725-F14D-417C-A85E-5A8FA4130039}"/>
              </a:ext>
            </a:extLst>
          </p:cNvPr>
          <p:cNvSpPr>
            <a:spLocks noGrp="1"/>
          </p:cNvSpPr>
          <p:nvPr>
            <p:ph type="title"/>
          </p:nvPr>
        </p:nvSpPr>
        <p:spPr>
          <a:xfrm>
            <a:off x="381000" y="355847"/>
            <a:ext cx="8381260" cy="1054394"/>
          </a:xfrm>
        </p:spPr>
        <p:txBody>
          <a:bodyPr>
            <a:normAutofit/>
          </a:bodyPr>
          <a:lstStyle/>
          <a:p>
            <a:pPr algn="ctr"/>
            <a:r>
              <a:rPr lang="fr-FR" dirty="0">
                <a:solidFill>
                  <a:schemeClr val="bg1"/>
                </a:solidFill>
                <a:latin typeface="Franklin Gothic Book" panose="020B0503020102020204" pitchFamily="34" charset="0"/>
              </a:rPr>
              <a:t>Ventes internationales : programme</a:t>
            </a:r>
          </a:p>
        </p:txBody>
      </p:sp>
      <p:sp>
        <p:nvSpPr>
          <p:cNvPr id="8" name="Footer Placeholder 3">
            <a:extLst>
              <a:ext uri="{FF2B5EF4-FFF2-40B4-BE49-F238E27FC236}">
                <a16:creationId xmlns:a16="http://schemas.microsoft.com/office/drawing/2014/main" id="{F8836458-1604-4767-BB5A-C8D78D27BD06}"/>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100358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1" name="Espace réservé du contenu 2">
            <a:extLst>
              <a:ext uri="{FF2B5EF4-FFF2-40B4-BE49-F238E27FC236}">
                <a16:creationId xmlns:a16="http://schemas.microsoft.com/office/drawing/2014/main" id="{F13CBB85-1536-4CC6-AC3B-DA62E3345FD9}"/>
              </a:ext>
            </a:extLst>
          </p:cNvPr>
          <p:cNvSpPr>
            <a:spLocks noGrp="1"/>
          </p:cNvSpPr>
          <p:nvPr>
            <p:ph idx="1"/>
          </p:nvPr>
        </p:nvSpPr>
        <p:spPr>
          <a:xfrm>
            <a:off x="380999" y="1719071"/>
            <a:ext cx="8407893" cy="4407408"/>
          </a:xfrm>
        </p:spPr>
        <p:txBody>
          <a:bodyPr/>
          <a:lstStyle/>
          <a:p>
            <a:pPr marL="0" indent="0" algn="ctr">
              <a:buNone/>
            </a:pPr>
            <a:r>
              <a:rPr lang="en-GB" sz="3600" dirty="0"/>
              <a:t>Introduction</a:t>
            </a:r>
          </a:p>
          <a:p>
            <a:pPr marL="0" indent="0" algn="ctr">
              <a:buNone/>
            </a:pPr>
            <a:r>
              <a:rPr lang="en-GB" sz="3600" dirty="0"/>
              <a:t>A – Incoterms 2020</a:t>
            </a:r>
          </a:p>
          <a:p>
            <a:pPr marL="0" indent="0" algn="ctr">
              <a:buNone/>
            </a:pPr>
            <a:r>
              <a:rPr lang="en-GB" sz="3600" dirty="0"/>
              <a:t>B – Incoterms et négociation</a:t>
            </a:r>
          </a:p>
          <a:p>
            <a:pPr marL="0" indent="0" algn="ctr">
              <a:buNone/>
            </a:pPr>
            <a:r>
              <a:rPr lang="en-GB" sz="3600" dirty="0"/>
              <a:t>C – Les Incoterms dans la pratique</a:t>
            </a:r>
          </a:p>
          <a:p>
            <a:pPr marL="0" indent="0" algn="ctr">
              <a:buNone/>
            </a:pPr>
            <a:r>
              <a:rPr lang="en-GB" sz="3600" dirty="0"/>
              <a:t>D – Test</a:t>
            </a:r>
          </a:p>
        </p:txBody>
      </p:sp>
      <p:sp>
        <p:nvSpPr>
          <p:cNvPr id="12" name="Titre 1">
            <a:extLst>
              <a:ext uri="{FF2B5EF4-FFF2-40B4-BE49-F238E27FC236}">
                <a16:creationId xmlns:a16="http://schemas.microsoft.com/office/drawing/2014/main" id="{F19B9725-F14D-417C-A85E-5A8FA4130039}"/>
              </a:ext>
            </a:extLst>
          </p:cNvPr>
          <p:cNvSpPr>
            <a:spLocks noGrp="1"/>
          </p:cNvSpPr>
          <p:nvPr>
            <p:ph type="title"/>
          </p:nvPr>
        </p:nvSpPr>
        <p:spPr>
          <a:xfrm>
            <a:off x="381000" y="355847"/>
            <a:ext cx="8381260" cy="1054394"/>
          </a:xfrm>
        </p:spPr>
        <p:txBody>
          <a:bodyPr>
            <a:normAutofit/>
          </a:bodyPr>
          <a:lstStyle/>
          <a:p>
            <a:pPr algn="ctr"/>
            <a:r>
              <a:rPr lang="fr-FR" dirty="0">
                <a:solidFill>
                  <a:schemeClr val="bg1"/>
                </a:solidFill>
                <a:latin typeface="Franklin Gothic Book" panose="020B0503020102020204" pitchFamily="34" charset="0"/>
              </a:rPr>
              <a:t>I. Incoterms</a:t>
            </a:r>
          </a:p>
        </p:txBody>
      </p:sp>
      <p:sp>
        <p:nvSpPr>
          <p:cNvPr id="8" name="Footer Placeholder 3">
            <a:extLst>
              <a:ext uri="{FF2B5EF4-FFF2-40B4-BE49-F238E27FC236}">
                <a16:creationId xmlns:a16="http://schemas.microsoft.com/office/drawing/2014/main" id="{F8836458-1604-4767-BB5A-C8D78D27BD06}"/>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4221020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2" name="Espace réservé du contenu 2">
            <a:extLst>
              <a:ext uri="{FF2B5EF4-FFF2-40B4-BE49-F238E27FC236}">
                <a16:creationId xmlns:a16="http://schemas.microsoft.com/office/drawing/2014/main" id="{B4422B17-FEE4-4A30-9B1B-10E0952A98C8}"/>
              </a:ext>
            </a:extLst>
          </p:cNvPr>
          <p:cNvSpPr>
            <a:spLocks noGrp="1"/>
          </p:cNvSpPr>
          <p:nvPr>
            <p:ph idx="1"/>
          </p:nvPr>
        </p:nvSpPr>
        <p:spPr>
          <a:xfrm>
            <a:off x="380999" y="1719071"/>
            <a:ext cx="8407893" cy="4407408"/>
          </a:xfrm>
        </p:spPr>
        <p:txBody>
          <a:bodyPr>
            <a:normAutofit/>
          </a:bodyPr>
          <a:lstStyle/>
          <a:p>
            <a:pPr algn="ctr">
              <a:buFontTx/>
              <a:buNone/>
            </a:pPr>
            <a:r>
              <a:rPr lang="en-GB" sz="3200" dirty="0"/>
              <a:t>Incoterms : définition ?</a:t>
            </a:r>
          </a:p>
        </p:txBody>
      </p:sp>
      <p:sp>
        <p:nvSpPr>
          <p:cNvPr id="13" name="Titre 1">
            <a:extLst>
              <a:ext uri="{FF2B5EF4-FFF2-40B4-BE49-F238E27FC236}">
                <a16:creationId xmlns:a16="http://schemas.microsoft.com/office/drawing/2014/main" id="{AD20F3BF-AAC8-4F20-88D4-3938CF1BE90A}"/>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I - Incoterms : introduction</a:t>
            </a:r>
          </a:p>
        </p:txBody>
      </p:sp>
      <p:sp>
        <p:nvSpPr>
          <p:cNvPr id="8" name="Footer Placeholder 3">
            <a:extLst>
              <a:ext uri="{FF2B5EF4-FFF2-40B4-BE49-F238E27FC236}">
                <a16:creationId xmlns:a16="http://schemas.microsoft.com/office/drawing/2014/main" id="{B7DF0C41-4BC1-4E77-BAD0-6E7F9100C880}"/>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33381041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2" name="Espace réservé du contenu 2">
            <a:extLst>
              <a:ext uri="{FF2B5EF4-FFF2-40B4-BE49-F238E27FC236}">
                <a16:creationId xmlns:a16="http://schemas.microsoft.com/office/drawing/2014/main" id="{83382B2F-6AF0-4FC8-89B1-4AF807F4159E}"/>
              </a:ext>
            </a:extLst>
          </p:cNvPr>
          <p:cNvSpPr>
            <a:spLocks noGrp="1"/>
          </p:cNvSpPr>
          <p:nvPr>
            <p:ph idx="1"/>
          </p:nvPr>
        </p:nvSpPr>
        <p:spPr>
          <a:xfrm>
            <a:off x="380999" y="1719071"/>
            <a:ext cx="8407893" cy="4407408"/>
          </a:xfrm>
        </p:spPr>
        <p:txBody>
          <a:bodyPr>
            <a:normAutofit/>
          </a:bodyPr>
          <a:lstStyle/>
          <a:p>
            <a:pPr algn="just"/>
            <a:r>
              <a:rPr lang="fr-FR" sz="2200" dirty="0"/>
              <a:t>Incoterms = </a:t>
            </a:r>
            <a:r>
              <a:rPr lang="fr-FR" sz="2200" dirty="0" err="1"/>
              <a:t>Termes</a:t>
            </a:r>
            <a:r>
              <a:rPr lang="fr-FR" sz="2200" dirty="0"/>
              <a:t> commerciaux internationaux.</a:t>
            </a:r>
          </a:p>
          <a:p>
            <a:pPr algn="just"/>
            <a:r>
              <a:rPr lang="fr-FR" sz="2200" dirty="0" err="1"/>
              <a:t>Contrats</a:t>
            </a:r>
            <a:r>
              <a:rPr lang="fr-FR" sz="2200" dirty="0"/>
              <a:t> de vente internationaux </a:t>
            </a:r>
            <a:r>
              <a:rPr lang="fr-FR" sz="2200" dirty="0" err="1"/>
              <a:t>standardisés conçus </a:t>
            </a:r>
            <a:r>
              <a:rPr lang="fr-FR" sz="2200" dirty="0"/>
              <a:t>et </a:t>
            </a:r>
            <a:r>
              <a:rPr lang="fr-FR" sz="2200" dirty="0" err="1"/>
              <a:t>régulièrement modifiés </a:t>
            </a:r>
            <a:r>
              <a:rPr lang="fr-FR" sz="2200" dirty="0"/>
              <a:t>par la </a:t>
            </a:r>
            <a:r>
              <a:rPr lang="fr-FR" sz="2200" dirty="0" err="1"/>
              <a:t>Chambre </a:t>
            </a:r>
            <a:r>
              <a:rPr lang="fr-FR" sz="2200" dirty="0"/>
              <a:t>de commerce internationale (CCI).</a:t>
            </a:r>
          </a:p>
          <a:p>
            <a:pPr algn="just"/>
            <a:r>
              <a:rPr lang="fr-FR" sz="2200" dirty="0"/>
              <a:t>11 </a:t>
            </a:r>
            <a:r>
              <a:rPr lang="fr-FR" sz="2200" dirty="0" err="1"/>
              <a:t>termes</a:t>
            </a:r>
            <a:r>
              <a:rPr lang="fr-FR" sz="2200" dirty="0"/>
              <a:t>, </a:t>
            </a:r>
            <a:r>
              <a:rPr lang="fr-FR" sz="2200" dirty="0" err="1"/>
              <a:t>identifiés </a:t>
            </a:r>
            <a:r>
              <a:rPr lang="fr-FR" sz="2200" dirty="0"/>
              <a:t>par 3 </a:t>
            </a:r>
            <a:r>
              <a:rPr lang="fr-FR" sz="2200" dirty="0" err="1"/>
              <a:t>lettres </a:t>
            </a:r>
            <a:r>
              <a:rPr lang="fr-FR" sz="2200" dirty="0"/>
              <a:t>(EXW, FOB, CIF…)</a:t>
            </a:r>
          </a:p>
          <a:p>
            <a:pPr algn="just"/>
            <a:r>
              <a:rPr lang="fr-FR" sz="2200" dirty="0"/>
              <a:t>Outils destinés aux vendeurs, </a:t>
            </a:r>
            <a:r>
              <a:rPr lang="fr-FR" sz="2200" dirty="0" err="1"/>
              <a:t>acheteurs</a:t>
            </a:r>
            <a:r>
              <a:rPr lang="fr-FR" sz="2200" dirty="0"/>
              <a:t>, </a:t>
            </a:r>
            <a:r>
              <a:rPr lang="fr-FR" sz="2200" dirty="0" err="1"/>
              <a:t>exportateurs</a:t>
            </a:r>
            <a:r>
              <a:rPr lang="fr-FR" sz="2200" dirty="0"/>
              <a:t>, </a:t>
            </a:r>
            <a:r>
              <a:rPr lang="fr-FR" sz="2200" dirty="0" err="1"/>
              <a:t>importateurs</a:t>
            </a:r>
            <a:r>
              <a:rPr lang="fr-FR" sz="2200" dirty="0"/>
              <a:t>, agents </a:t>
            </a:r>
            <a:r>
              <a:rPr lang="fr-FR" sz="2200" dirty="0" err="1"/>
              <a:t>logistiques</a:t>
            </a:r>
            <a:r>
              <a:rPr lang="fr-FR" sz="2200" dirty="0"/>
              <a:t>, </a:t>
            </a:r>
            <a:r>
              <a:rPr lang="fr-FR" sz="2200" dirty="0" err="1"/>
              <a:t>autorités</a:t>
            </a:r>
            <a:r>
              <a:rPr lang="fr-FR" sz="2200" dirty="0"/>
              <a:t> douanières</a:t>
            </a:r>
          </a:p>
          <a:p>
            <a:pPr algn="just"/>
            <a:r>
              <a:rPr lang="fr-FR" sz="2200" dirty="0" err="1"/>
              <a:t>Commerce</a:t>
            </a:r>
            <a:r>
              <a:rPr lang="fr-FR" sz="2200" dirty="0"/>
              <a:t> international et transport international</a:t>
            </a:r>
          </a:p>
          <a:p>
            <a:pPr algn="just"/>
            <a:r>
              <a:rPr lang="fr-FR" sz="2200" dirty="0"/>
              <a:t>Non </a:t>
            </a:r>
            <a:r>
              <a:rPr lang="fr-FR" sz="2200" dirty="0" err="1"/>
              <a:t>obligatoire </a:t>
            </a:r>
            <a:r>
              <a:rPr lang="fr-FR" sz="2200" dirty="0"/>
              <a:t>(au </a:t>
            </a:r>
            <a:r>
              <a:rPr lang="fr-FR" sz="2200" dirty="0" err="1"/>
              <a:t>choix </a:t>
            </a:r>
            <a:r>
              <a:rPr lang="fr-FR" sz="2200" dirty="0"/>
              <a:t>des parties)</a:t>
            </a:r>
          </a:p>
        </p:txBody>
      </p:sp>
      <p:sp>
        <p:nvSpPr>
          <p:cNvPr id="13" name="Titre 1">
            <a:extLst>
              <a:ext uri="{FF2B5EF4-FFF2-40B4-BE49-F238E27FC236}">
                <a16:creationId xmlns:a16="http://schemas.microsoft.com/office/drawing/2014/main" id="{A6F5AE79-FA68-4C2B-8B8D-1766E97661EF}"/>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I - Incoterms : introduction</a:t>
            </a:r>
          </a:p>
        </p:txBody>
      </p:sp>
      <p:sp>
        <p:nvSpPr>
          <p:cNvPr id="8" name="Footer Placeholder 3">
            <a:extLst>
              <a:ext uri="{FF2B5EF4-FFF2-40B4-BE49-F238E27FC236}">
                <a16:creationId xmlns:a16="http://schemas.microsoft.com/office/drawing/2014/main" id="{47E1F180-0767-492D-8F6C-E74042A18085}"/>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3587545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3" name="Espace réservé du contenu 2">
            <a:extLst>
              <a:ext uri="{FF2B5EF4-FFF2-40B4-BE49-F238E27FC236}">
                <a16:creationId xmlns:a16="http://schemas.microsoft.com/office/drawing/2014/main" id="{49CA8E48-1DB1-4BA3-88DF-1F49ECFDC6F5}"/>
              </a:ext>
            </a:extLst>
          </p:cNvPr>
          <p:cNvSpPr>
            <a:spLocks noGrp="1"/>
          </p:cNvSpPr>
          <p:nvPr>
            <p:ph idx="1"/>
          </p:nvPr>
        </p:nvSpPr>
        <p:spPr>
          <a:xfrm>
            <a:off x="380999" y="1719071"/>
            <a:ext cx="8407893" cy="4261105"/>
          </a:xfrm>
        </p:spPr>
        <p:txBody>
          <a:bodyPr>
            <a:noAutofit/>
          </a:bodyPr>
          <a:lstStyle/>
          <a:p>
            <a:pPr marL="457200" lvl="1" indent="0" algn="ctr">
              <a:spcBef>
                <a:spcPts val="1500"/>
              </a:spcBef>
              <a:buNone/>
              <a:defRPr/>
            </a:pPr>
            <a:r>
              <a:rPr lang="en-GB" sz="2200" dirty="0"/>
              <a:t>Vendeurs et acheteurs : quelques problèmes lors des transactions</a:t>
            </a:r>
          </a:p>
          <a:p>
            <a:pPr marL="0" indent="0" algn="ctr">
              <a:buNone/>
            </a:pPr>
            <a:r>
              <a:rPr lang="fr-FR" sz="2200" dirty="0"/>
              <a:t>- Ne </a:t>
            </a:r>
            <a:r>
              <a:rPr lang="fr-FR" sz="2200" dirty="0" err="1"/>
              <a:t>parlent</a:t>
            </a:r>
            <a:r>
              <a:rPr lang="fr-FR" sz="2200" dirty="0"/>
              <a:t> pas la </a:t>
            </a:r>
            <a:r>
              <a:rPr lang="fr-FR" sz="2200" dirty="0" err="1"/>
              <a:t>même langue</a:t>
            </a:r>
            <a:endParaRPr lang="fr-FR" sz="2200" dirty="0"/>
          </a:p>
          <a:p>
            <a:pPr marL="0" indent="0" algn="ctr">
              <a:buNone/>
            </a:pPr>
            <a:r>
              <a:rPr lang="fr-FR" sz="2200" dirty="0"/>
              <a:t>- Culture </a:t>
            </a:r>
            <a:r>
              <a:rPr lang="fr-FR" sz="2200" dirty="0" err="1"/>
              <a:t>différente</a:t>
            </a:r>
          </a:p>
          <a:p>
            <a:pPr algn="ctr">
              <a:buFontTx/>
              <a:buChar char="-"/>
            </a:pPr>
            <a:r>
              <a:rPr lang="fr-FR" sz="2200" dirty="0"/>
              <a:t>Sont </a:t>
            </a:r>
            <a:r>
              <a:rPr lang="fr-FR" sz="2200" dirty="0" err="1"/>
              <a:t>séparés par des milliers de kilomètres</a:t>
            </a:r>
            <a:endParaRPr lang="fr-FR" sz="2200" dirty="0"/>
          </a:p>
          <a:p>
            <a:pPr algn="ctr">
              <a:buFontTx/>
              <a:buChar char="-"/>
            </a:pPr>
            <a:r>
              <a:rPr lang="fr-FR" sz="2200" dirty="0" err="1"/>
              <a:t>Différents </a:t>
            </a:r>
            <a:r>
              <a:rPr lang="fr-FR" sz="2200" dirty="0"/>
              <a:t>points de </a:t>
            </a:r>
            <a:r>
              <a:rPr lang="fr-FR" sz="2200" dirty="0" err="1"/>
              <a:t>vue </a:t>
            </a:r>
            <a:r>
              <a:rPr lang="fr-FR" sz="2200" dirty="0"/>
              <a:t>sur </a:t>
            </a:r>
            <a:r>
              <a:rPr lang="fr-FR" sz="2200" dirty="0" err="1"/>
              <a:t>leurs </a:t>
            </a:r>
            <a:r>
              <a:rPr lang="fr-FR" sz="2200" dirty="0"/>
              <a:t>obligations </a:t>
            </a:r>
            <a:r>
              <a:rPr lang="fr-FR" sz="2200" dirty="0" err="1"/>
              <a:t>dans le cadre </a:t>
            </a:r>
            <a:r>
              <a:rPr lang="fr-FR" sz="2200" dirty="0"/>
              <a:t>d'un contrat de </a:t>
            </a:r>
            <a:r>
              <a:rPr lang="fr-FR" sz="2200" dirty="0" err="1"/>
              <a:t>vente</a:t>
            </a:r>
          </a:p>
          <a:p>
            <a:pPr marL="457200" lvl="1" indent="0">
              <a:spcBef>
                <a:spcPts val="1500"/>
              </a:spcBef>
              <a:buNone/>
              <a:defRPr/>
            </a:pPr>
            <a:endParaRPr lang="en-GB" dirty="0"/>
          </a:p>
        </p:txBody>
      </p:sp>
      <p:sp>
        <p:nvSpPr>
          <p:cNvPr id="14" name="Titre 1">
            <a:extLst>
              <a:ext uri="{FF2B5EF4-FFF2-40B4-BE49-F238E27FC236}">
                <a16:creationId xmlns:a16="http://schemas.microsoft.com/office/drawing/2014/main" id="{E313F65B-E187-472C-874D-0F79227577CE}"/>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I - Incoterms : introduction</a:t>
            </a:r>
          </a:p>
        </p:txBody>
      </p:sp>
      <p:sp>
        <p:nvSpPr>
          <p:cNvPr id="8" name="Footer Placeholder 3">
            <a:extLst>
              <a:ext uri="{FF2B5EF4-FFF2-40B4-BE49-F238E27FC236}">
                <a16:creationId xmlns:a16="http://schemas.microsoft.com/office/drawing/2014/main" id="{1B15A750-0ECC-4B14-AE63-FBB43E67A09F}"/>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278761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1" name="Espace réservé du contenu 2">
            <a:extLst>
              <a:ext uri="{FF2B5EF4-FFF2-40B4-BE49-F238E27FC236}">
                <a16:creationId xmlns:a16="http://schemas.microsoft.com/office/drawing/2014/main" id="{83301213-E7E1-4049-A9E7-C33969B4EEA9}"/>
              </a:ext>
            </a:extLst>
          </p:cNvPr>
          <p:cNvSpPr>
            <a:spLocks noGrp="1"/>
          </p:cNvSpPr>
          <p:nvPr>
            <p:ph idx="1"/>
          </p:nvPr>
        </p:nvSpPr>
        <p:spPr>
          <a:xfrm>
            <a:off x="380999" y="1719071"/>
            <a:ext cx="8407893" cy="4407408"/>
          </a:xfrm>
        </p:spPr>
        <p:txBody>
          <a:bodyPr>
            <a:normAutofit/>
          </a:bodyPr>
          <a:lstStyle/>
          <a:p>
            <a:pPr marL="0" indent="0" algn="ctr">
              <a:buNone/>
              <a:defRPr/>
            </a:pPr>
            <a:r>
              <a:rPr lang="en-GB" sz="2200" dirty="0"/>
              <a:t>Incoterms : problèmes résolus</a:t>
            </a:r>
          </a:p>
          <a:p>
            <a:pPr marL="0" indent="0" algn="ctr">
              <a:buNone/>
            </a:pPr>
            <a:r>
              <a:rPr lang="fr-FR" sz="2200" dirty="0"/>
              <a:t>- </a:t>
            </a:r>
            <a:r>
              <a:rPr lang="fr-FR" sz="2200" dirty="0" err="1"/>
              <a:t>Les entreprises se comprennent immédiatement</a:t>
            </a:r>
            <a:endParaRPr lang="fr-FR" sz="2200" dirty="0"/>
          </a:p>
          <a:p>
            <a:pPr marL="0" indent="0" algn="ctr">
              <a:buNone/>
            </a:pPr>
            <a:r>
              <a:rPr lang="fr-FR" sz="2200" dirty="0"/>
              <a:t>- </a:t>
            </a:r>
            <a:r>
              <a:rPr lang="fr-FR" sz="2200" dirty="0" err="1"/>
              <a:t>Elles définissent </a:t>
            </a:r>
            <a:r>
              <a:rPr lang="fr-FR" sz="2200" dirty="0"/>
              <a:t>les obligations essentielles des parties </a:t>
            </a:r>
            <a:r>
              <a:rPr lang="fr-FR" sz="2200" dirty="0" err="1"/>
              <a:t>impliquées </a:t>
            </a:r>
            <a:r>
              <a:rPr lang="fr-FR" sz="2200" dirty="0"/>
              <a:t>dans le </a:t>
            </a:r>
            <a:r>
              <a:rPr lang="fr-FR" sz="2200" dirty="0" err="1"/>
              <a:t>contrat </a:t>
            </a:r>
            <a:r>
              <a:rPr lang="fr-FR" sz="2200" dirty="0"/>
              <a:t>de vente international</a:t>
            </a:r>
          </a:p>
          <a:p>
            <a:pPr marL="0" indent="0" algn="ctr">
              <a:buNone/>
            </a:pPr>
            <a:r>
              <a:rPr lang="fr-FR" sz="2200" dirty="0"/>
              <a:t>- </a:t>
            </a:r>
            <a:r>
              <a:rPr lang="fr-FR" sz="2200" dirty="0" err="1"/>
              <a:t>Elles </a:t>
            </a:r>
            <a:r>
              <a:rPr lang="fr-FR" sz="2200" dirty="0"/>
              <a:t>établissent un </a:t>
            </a:r>
            <a:r>
              <a:rPr lang="fr-FR" sz="2200" dirty="0" err="1"/>
              <a:t>contrat </a:t>
            </a:r>
            <a:r>
              <a:rPr lang="fr-FR" sz="2200" dirty="0"/>
              <a:t>de vente </a:t>
            </a:r>
            <a:r>
              <a:rPr lang="fr-FR" sz="2200" dirty="0" err="1"/>
              <a:t>simplifié contenant </a:t>
            </a:r>
            <a:r>
              <a:rPr lang="fr-FR" sz="2200" dirty="0"/>
              <a:t>des clauses fondamentales</a:t>
            </a:r>
          </a:p>
          <a:p>
            <a:pPr marL="0" indent="0">
              <a:buNone/>
              <a:defRPr/>
            </a:pPr>
            <a:endParaRPr lang="en-GB" dirty="0"/>
          </a:p>
        </p:txBody>
      </p:sp>
      <p:sp>
        <p:nvSpPr>
          <p:cNvPr id="12" name="Titre 1">
            <a:extLst>
              <a:ext uri="{FF2B5EF4-FFF2-40B4-BE49-F238E27FC236}">
                <a16:creationId xmlns:a16="http://schemas.microsoft.com/office/drawing/2014/main" id="{FA067CEA-F4E4-4B24-B068-3F7AE15B5ED5}"/>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I - Incoterms : introduction</a:t>
            </a:r>
          </a:p>
        </p:txBody>
      </p:sp>
      <p:sp>
        <p:nvSpPr>
          <p:cNvPr id="8" name="Footer Placeholder 3">
            <a:extLst>
              <a:ext uri="{FF2B5EF4-FFF2-40B4-BE49-F238E27FC236}">
                <a16:creationId xmlns:a16="http://schemas.microsoft.com/office/drawing/2014/main" id="{F78D69EA-14FB-4828-A1E9-D3B8E5DCC655}"/>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1332347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1" name="Espace réservé du contenu 2">
            <a:extLst>
              <a:ext uri="{FF2B5EF4-FFF2-40B4-BE49-F238E27FC236}">
                <a16:creationId xmlns:a16="http://schemas.microsoft.com/office/drawing/2014/main" id="{7C1F32B6-8772-4F7E-A493-FAA5A105C19A}"/>
              </a:ext>
            </a:extLst>
          </p:cNvPr>
          <p:cNvSpPr>
            <a:spLocks noGrp="1"/>
          </p:cNvSpPr>
          <p:nvPr>
            <p:ph idx="1"/>
          </p:nvPr>
        </p:nvSpPr>
        <p:spPr>
          <a:xfrm>
            <a:off x="380999" y="1719071"/>
            <a:ext cx="8407893" cy="4407408"/>
          </a:xfrm>
        </p:spPr>
        <p:txBody>
          <a:bodyPr>
            <a:normAutofit/>
          </a:bodyPr>
          <a:lstStyle/>
          <a:p>
            <a:pPr algn="ctr">
              <a:buFont typeface="Lucida Grande"/>
              <a:buNone/>
              <a:defRPr/>
            </a:pPr>
            <a:r>
              <a:rPr lang="en-US" dirty="0"/>
              <a:t>Les Incoterms sont utiles pour déterminer deux choses :</a:t>
            </a:r>
          </a:p>
          <a:p>
            <a:pPr marL="0" indent="0" algn="ctr">
              <a:buNone/>
              <a:defRPr/>
            </a:pPr>
            <a:r>
              <a:rPr lang="en-US" dirty="0"/>
              <a:t>Où se produit le transfert des risques ?</a:t>
            </a:r>
          </a:p>
          <a:p>
            <a:pPr marL="0" indent="0" algn="ctr">
              <a:buNone/>
              <a:defRPr/>
            </a:pPr>
            <a:r>
              <a:rPr lang="en-US" dirty="0"/>
              <a:t>Comment les frais de transport sont-ils pris en charge par les parties ?</a:t>
            </a:r>
            <a:endParaRPr lang="en-GB" dirty="0"/>
          </a:p>
        </p:txBody>
      </p:sp>
      <p:sp>
        <p:nvSpPr>
          <p:cNvPr id="12" name="Titre 1">
            <a:extLst>
              <a:ext uri="{FF2B5EF4-FFF2-40B4-BE49-F238E27FC236}">
                <a16:creationId xmlns:a16="http://schemas.microsoft.com/office/drawing/2014/main" id="{6220D4E1-FA70-4FB8-9782-7951D09567E0}"/>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I - Incoterms : introduction</a:t>
            </a:r>
          </a:p>
        </p:txBody>
      </p:sp>
      <p:sp>
        <p:nvSpPr>
          <p:cNvPr id="8" name="Footer Placeholder 3">
            <a:extLst>
              <a:ext uri="{FF2B5EF4-FFF2-40B4-BE49-F238E27FC236}">
                <a16:creationId xmlns:a16="http://schemas.microsoft.com/office/drawing/2014/main" id="{DC56478D-F687-4E1F-ACA8-3192CEAFABAE}"/>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803605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1" name="Espace réservé du contenu 2">
            <a:extLst>
              <a:ext uri="{FF2B5EF4-FFF2-40B4-BE49-F238E27FC236}">
                <a16:creationId xmlns:a16="http://schemas.microsoft.com/office/drawing/2014/main" id="{7C1F32B6-8772-4F7E-A493-FAA5A105C19A}"/>
              </a:ext>
            </a:extLst>
          </p:cNvPr>
          <p:cNvSpPr>
            <a:spLocks noGrp="1"/>
          </p:cNvSpPr>
          <p:nvPr>
            <p:ph idx="1"/>
          </p:nvPr>
        </p:nvSpPr>
        <p:spPr>
          <a:xfrm>
            <a:off x="380999" y="1719071"/>
            <a:ext cx="8407893" cy="4407408"/>
          </a:xfrm>
        </p:spPr>
        <p:txBody>
          <a:bodyPr>
            <a:normAutofit/>
          </a:bodyPr>
          <a:lstStyle/>
          <a:p>
            <a:pPr algn="ctr">
              <a:buFont typeface="Lucida Grande"/>
              <a:buNone/>
              <a:defRPr/>
            </a:pPr>
            <a:r>
              <a:rPr lang="en-US" sz="2200" dirty="0"/>
              <a:t>Attention ! Les Incoterms ne précisent pas :</a:t>
            </a:r>
          </a:p>
          <a:p>
            <a:pPr algn="ctr">
              <a:buFontTx/>
              <a:buChar char="-"/>
              <a:defRPr/>
            </a:pPr>
            <a:r>
              <a:rPr lang="en-US" sz="2200" dirty="0"/>
              <a:t>Les conditions du contrat de vente</a:t>
            </a:r>
          </a:p>
          <a:p>
            <a:pPr algn="ctr">
              <a:buFontTx/>
              <a:buChar char="-"/>
              <a:defRPr/>
            </a:pPr>
            <a:r>
              <a:rPr lang="en-US" sz="2200" dirty="0"/>
              <a:t>Les conditions de paiement</a:t>
            </a:r>
          </a:p>
          <a:p>
            <a:pPr algn="ctr">
              <a:buFontTx/>
              <a:buChar char="-"/>
              <a:defRPr/>
            </a:pPr>
            <a:r>
              <a:rPr lang="en-US" sz="2200" dirty="0"/>
              <a:t>La loi applicable à la transaction</a:t>
            </a:r>
          </a:p>
          <a:p>
            <a:pPr algn="ctr">
              <a:buFontTx/>
              <a:buChar char="-"/>
              <a:defRPr/>
            </a:pPr>
            <a:r>
              <a:rPr lang="en-US" sz="2200" dirty="0"/>
              <a:t>Les spécifications du bien</a:t>
            </a:r>
          </a:p>
          <a:p>
            <a:pPr algn="ctr">
              <a:buFontTx/>
              <a:buChar char="-"/>
              <a:defRPr/>
            </a:pPr>
            <a:r>
              <a:rPr lang="en-US" sz="2200" dirty="0"/>
              <a:t>Les interdictions d'exportation et d'importation</a:t>
            </a:r>
            <a:endParaRPr lang="en-GB" sz="2200" dirty="0"/>
          </a:p>
        </p:txBody>
      </p:sp>
      <p:sp>
        <p:nvSpPr>
          <p:cNvPr id="12" name="Titre 1">
            <a:extLst>
              <a:ext uri="{FF2B5EF4-FFF2-40B4-BE49-F238E27FC236}">
                <a16:creationId xmlns:a16="http://schemas.microsoft.com/office/drawing/2014/main" id="{6220D4E1-FA70-4FB8-9782-7951D09567E0}"/>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I - Incoterms : introduction</a:t>
            </a:r>
          </a:p>
        </p:txBody>
      </p:sp>
      <p:sp>
        <p:nvSpPr>
          <p:cNvPr id="8" name="Footer Placeholder 3">
            <a:extLst>
              <a:ext uri="{FF2B5EF4-FFF2-40B4-BE49-F238E27FC236}">
                <a16:creationId xmlns:a16="http://schemas.microsoft.com/office/drawing/2014/main" id="{DC56478D-F687-4E1F-ACA8-3192CEAFABAE}"/>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287599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0" name="Espace réservé du contenu 2">
            <a:extLst>
              <a:ext uri="{FF2B5EF4-FFF2-40B4-BE49-F238E27FC236}">
                <a16:creationId xmlns:a16="http://schemas.microsoft.com/office/drawing/2014/main" id="{9B2CDCF8-1464-4842-9BE0-502B75A84B02}"/>
              </a:ext>
            </a:extLst>
          </p:cNvPr>
          <p:cNvSpPr>
            <a:spLocks noGrp="1"/>
          </p:cNvSpPr>
          <p:nvPr>
            <p:ph idx="1"/>
          </p:nvPr>
        </p:nvSpPr>
        <p:spPr>
          <a:xfrm>
            <a:off x="380999" y="1719071"/>
            <a:ext cx="8407893" cy="4407408"/>
          </a:xfrm>
        </p:spPr>
        <p:txBody>
          <a:bodyPr>
            <a:normAutofit/>
          </a:bodyPr>
          <a:lstStyle/>
          <a:p>
            <a:pPr marL="0" indent="0" algn="ctr">
              <a:buNone/>
            </a:pPr>
            <a:r>
              <a:rPr lang="en-GB" sz="4000" dirty="0"/>
              <a:t>A – Incoterms 2020</a:t>
            </a:r>
          </a:p>
        </p:txBody>
      </p:sp>
      <p:sp>
        <p:nvSpPr>
          <p:cNvPr id="11" name="Titre 1">
            <a:extLst>
              <a:ext uri="{FF2B5EF4-FFF2-40B4-BE49-F238E27FC236}">
                <a16:creationId xmlns:a16="http://schemas.microsoft.com/office/drawing/2014/main" id="{1C06D8B8-D582-4289-93D7-FF57267B9DC2}"/>
              </a:ext>
            </a:extLst>
          </p:cNvPr>
          <p:cNvSpPr>
            <a:spLocks noGrp="1"/>
          </p:cNvSpPr>
          <p:nvPr>
            <p:ph type="title"/>
          </p:nvPr>
        </p:nvSpPr>
        <p:spPr>
          <a:xfrm>
            <a:off x="381000" y="355847"/>
            <a:ext cx="8381260" cy="1054394"/>
          </a:xfrm>
        </p:spPr>
        <p:txBody>
          <a:bodyPr>
            <a:normAutofit/>
          </a:bodyPr>
          <a:lstStyle/>
          <a:p>
            <a:pPr algn="ctr"/>
            <a:r>
              <a:rPr lang="fr-FR" dirty="0">
                <a:solidFill>
                  <a:schemeClr val="bg1"/>
                </a:solidFill>
                <a:latin typeface="Franklin Gothic Book" panose="020B0503020102020204" pitchFamily="34" charset="0"/>
              </a:rPr>
              <a:t>I - Incoterms</a:t>
            </a:r>
          </a:p>
        </p:txBody>
      </p:sp>
      <p:sp>
        <p:nvSpPr>
          <p:cNvPr id="8" name="Footer Placeholder 3">
            <a:extLst>
              <a:ext uri="{FF2B5EF4-FFF2-40B4-BE49-F238E27FC236}">
                <a16:creationId xmlns:a16="http://schemas.microsoft.com/office/drawing/2014/main" id="{4D47DD2E-2A42-43E7-AB58-9FC1E7294212}"/>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3452565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1" name="Espace réservé du contenu 2">
            <a:extLst>
              <a:ext uri="{FF2B5EF4-FFF2-40B4-BE49-F238E27FC236}">
                <a16:creationId xmlns:a16="http://schemas.microsoft.com/office/drawing/2014/main" id="{5D80A5D2-E778-43AA-B117-EDFE74AA871B}"/>
              </a:ext>
            </a:extLst>
          </p:cNvPr>
          <p:cNvSpPr>
            <a:spLocks noGrp="1"/>
          </p:cNvSpPr>
          <p:nvPr>
            <p:ph idx="1"/>
          </p:nvPr>
        </p:nvSpPr>
        <p:spPr>
          <a:xfrm>
            <a:off x="251520" y="1700808"/>
            <a:ext cx="8550275" cy="4808537"/>
          </a:xfrm>
          <a:ln>
            <a:noFill/>
          </a:ln>
        </p:spPr>
        <p:txBody>
          <a:bodyPr>
            <a:normAutofit/>
          </a:bodyPr>
          <a:lstStyle/>
          <a:p>
            <a:pPr>
              <a:buFontTx/>
              <a:buNone/>
            </a:pPr>
            <a:r>
              <a:rPr lang="en-GB" dirty="0"/>
              <a:t>	</a:t>
            </a:r>
          </a:p>
        </p:txBody>
      </p:sp>
      <p:sp>
        <p:nvSpPr>
          <p:cNvPr id="12" name="Titre 1">
            <a:extLst>
              <a:ext uri="{FF2B5EF4-FFF2-40B4-BE49-F238E27FC236}">
                <a16:creationId xmlns:a16="http://schemas.microsoft.com/office/drawing/2014/main" id="{437921F8-BB5B-41A7-9391-87799D310ABB}"/>
              </a:ext>
            </a:extLst>
          </p:cNvPr>
          <p:cNvSpPr>
            <a:spLocks noGrp="1"/>
          </p:cNvSpPr>
          <p:nvPr>
            <p:ph type="title"/>
          </p:nvPr>
        </p:nvSpPr>
        <p:spPr>
          <a:xfrm>
            <a:off x="381000" y="355847"/>
            <a:ext cx="8381260" cy="1054394"/>
          </a:xfrm>
        </p:spPr>
        <p:txBody>
          <a:bodyPr>
            <a:normAutofit/>
          </a:bodyPr>
          <a:lstStyle/>
          <a:p>
            <a:pPr algn="ctr"/>
            <a:r>
              <a:rPr lang="fr-FR" sz="4000" dirty="0">
                <a:solidFill>
                  <a:schemeClr val="bg1"/>
                </a:solidFill>
                <a:latin typeface="Franklin Gothic Book" panose="020B0503020102020204" pitchFamily="34" charset="0"/>
              </a:rPr>
              <a:t>A – Incoterms 2020 : classification</a:t>
            </a:r>
          </a:p>
        </p:txBody>
      </p:sp>
      <p:sp>
        <p:nvSpPr>
          <p:cNvPr id="8" name="Footer Placeholder 3">
            <a:extLst>
              <a:ext uri="{FF2B5EF4-FFF2-40B4-BE49-F238E27FC236}">
                <a16:creationId xmlns:a16="http://schemas.microsoft.com/office/drawing/2014/main" id="{AEF67350-CF74-4D26-94ED-9423867E59D6}"/>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
        <p:nvSpPr>
          <p:cNvPr id="9" name="ZoneTexte 8">
            <a:extLst>
              <a:ext uri="{FF2B5EF4-FFF2-40B4-BE49-F238E27FC236}">
                <a16:creationId xmlns:a16="http://schemas.microsoft.com/office/drawing/2014/main" id="{6B3ABD1A-8133-48E8-818F-24687FED355A}"/>
              </a:ext>
            </a:extLst>
          </p:cNvPr>
          <p:cNvSpPr txBox="1"/>
          <p:nvPr/>
        </p:nvSpPr>
        <p:spPr>
          <a:xfrm>
            <a:off x="251520" y="2877179"/>
            <a:ext cx="8640960" cy="1815882"/>
          </a:xfrm>
          <a:prstGeom prst="rect">
            <a:avLst/>
          </a:prstGeom>
          <a:noFill/>
        </p:spPr>
        <p:txBody>
          <a:bodyPr wrap="square">
            <a:spAutoFit/>
          </a:bodyPr>
          <a:lstStyle/>
          <a:p>
            <a:pPr algn="ctr"/>
            <a:r>
              <a:rPr lang="fr-FR" sz="2800" dirty="0">
                <a:solidFill>
                  <a:srgbClr val="002060"/>
                </a:solidFill>
                <a:latin typeface="Corbel" panose="020B0503020204020204" pitchFamily="34" charset="0"/>
              </a:rPr>
              <a:t>Les Incoterms peuvent </a:t>
            </a:r>
            <a:r>
              <a:rPr lang="fr-FR" sz="2800" dirty="0" err="1">
                <a:solidFill>
                  <a:srgbClr val="002060"/>
                </a:solidFill>
                <a:latin typeface="Corbel" panose="020B0503020204020204" pitchFamily="34" charset="0"/>
              </a:rPr>
              <a:t>être classés </a:t>
            </a:r>
            <a:r>
              <a:rPr lang="fr-FR" sz="2800" dirty="0">
                <a:solidFill>
                  <a:srgbClr val="002060"/>
                </a:solidFill>
                <a:latin typeface="Corbel" panose="020B0503020204020204" pitchFamily="34" charset="0"/>
              </a:rPr>
              <a:t>en </a:t>
            </a:r>
            <a:r>
              <a:rPr lang="fr-FR" sz="2800" dirty="0" err="1">
                <a:solidFill>
                  <a:srgbClr val="002060"/>
                </a:solidFill>
                <a:latin typeface="Corbel" panose="020B0503020204020204" pitchFamily="34" charset="0"/>
              </a:rPr>
              <a:t>trois catégories </a:t>
            </a:r>
            <a:r>
              <a:rPr lang="fr-FR" sz="2800" dirty="0">
                <a:solidFill>
                  <a:srgbClr val="002060"/>
                </a:solidFill>
                <a:latin typeface="Corbel" panose="020B0503020204020204" pitchFamily="34" charset="0"/>
              </a:rPr>
              <a:t>:</a:t>
            </a:r>
          </a:p>
          <a:p>
            <a:pPr algn="ctr"/>
            <a:r>
              <a:rPr lang="fr-FR" sz="2800" dirty="0">
                <a:solidFill>
                  <a:srgbClr val="002060"/>
                </a:solidFill>
                <a:latin typeface="Corbel" panose="020B0503020204020204" pitchFamily="34" charset="0"/>
              </a:rPr>
              <a:t>- ventes au </a:t>
            </a:r>
            <a:r>
              <a:rPr lang="fr-FR" sz="2800" dirty="0" err="1">
                <a:solidFill>
                  <a:srgbClr val="002060"/>
                </a:solidFill>
                <a:latin typeface="Corbel" panose="020B0503020204020204" pitchFamily="34" charset="0"/>
              </a:rPr>
              <a:t>départ </a:t>
            </a:r>
            <a:r>
              <a:rPr lang="fr-FR" sz="2800" dirty="0">
                <a:solidFill>
                  <a:srgbClr val="002060"/>
                </a:solidFill>
                <a:latin typeface="Corbel" panose="020B0503020204020204" pitchFamily="34" charset="0"/>
              </a:rPr>
              <a:t>/ ventes à </a:t>
            </a:r>
            <a:r>
              <a:rPr lang="fr-FR" sz="2800" dirty="0" err="1">
                <a:solidFill>
                  <a:srgbClr val="002060"/>
                </a:solidFill>
                <a:latin typeface="Corbel" panose="020B0503020204020204" pitchFamily="34" charset="0"/>
              </a:rPr>
              <a:t>l'arrivée</a:t>
            </a:r>
            <a:endParaRPr lang="fr-FR" sz="2800" dirty="0">
              <a:solidFill>
                <a:srgbClr val="002060"/>
              </a:solidFill>
              <a:latin typeface="Corbel" panose="020B0503020204020204" pitchFamily="34" charset="0"/>
            </a:endParaRPr>
          </a:p>
          <a:p>
            <a:pPr marL="457200" indent="-457200" algn="ctr">
              <a:buFontTx/>
              <a:buChar char="-"/>
            </a:pPr>
            <a:r>
              <a:rPr lang="fr-FR" sz="2800" dirty="0">
                <a:solidFill>
                  <a:srgbClr val="002060"/>
                </a:solidFill>
                <a:latin typeface="Corbel" panose="020B0503020204020204" pitchFamily="34" charset="0"/>
              </a:rPr>
              <a:t>4 groupes : groupe E ; groupe F ; groupe C ; groupe D</a:t>
            </a:r>
          </a:p>
          <a:p>
            <a:pPr marL="457200" indent="-457200" algn="ctr">
              <a:buFontTx/>
              <a:buChar char="-"/>
            </a:pPr>
            <a:r>
              <a:rPr lang="en-US" sz="2800" dirty="0">
                <a:solidFill>
                  <a:srgbClr val="002060"/>
                </a:solidFill>
                <a:latin typeface="Corbel" panose="020B0503020204020204" pitchFamily="34" charset="0"/>
              </a:rPr>
              <a:t>Transport maritime et fluvial / Transport multimodal et tous modes</a:t>
            </a:r>
            <a:endParaRPr lang="fr-FR" sz="2800" dirty="0">
              <a:solidFill>
                <a:srgbClr val="002060"/>
              </a:solidFill>
              <a:latin typeface="Corbel" panose="020B0503020204020204" pitchFamily="34" charset="0"/>
            </a:endParaRPr>
          </a:p>
        </p:txBody>
      </p:sp>
    </p:spTree>
    <p:extLst>
      <p:ext uri="{BB962C8B-B14F-4D97-AF65-F5344CB8AC3E}">
        <p14:creationId xmlns:p14="http://schemas.microsoft.com/office/powerpoint/2010/main" val="537535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2" name="Espace réservé du contenu 2">
            <a:extLst>
              <a:ext uri="{FF2B5EF4-FFF2-40B4-BE49-F238E27FC236}">
                <a16:creationId xmlns:a16="http://schemas.microsoft.com/office/drawing/2014/main" id="{94BDB73F-324F-4DED-8C2F-76C78827A4C1}"/>
              </a:ext>
            </a:extLst>
          </p:cNvPr>
          <p:cNvSpPr>
            <a:spLocks noGrp="1"/>
          </p:cNvSpPr>
          <p:nvPr>
            <p:ph idx="1"/>
          </p:nvPr>
        </p:nvSpPr>
        <p:spPr>
          <a:xfrm>
            <a:off x="380999" y="1719071"/>
            <a:ext cx="8407893" cy="4407408"/>
          </a:xfrm>
        </p:spPr>
        <p:txBody>
          <a:bodyPr>
            <a:normAutofit/>
          </a:bodyPr>
          <a:lstStyle/>
          <a:p>
            <a:pPr marL="0" indent="0">
              <a:buNone/>
              <a:defRPr/>
            </a:pPr>
            <a:r>
              <a:rPr lang="en-GB" sz="2200" dirty="0"/>
              <a:t>Vente au départ / vente à l'arrivée :</a:t>
            </a:r>
          </a:p>
          <a:p>
            <a:pPr>
              <a:buFontTx/>
              <a:buChar char="-"/>
              <a:defRPr/>
            </a:pPr>
            <a:r>
              <a:rPr lang="en-US" sz="2200" b="1" u="sng" dirty="0"/>
              <a:t>Vente au départ : </a:t>
            </a:r>
            <a:r>
              <a:rPr lang="en-US" sz="2200" dirty="0"/>
              <a:t>le transfert des risques liés au transport des marchandises s'effectue dans le pays du vendeur. Ces risques sont donc principalement supportés par l'acheteur.</a:t>
            </a:r>
          </a:p>
          <a:p>
            <a:pPr>
              <a:buFontTx/>
              <a:buChar char="-"/>
              <a:defRPr/>
            </a:pPr>
            <a:r>
              <a:rPr lang="en-US" sz="2200" b="1" u="sng" dirty="0"/>
              <a:t>Vente à l'arrivée : </a:t>
            </a:r>
            <a:r>
              <a:rPr lang="en-US" sz="2200" dirty="0"/>
              <a:t>le transfert des risques a lieu dans le pays de l'acheteur (après le transport principal). Ces risques sont donc principalement supportés par le vendeur.</a:t>
            </a:r>
            <a:endParaRPr lang="en-GB" sz="2200" dirty="0"/>
          </a:p>
        </p:txBody>
      </p:sp>
      <p:sp>
        <p:nvSpPr>
          <p:cNvPr id="13" name="Titre 1">
            <a:extLst>
              <a:ext uri="{FF2B5EF4-FFF2-40B4-BE49-F238E27FC236}">
                <a16:creationId xmlns:a16="http://schemas.microsoft.com/office/drawing/2014/main" id="{B877C956-FA53-44D2-9F10-6D280F372994}"/>
              </a:ext>
            </a:extLst>
          </p:cNvPr>
          <p:cNvSpPr>
            <a:spLocks noGrp="1"/>
          </p:cNvSpPr>
          <p:nvPr>
            <p:ph type="title"/>
          </p:nvPr>
        </p:nvSpPr>
        <p:spPr>
          <a:xfrm>
            <a:off x="381000" y="355847"/>
            <a:ext cx="8381260" cy="1054394"/>
          </a:xfrm>
        </p:spPr>
        <p:txBody>
          <a:bodyPr>
            <a:normAutofit/>
          </a:bodyPr>
          <a:lstStyle/>
          <a:p>
            <a:pPr algn="ctr"/>
            <a:r>
              <a:rPr lang="fr-FR" sz="4000" dirty="0">
                <a:solidFill>
                  <a:schemeClr val="bg1"/>
                </a:solidFill>
                <a:latin typeface="Franklin Gothic Book" panose="020B0503020102020204" pitchFamily="34" charset="0"/>
              </a:rPr>
              <a:t>A – Incoterms 2020 : classification</a:t>
            </a:r>
          </a:p>
        </p:txBody>
      </p:sp>
      <p:sp>
        <p:nvSpPr>
          <p:cNvPr id="8" name="Footer Placeholder 3">
            <a:extLst>
              <a:ext uri="{FF2B5EF4-FFF2-40B4-BE49-F238E27FC236}">
                <a16:creationId xmlns:a16="http://schemas.microsoft.com/office/drawing/2014/main" id="{03BBE026-9168-44F0-AA69-0AF78594DCC5}"/>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1964107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1" name="Espace réservé du contenu 2">
            <a:extLst>
              <a:ext uri="{FF2B5EF4-FFF2-40B4-BE49-F238E27FC236}">
                <a16:creationId xmlns:a16="http://schemas.microsoft.com/office/drawing/2014/main" id="{3402BF0D-C7A8-4811-829A-67371745EE80}"/>
              </a:ext>
            </a:extLst>
          </p:cNvPr>
          <p:cNvSpPr>
            <a:spLocks noGrp="1"/>
          </p:cNvSpPr>
          <p:nvPr>
            <p:ph idx="1"/>
          </p:nvPr>
        </p:nvSpPr>
        <p:spPr>
          <a:xfrm>
            <a:off x="380999" y="1719071"/>
            <a:ext cx="8407893" cy="4407408"/>
          </a:xfrm>
        </p:spPr>
        <p:txBody>
          <a:bodyPr>
            <a:normAutofit/>
          </a:bodyPr>
          <a:lstStyle/>
          <a:p>
            <a:pPr marL="0" indent="0">
              <a:buNone/>
            </a:pPr>
            <a:r>
              <a:rPr lang="en-GB" sz="2000" dirty="0"/>
              <a:t>E ; F ; C ; D :</a:t>
            </a:r>
          </a:p>
          <a:p>
            <a:pPr>
              <a:buFontTx/>
              <a:buChar char="-"/>
            </a:pPr>
            <a:r>
              <a:rPr lang="en-US" sz="2000" b="1" u="sng" dirty="0"/>
              <a:t>Groupe E : </a:t>
            </a:r>
            <a:r>
              <a:rPr lang="en-US" sz="2000" dirty="0"/>
              <a:t>le vendeur met les marchandises à la disposition de l'acheteur, dans ses propres locaux, à l'usine =&amp;gt; </a:t>
            </a:r>
            <a:r>
              <a:rPr lang="en-US" sz="2000" b="1" u="sng" dirty="0"/>
              <a:t>EXW</a:t>
            </a:r>
            <a:r>
              <a:rPr lang="en-US" sz="2000" dirty="0"/>
              <a:t>.</a:t>
            </a:r>
          </a:p>
          <a:p>
            <a:pPr marL="0" indent="0">
              <a:buNone/>
            </a:pPr>
            <a:r>
              <a:rPr lang="en-US" sz="2000" dirty="0"/>
              <a:t>- </a:t>
            </a:r>
            <a:r>
              <a:rPr lang="en-US" sz="2000" b="1" u="sng" dirty="0"/>
              <a:t>Groupe F : </a:t>
            </a:r>
            <a:r>
              <a:rPr lang="en-US" sz="2000" dirty="0"/>
              <a:t>le transport principal est commandé et payé par l'acheteur, le vendeur se charge uniquement de remettre les marchandises à un transporteur désigné par l'acheteur =&amp;gt; </a:t>
            </a:r>
            <a:r>
              <a:rPr lang="en-US" sz="2000" b="1" u="sng" dirty="0"/>
              <a:t>FCA </a:t>
            </a:r>
            <a:r>
              <a:rPr lang="en-US" sz="2000" dirty="0"/>
              <a:t>; </a:t>
            </a:r>
            <a:r>
              <a:rPr lang="en-US" sz="2000" b="1" u="sng" dirty="0"/>
              <a:t>FAS </a:t>
            </a:r>
            <a:r>
              <a:rPr lang="en-US" sz="2000" dirty="0"/>
              <a:t>; </a:t>
            </a:r>
            <a:r>
              <a:rPr lang="en-US" sz="2000" b="1" u="sng" dirty="0"/>
              <a:t>FOB</a:t>
            </a:r>
            <a:r>
              <a:rPr lang="en-US" sz="2000" dirty="0"/>
              <a:t>.</a:t>
            </a:r>
          </a:p>
          <a:p>
            <a:pPr marL="0" indent="0">
              <a:buNone/>
            </a:pPr>
            <a:r>
              <a:rPr lang="en-US" sz="2000" dirty="0"/>
              <a:t>- </a:t>
            </a:r>
            <a:r>
              <a:rPr lang="en-US" sz="2000" b="1" u="sng" dirty="0"/>
              <a:t>Groupe C : </a:t>
            </a:r>
            <a:r>
              <a:rPr lang="en-US" sz="2000" dirty="0"/>
              <a:t>le transport principal est commandé par le vendeur, qui en supporte les frais mais pas les risques encourus pendant le transport =&amp;gt; </a:t>
            </a:r>
            <a:r>
              <a:rPr lang="en-US" sz="2000" b="1" u="sng" dirty="0"/>
              <a:t>CFR </a:t>
            </a:r>
            <a:r>
              <a:rPr lang="en-US" sz="2000" dirty="0"/>
              <a:t>; </a:t>
            </a:r>
            <a:r>
              <a:rPr lang="en-US" sz="2000" b="1" u="sng" dirty="0"/>
              <a:t>CIF </a:t>
            </a:r>
            <a:r>
              <a:rPr lang="en-US" sz="2000" dirty="0"/>
              <a:t>; </a:t>
            </a:r>
            <a:r>
              <a:rPr lang="en-US" sz="2000" b="1" u="sng" dirty="0"/>
              <a:t>CPT </a:t>
            </a:r>
            <a:r>
              <a:rPr lang="en-US" sz="2000" dirty="0"/>
              <a:t>; </a:t>
            </a:r>
            <a:r>
              <a:rPr lang="en-US" sz="2000" b="1" u="sng" dirty="0"/>
              <a:t>CIP</a:t>
            </a:r>
            <a:r>
              <a:rPr lang="en-US" sz="2000" dirty="0"/>
              <a:t>.</a:t>
            </a:r>
          </a:p>
          <a:p>
            <a:pPr marL="0" indent="0">
              <a:buNone/>
            </a:pPr>
            <a:r>
              <a:rPr lang="en-US" sz="2000" dirty="0"/>
              <a:t>- </a:t>
            </a:r>
            <a:r>
              <a:rPr lang="en-US" sz="2000" b="1" u="sng" dirty="0"/>
              <a:t>Groupe D : </a:t>
            </a:r>
            <a:r>
              <a:rPr lang="en-US" sz="2000" dirty="0"/>
              <a:t>le vendeur supporte tous les frais et risques liés à l'acheminement des marchandises jusqu'au lieu de destination désigné =&amp;gt; </a:t>
            </a:r>
            <a:r>
              <a:rPr lang="en-US" sz="2000" b="1" u="sng" dirty="0"/>
              <a:t>DAP </a:t>
            </a:r>
            <a:r>
              <a:rPr lang="en-US" sz="2000" dirty="0"/>
              <a:t>; </a:t>
            </a:r>
            <a:r>
              <a:rPr lang="en-US" sz="2000" b="1" u="sng" dirty="0"/>
              <a:t>DPU </a:t>
            </a:r>
            <a:r>
              <a:rPr lang="en-US" sz="2000" dirty="0"/>
              <a:t>; </a:t>
            </a:r>
            <a:r>
              <a:rPr lang="en-US" sz="2000" b="1" u="sng" dirty="0"/>
              <a:t>DDP</a:t>
            </a:r>
            <a:r>
              <a:rPr lang="en-US" sz="2000" dirty="0"/>
              <a:t>.</a:t>
            </a:r>
            <a:endParaRPr lang="en-GB" sz="2000" dirty="0"/>
          </a:p>
        </p:txBody>
      </p:sp>
      <p:sp>
        <p:nvSpPr>
          <p:cNvPr id="12" name="Titre 1">
            <a:extLst>
              <a:ext uri="{FF2B5EF4-FFF2-40B4-BE49-F238E27FC236}">
                <a16:creationId xmlns:a16="http://schemas.microsoft.com/office/drawing/2014/main" id="{C8A3B788-13D1-4A24-858A-9F6EF3401F61}"/>
              </a:ext>
            </a:extLst>
          </p:cNvPr>
          <p:cNvSpPr>
            <a:spLocks noGrp="1"/>
          </p:cNvSpPr>
          <p:nvPr>
            <p:ph type="title"/>
          </p:nvPr>
        </p:nvSpPr>
        <p:spPr>
          <a:xfrm>
            <a:off x="381000" y="355847"/>
            <a:ext cx="8381260" cy="1054394"/>
          </a:xfrm>
        </p:spPr>
        <p:txBody>
          <a:bodyPr>
            <a:noAutofit/>
          </a:bodyPr>
          <a:lstStyle/>
          <a:p>
            <a:pPr algn="ctr"/>
            <a:r>
              <a:rPr lang="fr-FR" sz="4000" dirty="0">
                <a:solidFill>
                  <a:schemeClr val="bg1"/>
                </a:solidFill>
                <a:latin typeface="Franklin Gothic Book" panose="020B0503020102020204" pitchFamily="34" charset="0"/>
              </a:rPr>
              <a:t>A – Incoterms 2020 : classification</a:t>
            </a:r>
          </a:p>
        </p:txBody>
      </p:sp>
      <p:sp>
        <p:nvSpPr>
          <p:cNvPr id="8" name="Footer Placeholder 3">
            <a:extLst>
              <a:ext uri="{FF2B5EF4-FFF2-40B4-BE49-F238E27FC236}">
                <a16:creationId xmlns:a16="http://schemas.microsoft.com/office/drawing/2014/main" id="{63B3E7E7-64FA-458A-9E7B-9F4F6C50C861}"/>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2860860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2" name="Espace réservé du contenu 2">
            <a:extLst>
              <a:ext uri="{FF2B5EF4-FFF2-40B4-BE49-F238E27FC236}">
                <a16:creationId xmlns:a16="http://schemas.microsoft.com/office/drawing/2014/main" id="{B4422B17-FEE4-4A30-9B1B-10E0952A98C8}"/>
              </a:ext>
            </a:extLst>
          </p:cNvPr>
          <p:cNvSpPr>
            <a:spLocks noGrp="1"/>
          </p:cNvSpPr>
          <p:nvPr>
            <p:ph idx="1"/>
          </p:nvPr>
        </p:nvSpPr>
        <p:spPr>
          <a:xfrm>
            <a:off x="380999" y="1719071"/>
            <a:ext cx="8407893" cy="4407408"/>
          </a:xfrm>
        </p:spPr>
        <p:txBody>
          <a:bodyPr>
            <a:normAutofit/>
          </a:bodyPr>
          <a:lstStyle/>
          <a:p>
            <a:pPr>
              <a:buFontTx/>
              <a:buChar char="-"/>
            </a:pPr>
            <a:r>
              <a:rPr lang="en-US" i="1" dirty="0"/>
              <a:t>Transport maritime et fluvial </a:t>
            </a:r>
            <a:r>
              <a:rPr lang="en-US" dirty="0"/>
              <a:t>: </a:t>
            </a:r>
            <a:r>
              <a:rPr lang="en-US" b="1" u="sng" dirty="0"/>
              <a:t>FAS </a:t>
            </a:r>
            <a:r>
              <a:rPr lang="en-US" dirty="0"/>
              <a:t>(franco le long du navire), </a:t>
            </a:r>
            <a:r>
              <a:rPr lang="en-US" b="1" u="sng" dirty="0"/>
              <a:t>FOB </a:t>
            </a:r>
            <a:r>
              <a:rPr lang="en-US" dirty="0"/>
              <a:t>(franco à bord), </a:t>
            </a:r>
            <a:r>
              <a:rPr lang="en-US" b="1" u="sng" dirty="0"/>
              <a:t>CFR </a:t>
            </a:r>
            <a:r>
              <a:rPr lang="en-US" dirty="0"/>
              <a:t>(coût et fret), </a:t>
            </a:r>
            <a:r>
              <a:rPr lang="en-US" b="1" u="sng" dirty="0"/>
              <a:t>CIF </a:t>
            </a:r>
            <a:r>
              <a:rPr lang="en-US" dirty="0"/>
              <a:t>(coût, assurance et fret).</a:t>
            </a:r>
          </a:p>
          <a:p>
            <a:pPr>
              <a:buFontTx/>
              <a:buChar char="-"/>
            </a:pPr>
            <a:r>
              <a:rPr lang="en-US" i="1" dirty="0"/>
              <a:t>Transport multimodal et tous modes de transport </a:t>
            </a:r>
            <a:r>
              <a:rPr lang="en-US" dirty="0"/>
              <a:t>: </a:t>
            </a:r>
            <a:r>
              <a:rPr lang="en-US" b="1" u="sng" dirty="0"/>
              <a:t>EXW </a:t>
            </a:r>
            <a:r>
              <a:rPr lang="en-US" dirty="0"/>
              <a:t>(départ usine), </a:t>
            </a:r>
            <a:r>
              <a:rPr lang="en-US" b="1" u="sng" dirty="0"/>
              <a:t>FCA </a:t>
            </a:r>
            <a:r>
              <a:rPr lang="en-US" dirty="0"/>
              <a:t>(franco transporteur), </a:t>
            </a:r>
            <a:r>
              <a:rPr lang="en-US" b="1" u="sng" dirty="0"/>
              <a:t>CPT </a:t>
            </a:r>
            <a:r>
              <a:rPr lang="en-US" dirty="0"/>
              <a:t>(transport payé jusqu'à), </a:t>
            </a:r>
            <a:r>
              <a:rPr lang="en-US" b="1" u="sng" dirty="0"/>
              <a:t>CIP </a:t>
            </a:r>
            <a:r>
              <a:rPr lang="en-US" dirty="0"/>
              <a:t>(transport et assurance payés jusqu'à), </a:t>
            </a:r>
            <a:r>
              <a:rPr lang="en-US" b="1" u="sng" dirty="0"/>
              <a:t>DAP </a:t>
            </a:r>
            <a:r>
              <a:rPr lang="en-US" dirty="0"/>
              <a:t>(livré à destination), </a:t>
            </a:r>
            <a:r>
              <a:rPr lang="en-US" b="1" u="sng" dirty="0"/>
              <a:t>DPU </a:t>
            </a:r>
            <a:r>
              <a:rPr lang="en-US" dirty="0"/>
              <a:t>(livré à destination déchargé), </a:t>
            </a:r>
            <a:r>
              <a:rPr lang="en-US" b="1" u="sng" dirty="0"/>
              <a:t>DDP </a:t>
            </a:r>
            <a:r>
              <a:rPr lang="en-US" dirty="0"/>
              <a:t>(livré droits acquittés)</a:t>
            </a:r>
            <a:endParaRPr lang="fr-FR" dirty="0"/>
          </a:p>
        </p:txBody>
      </p:sp>
      <p:sp>
        <p:nvSpPr>
          <p:cNvPr id="13" name="Titre 1">
            <a:extLst>
              <a:ext uri="{FF2B5EF4-FFF2-40B4-BE49-F238E27FC236}">
                <a16:creationId xmlns:a16="http://schemas.microsoft.com/office/drawing/2014/main" id="{AD20F3BF-AAC8-4F20-88D4-3938CF1BE90A}"/>
              </a:ext>
            </a:extLst>
          </p:cNvPr>
          <p:cNvSpPr>
            <a:spLocks noGrp="1"/>
          </p:cNvSpPr>
          <p:nvPr>
            <p:ph type="title"/>
          </p:nvPr>
        </p:nvSpPr>
        <p:spPr>
          <a:xfrm>
            <a:off x="381000" y="355847"/>
            <a:ext cx="8381260" cy="1054394"/>
          </a:xfrm>
        </p:spPr>
        <p:txBody>
          <a:bodyPr>
            <a:normAutofit/>
          </a:bodyPr>
          <a:lstStyle/>
          <a:p>
            <a:r>
              <a:rPr lang="fr-FR" sz="4000" dirty="0">
                <a:solidFill>
                  <a:schemeClr val="bg1"/>
                </a:solidFill>
                <a:latin typeface="Franklin Gothic Book" panose="020B0503020102020204" pitchFamily="34" charset="0"/>
              </a:rPr>
              <a:t>A – Incoterms 2020 : classification</a:t>
            </a:r>
          </a:p>
        </p:txBody>
      </p:sp>
      <p:sp>
        <p:nvSpPr>
          <p:cNvPr id="8" name="Footer Placeholder 3">
            <a:extLst>
              <a:ext uri="{FF2B5EF4-FFF2-40B4-BE49-F238E27FC236}">
                <a16:creationId xmlns:a16="http://schemas.microsoft.com/office/drawing/2014/main" id="{0D42CCA5-D8C2-4A85-A3B7-8037DA256E95}"/>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788075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2" name="Espace réservé du contenu 2">
            <a:extLst>
              <a:ext uri="{FF2B5EF4-FFF2-40B4-BE49-F238E27FC236}">
                <a16:creationId xmlns:a16="http://schemas.microsoft.com/office/drawing/2014/main" id="{B4422B17-FEE4-4A30-9B1B-10E0952A98C8}"/>
              </a:ext>
            </a:extLst>
          </p:cNvPr>
          <p:cNvSpPr>
            <a:spLocks noGrp="1"/>
          </p:cNvSpPr>
          <p:nvPr>
            <p:ph idx="1"/>
          </p:nvPr>
        </p:nvSpPr>
        <p:spPr>
          <a:xfrm>
            <a:off x="201694" y="4257236"/>
            <a:ext cx="8740611" cy="1732084"/>
          </a:xfrm>
        </p:spPr>
        <p:txBody>
          <a:bodyPr>
            <a:noAutofit/>
          </a:bodyPr>
          <a:lstStyle/>
          <a:p>
            <a:pPr algn="just">
              <a:buFontTx/>
              <a:buNone/>
            </a:pPr>
            <a:r>
              <a:rPr lang="en-US" sz="1400" b="1" u="sng" dirty="0"/>
              <a:t>Lieu de livraison : </a:t>
            </a:r>
            <a:r>
              <a:rPr lang="en-US" sz="1400" dirty="0"/>
              <a:t>usine du vendeur.</a:t>
            </a:r>
          </a:p>
          <a:p>
            <a:pPr marL="0" indent="0" algn="l">
              <a:buNone/>
            </a:pPr>
            <a:r>
              <a:rPr lang="en-US" sz="1400" b="1" u="sng" dirty="0"/>
              <a:t>Obligation du vendeur : </a:t>
            </a:r>
            <a:r>
              <a:rPr lang="en-US" sz="1400" strike="noStrike" baseline="0" dirty="0"/>
              <a:t>mettre les marchandises à la disposition de l'acheteur.</a:t>
            </a:r>
          </a:p>
          <a:p>
            <a:pPr marL="0" indent="0" algn="l">
              <a:buNone/>
            </a:pPr>
            <a:r>
              <a:rPr lang="en-US" sz="1400" strike="noStrike" baseline="0" dirty="0"/>
              <a:t>Mais : pas de dédouanement à l'exportation, pas de contrat de transport, pas de contrat d'assurance.</a:t>
            </a:r>
          </a:p>
          <a:p>
            <a:pPr algn="just">
              <a:buFontTx/>
              <a:buNone/>
            </a:pPr>
            <a:r>
              <a:rPr lang="en-US" sz="1400" dirty="0"/>
              <a:t>Une fois que les marchandises ont été mises à la disposition de l'acheteur à cet endroit, l'acheteur assume l'entière responsabilité de leur enlèvement et supporte tous les frais et risques y afférents.</a:t>
            </a:r>
            <a:endParaRPr lang="en-GB" sz="1400" dirty="0"/>
          </a:p>
        </p:txBody>
      </p:sp>
      <p:sp>
        <p:nvSpPr>
          <p:cNvPr id="13" name="Titre 1">
            <a:extLst>
              <a:ext uri="{FF2B5EF4-FFF2-40B4-BE49-F238E27FC236}">
                <a16:creationId xmlns:a16="http://schemas.microsoft.com/office/drawing/2014/main" id="{AD20F3BF-AAC8-4F20-88D4-3938CF1BE90A}"/>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EXW : Ex Works</a:t>
            </a:r>
          </a:p>
        </p:txBody>
      </p:sp>
      <p:sp>
        <p:nvSpPr>
          <p:cNvPr id="8" name="Footer Placeholder 3">
            <a:extLst>
              <a:ext uri="{FF2B5EF4-FFF2-40B4-BE49-F238E27FC236}">
                <a16:creationId xmlns:a16="http://schemas.microsoft.com/office/drawing/2014/main" id="{D44CDBE3-1C59-42BE-94BF-47F0BEDD4D98}"/>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pic>
        <p:nvPicPr>
          <p:cNvPr id="4" name="Image 3" descr="Une image contenant texte, tableau blanc&#10;&#10;Description générée automatiquement">
            <a:extLst>
              <a:ext uri="{FF2B5EF4-FFF2-40B4-BE49-F238E27FC236}">
                <a16:creationId xmlns:a16="http://schemas.microsoft.com/office/drawing/2014/main" id="{5A8B51CD-AC10-4A05-B405-562DF57FF8A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2854" y="1652954"/>
            <a:ext cx="6787661" cy="2604282"/>
          </a:xfrm>
          <a:prstGeom prst="rect">
            <a:avLst/>
          </a:prstGeom>
        </p:spPr>
      </p:pic>
      <mc:AlternateContent xmlns:mc="http://schemas.openxmlformats.org/markup-compatibility/2006" xmlns:p14="http://schemas.microsoft.com/office/powerpoint/2010/main">
        <mc:Choice Requires="p14">
          <p:contentPart p14:bwMode="auto" r:id="rId6">
            <p14:nvContentPartPr>
              <p14:cNvPr id="2" name="Encre 1">
                <a:extLst>
                  <a:ext uri="{FF2B5EF4-FFF2-40B4-BE49-F238E27FC236}">
                    <a16:creationId xmlns:a16="http://schemas.microsoft.com/office/drawing/2014/main" id="{AD34A784-B217-4949-86A5-2F1ED85412E3}"/>
                  </a:ext>
                </a:extLst>
              </p14:cNvPr>
              <p14:cNvContentPartPr/>
              <p14:nvPr/>
            </p14:nvContentPartPr>
            <p14:xfrm>
              <a:off x="1963800" y="3093840"/>
              <a:ext cx="3240" cy="12240"/>
            </p14:xfrm>
          </p:contentPart>
        </mc:Choice>
        <mc:Fallback xmlns="" xmlns:a16="http://schemas.microsoft.com/office/drawing/2014/main" xmlns:a14="http://schemas.microsoft.com/office/drawing/2010/main">
          <p:pic>
            <p:nvPicPr>
              <p:cNvPr id="2" name="Encre 1">
                <a:extLst>
                  <a:ext uri="{FF2B5EF4-FFF2-40B4-BE49-F238E27FC236}">
                    <a16:creationId xmlns:a16="http://schemas.microsoft.com/office/drawing/2014/main" id="{AD34A784-B217-4949-86A5-2F1ED85412E3}"/>
                  </a:ext>
                </a:extLst>
              </p:cNvPr>
              <p:cNvPicPr/>
              <p:nvPr/>
            </p:nvPicPr>
            <p:blipFill>
              <a:blip r:embed="rId7"/>
              <a:stretch>
                <a:fillRect/>
              </a:stretch>
            </p:blipFill>
            <p:spPr>
              <a:xfrm>
                <a:off x="1954440" y="3084480"/>
                <a:ext cx="21960" cy="30960"/>
              </a:xfrm>
              <a:prstGeom prst="rect">
                <a:avLst/>
              </a:prstGeom>
            </p:spPr>
          </p:pic>
        </mc:Fallback>
      </mc:AlternateContent>
    </p:spTree>
    <p:extLst>
      <p:ext uri="{BB962C8B-B14F-4D97-AF65-F5344CB8AC3E}">
        <p14:creationId xmlns:p14="http://schemas.microsoft.com/office/powerpoint/2010/main" val="3558709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graphicFrame>
        <p:nvGraphicFramePr>
          <p:cNvPr id="2" name="Tableau 2">
            <a:extLst>
              <a:ext uri="{FF2B5EF4-FFF2-40B4-BE49-F238E27FC236}">
                <a16:creationId xmlns:a16="http://schemas.microsoft.com/office/drawing/2014/main" id="{9330B1F1-F210-4C27-8FD1-52838A5DD27F}"/>
              </a:ext>
            </a:extLst>
          </p:cNvPr>
          <p:cNvGraphicFramePr>
            <a:graphicFrameLocks noGrp="1"/>
          </p:cNvGraphicFramePr>
          <p:nvPr>
            <p:ph idx="1"/>
            <p:extLst>
              <p:ext uri="{D42A27DB-BD31-4B8C-83A1-F6EECF244321}">
                <p14:modId xmlns:p14="http://schemas.microsoft.com/office/powerpoint/2010/main" val="606254505"/>
              </p:ext>
            </p:extLst>
          </p:nvPr>
        </p:nvGraphicFramePr>
        <p:xfrm>
          <a:off x="201165" y="1679330"/>
          <a:ext cx="8731821" cy="4270455"/>
        </p:xfrm>
        <a:graphic>
          <a:graphicData uri="http://schemas.openxmlformats.org/drawingml/2006/table">
            <a:tbl>
              <a:tblPr firstRow="1" bandRow="1">
                <a:tableStyleId>{5C22544A-7EE6-4342-B048-85BDC9FD1C3A}</a:tableStyleId>
              </a:tblPr>
              <a:tblGrid>
                <a:gridCol w="1205604">
                  <a:extLst>
                    <a:ext uri="{9D8B030D-6E8A-4147-A177-3AD203B41FA5}">
                      <a16:colId xmlns:a16="http://schemas.microsoft.com/office/drawing/2014/main" val="3202074610"/>
                    </a:ext>
                  </a:extLst>
                </a:gridCol>
                <a:gridCol w="3666393">
                  <a:extLst>
                    <a:ext uri="{9D8B030D-6E8A-4147-A177-3AD203B41FA5}">
                      <a16:colId xmlns:a16="http://schemas.microsoft.com/office/drawing/2014/main" val="472523720"/>
                    </a:ext>
                  </a:extLst>
                </a:gridCol>
                <a:gridCol w="3859824">
                  <a:extLst>
                    <a:ext uri="{9D8B030D-6E8A-4147-A177-3AD203B41FA5}">
                      <a16:colId xmlns:a16="http://schemas.microsoft.com/office/drawing/2014/main" val="251478742"/>
                    </a:ext>
                  </a:extLst>
                </a:gridCol>
              </a:tblGrid>
              <a:tr h="370013">
                <a:tc>
                  <a:txBody>
                    <a:bodyPr/>
                    <a:lstStyle/>
                    <a:p>
                      <a:endParaRPr lang="fr-FR" sz="1200"/>
                    </a:p>
                  </a:txBody>
                  <a:tcPr/>
                </a:tc>
                <a:tc>
                  <a:txBody>
                    <a:bodyPr/>
                    <a:lstStyle/>
                    <a:p>
                      <a:pPr algn="ctr"/>
                      <a:r>
                        <a:rPr lang="fr-FR" sz="1200" dirty="0"/>
                        <a:t>Vendeur</a:t>
                      </a:r>
                    </a:p>
                  </a:txBody>
                  <a:tcPr/>
                </a:tc>
                <a:tc>
                  <a:txBody>
                    <a:bodyPr/>
                    <a:lstStyle/>
                    <a:p>
                      <a:pPr algn="ctr"/>
                      <a:r>
                        <a:rPr lang="fr-FR" sz="1200" dirty="0"/>
                        <a:t>Acheteur</a:t>
                      </a:r>
                    </a:p>
                  </a:txBody>
                  <a:tcPr/>
                </a:tc>
                <a:extLst>
                  <a:ext uri="{0D108BD9-81ED-4DB2-BD59-A6C34878D82A}">
                    <a16:rowId xmlns:a16="http://schemas.microsoft.com/office/drawing/2014/main" val="1318960819"/>
                  </a:ext>
                </a:extLst>
              </a:tr>
              <a:tr h="1019172">
                <a:tc>
                  <a:txBody>
                    <a:bodyPr/>
                    <a:lstStyle/>
                    <a:p>
                      <a:pPr algn="l"/>
                      <a:r>
                        <a:rPr lang="fr-FR" sz="1200" dirty="0">
                          <a:solidFill>
                            <a:schemeClr val="tx1"/>
                          </a:solidFill>
                          <a:latin typeface="Corbel" panose="020B0503020204020204" pitchFamily="34" charset="0"/>
                        </a:rPr>
                        <a:t>Dédouanement à l'exportation/à l'importation</a:t>
                      </a:r>
                    </a:p>
                  </a:txBody>
                  <a:tcPr/>
                </a:tc>
                <a:tc>
                  <a:txBody>
                    <a:bodyPr/>
                    <a:lstStyle/>
                    <a:p>
                      <a:pPr algn="l"/>
                      <a:r>
                        <a:rPr lang="fr-FR" sz="1200" dirty="0">
                          <a:solidFill>
                            <a:schemeClr val="tx1"/>
                          </a:solidFill>
                          <a:latin typeface="Corbel" panose="020B0503020204020204" pitchFamily="34" charset="0"/>
                        </a:rPr>
                        <a:t>Le vendeur doit aider </a:t>
                      </a:r>
                      <a:r>
                        <a:rPr lang="fr-FR" sz="1200" dirty="0" err="1">
                          <a:solidFill>
                            <a:schemeClr val="tx1"/>
                          </a:solidFill>
                          <a:latin typeface="Corbel" panose="020B0503020204020204" pitchFamily="34" charset="0"/>
                        </a:rPr>
                        <a:t>l'acheteur</a:t>
                      </a:r>
                      <a:r>
                        <a:rPr lang="fr-FR" sz="1200" dirty="0">
                          <a:solidFill>
                            <a:schemeClr val="tx1"/>
                          </a:solidFill>
                          <a:latin typeface="Corbel" panose="020B0503020204020204" pitchFamily="34" charset="0"/>
                        </a:rPr>
                        <a:t>, à la </a:t>
                      </a:r>
                      <a:r>
                        <a:rPr lang="fr-FR" sz="1200" dirty="0" err="1">
                          <a:solidFill>
                            <a:schemeClr val="tx1"/>
                          </a:solidFill>
                          <a:latin typeface="Corbel" panose="020B0503020204020204" pitchFamily="34" charset="0"/>
                        </a:rPr>
                        <a:t>demande de ce dernier</a:t>
                      </a:r>
                      <a:r>
                        <a:rPr lang="fr-FR" sz="1200" dirty="0">
                          <a:solidFill>
                            <a:schemeClr val="tx1"/>
                          </a:solidFill>
                          <a:latin typeface="Corbel" panose="020B0503020204020204" pitchFamily="34" charset="0"/>
                        </a:rPr>
                        <a:t>, à </a:t>
                      </a:r>
                      <a:r>
                        <a:rPr lang="fr-FR" sz="1200" dirty="0" err="1">
                          <a:solidFill>
                            <a:schemeClr val="tx1"/>
                          </a:solidFill>
                          <a:latin typeface="Corbel" panose="020B0503020204020204" pitchFamily="34" charset="0"/>
                        </a:rPr>
                        <a:t>obtenir tous </a:t>
                      </a:r>
                      <a:r>
                        <a:rPr lang="fr-FR" sz="1200" dirty="0">
                          <a:solidFill>
                            <a:schemeClr val="tx1"/>
                          </a:solidFill>
                          <a:latin typeface="Corbel" panose="020B0503020204020204" pitchFamily="34" charset="0"/>
                        </a:rPr>
                        <a:t>les documents ou informations </a:t>
                      </a:r>
                      <a:r>
                        <a:rPr lang="fr-FR" sz="1200" dirty="0" err="1">
                          <a:solidFill>
                            <a:schemeClr val="tx1"/>
                          </a:solidFill>
                          <a:latin typeface="Corbel" panose="020B0503020204020204" pitchFamily="34" charset="0"/>
                        </a:rPr>
                        <a:t>relatifs </a:t>
                      </a:r>
                      <a:r>
                        <a:rPr lang="fr-FR" sz="1200" dirty="0">
                          <a:solidFill>
                            <a:schemeClr val="tx1"/>
                          </a:solidFill>
                          <a:latin typeface="Corbel" panose="020B0503020204020204" pitchFamily="34" charset="0"/>
                        </a:rPr>
                        <a:t>à toutes </a:t>
                      </a:r>
                      <a:r>
                        <a:rPr lang="fr-FR" sz="1200" dirty="0" err="1">
                          <a:solidFill>
                            <a:schemeClr val="tx1"/>
                          </a:solidFill>
                          <a:latin typeface="Corbel" panose="020B0503020204020204" pitchFamily="34" charset="0"/>
                        </a:rPr>
                        <a:t>les formalités</a:t>
                      </a:r>
                      <a:r>
                        <a:rPr lang="fr-FR" sz="1200" dirty="0">
                          <a:solidFill>
                            <a:schemeClr val="tx1"/>
                          </a:solidFill>
                          <a:latin typeface="Corbel" panose="020B0503020204020204" pitchFamily="34" charset="0"/>
                        </a:rPr>
                        <a:t> de dédouanement.</a:t>
                      </a:r>
                    </a:p>
                  </a:txBody>
                  <a:tcPr/>
                </a:tc>
                <a:tc>
                  <a:txBody>
                    <a:bodyPr/>
                    <a:lstStyle/>
                    <a:p>
                      <a:pPr algn="l"/>
                      <a:r>
                        <a:rPr lang="fr-FR" sz="1200" dirty="0">
                          <a:solidFill>
                            <a:schemeClr val="tx1"/>
                          </a:solidFill>
                          <a:latin typeface="Corbel" panose="020B0503020204020204" pitchFamily="34" charset="0"/>
                        </a:rPr>
                        <a:t>Il </a:t>
                      </a:r>
                      <a:r>
                        <a:rPr lang="fr-FR" sz="1200" dirty="0" err="1">
                          <a:solidFill>
                            <a:schemeClr val="tx1"/>
                          </a:solidFill>
                          <a:latin typeface="Corbel" panose="020B0503020204020204" pitchFamily="34" charset="0"/>
                        </a:rPr>
                        <a:t>appartient </a:t>
                      </a:r>
                      <a:r>
                        <a:rPr lang="fr-FR" sz="1200" dirty="0">
                          <a:solidFill>
                            <a:schemeClr val="tx1"/>
                          </a:solidFill>
                          <a:latin typeface="Corbel" panose="020B0503020204020204" pitchFamily="34" charset="0"/>
                        </a:rPr>
                        <a:t>à </a:t>
                      </a:r>
                      <a:r>
                        <a:rPr lang="fr-FR" sz="1200" dirty="0" err="1">
                          <a:solidFill>
                            <a:schemeClr val="tx1"/>
                          </a:solidFill>
                          <a:latin typeface="Corbel" panose="020B0503020204020204" pitchFamily="34" charset="0"/>
                        </a:rPr>
                        <a:t>l'acheteur </a:t>
                      </a:r>
                      <a:r>
                        <a:rPr lang="fr-FR" sz="1200" dirty="0">
                          <a:solidFill>
                            <a:schemeClr val="tx1"/>
                          </a:solidFill>
                          <a:latin typeface="Corbel" panose="020B0503020204020204" pitchFamily="34" charset="0"/>
                        </a:rPr>
                        <a:t>d'effectuer et de </a:t>
                      </a:r>
                      <a:r>
                        <a:rPr lang="fr-FR" sz="1200" dirty="0" err="1">
                          <a:solidFill>
                            <a:schemeClr val="tx1"/>
                          </a:solidFill>
                          <a:latin typeface="Corbel" panose="020B0503020204020204" pitchFamily="34" charset="0"/>
                        </a:rPr>
                        <a:t>payer </a:t>
                      </a:r>
                      <a:r>
                        <a:rPr lang="fr-FR" sz="1200" dirty="0">
                          <a:solidFill>
                            <a:schemeClr val="tx1"/>
                          </a:solidFill>
                          <a:latin typeface="Corbel" panose="020B0503020204020204" pitchFamily="34" charset="0"/>
                        </a:rPr>
                        <a:t>toutes </a:t>
                      </a:r>
                      <a:r>
                        <a:rPr lang="fr-FR" sz="1200" dirty="0" err="1">
                          <a:solidFill>
                            <a:schemeClr val="tx1"/>
                          </a:solidFill>
                          <a:latin typeface="Corbel" panose="020B0503020204020204" pitchFamily="34" charset="0"/>
                        </a:rPr>
                        <a:t>les formalités</a:t>
                      </a:r>
                      <a:r>
                        <a:rPr lang="fr-FR" sz="1200" dirty="0">
                          <a:solidFill>
                            <a:schemeClr val="tx1"/>
                          </a:solidFill>
                          <a:latin typeface="Corbel" panose="020B0503020204020204" pitchFamily="34" charset="0"/>
                        </a:rPr>
                        <a:t> de dédouanement.</a:t>
                      </a:r>
                    </a:p>
                  </a:txBody>
                  <a:tcPr/>
                </a:tc>
                <a:extLst>
                  <a:ext uri="{0D108BD9-81ED-4DB2-BD59-A6C34878D82A}">
                    <a16:rowId xmlns:a16="http://schemas.microsoft.com/office/drawing/2014/main" val="4021334849"/>
                  </a:ext>
                </a:extLst>
              </a:tr>
              <a:tr h="1824322">
                <a:tc>
                  <a:txBody>
                    <a:bodyPr/>
                    <a:lstStyle/>
                    <a:p>
                      <a:pPr algn="l"/>
                      <a:r>
                        <a:rPr lang="fr-FR" sz="1200" dirty="0">
                          <a:solidFill>
                            <a:schemeClr val="tx1"/>
                          </a:solidFill>
                          <a:latin typeface="Corbel" panose="020B0503020204020204" pitchFamily="34" charset="0"/>
                        </a:rPr>
                        <a:t>Contrôle / emballage / </a:t>
                      </a:r>
                      <a:r>
                        <a:rPr lang="fr-FR" sz="1200" dirty="0" err="1">
                          <a:solidFill>
                            <a:schemeClr val="tx1"/>
                          </a:solidFill>
                          <a:latin typeface="Corbel" panose="020B0503020204020204" pitchFamily="34" charset="0"/>
                        </a:rPr>
                        <a:t>marquage</a:t>
                      </a:r>
                      <a:endParaRPr lang="fr-FR" sz="1200" dirty="0">
                        <a:solidFill>
                          <a:schemeClr val="tx1"/>
                        </a:solidFill>
                        <a:latin typeface="Corbel" panose="020B0503020204020204" pitchFamily="34" charset="0"/>
                      </a:endParaRPr>
                    </a:p>
                  </a:txBody>
                  <a:tcPr/>
                </a:tc>
                <a:tc>
                  <a:txBody>
                    <a:bodyPr/>
                    <a:lstStyle/>
                    <a:p>
                      <a:pPr algn="l"/>
                      <a:r>
                        <a:rPr lang="fr-FR" sz="1200" dirty="0">
                          <a:solidFill>
                            <a:schemeClr val="tx1"/>
                          </a:solidFill>
                          <a:latin typeface="Corbel" panose="020B0503020204020204" pitchFamily="34" charset="0"/>
                        </a:rPr>
                        <a:t>Le vendeur doit :</a:t>
                      </a:r>
                    </a:p>
                    <a:p>
                      <a:pPr marL="171450" indent="-171450" algn="l">
                        <a:buFontTx/>
                        <a:buChar char="-"/>
                      </a:pPr>
                      <a:r>
                        <a:rPr lang="fr-FR" sz="1200" dirty="0" err="1">
                          <a:solidFill>
                            <a:schemeClr val="tx1"/>
                          </a:solidFill>
                          <a:latin typeface="Corbel" panose="020B0503020204020204" pitchFamily="34" charset="0"/>
                        </a:rPr>
                        <a:t>Prendre en charge </a:t>
                      </a:r>
                      <a:r>
                        <a:rPr lang="fr-FR" sz="1200" dirty="0">
                          <a:solidFill>
                            <a:schemeClr val="tx1"/>
                          </a:solidFill>
                          <a:latin typeface="Corbel" panose="020B0503020204020204" pitchFamily="34" charset="0"/>
                        </a:rPr>
                        <a:t>le </a:t>
                      </a:r>
                      <a:r>
                        <a:rPr lang="fr-FR" sz="1200" dirty="0" err="1">
                          <a:solidFill>
                            <a:schemeClr val="tx1"/>
                          </a:solidFill>
                          <a:latin typeface="Corbel" panose="020B0503020204020204" pitchFamily="34" charset="0"/>
                        </a:rPr>
                        <a:t>coût </a:t>
                      </a:r>
                      <a:r>
                        <a:rPr lang="fr-FR" sz="1200" dirty="0">
                          <a:solidFill>
                            <a:schemeClr val="tx1"/>
                          </a:solidFill>
                          <a:latin typeface="Corbel" panose="020B0503020204020204" pitchFamily="34" charset="0"/>
                        </a:rPr>
                        <a:t>de toutes </a:t>
                      </a:r>
                      <a:r>
                        <a:rPr lang="fr-FR" sz="1200" dirty="0" err="1">
                          <a:solidFill>
                            <a:schemeClr val="tx1"/>
                          </a:solidFill>
                          <a:latin typeface="Corbel" panose="020B0503020204020204" pitchFamily="34" charset="0"/>
                        </a:rPr>
                        <a:t>les opérations</a:t>
                      </a:r>
                      <a:r>
                        <a:rPr lang="fr-FR" sz="1200" dirty="0">
                          <a:solidFill>
                            <a:schemeClr val="tx1"/>
                          </a:solidFill>
                          <a:latin typeface="Corbel" panose="020B0503020204020204" pitchFamily="34" charset="0"/>
                        </a:rPr>
                        <a:t> de contrôle (contrôle </a:t>
                      </a:r>
                      <a:r>
                        <a:rPr lang="fr-FR" sz="1200" dirty="0" err="1">
                          <a:solidFill>
                            <a:schemeClr val="tx1"/>
                          </a:solidFill>
                          <a:latin typeface="Corbel" panose="020B0503020204020204" pitchFamily="34" charset="0"/>
                        </a:rPr>
                        <a:t>de la qualité</a:t>
                      </a:r>
                      <a:r>
                        <a:rPr lang="fr-FR" sz="1200" dirty="0">
                          <a:solidFill>
                            <a:schemeClr val="tx1"/>
                          </a:solidFill>
                          <a:latin typeface="Corbel" panose="020B0503020204020204" pitchFamily="34" charset="0"/>
                        </a:rPr>
                        <a:t>, </a:t>
                      </a:r>
                      <a:r>
                        <a:rPr lang="fr-FR" sz="1200" dirty="0" err="1">
                          <a:solidFill>
                            <a:schemeClr val="tx1"/>
                          </a:solidFill>
                          <a:latin typeface="Corbel" panose="020B0503020204020204" pitchFamily="34" charset="0"/>
                        </a:rPr>
                        <a:t>mesure</a:t>
                      </a:r>
                      <a:r>
                        <a:rPr lang="fr-FR" sz="1200" dirty="0">
                          <a:solidFill>
                            <a:schemeClr val="tx1"/>
                          </a:solidFill>
                          <a:latin typeface="Corbel" panose="020B0503020204020204" pitchFamily="34" charset="0"/>
                        </a:rPr>
                        <a:t>, </a:t>
                      </a:r>
                      <a:r>
                        <a:rPr lang="fr-FR" sz="1200" dirty="0" err="1">
                          <a:solidFill>
                            <a:schemeClr val="tx1"/>
                          </a:solidFill>
                          <a:latin typeface="Corbel" panose="020B0503020204020204" pitchFamily="34" charset="0"/>
                        </a:rPr>
                        <a:t>pesée</a:t>
                      </a:r>
                      <a:r>
                        <a:rPr lang="fr-FR" sz="1200" dirty="0">
                          <a:solidFill>
                            <a:schemeClr val="tx1"/>
                          </a:solidFill>
                          <a:latin typeface="Corbel" panose="020B0503020204020204" pitchFamily="34" charset="0"/>
                        </a:rPr>
                        <a:t>, </a:t>
                      </a:r>
                      <a:r>
                        <a:rPr lang="fr-FR" sz="1200" dirty="0" err="1">
                          <a:solidFill>
                            <a:schemeClr val="tx1"/>
                          </a:solidFill>
                          <a:latin typeface="Corbel" panose="020B0503020204020204" pitchFamily="34" charset="0"/>
                        </a:rPr>
                        <a:t>comptage</a:t>
                      </a:r>
                      <a:r>
                        <a:rPr lang="fr-FR" sz="1200" dirty="0">
                          <a:solidFill>
                            <a:schemeClr val="tx1"/>
                          </a:solidFill>
                          <a:latin typeface="Corbel" panose="020B0503020204020204" pitchFamily="34" charset="0"/>
                        </a:rPr>
                        <a:t>)</a:t>
                      </a:r>
                    </a:p>
                    <a:p>
                      <a:pPr marL="171450" indent="-171450" algn="l">
                        <a:buFontTx/>
                        <a:buChar char="-"/>
                      </a:pPr>
                      <a:r>
                        <a:rPr lang="fr-FR" sz="1200" dirty="0">
                          <a:solidFill>
                            <a:schemeClr val="tx1"/>
                          </a:solidFill>
                          <a:latin typeface="Corbel" panose="020B0503020204020204" pitchFamily="34" charset="0"/>
                        </a:rPr>
                        <a:t>Emballer et marquer les </a:t>
                      </a:r>
                      <a:r>
                        <a:rPr lang="fr-FR" sz="1200" dirty="0" err="1">
                          <a:solidFill>
                            <a:schemeClr val="tx1"/>
                          </a:solidFill>
                          <a:latin typeface="Corbel" panose="020B0503020204020204" pitchFamily="34" charset="0"/>
                        </a:rPr>
                        <a:t>marchandises </a:t>
                      </a:r>
                      <a:r>
                        <a:rPr lang="fr-FR" sz="1200" dirty="0">
                          <a:solidFill>
                            <a:schemeClr val="tx1"/>
                          </a:solidFill>
                          <a:latin typeface="Corbel" panose="020B0503020204020204" pitchFamily="34" charset="0"/>
                        </a:rPr>
                        <a:t>de </a:t>
                      </a:r>
                      <a:r>
                        <a:rPr lang="fr-FR" sz="1200" dirty="0" err="1">
                          <a:solidFill>
                            <a:schemeClr val="tx1"/>
                          </a:solidFill>
                          <a:latin typeface="Corbel" panose="020B0503020204020204" pitchFamily="34" charset="0"/>
                        </a:rPr>
                        <a:t>manière appropriée </a:t>
                      </a:r>
                      <a:r>
                        <a:rPr lang="fr-FR" sz="1200" dirty="0">
                          <a:solidFill>
                            <a:schemeClr val="tx1"/>
                          </a:solidFill>
                          <a:latin typeface="Corbel" panose="020B0503020204020204" pitchFamily="34" charset="0"/>
                        </a:rPr>
                        <a:t>pour </a:t>
                      </a:r>
                      <a:r>
                        <a:rPr lang="fr-FR" sz="1200" dirty="0" err="1">
                          <a:solidFill>
                            <a:schemeClr val="tx1"/>
                          </a:solidFill>
                          <a:latin typeface="Corbel" panose="020B0503020204020204" pitchFamily="34" charset="0"/>
                        </a:rPr>
                        <a:t>leur </a:t>
                      </a:r>
                      <a:r>
                        <a:rPr lang="fr-FR" sz="1200" dirty="0">
                          <a:solidFill>
                            <a:schemeClr val="tx1"/>
                          </a:solidFill>
                          <a:latin typeface="Corbel" panose="020B0503020204020204" pitchFamily="34" charset="0"/>
                        </a:rPr>
                        <a:t>transport.</a:t>
                      </a:r>
                    </a:p>
                  </a:txBody>
                  <a:tcPr/>
                </a:tc>
                <a:tc>
                  <a:txBody>
                    <a:bodyPr/>
                    <a:lstStyle/>
                    <a:p>
                      <a:pPr algn="l"/>
                      <a:r>
                        <a:rPr lang="fr-FR" sz="1200" dirty="0" err="1">
                          <a:solidFill>
                            <a:schemeClr val="tx1"/>
                          </a:solidFill>
                          <a:latin typeface="Corbel" panose="020B0503020204020204" pitchFamily="34" charset="0"/>
                        </a:rPr>
                        <a:t>L'acheteur </a:t>
                      </a:r>
                      <a:r>
                        <a:rPr lang="fr-FR" sz="1200" dirty="0">
                          <a:solidFill>
                            <a:schemeClr val="tx1"/>
                          </a:solidFill>
                          <a:latin typeface="Corbel" panose="020B0503020204020204" pitchFamily="34" charset="0"/>
                        </a:rPr>
                        <a:t>n'a aucune obligation envers le vendeur.</a:t>
                      </a:r>
                    </a:p>
                  </a:txBody>
                  <a:tcPr/>
                </a:tc>
                <a:extLst>
                  <a:ext uri="{0D108BD9-81ED-4DB2-BD59-A6C34878D82A}">
                    <a16:rowId xmlns:a16="http://schemas.microsoft.com/office/drawing/2014/main" val="732182111"/>
                  </a:ext>
                </a:extLst>
              </a:tr>
              <a:tr h="1056948">
                <a:tc>
                  <a:txBody>
                    <a:bodyPr/>
                    <a:lstStyle/>
                    <a:p>
                      <a:pPr algn="l"/>
                      <a:r>
                        <a:rPr lang="fr-FR" sz="1200" dirty="0">
                          <a:solidFill>
                            <a:schemeClr val="tx1"/>
                          </a:solidFill>
                          <a:latin typeface="Corbel" panose="020B0503020204020204" pitchFamily="34" charset="0"/>
                        </a:rPr>
                        <a:t>Avis</a:t>
                      </a:r>
                    </a:p>
                  </a:txBody>
                  <a:tcPr/>
                </a:tc>
                <a:tc>
                  <a:txBody>
                    <a:bodyPr/>
                    <a:lstStyle/>
                    <a:p>
                      <a:pPr algn="l"/>
                      <a:r>
                        <a:rPr lang="fr-FR" sz="1200" dirty="0">
                          <a:solidFill>
                            <a:schemeClr val="tx1"/>
                          </a:solidFill>
                          <a:latin typeface="Corbel" panose="020B0503020204020204" pitchFamily="34" charset="0"/>
                        </a:rPr>
                        <a:t>Le vendeur doit </a:t>
                      </a:r>
                      <a:r>
                        <a:rPr lang="fr-FR" sz="1200" dirty="0" err="1">
                          <a:solidFill>
                            <a:schemeClr val="tx1"/>
                          </a:solidFill>
                          <a:latin typeface="Corbel" panose="020B0503020204020204" pitchFamily="34" charset="0"/>
                        </a:rPr>
                        <a:t>donner </a:t>
                      </a:r>
                      <a:r>
                        <a:rPr lang="fr-FR" sz="1200" dirty="0">
                          <a:solidFill>
                            <a:schemeClr val="tx1"/>
                          </a:solidFill>
                          <a:latin typeface="Corbel" panose="020B0503020204020204" pitchFamily="34" charset="0"/>
                        </a:rPr>
                        <a:t>à </a:t>
                      </a:r>
                      <a:r>
                        <a:rPr lang="fr-FR" sz="1200" dirty="0" err="1">
                          <a:solidFill>
                            <a:schemeClr val="tx1"/>
                          </a:solidFill>
                          <a:latin typeface="Corbel" panose="020B0503020204020204" pitchFamily="34" charset="0"/>
                        </a:rPr>
                        <a:t>l'acheteur toute </a:t>
                      </a:r>
                      <a:r>
                        <a:rPr lang="fr-FR" sz="1200" dirty="0">
                          <a:solidFill>
                            <a:schemeClr val="tx1"/>
                          </a:solidFill>
                          <a:latin typeface="Corbel" panose="020B0503020204020204" pitchFamily="34" charset="0"/>
                        </a:rPr>
                        <a:t>notification </a:t>
                      </a:r>
                      <a:r>
                        <a:rPr lang="fr-FR" sz="1200" dirty="0" err="1">
                          <a:solidFill>
                            <a:schemeClr val="tx1"/>
                          </a:solidFill>
                          <a:latin typeface="Corbel" panose="020B0503020204020204" pitchFamily="34" charset="0"/>
                        </a:rPr>
                        <a:t>nécessaire </a:t>
                      </a:r>
                      <a:r>
                        <a:rPr lang="fr-FR" sz="1200" dirty="0">
                          <a:solidFill>
                            <a:schemeClr val="tx1"/>
                          </a:solidFill>
                          <a:latin typeface="Corbel" panose="020B0503020204020204" pitchFamily="34" charset="0"/>
                        </a:rPr>
                        <a:t>pour </a:t>
                      </a:r>
                      <a:r>
                        <a:rPr lang="fr-FR" sz="1200" dirty="0" err="1">
                          <a:solidFill>
                            <a:schemeClr val="tx1"/>
                          </a:solidFill>
                          <a:latin typeface="Corbel" panose="020B0503020204020204" pitchFamily="34" charset="0"/>
                        </a:rPr>
                        <a:t>lui</a:t>
                      </a:r>
                      <a:r>
                        <a:rPr lang="fr-FR" sz="1200" dirty="0">
                          <a:solidFill>
                            <a:schemeClr val="tx1"/>
                          </a:solidFill>
                          <a:latin typeface="Corbel" panose="020B0503020204020204" pitchFamily="34" charset="0"/>
                        </a:rPr>
                        <a:t> permettre de </a:t>
                      </a:r>
                      <a:r>
                        <a:rPr lang="fr-FR" sz="1200" dirty="0" err="1">
                          <a:solidFill>
                            <a:schemeClr val="tx1"/>
                          </a:solidFill>
                          <a:latin typeface="Corbel" panose="020B0503020204020204" pitchFamily="34" charset="0"/>
                        </a:rPr>
                        <a:t>prendre livraison </a:t>
                      </a:r>
                      <a:r>
                        <a:rPr lang="fr-FR" sz="1200" dirty="0">
                          <a:solidFill>
                            <a:schemeClr val="tx1"/>
                          </a:solidFill>
                          <a:latin typeface="Corbel" panose="020B0503020204020204" pitchFamily="34" charset="0"/>
                        </a:rPr>
                        <a:t>des </a:t>
                      </a:r>
                      <a:r>
                        <a:rPr lang="fr-FR" sz="1200" dirty="0" err="1">
                          <a:solidFill>
                            <a:schemeClr val="tx1"/>
                          </a:solidFill>
                          <a:latin typeface="Corbel" panose="020B0503020204020204" pitchFamily="34" charset="0"/>
                        </a:rPr>
                        <a:t>marchandises</a:t>
                      </a:r>
                      <a:r>
                        <a:rPr lang="fr-FR" sz="1200" dirty="0">
                          <a:solidFill>
                            <a:schemeClr val="tx1"/>
                          </a:solidFill>
                          <a:latin typeface="Corbel" panose="020B0503020204020204" pitchFamily="34" charset="0"/>
                        </a:rPr>
                        <a:t>.</a:t>
                      </a:r>
                    </a:p>
                  </a:txBody>
                  <a:tcPr/>
                </a:tc>
                <a:tc>
                  <a:txBody>
                    <a:bodyPr/>
                    <a:lstStyle/>
                    <a:p>
                      <a:pPr algn="l"/>
                      <a:r>
                        <a:rPr lang="fr-FR" sz="1200" dirty="0">
                          <a:solidFill>
                            <a:schemeClr val="tx1"/>
                          </a:solidFill>
                          <a:latin typeface="Corbel" panose="020B0503020204020204" pitchFamily="34" charset="0"/>
                        </a:rPr>
                        <a:t>Si </a:t>
                      </a:r>
                      <a:r>
                        <a:rPr lang="fr-FR" sz="1200" dirty="0" err="1">
                          <a:solidFill>
                            <a:schemeClr val="tx1"/>
                          </a:solidFill>
                          <a:latin typeface="Corbel" panose="020B0503020204020204" pitchFamily="34" charset="0"/>
                        </a:rPr>
                        <a:t>l'acheteur a le droit </a:t>
                      </a:r>
                      <a:r>
                        <a:rPr lang="fr-FR" sz="1200" dirty="0">
                          <a:solidFill>
                            <a:schemeClr val="tx1"/>
                          </a:solidFill>
                          <a:latin typeface="Corbel" panose="020B0503020204020204" pitchFamily="34" charset="0"/>
                        </a:rPr>
                        <a:t>de </a:t>
                      </a:r>
                      <a:r>
                        <a:rPr lang="fr-FR" sz="1200" dirty="0" err="1">
                          <a:solidFill>
                            <a:schemeClr val="tx1"/>
                          </a:solidFill>
                          <a:latin typeface="Corbel" panose="020B0503020204020204" pitchFamily="34" charset="0"/>
                        </a:rPr>
                        <a:t>choisir </a:t>
                      </a:r>
                      <a:r>
                        <a:rPr lang="fr-FR" sz="1200" dirty="0">
                          <a:solidFill>
                            <a:schemeClr val="tx1"/>
                          </a:solidFill>
                          <a:latin typeface="Corbel" panose="020B0503020204020204" pitchFamily="34" charset="0"/>
                        </a:rPr>
                        <a:t>le moment et l'heure de </a:t>
                      </a:r>
                      <a:r>
                        <a:rPr lang="fr-FR" sz="1200" dirty="0" err="1">
                          <a:solidFill>
                            <a:schemeClr val="tx1"/>
                          </a:solidFill>
                          <a:latin typeface="Corbel" panose="020B0503020204020204" pitchFamily="34" charset="0"/>
                        </a:rPr>
                        <a:t>la livraison</a:t>
                      </a:r>
                      <a:r>
                        <a:rPr lang="fr-FR" sz="1200" dirty="0">
                          <a:solidFill>
                            <a:schemeClr val="tx1"/>
                          </a:solidFill>
                          <a:latin typeface="Corbel" panose="020B0503020204020204" pitchFamily="34" charset="0"/>
                        </a:rPr>
                        <a:t>, </a:t>
                      </a:r>
                      <a:r>
                        <a:rPr lang="fr-FR" sz="1200" dirty="0" err="1">
                          <a:solidFill>
                            <a:schemeClr val="tx1"/>
                          </a:solidFill>
                          <a:latin typeface="Corbel" panose="020B0503020204020204" pitchFamily="34" charset="0"/>
                        </a:rPr>
                        <a:t>il </a:t>
                      </a:r>
                      <a:r>
                        <a:rPr lang="fr-FR" sz="1200" dirty="0">
                          <a:solidFill>
                            <a:schemeClr val="tx1"/>
                          </a:solidFill>
                          <a:latin typeface="Corbel" panose="020B0503020204020204" pitchFamily="34" charset="0"/>
                        </a:rPr>
                        <a:t>doit en informer le vendeur </a:t>
                      </a:r>
                      <a:r>
                        <a:rPr lang="fr-FR" sz="1200" dirty="0" err="1">
                          <a:solidFill>
                            <a:schemeClr val="tx1"/>
                          </a:solidFill>
                          <a:latin typeface="Corbel" panose="020B0503020204020204" pitchFamily="34" charset="0"/>
                        </a:rPr>
                        <a:t>suffisamment à l'avance</a:t>
                      </a:r>
                      <a:r>
                        <a:rPr lang="fr-FR" sz="1200" dirty="0">
                          <a:solidFill>
                            <a:schemeClr val="tx1"/>
                          </a:solidFill>
                          <a:latin typeface="Corbel" panose="020B0503020204020204" pitchFamily="34" charset="0"/>
                        </a:rPr>
                        <a:t>.</a:t>
                      </a:r>
                    </a:p>
                  </a:txBody>
                  <a:tcPr/>
                </a:tc>
                <a:extLst>
                  <a:ext uri="{0D108BD9-81ED-4DB2-BD59-A6C34878D82A}">
                    <a16:rowId xmlns:a16="http://schemas.microsoft.com/office/drawing/2014/main" val="4190936991"/>
                  </a:ext>
                </a:extLst>
              </a:tr>
            </a:tbl>
          </a:graphicData>
        </a:graphic>
      </p:graphicFrame>
      <p:sp>
        <p:nvSpPr>
          <p:cNvPr id="13" name="Titre 1">
            <a:extLst>
              <a:ext uri="{FF2B5EF4-FFF2-40B4-BE49-F238E27FC236}">
                <a16:creationId xmlns:a16="http://schemas.microsoft.com/office/drawing/2014/main" id="{AD20F3BF-AAC8-4F20-88D4-3938CF1BE90A}"/>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EXW : Au départ de l'usine</a:t>
            </a:r>
          </a:p>
        </p:txBody>
      </p:sp>
      <p:sp>
        <p:nvSpPr>
          <p:cNvPr id="8" name="Footer Placeholder 3">
            <a:extLst>
              <a:ext uri="{FF2B5EF4-FFF2-40B4-BE49-F238E27FC236}">
                <a16:creationId xmlns:a16="http://schemas.microsoft.com/office/drawing/2014/main" id="{D44CDBE3-1C59-42BE-94BF-47F0BEDD4D98}"/>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2727111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2" name="Espace réservé du contenu 2">
            <a:extLst>
              <a:ext uri="{FF2B5EF4-FFF2-40B4-BE49-F238E27FC236}">
                <a16:creationId xmlns:a16="http://schemas.microsoft.com/office/drawing/2014/main" id="{B4422B17-FEE4-4A30-9B1B-10E0952A98C8}"/>
              </a:ext>
            </a:extLst>
          </p:cNvPr>
          <p:cNvSpPr>
            <a:spLocks noGrp="1"/>
          </p:cNvSpPr>
          <p:nvPr>
            <p:ph idx="1"/>
          </p:nvPr>
        </p:nvSpPr>
        <p:spPr>
          <a:xfrm>
            <a:off x="201165" y="4703885"/>
            <a:ext cx="8741670" cy="1283676"/>
          </a:xfrm>
        </p:spPr>
        <p:txBody>
          <a:bodyPr>
            <a:normAutofit fontScale="92500" lnSpcReduction="10000"/>
          </a:bodyPr>
          <a:lstStyle/>
          <a:p>
            <a:pPr algn="just">
              <a:buFontTx/>
              <a:buNone/>
            </a:pPr>
            <a:r>
              <a:rPr lang="en-US" sz="1400" b="1" u="sng" dirty="0"/>
              <a:t>Lieu de livraison : </a:t>
            </a:r>
            <a:r>
              <a:rPr lang="en-US" sz="1400" dirty="0"/>
              <a:t>usine du vendeur (le vendeur charge les marchandises sur le moyen de transport de l'acheteur) / autre lieu (le vendeur prépare les marchandises pour le déchargement).</a:t>
            </a:r>
          </a:p>
          <a:p>
            <a:pPr algn="just">
              <a:buFontTx/>
              <a:buNone/>
            </a:pPr>
            <a:r>
              <a:rPr lang="en-US" sz="1400" b="1" u="sng" dirty="0"/>
              <a:t>Obligations du vendeur : </a:t>
            </a:r>
            <a:r>
              <a:rPr lang="en-US" sz="1400" dirty="0"/>
              <a:t>dédouaner les marchandises pour l'exportation.</a:t>
            </a:r>
          </a:p>
          <a:p>
            <a:pPr algn="just">
              <a:buFontTx/>
              <a:buNone/>
            </a:pPr>
            <a:r>
              <a:rPr lang="en-US" sz="1400" dirty="0"/>
              <a:t>Mais : pas de contrat de transport, pas de contrat d'assurance.</a:t>
            </a:r>
            <a:endParaRPr lang="en-GB" sz="1400" dirty="0"/>
          </a:p>
        </p:txBody>
      </p:sp>
      <p:sp>
        <p:nvSpPr>
          <p:cNvPr id="13" name="Titre 1">
            <a:extLst>
              <a:ext uri="{FF2B5EF4-FFF2-40B4-BE49-F238E27FC236}">
                <a16:creationId xmlns:a16="http://schemas.microsoft.com/office/drawing/2014/main" id="{AD20F3BF-AAC8-4F20-88D4-3938CF1BE90A}"/>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FCA : Franco transporteur</a:t>
            </a:r>
          </a:p>
        </p:txBody>
      </p:sp>
      <p:sp>
        <p:nvSpPr>
          <p:cNvPr id="8" name="Footer Placeholder 3">
            <a:extLst>
              <a:ext uri="{FF2B5EF4-FFF2-40B4-BE49-F238E27FC236}">
                <a16:creationId xmlns:a16="http://schemas.microsoft.com/office/drawing/2014/main" id="{5F57D25A-BF2B-4FFC-AD51-BDD1466774F2}"/>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pic>
        <p:nvPicPr>
          <p:cNvPr id="4" name="Image 3" descr="Une image contenant texte, capture d’écran, clipart&#10;&#10;Description générée automatiquement">
            <a:extLst>
              <a:ext uri="{FF2B5EF4-FFF2-40B4-BE49-F238E27FC236}">
                <a16:creationId xmlns:a16="http://schemas.microsoft.com/office/drawing/2014/main" id="{6820DA96-48D0-4210-BD80-E4B9D76759E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48508" y="1731999"/>
            <a:ext cx="6479929" cy="2971885"/>
          </a:xfrm>
          <a:prstGeom prst="rect">
            <a:avLst/>
          </a:prstGeom>
        </p:spPr>
      </p:pic>
    </p:spTree>
    <p:extLst>
      <p:ext uri="{BB962C8B-B14F-4D97-AF65-F5344CB8AC3E}">
        <p14:creationId xmlns:p14="http://schemas.microsoft.com/office/powerpoint/2010/main" val="2576995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graphicFrame>
        <p:nvGraphicFramePr>
          <p:cNvPr id="2" name="Tableau 2">
            <a:extLst>
              <a:ext uri="{FF2B5EF4-FFF2-40B4-BE49-F238E27FC236}">
                <a16:creationId xmlns:a16="http://schemas.microsoft.com/office/drawing/2014/main" id="{3AE01669-BAF5-4FA6-9B5F-57B2E1258341}"/>
              </a:ext>
            </a:extLst>
          </p:cNvPr>
          <p:cNvGraphicFramePr>
            <a:graphicFrameLocks noGrp="1"/>
          </p:cNvGraphicFramePr>
          <p:nvPr>
            <p:ph idx="1"/>
            <p:extLst>
              <p:ext uri="{D42A27DB-BD31-4B8C-83A1-F6EECF244321}">
                <p14:modId xmlns:p14="http://schemas.microsoft.com/office/powerpoint/2010/main" val="581891408"/>
              </p:ext>
            </p:extLst>
          </p:nvPr>
        </p:nvGraphicFramePr>
        <p:xfrm>
          <a:off x="201165" y="1696914"/>
          <a:ext cx="8723028" cy="4246686"/>
        </p:xfrm>
        <a:graphic>
          <a:graphicData uri="http://schemas.openxmlformats.org/drawingml/2006/table">
            <a:tbl>
              <a:tblPr firstRow="1" bandRow="1">
                <a:tableStyleId>{5C22544A-7EE6-4342-B048-85BDC9FD1C3A}</a:tableStyleId>
              </a:tblPr>
              <a:tblGrid>
                <a:gridCol w="1188020">
                  <a:extLst>
                    <a:ext uri="{9D8B030D-6E8A-4147-A177-3AD203B41FA5}">
                      <a16:colId xmlns:a16="http://schemas.microsoft.com/office/drawing/2014/main" val="2404383959"/>
                    </a:ext>
                  </a:extLst>
                </a:gridCol>
                <a:gridCol w="3631223">
                  <a:extLst>
                    <a:ext uri="{9D8B030D-6E8A-4147-A177-3AD203B41FA5}">
                      <a16:colId xmlns:a16="http://schemas.microsoft.com/office/drawing/2014/main" val="654259851"/>
                    </a:ext>
                  </a:extLst>
                </a:gridCol>
                <a:gridCol w="3903785">
                  <a:extLst>
                    <a:ext uri="{9D8B030D-6E8A-4147-A177-3AD203B41FA5}">
                      <a16:colId xmlns:a16="http://schemas.microsoft.com/office/drawing/2014/main" val="558374563"/>
                    </a:ext>
                  </a:extLst>
                </a:gridCol>
              </a:tblGrid>
              <a:tr h="572577">
                <a:tc>
                  <a:txBody>
                    <a:bodyPr/>
                    <a:lstStyle/>
                    <a:p>
                      <a:endParaRPr lang="fr-FR" sz="1200" dirty="0">
                        <a:latin typeface="Corbel" panose="020B0503020204020204" pitchFamily="34" charset="0"/>
                      </a:endParaRPr>
                    </a:p>
                  </a:txBody>
                  <a:tcPr/>
                </a:tc>
                <a:tc>
                  <a:txBody>
                    <a:bodyPr/>
                    <a:lstStyle/>
                    <a:p>
                      <a:pPr algn="ctr"/>
                      <a:r>
                        <a:rPr lang="fr-FR" sz="1200" dirty="0">
                          <a:latin typeface="Corbel" panose="020B0503020204020204" pitchFamily="34" charset="0"/>
                        </a:rPr>
                        <a:t>Vendeur</a:t>
                      </a:r>
                    </a:p>
                  </a:txBody>
                  <a:tcPr/>
                </a:tc>
                <a:tc>
                  <a:txBody>
                    <a:bodyPr/>
                    <a:lstStyle/>
                    <a:p>
                      <a:pPr algn="ctr"/>
                      <a:r>
                        <a:rPr lang="fr-FR" sz="1200" dirty="0">
                          <a:latin typeface="Corbel" panose="020B0503020204020204" pitchFamily="34" charset="0"/>
                        </a:rPr>
                        <a:t>Acheteur</a:t>
                      </a:r>
                    </a:p>
                  </a:txBody>
                  <a:tcPr/>
                </a:tc>
                <a:extLst>
                  <a:ext uri="{0D108BD9-81ED-4DB2-BD59-A6C34878D82A}">
                    <a16:rowId xmlns:a16="http://schemas.microsoft.com/office/drawing/2014/main" val="401631419"/>
                  </a:ext>
                </a:extLst>
              </a:tr>
              <a:tr h="1242287">
                <a:tc>
                  <a:txBody>
                    <a:bodyPr/>
                    <a:lstStyle/>
                    <a:p>
                      <a:r>
                        <a:rPr lang="fr-FR" sz="1200" dirty="0">
                          <a:latin typeface="Corbel" panose="020B0503020204020204" pitchFamily="34" charset="0"/>
                        </a:rPr>
                        <a:t>Dédouanement à l'exportation/à l'importation</a:t>
                      </a:r>
                    </a:p>
                  </a:txBody>
                  <a:tcPr/>
                </a:tc>
                <a:tc>
                  <a:txBody>
                    <a:bodyPr/>
                    <a:lstStyle/>
                    <a:p>
                      <a:r>
                        <a:rPr lang="fr-FR" sz="1200" dirty="0">
                          <a:latin typeface="Corbel" panose="020B0503020204020204" pitchFamily="34" charset="0"/>
                        </a:rPr>
                        <a:t>Exportation : le vendeur doit effectuer et </a:t>
                      </a:r>
                      <a:r>
                        <a:rPr lang="fr-FR" sz="1200" dirty="0" err="1">
                          <a:latin typeface="Corbel" panose="020B0503020204020204" pitchFamily="34" charset="0"/>
                        </a:rPr>
                        <a:t>payer </a:t>
                      </a:r>
                      <a:r>
                        <a:rPr lang="fr-FR" sz="1200" dirty="0">
                          <a:latin typeface="Corbel" panose="020B0503020204020204" pitchFamily="34" charset="0"/>
                        </a:rPr>
                        <a:t>toutes </a:t>
                      </a:r>
                      <a:r>
                        <a:rPr lang="fr-FR" sz="1200" dirty="0" err="1">
                          <a:latin typeface="Corbel" panose="020B0503020204020204" pitchFamily="34" charset="0"/>
                        </a:rPr>
                        <a:t>les formalités</a:t>
                      </a:r>
                      <a:r>
                        <a:rPr lang="fr-FR" sz="1200" dirty="0">
                          <a:latin typeface="Corbel" panose="020B0503020204020204" pitchFamily="34" charset="0"/>
                        </a:rPr>
                        <a:t> de dédouanement à l'exportation.</a:t>
                      </a:r>
                    </a:p>
                    <a:p>
                      <a:endParaRPr lang="fr-FR" sz="1200" dirty="0">
                        <a:latin typeface="Corbel" panose="020B0503020204020204" pitchFamily="34" charset="0"/>
                      </a:endParaRPr>
                    </a:p>
                    <a:p>
                      <a:r>
                        <a:rPr lang="fr-FR" sz="1200" dirty="0">
                          <a:latin typeface="Corbel" panose="020B0503020204020204" pitchFamily="34" charset="0"/>
                        </a:rPr>
                        <a:t>Importation : le vendeur doit aider </a:t>
                      </a:r>
                      <a:r>
                        <a:rPr lang="fr-FR" sz="1200" dirty="0" err="1">
                          <a:latin typeface="Corbel" panose="020B0503020204020204" pitchFamily="34" charset="0"/>
                        </a:rPr>
                        <a:t>l'acheteur</a:t>
                      </a:r>
                      <a:r>
                        <a:rPr lang="fr-FR" sz="1200" dirty="0">
                          <a:latin typeface="Corbel" panose="020B0503020204020204" pitchFamily="34" charset="0"/>
                        </a:rPr>
                        <a:t>, à la </a:t>
                      </a:r>
                      <a:r>
                        <a:rPr lang="fr-FR" sz="1200" dirty="0" err="1">
                          <a:latin typeface="Corbel" panose="020B0503020204020204" pitchFamily="34" charset="0"/>
                        </a:rPr>
                        <a:t>demande de ce dernier</a:t>
                      </a:r>
                      <a:r>
                        <a:rPr lang="fr-FR" sz="1200" dirty="0">
                          <a:latin typeface="Corbel" panose="020B0503020204020204" pitchFamily="34" charset="0"/>
                        </a:rPr>
                        <a:t>, à </a:t>
                      </a:r>
                      <a:r>
                        <a:rPr lang="fr-FR" sz="1200" dirty="0" err="1">
                          <a:latin typeface="Corbel" panose="020B0503020204020204" pitchFamily="34" charset="0"/>
                        </a:rPr>
                        <a:t>obtenir tous </a:t>
                      </a:r>
                      <a:r>
                        <a:rPr lang="fr-FR" sz="1200" dirty="0">
                          <a:latin typeface="Corbel" panose="020B0503020204020204" pitchFamily="34" charset="0"/>
                        </a:rPr>
                        <a:t>les documents ou informations </a:t>
                      </a:r>
                      <a:r>
                        <a:rPr lang="fr-FR" sz="1200" dirty="0" err="1">
                          <a:latin typeface="Corbel" panose="020B0503020204020204" pitchFamily="34" charset="0"/>
                        </a:rPr>
                        <a:t>relatifs </a:t>
                      </a:r>
                      <a:r>
                        <a:rPr lang="fr-FR" sz="1200" dirty="0">
                          <a:latin typeface="Corbel" panose="020B0503020204020204" pitchFamily="34" charset="0"/>
                        </a:rPr>
                        <a:t>aux </a:t>
                      </a:r>
                      <a:r>
                        <a:rPr lang="fr-FR" sz="1200" dirty="0" err="1">
                          <a:latin typeface="Corbel" panose="020B0503020204020204" pitchFamily="34" charset="0"/>
                        </a:rPr>
                        <a:t>formalités</a:t>
                      </a:r>
                      <a:r>
                        <a:rPr lang="fr-FR" sz="1200" dirty="0">
                          <a:latin typeface="Corbel" panose="020B0503020204020204" pitchFamily="34" charset="0"/>
                        </a:rPr>
                        <a:t> de dédouanement à l'importation.</a:t>
                      </a:r>
                    </a:p>
                  </a:txBody>
                  <a:tcPr/>
                </a:tc>
                <a:tc>
                  <a:txBody>
                    <a:bodyPr/>
                    <a:lstStyle/>
                    <a:p>
                      <a:r>
                        <a:rPr lang="fr-FR" sz="1200" dirty="0">
                          <a:latin typeface="Corbel" panose="020B0503020204020204" pitchFamily="34" charset="0"/>
                        </a:rPr>
                        <a:t>Exportation : </a:t>
                      </a:r>
                      <a:r>
                        <a:rPr lang="fr-FR" sz="1200" dirty="0" err="1">
                          <a:latin typeface="Corbel" panose="020B0503020204020204" pitchFamily="34" charset="0"/>
                        </a:rPr>
                        <a:t>l'acheteur </a:t>
                      </a:r>
                      <a:r>
                        <a:rPr lang="fr-FR" sz="1200" dirty="0">
                          <a:latin typeface="Corbel" panose="020B0503020204020204" pitchFamily="34" charset="0"/>
                        </a:rPr>
                        <a:t>doit aider le vendeur, à la </a:t>
                      </a:r>
                      <a:r>
                        <a:rPr lang="fr-FR" sz="1200" dirty="0" err="1">
                          <a:latin typeface="Corbel" panose="020B0503020204020204" pitchFamily="34" charset="0"/>
                        </a:rPr>
                        <a:t>demande de ce dernier, </a:t>
                      </a:r>
                      <a:r>
                        <a:rPr lang="fr-FR" sz="1200" dirty="0">
                          <a:latin typeface="Corbel" panose="020B0503020204020204" pitchFamily="34" charset="0"/>
                        </a:rPr>
                        <a:t>à </a:t>
                      </a:r>
                      <a:r>
                        <a:rPr lang="fr-FR" sz="1200" dirty="0" err="1">
                          <a:latin typeface="Corbel" panose="020B0503020204020204" pitchFamily="34" charset="0"/>
                        </a:rPr>
                        <a:t>obtenir tous </a:t>
                      </a:r>
                      <a:r>
                        <a:rPr lang="fr-FR" sz="1200" dirty="0">
                          <a:latin typeface="Corbel" panose="020B0503020204020204" pitchFamily="34" charset="0"/>
                        </a:rPr>
                        <a:t>les documents ou informations </a:t>
                      </a:r>
                      <a:r>
                        <a:rPr lang="fr-FR" sz="1200" dirty="0" err="1">
                          <a:latin typeface="Corbel" panose="020B0503020204020204" pitchFamily="34" charset="0"/>
                        </a:rPr>
                        <a:t>relatifs </a:t>
                      </a:r>
                      <a:r>
                        <a:rPr lang="fr-FR" sz="1200" dirty="0">
                          <a:latin typeface="Corbel" panose="020B0503020204020204" pitchFamily="34" charset="0"/>
                        </a:rPr>
                        <a:t>aux </a:t>
                      </a:r>
                      <a:r>
                        <a:rPr lang="fr-FR" sz="1200" dirty="0" err="1">
                          <a:latin typeface="Corbel" panose="020B0503020204020204" pitchFamily="34" charset="0"/>
                        </a:rPr>
                        <a:t>formalités</a:t>
                      </a:r>
                      <a:r>
                        <a:rPr lang="fr-FR" sz="1200" dirty="0">
                          <a:latin typeface="Corbel" panose="020B0503020204020204" pitchFamily="34" charset="0"/>
                        </a:rPr>
                        <a:t> de dédouanement à l'exportation.</a:t>
                      </a:r>
                    </a:p>
                    <a:p>
                      <a:endParaRPr lang="fr-FR" sz="1200" dirty="0">
                        <a:latin typeface="Corbel" panose="020B0503020204020204" pitchFamily="34" charset="0"/>
                      </a:endParaRPr>
                    </a:p>
                    <a:p>
                      <a:r>
                        <a:rPr lang="fr-FR" sz="1200" dirty="0">
                          <a:latin typeface="Corbel" panose="020B0503020204020204" pitchFamily="34" charset="0"/>
                        </a:rPr>
                        <a:t>Importation : </a:t>
                      </a:r>
                      <a:r>
                        <a:rPr lang="fr-FR" sz="1200" dirty="0" err="1">
                          <a:latin typeface="Corbel" panose="020B0503020204020204" pitchFamily="34" charset="0"/>
                        </a:rPr>
                        <a:t>l'acheteur </a:t>
                      </a:r>
                      <a:r>
                        <a:rPr lang="fr-FR" sz="1200" dirty="0">
                          <a:latin typeface="Corbel" panose="020B0503020204020204" pitchFamily="34" charset="0"/>
                        </a:rPr>
                        <a:t>doit effectuer et </a:t>
                      </a:r>
                      <a:r>
                        <a:rPr lang="fr-FR" sz="1200" dirty="0" err="1">
                          <a:latin typeface="Corbel" panose="020B0503020204020204" pitchFamily="34" charset="0"/>
                        </a:rPr>
                        <a:t>payer </a:t>
                      </a:r>
                      <a:r>
                        <a:rPr lang="fr-FR" sz="1200" dirty="0">
                          <a:latin typeface="Corbel" panose="020B0503020204020204" pitchFamily="34" charset="0"/>
                        </a:rPr>
                        <a:t>toutes </a:t>
                      </a:r>
                      <a:r>
                        <a:rPr lang="fr-FR" sz="1200" dirty="0" err="1">
                          <a:latin typeface="Corbel" panose="020B0503020204020204" pitchFamily="34" charset="0"/>
                        </a:rPr>
                        <a:t>les formalités</a:t>
                      </a:r>
                      <a:r>
                        <a:rPr lang="fr-FR" sz="1200" dirty="0">
                          <a:latin typeface="Corbel" panose="020B0503020204020204" pitchFamily="34" charset="0"/>
                        </a:rPr>
                        <a:t>.</a:t>
                      </a:r>
                    </a:p>
                  </a:txBody>
                  <a:tcPr/>
                </a:tc>
                <a:extLst>
                  <a:ext uri="{0D108BD9-81ED-4DB2-BD59-A6C34878D82A}">
                    <a16:rowId xmlns:a16="http://schemas.microsoft.com/office/drawing/2014/main" val="1700530848"/>
                  </a:ext>
                </a:extLst>
              </a:tr>
              <a:tr h="1060222">
                <a:tc>
                  <a:txBody>
                    <a:bodyPr/>
                    <a:lstStyle/>
                    <a:p>
                      <a:r>
                        <a:rPr lang="fr-FR" sz="1200" dirty="0">
                          <a:latin typeface="Corbel" panose="020B0503020204020204" pitchFamily="34" charset="0"/>
                        </a:rPr>
                        <a:t>Contrôle / emballage / </a:t>
                      </a:r>
                      <a:r>
                        <a:rPr lang="fr-FR" sz="1200" dirty="0" err="1">
                          <a:latin typeface="Corbel" panose="020B0503020204020204" pitchFamily="34" charset="0"/>
                        </a:rPr>
                        <a:t>marquage</a:t>
                      </a:r>
                      <a:endParaRPr lang="fr-FR" sz="1200" dirty="0">
                        <a:latin typeface="Corbel" panose="020B0503020204020204" pitchFamily="34" charset="0"/>
                      </a:endParaRPr>
                    </a:p>
                  </a:txBody>
                  <a:tcPr/>
                </a:tc>
                <a:tc>
                  <a:txBody>
                    <a:bodyPr/>
                    <a:lstStyle/>
                    <a:p>
                      <a:pPr algn="l"/>
                      <a:r>
                        <a:rPr lang="fr-FR" sz="1200" dirty="0">
                          <a:solidFill>
                            <a:schemeClr val="tx1"/>
                          </a:solidFill>
                          <a:latin typeface="Corbel" panose="020B0503020204020204" pitchFamily="34" charset="0"/>
                        </a:rPr>
                        <a:t>Le vendeur doit :</a:t>
                      </a:r>
                    </a:p>
                    <a:p>
                      <a:pPr marL="171450" indent="-171450" algn="l">
                        <a:buFontTx/>
                        <a:buChar char="-"/>
                      </a:pPr>
                      <a:r>
                        <a:rPr lang="fr-FR" sz="1200" dirty="0" err="1">
                          <a:solidFill>
                            <a:schemeClr val="tx1"/>
                          </a:solidFill>
                          <a:latin typeface="Corbel" panose="020B0503020204020204" pitchFamily="34" charset="0"/>
                        </a:rPr>
                        <a:t>Prendre en charge </a:t>
                      </a:r>
                      <a:r>
                        <a:rPr lang="fr-FR" sz="1200" dirty="0">
                          <a:solidFill>
                            <a:schemeClr val="tx1"/>
                          </a:solidFill>
                          <a:latin typeface="Corbel" panose="020B0503020204020204" pitchFamily="34" charset="0"/>
                        </a:rPr>
                        <a:t>le </a:t>
                      </a:r>
                      <a:r>
                        <a:rPr lang="fr-FR" sz="1200" dirty="0" err="1">
                          <a:solidFill>
                            <a:schemeClr val="tx1"/>
                          </a:solidFill>
                          <a:latin typeface="Corbel" panose="020B0503020204020204" pitchFamily="34" charset="0"/>
                        </a:rPr>
                        <a:t>coût </a:t>
                      </a:r>
                      <a:r>
                        <a:rPr lang="fr-FR" sz="1200" dirty="0">
                          <a:solidFill>
                            <a:schemeClr val="tx1"/>
                          </a:solidFill>
                          <a:latin typeface="Corbel" panose="020B0503020204020204" pitchFamily="34" charset="0"/>
                        </a:rPr>
                        <a:t>de toutes </a:t>
                      </a:r>
                      <a:r>
                        <a:rPr lang="fr-FR" sz="1200" dirty="0" err="1">
                          <a:solidFill>
                            <a:schemeClr val="tx1"/>
                          </a:solidFill>
                          <a:latin typeface="Corbel" panose="020B0503020204020204" pitchFamily="34" charset="0"/>
                        </a:rPr>
                        <a:t>les opérations</a:t>
                      </a:r>
                      <a:r>
                        <a:rPr lang="fr-FR" sz="1200" dirty="0">
                          <a:solidFill>
                            <a:schemeClr val="tx1"/>
                          </a:solidFill>
                          <a:latin typeface="Corbel" panose="020B0503020204020204" pitchFamily="34" charset="0"/>
                        </a:rPr>
                        <a:t> de contrôle (contrôle </a:t>
                      </a:r>
                      <a:r>
                        <a:rPr lang="fr-FR" sz="1200" dirty="0" err="1">
                          <a:solidFill>
                            <a:schemeClr val="tx1"/>
                          </a:solidFill>
                          <a:latin typeface="Corbel" panose="020B0503020204020204" pitchFamily="34" charset="0"/>
                        </a:rPr>
                        <a:t>de la qualité</a:t>
                      </a:r>
                      <a:r>
                        <a:rPr lang="fr-FR" sz="1200" dirty="0">
                          <a:solidFill>
                            <a:schemeClr val="tx1"/>
                          </a:solidFill>
                          <a:latin typeface="Corbel" panose="020B0503020204020204" pitchFamily="34" charset="0"/>
                        </a:rPr>
                        <a:t>, </a:t>
                      </a:r>
                      <a:r>
                        <a:rPr lang="fr-FR" sz="1200" dirty="0" err="1">
                          <a:solidFill>
                            <a:schemeClr val="tx1"/>
                          </a:solidFill>
                          <a:latin typeface="Corbel" panose="020B0503020204020204" pitchFamily="34" charset="0"/>
                        </a:rPr>
                        <a:t>mesure</a:t>
                      </a:r>
                      <a:r>
                        <a:rPr lang="fr-FR" sz="1200" dirty="0">
                          <a:solidFill>
                            <a:schemeClr val="tx1"/>
                          </a:solidFill>
                          <a:latin typeface="Corbel" panose="020B0503020204020204" pitchFamily="34" charset="0"/>
                        </a:rPr>
                        <a:t>, </a:t>
                      </a:r>
                      <a:r>
                        <a:rPr lang="fr-FR" sz="1200" dirty="0" err="1">
                          <a:solidFill>
                            <a:schemeClr val="tx1"/>
                          </a:solidFill>
                          <a:latin typeface="Corbel" panose="020B0503020204020204" pitchFamily="34" charset="0"/>
                        </a:rPr>
                        <a:t>pesage</a:t>
                      </a:r>
                      <a:r>
                        <a:rPr lang="fr-FR" sz="1200" dirty="0">
                          <a:solidFill>
                            <a:schemeClr val="tx1"/>
                          </a:solidFill>
                          <a:latin typeface="Corbel" panose="020B0503020204020204" pitchFamily="34" charset="0"/>
                        </a:rPr>
                        <a:t>, </a:t>
                      </a:r>
                      <a:r>
                        <a:rPr lang="fr-FR" sz="1200" dirty="0" err="1">
                          <a:solidFill>
                            <a:schemeClr val="tx1"/>
                          </a:solidFill>
                          <a:latin typeface="Corbel" panose="020B0503020204020204" pitchFamily="34" charset="0"/>
                        </a:rPr>
                        <a:t>comptage</a:t>
                      </a:r>
                      <a:r>
                        <a:rPr lang="fr-FR" sz="1200" dirty="0">
                          <a:solidFill>
                            <a:schemeClr val="tx1"/>
                          </a:solidFill>
                          <a:latin typeface="Corbel" panose="020B0503020204020204" pitchFamily="34" charset="0"/>
                        </a:rPr>
                        <a:t>)</a:t>
                      </a:r>
                    </a:p>
                    <a:p>
                      <a:pPr marL="171450" indent="-171450" algn="l">
                        <a:buFontTx/>
                        <a:buChar char="-"/>
                      </a:pPr>
                      <a:r>
                        <a:rPr lang="fr-FR" sz="1200" dirty="0">
                          <a:solidFill>
                            <a:schemeClr val="tx1"/>
                          </a:solidFill>
                          <a:latin typeface="Corbel" panose="020B0503020204020204" pitchFamily="34" charset="0"/>
                        </a:rPr>
                        <a:t>Emballer et marquer les </a:t>
                      </a:r>
                      <a:r>
                        <a:rPr lang="fr-FR" sz="1200" dirty="0" err="1">
                          <a:solidFill>
                            <a:schemeClr val="tx1"/>
                          </a:solidFill>
                          <a:latin typeface="Corbel" panose="020B0503020204020204" pitchFamily="34" charset="0"/>
                        </a:rPr>
                        <a:t>marchandises </a:t>
                      </a:r>
                      <a:r>
                        <a:rPr lang="fr-FR" sz="1200" dirty="0">
                          <a:solidFill>
                            <a:schemeClr val="tx1"/>
                          </a:solidFill>
                          <a:latin typeface="Corbel" panose="020B0503020204020204" pitchFamily="34" charset="0"/>
                        </a:rPr>
                        <a:t>de </a:t>
                      </a:r>
                      <a:r>
                        <a:rPr lang="fr-FR" sz="1200" dirty="0" err="1">
                          <a:solidFill>
                            <a:schemeClr val="tx1"/>
                          </a:solidFill>
                          <a:latin typeface="Corbel" panose="020B0503020204020204" pitchFamily="34" charset="0"/>
                        </a:rPr>
                        <a:t>manière appropriée </a:t>
                      </a:r>
                      <a:r>
                        <a:rPr lang="fr-FR" sz="1200" dirty="0">
                          <a:solidFill>
                            <a:schemeClr val="tx1"/>
                          </a:solidFill>
                          <a:latin typeface="Corbel" panose="020B0503020204020204" pitchFamily="34" charset="0"/>
                        </a:rPr>
                        <a:t>pour </a:t>
                      </a:r>
                      <a:r>
                        <a:rPr lang="fr-FR" sz="1200" dirty="0" err="1">
                          <a:solidFill>
                            <a:schemeClr val="tx1"/>
                          </a:solidFill>
                          <a:latin typeface="Corbel" panose="020B0503020204020204" pitchFamily="34" charset="0"/>
                        </a:rPr>
                        <a:t>leur </a:t>
                      </a:r>
                      <a:r>
                        <a:rPr lang="fr-FR" sz="1200" dirty="0">
                          <a:solidFill>
                            <a:schemeClr val="tx1"/>
                          </a:solidFill>
                          <a:latin typeface="Corbel" panose="020B0503020204020204" pitchFamily="34" charset="0"/>
                        </a:rPr>
                        <a:t>transport.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err="1">
                          <a:solidFill>
                            <a:schemeClr val="tx1"/>
                          </a:solidFill>
                          <a:latin typeface="Corbel" panose="020B0503020204020204" pitchFamily="34" charset="0"/>
                        </a:rPr>
                        <a:t>L'acheteur </a:t>
                      </a:r>
                      <a:r>
                        <a:rPr lang="fr-FR" sz="1200" dirty="0">
                          <a:solidFill>
                            <a:schemeClr val="tx1"/>
                          </a:solidFill>
                          <a:latin typeface="Corbel" panose="020B0503020204020204" pitchFamily="34" charset="0"/>
                        </a:rPr>
                        <a:t>n'a aucune obligation envers le vendeur.</a:t>
                      </a:r>
                    </a:p>
                    <a:p>
                      <a:endParaRPr lang="fr-FR" sz="1200" dirty="0">
                        <a:latin typeface="Corbel" panose="020B0503020204020204" pitchFamily="34" charset="0"/>
                      </a:endParaRPr>
                    </a:p>
                  </a:txBody>
                  <a:tcPr/>
                </a:tc>
                <a:extLst>
                  <a:ext uri="{0D108BD9-81ED-4DB2-BD59-A6C34878D82A}">
                    <a16:rowId xmlns:a16="http://schemas.microsoft.com/office/drawing/2014/main" val="2246982596"/>
                  </a:ext>
                </a:extLst>
              </a:tr>
              <a:tr h="1242287">
                <a:tc>
                  <a:txBody>
                    <a:bodyPr/>
                    <a:lstStyle/>
                    <a:p>
                      <a:r>
                        <a:rPr lang="fr-FR" sz="1200" dirty="0">
                          <a:latin typeface="Corbel" panose="020B0503020204020204" pitchFamily="34" charset="0"/>
                        </a:rPr>
                        <a:t>Avis</a:t>
                      </a:r>
                    </a:p>
                  </a:txBody>
                  <a:tcPr/>
                </a:tc>
                <a:tc>
                  <a:txBody>
                    <a:bodyPr/>
                    <a:lstStyle/>
                    <a:p>
                      <a:r>
                        <a:rPr lang="fr-FR" sz="1200" dirty="0">
                          <a:latin typeface="Corbel" panose="020B0503020204020204" pitchFamily="34" charset="0"/>
                        </a:rPr>
                        <a:t>Le vendeur doit informer </a:t>
                      </a:r>
                      <a:r>
                        <a:rPr lang="fr-FR" sz="1200" dirty="0" err="1">
                          <a:latin typeface="Corbel" panose="020B0503020204020204" pitchFamily="34" charset="0"/>
                        </a:rPr>
                        <a:t>l'acheteur suffisamment à l'avance que </a:t>
                      </a:r>
                      <a:r>
                        <a:rPr lang="fr-FR" sz="1200" dirty="0">
                          <a:latin typeface="Corbel" panose="020B0503020204020204" pitchFamily="34" charset="0"/>
                        </a:rPr>
                        <a:t>les </a:t>
                      </a:r>
                      <a:r>
                        <a:rPr lang="fr-FR" sz="1200" dirty="0" err="1">
                          <a:latin typeface="Corbel" panose="020B0503020204020204" pitchFamily="34" charset="0"/>
                        </a:rPr>
                        <a:t>marchandises </a:t>
                      </a:r>
                      <a:r>
                        <a:rPr lang="fr-FR" sz="1200" dirty="0">
                          <a:latin typeface="Corbel" panose="020B0503020204020204" pitchFamily="34" charset="0"/>
                        </a:rPr>
                        <a:t>ont été </a:t>
                      </a:r>
                      <a:r>
                        <a:rPr lang="fr-FR" sz="1200" dirty="0" err="1">
                          <a:latin typeface="Corbel" panose="020B0503020204020204" pitchFamily="34" charset="0"/>
                        </a:rPr>
                        <a:t>livrées </a:t>
                      </a:r>
                      <a:r>
                        <a:rPr lang="fr-FR" sz="1200" dirty="0">
                          <a:latin typeface="Corbel" panose="020B0503020204020204" pitchFamily="34" charset="0"/>
                        </a:rPr>
                        <a:t> ou </a:t>
                      </a:r>
                      <a:r>
                        <a:rPr lang="fr-FR" sz="1200" dirty="0" err="1">
                          <a:latin typeface="Corbel" panose="020B0503020204020204" pitchFamily="34" charset="0"/>
                        </a:rPr>
                        <a:t>que </a:t>
                      </a:r>
                      <a:r>
                        <a:rPr lang="fr-FR" sz="1200" dirty="0">
                          <a:latin typeface="Corbel" panose="020B0503020204020204" pitchFamily="34" charset="0"/>
                        </a:rPr>
                        <a:t>le transporteur n'</a:t>
                      </a:r>
                      <a:r>
                        <a:rPr lang="fr-FR" sz="1200" dirty="0" err="1">
                          <a:latin typeface="Corbel" panose="020B0503020204020204" pitchFamily="34" charset="0"/>
                        </a:rPr>
                        <a:t>a </a:t>
                      </a:r>
                      <a:r>
                        <a:rPr lang="fr-FR" sz="1200" dirty="0">
                          <a:latin typeface="Corbel" panose="020B0503020204020204" pitchFamily="34" charset="0"/>
                        </a:rPr>
                        <a:t>pas </a:t>
                      </a:r>
                      <a:r>
                        <a:rPr lang="fr-FR" sz="1200" dirty="0" err="1">
                          <a:latin typeface="Corbel" panose="020B0503020204020204" pitchFamily="34" charset="0"/>
                        </a:rPr>
                        <a:t>pris </a:t>
                      </a:r>
                      <a:r>
                        <a:rPr lang="fr-FR" sz="1200" dirty="0">
                          <a:latin typeface="Corbel" panose="020B0503020204020204" pitchFamily="34" charset="0"/>
                        </a:rPr>
                        <a:t>les </a:t>
                      </a:r>
                      <a:r>
                        <a:rPr lang="fr-FR" sz="1200" dirty="0" err="1">
                          <a:latin typeface="Corbel" panose="020B0503020204020204" pitchFamily="34" charset="0"/>
                        </a:rPr>
                        <a:t>marchandises dans </a:t>
                      </a:r>
                      <a:r>
                        <a:rPr lang="fr-FR" sz="1200" dirty="0">
                          <a:latin typeface="Corbel" panose="020B0503020204020204" pitchFamily="34" charset="0"/>
                        </a:rPr>
                        <a:t>le délai </a:t>
                      </a:r>
                      <a:r>
                        <a:rPr lang="fr-FR" sz="1200" dirty="0" err="1">
                          <a:latin typeface="Corbel" panose="020B0503020204020204" pitchFamily="34" charset="0"/>
                        </a:rPr>
                        <a:t>convenu</a:t>
                      </a:r>
                      <a:r>
                        <a:rPr lang="fr-FR" sz="1200" dirty="0">
                          <a:latin typeface="Corbel" panose="020B0503020204020204" pitchFamily="34" charset="0"/>
                        </a:rPr>
                        <a:t>.</a:t>
                      </a:r>
                    </a:p>
                  </a:txBody>
                  <a:tcPr/>
                </a:tc>
                <a:tc>
                  <a:txBody>
                    <a:bodyPr/>
                    <a:lstStyle/>
                    <a:p>
                      <a:r>
                        <a:rPr lang="fr-FR" sz="1200" dirty="0" err="1">
                          <a:latin typeface="Corbel" panose="020B0503020204020204" pitchFamily="34" charset="0"/>
                        </a:rPr>
                        <a:t>L'acheteur </a:t>
                      </a:r>
                      <a:r>
                        <a:rPr lang="fr-FR" sz="1200" dirty="0">
                          <a:latin typeface="Corbel" panose="020B0503020204020204" pitchFamily="34" charset="0"/>
                        </a:rPr>
                        <a:t>doit </a:t>
                      </a:r>
                      <a:r>
                        <a:rPr lang="fr-FR" sz="1200" dirty="0" err="1">
                          <a:latin typeface="Corbel" panose="020B0503020204020204" pitchFamily="34" charset="0"/>
                        </a:rPr>
                        <a:t>informer </a:t>
                      </a:r>
                      <a:r>
                        <a:rPr lang="fr-FR" sz="1200" dirty="0">
                          <a:latin typeface="Corbel" panose="020B0503020204020204" pitchFamily="34" charset="0"/>
                        </a:rPr>
                        <a:t>le vendeur : du </a:t>
                      </a:r>
                      <a:r>
                        <a:rPr lang="fr-FR" sz="1200" dirty="0" err="1">
                          <a:latin typeface="Corbel" panose="020B0503020204020204" pitchFamily="34" charset="0"/>
                        </a:rPr>
                        <a:t>nom </a:t>
                      </a:r>
                      <a:r>
                        <a:rPr lang="fr-FR" sz="1200" dirty="0">
                          <a:latin typeface="Corbel" panose="020B0503020204020204" pitchFamily="34" charset="0"/>
                        </a:rPr>
                        <a:t>du transporteur </a:t>
                      </a:r>
                      <a:r>
                        <a:rPr lang="fr-FR" sz="1200" dirty="0" err="1">
                          <a:latin typeface="Corbel" panose="020B0503020204020204" pitchFamily="34" charset="0"/>
                        </a:rPr>
                        <a:t>désigné dans </a:t>
                      </a:r>
                      <a:r>
                        <a:rPr lang="fr-FR" sz="1200" dirty="0">
                          <a:latin typeface="Corbel" panose="020B0503020204020204" pitchFamily="34" charset="0"/>
                        </a:rPr>
                        <a:t>un délai </a:t>
                      </a:r>
                      <a:r>
                        <a:rPr lang="fr-FR" sz="1200" dirty="0" err="1">
                          <a:latin typeface="Corbel" panose="020B0503020204020204" pitchFamily="34" charset="0"/>
                        </a:rPr>
                        <a:t>suffisant </a:t>
                      </a:r>
                      <a:r>
                        <a:rPr lang="fr-FR" sz="1200" dirty="0">
                          <a:latin typeface="Corbel" panose="020B0503020204020204" pitchFamily="34" charset="0"/>
                        </a:rPr>
                        <a:t>pour permettre au vendeur de </a:t>
                      </a:r>
                      <a:r>
                        <a:rPr lang="fr-FR" sz="1200" dirty="0" err="1">
                          <a:latin typeface="Corbel" panose="020B0503020204020204" pitchFamily="34" charset="0"/>
                        </a:rPr>
                        <a:t>livrer </a:t>
                      </a:r>
                      <a:r>
                        <a:rPr lang="fr-FR" sz="1200" dirty="0">
                          <a:latin typeface="Corbel" panose="020B0503020204020204" pitchFamily="34" charset="0"/>
                        </a:rPr>
                        <a:t>les </a:t>
                      </a:r>
                      <a:r>
                        <a:rPr lang="fr-FR" sz="1200" dirty="0" err="1">
                          <a:latin typeface="Corbel" panose="020B0503020204020204" pitchFamily="34" charset="0"/>
                        </a:rPr>
                        <a:t>marchandises </a:t>
                      </a:r>
                      <a:r>
                        <a:rPr lang="fr-FR" sz="1200" dirty="0">
                          <a:latin typeface="Corbel" panose="020B0503020204020204" pitchFamily="34" charset="0"/>
                        </a:rPr>
                        <a:t>; du délai de </a:t>
                      </a:r>
                      <a:r>
                        <a:rPr lang="fr-FR" sz="1200" dirty="0" err="1">
                          <a:latin typeface="Corbel" panose="020B0503020204020204" pitchFamily="34" charset="0"/>
                        </a:rPr>
                        <a:t>livraison choisi </a:t>
                      </a:r>
                      <a:r>
                        <a:rPr lang="fr-FR" sz="1200" dirty="0">
                          <a:latin typeface="Corbel" panose="020B0503020204020204" pitchFamily="34" charset="0"/>
                        </a:rPr>
                        <a:t>; du mode de transport </a:t>
                      </a:r>
                      <a:r>
                        <a:rPr lang="fr-FR" sz="1200" dirty="0" err="1">
                          <a:latin typeface="Corbel" panose="020B0503020204020204" pitchFamily="34" charset="0"/>
                        </a:rPr>
                        <a:t>à utiliser </a:t>
                      </a:r>
                      <a:r>
                        <a:rPr lang="fr-FR" sz="1200" dirty="0">
                          <a:latin typeface="Corbel" panose="020B0503020204020204" pitchFamily="34" charset="0"/>
                        </a:rPr>
                        <a:t>par le transporteur</a:t>
                      </a:r>
                      <a:r>
                        <a:rPr lang="fr-FR" sz="1200" dirty="0" err="1">
                          <a:latin typeface="Corbel" panose="020B0503020204020204" pitchFamily="34" charset="0"/>
                        </a:rPr>
                        <a:t>, y compris les exigences en matière de sécurité liées au transport </a:t>
                      </a:r>
                      <a:r>
                        <a:rPr lang="fr-FR" sz="1200" dirty="0">
                          <a:latin typeface="Corbel" panose="020B0503020204020204" pitchFamily="34" charset="0"/>
                        </a:rPr>
                        <a:t>; du lieu </a:t>
                      </a:r>
                      <a:r>
                        <a:rPr lang="fr-FR" sz="1200" dirty="0" err="1">
                          <a:latin typeface="Corbel" panose="020B0503020204020204" pitchFamily="34" charset="0"/>
                        </a:rPr>
                        <a:t>où </a:t>
                      </a:r>
                      <a:r>
                        <a:rPr lang="fr-FR" sz="1200" dirty="0">
                          <a:latin typeface="Corbel" panose="020B0503020204020204" pitchFamily="34" charset="0"/>
                        </a:rPr>
                        <a:t>les </a:t>
                      </a:r>
                      <a:r>
                        <a:rPr lang="fr-FR" sz="1200" dirty="0" err="1">
                          <a:latin typeface="Corbel" panose="020B0503020204020204" pitchFamily="34" charset="0"/>
                        </a:rPr>
                        <a:t>marchandises seront réceptionnées dans </a:t>
                      </a:r>
                      <a:r>
                        <a:rPr lang="fr-FR" sz="1200" dirty="0">
                          <a:latin typeface="Corbel" panose="020B0503020204020204" pitchFamily="34" charset="0"/>
                        </a:rPr>
                        <a:t>le lieu de </a:t>
                      </a:r>
                      <a:r>
                        <a:rPr lang="fr-FR" sz="1200" dirty="0" err="1">
                          <a:latin typeface="Corbel" panose="020B0503020204020204" pitchFamily="34" charset="0"/>
                        </a:rPr>
                        <a:t>livraison désigné</a:t>
                      </a:r>
                      <a:r>
                        <a:rPr lang="fr-FR" sz="1200" dirty="0">
                          <a:latin typeface="Corbel" panose="020B0503020204020204" pitchFamily="34" charset="0"/>
                        </a:rPr>
                        <a:t>.</a:t>
                      </a:r>
                    </a:p>
                  </a:txBody>
                  <a:tcPr/>
                </a:tc>
                <a:extLst>
                  <a:ext uri="{0D108BD9-81ED-4DB2-BD59-A6C34878D82A}">
                    <a16:rowId xmlns:a16="http://schemas.microsoft.com/office/drawing/2014/main" val="1860424065"/>
                  </a:ext>
                </a:extLst>
              </a:tr>
            </a:tbl>
          </a:graphicData>
        </a:graphic>
      </p:graphicFrame>
      <p:sp>
        <p:nvSpPr>
          <p:cNvPr id="13" name="Titre 1">
            <a:extLst>
              <a:ext uri="{FF2B5EF4-FFF2-40B4-BE49-F238E27FC236}">
                <a16:creationId xmlns:a16="http://schemas.microsoft.com/office/drawing/2014/main" id="{AD20F3BF-AAC8-4F20-88D4-3938CF1BE90A}"/>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FCA : Franco transporteur</a:t>
            </a:r>
          </a:p>
        </p:txBody>
      </p:sp>
      <p:sp>
        <p:nvSpPr>
          <p:cNvPr id="8" name="Footer Placeholder 3">
            <a:extLst>
              <a:ext uri="{FF2B5EF4-FFF2-40B4-BE49-F238E27FC236}">
                <a16:creationId xmlns:a16="http://schemas.microsoft.com/office/drawing/2014/main" id="{5F57D25A-BF2B-4FFC-AD51-BDD1466774F2}"/>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3854349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2" name="Espace réservé du contenu 2">
            <a:extLst>
              <a:ext uri="{FF2B5EF4-FFF2-40B4-BE49-F238E27FC236}">
                <a16:creationId xmlns:a16="http://schemas.microsoft.com/office/drawing/2014/main" id="{B4422B17-FEE4-4A30-9B1B-10E0952A98C8}"/>
              </a:ext>
            </a:extLst>
          </p:cNvPr>
          <p:cNvSpPr>
            <a:spLocks noGrp="1"/>
          </p:cNvSpPr>
          <p:nvPr>
            <p:ph idx="1"/>
          </p:nvPr>
        </p:nvSpPr>
        <p:spPr>
          <a:xfrm>
            <a:off x="201165" y="4701691"/>
            <a:ext cx="8741670" cy="1292470"/>
          </a:xfrm>
        </p:spPr>
        <p:txBody>
          <a:bodyPr>
            <a:normAutofit lnSpcReduction="10000"/>
          </a:bodyPr>
          <a:lstStyle/>
          <a:p>
            <a:pPr marL="0" indent="0">
              <a:buNone/>
            </a:pPr>
            <a:r>
              <a:rPr lang="fr-FR" sz="1400" b="1" u="sng" dirty="0"/>
              <a:t>Lieu de </a:t>
            </a:r>
            <a:r>
              <a:rPr lang="fr-FR" sz="1400" b="1" u="sng" dirty="0" err="1"/>
              <a:t>livraison </a:t>
            </a:r>
            <a:r>
              <a:rPr lang="fr-FR" sz="1400" b="1" u="sng" dirty="0"/>
              <a:t>: </a:t>
            </a:r>
            <a:r>
              <a:rPr lang="fr-FR" sz="1400" dirty="0" err="1"/>
              <a:t>le long du navire</a:t>
            </a:r>
            <a:r>
              <a:rPr lang="fr-FR" sz="1400" dirty="0"/>
              <a:t>, au port de </a:t>
            </a:r>
            <a:r>
              <a:rPr lang="fr-FR" sz="1400" dirty="0" err="1"/>
              <a:t>chargement désigné</a:t>
            </a:r>
            <a:r>
              <a:rPr lang="fr-FR" sz="1400" dirty="0"/>
              <a:t>.</a:t>
            </a:r>
          </a:p>
          <a:p>
            <a:pPr marL="0" indent="0">
              <a:buNone/>
            </a:pPr>
            <a:r>
              <a:rPr lang="fr-FR" sz="1400" b="1" u="sng" strike="noStrike" baseline="0" dirty="0"/>
              <a:t>Obligations </a:t>
            </a:r>
            <a:r>
              <a:rPr lang="fr-FR" sz="1400" b="1" u="sng" strike="noStrike" baseline="0" dirty="0" err="1"/>
              <a:t>du vendeur </a:t>
            </a:r>
            <a:r>
              <a:rPr lang="fr-FR" sz="1400" b="1" u="sng" strike="noStrike" baseline="0" dirty="0"/>
              <a:t>: </a:t>
            </a:r>
            <a:r>
              <a:rPr lang="fr-FR" sz="1400" strike="noStrike" baseline="0" dirty="0" err="1"/>
              <a:t>dédouaner </a:t>
            </a:r>
            <a:r>
              <a:rPr lang="fr-FR" sz="1400" strike="noStrike" baseline="0" dirty="0"/>
              <a:t>les </a:t>
            </a:r>
            <a:r>
              <a:rPr lang="fr-FR" sz="1400" strike="noStrike" baseline="0" dirty="0" err="1"/>
              <a:t>marchandises </a:t>
            </a:r>
            <a:r>
              <a:rPr lang="fr-FR" sz="1400" strike="noStrike" baseline="0" dirty="0"/>
              <a:t>pour l'exportation + livrer les </a:t>
            </a:r>
            <a:r>
              <a:rPr lang="fr-FR" sz="1400" strike="noStrike" baseline="0" dirty="0" err="1"/>
              <a:t>marchandises le long </a:t>
            </a:r>
            <a:r>
              <a:rPr lang="fr-FR" sz="1400" strike="noStrike" baseline="0" dirty="0"/>
              <a:t>du </a:t>
            </a:r>
            <a:r>
              <a:rPr lang="fr-FR" sz="1400" strike="noStrike" baseline="0" dirty="0" err="1"/>
              <a:t>navire désigné </a:t>
            </a:r>
            <a:r>
              <a:rPr lang="fr-FR" sz="1400" strike="noStrike" baseline="0" dirty="0"/>
              <a:t>par </a:t>
            </a:r>
            <a:r>
              <a:rPr lang="fr-FR" sz="1400" strike="noStrike" baseline="0" dirty="0" err="1"/>
              <a:t>l'acheteur </a:t>
            </a:r>
            <a:r>
              <a:rPr lang="fr-FR" sz="1400" strike="noStrike" baseline="0" dirty="0"/>
              <a:t>au port de </a:t>
            </a:r>
            <a:r>
              <a:rPr lang="fr-FR" sz="1400" strike="noStrike" baseline="0" dirty="0" err="1"/>
              <a:t>chargement désigné</a:t>
            </a:r>
            <a:r>
              <a:rPr lang="fr-FR" sz="1400" strike="noStrike" baseline="0" dirty="0"/>
              <a:t>.</a:t>
            </a:r>
          </a:p>
          <a:p>
            <a:pPr marL="0" indent="0">
              <a:buNone/>
            </a:pPr>
            <a:r>
              <a:rPr lang="fr-FR" sz="1400" strike="noStrike" baseline="0" dirty="0"/>
              <a:t>Mais : pas de </a:t>
            </a:r>
            <a:r>
              <a:rPr lang="fr-FR" sz="1400" strike="noStrike" baseline="0" dirty="0" err="1"/>
              <a:t>contrat de transport</a:t>
            </a:r>
            <a:r>
              <a:rPr lang="fr-FR" sz="1400" strike="noStrike" baseline="0" dirty="0"/>
              <a:t>, pas de </a:t>
            </a:r>
            <a:r>
              <a:rPr lang="fr-FR" sz="1400" strike="noStrike" baseline="0" dirty="0" err="1"/>
              <a:t>contrat d'assurance</a:t>
            </a:r>
            <a:r>
              <a:rPr lang="fr-FR" sz="1400" strike="noStrike" baseline="0" dirty="0"/>
              <a:t>.</a:t>
            </a:r>
            <a:endParaRPr lang="en-GB" sz="1400" dirty="0"/>
          </a:p>
        </p:txBody>
      </p:sp>
      <p:sp>
        <p:nvSpPr>
          <p:cNvPr id="13" name="Titre 1">
            <a:extLst>
              <a:ext uri="{FF2B5EF4-FFF2-40B4-BE49-F238E27FC236}">
                <a16:creationId xmlns:a16="http://schemas.microsoft.com/office/drawing/2014/main" id="{AD20F3BF-AAC8-4F20-88D4-3938CF1BE90A}"/>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FAS : Franco </a:t>
            </a:r>
            <a:r>
              <a:rPr lang="fr-FR" dirty="0" err="1">
                <a:solidFill>
                  <a:schemeClr val="bg1"/>
                </a:solidFill>
                <a:latin typeface="Franklin Gothic Book" panose="020B0503020102020204" pitchFamily="34" charset="0"/>
              </a:rPr>
              <a:t>le long du navire</a:t>
            </a:r>
            <a:endParaRPr lang="fr-FR" dirty="0">
              <a:solidFill>
                <a:schemeClr val="bg1"/>
              </a:solidFill>
              <a:latin typeface="Franklin Gothic Book" panose="020B0503020102020204" pitchFamily="34" charset="0"/>
            </a:endParaRPr>
          </a:p>
        </p:txBody>
      </p:sp>
      <p:sp>
        <p:nvSpPr>
          <p:cNvPr id="8" name="Footer Placeholder 3">
            <a:extLst>
              <a:ext uri="{FF2B5EF4-FFF2-40B4-BE49-F238E27FC236}">
                <a16:creationId xmlns:a16="http://schemas.microsoft.com/office/drawing/2014/main" id="{5F57D25A-BF2B-4FFC-AD51-BDD1466774F2}"/>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pic>
        <p:nvPicPr>
          <p:cNvPr id="3" name="Image 2" descr="Une image contenant texte, tableau blanc&#10;&#10;Description générée automatiquement">
            <a:extLst>
              <a:ext uri="{FF2B5EF4-FFF2-40B4-BE49-F238E27FC236}">
                <a16:creationId xmlns:a16="http://schemas.microsoft.com/office/drawing/2014/main" id="{DC12F65B-F517-4BF7-B878-56ECC4E68E6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74884" y="1725399"/>
            <a:ext cx="6479931" cy="2976291"/>
          </a:xfrm>
          <a:prstGeom prst="rect">
            <a:avLst/>
          </a:prstGeom>
        </p:spPr>
      </p:pic>
    </p:spTree>
    <p:extLst>
      <p:ext uri="{BB962C8B-B14F-4D97-AF65-F5344CB8AC3E}">
        <p14:creationId xmlns:p14="http://schemas.microsoft.com/office/powerpoint/2010/main" val="2760172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graphicFrame>
        <p:nvGraphicFramePr>
          <p:cNvPr id="2" name="Tableau 3">
            <a:extLst>
              <a:ext uri="{FF2B5EF4-FFF2-40B4-BE49-F238E27FC236}">
                <a16:creationId xmlns:a16="http://schemas.microsoft.com/office/drawing/2014/main" id="{A1CC6B24-E25D-4CE1-8150-A9CD76BACE22}"/>
              </a:ext>
            </a:extLst>
          </p:cNvPr>
          <p:cNvGraphicFramePr>
            <a:graphicFrameLocks noGrp="1"/>
          </p:cNvGraphicFramePr>
          <p:nvPr>
            <p:ph idx="1"/>
            <p:extLst>
              <p:ext uri="{D42A27DB-BD31-4B8C-83A1-F6EECF244321}">
                <p14:modId xmlns:p14="http://schemas.microsoft.com/office/powerpoint/2010/main" val="675227258"/>
              </p:ext>
            </p:extLst>
          </p:nvPr>
        </p:nvGraphicFramePr>
        <p:xfrm>
          <a:off x="201165" y="1696915"/>
          <a:ext cx="8784573" cy="4273062"/>
        </p:xfrm>
        <a:graphic>
          <a:graphicData uri="http://schemas.openxmlformats.org/drawingml/2006/table">
            <a:tbl>
              <a:tblPr firstRow="1" bandRow="1">
                <a:tableStyleId>{5C22544A-7EE6-4342-B048-85BDC9FD1C3A}</a:tableStyleId>
              </a:tblPr>
              <a:tblGrid>
                <a:gridCol w="1504543">
                  <a:extLst>
                    <a:ext uri="{9D8B030D-6E8A-4147-A177-3AD203B41FA5}">
                      <a16:colId xmlns:a16="http://schemas.microsoft.com/office/drawing/2014/main" val="348257794"/>
                    </a:ext>
                  </a:extLst>
                </a:gridCol>
                <a:gridCol w="3631223">
                  <a:extLst>
                    <a:ext uri="{9D8B030D-6E8A-4147-A177-3AD203B41FA5}">
                      <a16:colId xmlns:a16="http://schemas.microsoft.com/office/drawing/2014/main" val="1114077870"/>
                    </a:ext>
                  </a:extLst>
                </a:gridCol>
                <a:gridCol w="3648807">
                  <a:extLst>
                    <a:ext uri="{9D8B030D-6E8A-4147-A177-3AD203B41FA5}">
                      <a16:colId xmlns:a16="http://schemas.microsoft.com/office/drawing/2014/main" val="2917934723"/>
                    </a:ext>
                  </a:extLst>
                </a:gridCol>
              </a:tblGrid>
              <a:tr h="505443">
                <a:tc>
                  <a:txBody>
                    <a:bodyPr/>
                    <a:lstStyle/>
                    <a:p>
                      <a:endParaRPr lang="fr-FR" sz="1200">
                        <a:latin typeface="Corbel" panose="020B0503020204020204" pitchFamily="34" charset="0"/>
                      </a:endParaRPr>
                    </a:p>
                  </a:txBody>
                  <a:tcPr/>
                </a:tc>
                <a:tc>
                  <a:txBody>
                    <a:bodyPr/>
                    <a:lstStyle/>
                    <a:p>
                      <a:pPr algn="ctr"/>
                      <a:r>
                        <a:rPr lang="fr-FR" sz="1200" dirty="0">
                          <a:latin typeface="Corbel" panose="020B0503020204020204" pitchFamily="34" charset="0"/>
                        </a:rPr>
                        <a:t>Vendeur</a:t>
                      </a:r>
                    </a:p>
                  </a:txBody>
                  <a:tcPr/>
                </a:tc>
                <a:tc>
                  <a:txBody>
                    <a:bodyPr/>
                    <a:lstStyle/>
                    <a:p>
                      <a:pPr algn="ctr"/>
                      <a:r>
                        <a:rPr lang="fr-FR" sz="1200" dirty="0">
                          <a:latin typeface="Corbel" panose="020B0503020204020204" pitchFamily="34" charset="0"/>
                        </a:rPr>
                        <a:t>Acheteur</a:t>
                      </a:r>
                    </a:p>
                  </a:txBody>
                  <a:tcPr/>
                </a:tc>
                <a:extLst>
                  <a:ext uri="{0D108BD9-81ED-4DB2-BD59-A6C34878D82A}">
                    <a16:rowId xmlns:a16="http://schemas.microsoft.com/office/drawing/2014/main" val="835553315"/>
                  </a:ext>
                </a:extLst>
              </a:tr>
              <a:tr h="12558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Corbel" panose="020B0503020204020204" pitchFamily="34" charset="0"/>
                        </a:rPr>
                        <a:t>Dédouanement à l'exportation/à l'importation</a:t>
                      </a:r>
                    </a:p>
                    <a:p>
                      <a:endParaRPr lang="fr-FR" sz="1200" dirty="0">
                        <a:latin typeface="Corbel" panose="020B0503020204020204" pitchFamily="34" charset="0"/>
                      </a:endParaRPr>
                    </a:p>
                  </a:txBody>
                  <a:tcPr/>
                </a:tc>
                <a:tc>
                  <a:txBody>
                    <a:bodyPr/>
                    <a:lstStyle/>
                    <a:p>
                      <a:r>
                        <a:rPr lang="fr-FR" sz="1200" dirty="0">
                          <a:latin typeface="Corbel" panose="020B0503020204020204" pitchFamily="34" charset="0"/>
                        </a:rPr>
                        <a:t>Exportation : le vendeur doit effectuer et </a:t>
                      </a:r>
                      <a:r>
                        <a:rPr lang="fr-FR" sz="1200" dirty="0" err="1">
                          <a:latin typeface="Corbel" panose="020B0503020204020204" pitchFamily="34" charset="0"/>
                        </a:rPr>
                        <a:t>payer </a:t>
                      </a:r>
                      <a:r>
                        <a:rPr lang="fr-FR" sz="1200" dirty="0">
                          <a:latin typeface="Corbel" panose="020B0503020204020204" pitchFamily="34" charset="0"/>
                        </a:rPr>
                        <a:t>toutes </a:t>
                      </a:r>
                      <a:r>
                        <a:rPr lang="fr-FR" sz="1200" dirty="0" err="1">
                          <a:latin typeface="Corbel" panose="020B0503020204020204" pitchFamily="34" charset="0"/>
                        </a:rPr>
                        <a:t>les formalités</a:t>
                      </a:r>
                      <a:r>
                        <a:rPr lang="fr-FR" sz="1200" dirty="0">
                          <a:latin typeface="Corbel" panose="020B0503020204020204" pitchFamily="34" charset="0"/>
                        </a:rPr>
                        <a:t> de dédouanement à l'exportation.</a:t>
                      </a:r>
                    </a:p>
                    <a:p>
                      <a:endParaRPr lang="fr-FR" sz="1200" dirty="0">
                        <a:latin typeface="Corbel" panose="020B0503020204020204" pitchFamily="34" charset="0"/>
                      </a:endParaRPr>
                    </a:p>
                    <a:p>
                      <a:r>
                        <a:rPr lang="fr-FR" sz="1200" dirty="0">
                          <a:latin typeface="Corbel" panose="020B0503020204020204" pitchFamily="34" charset="0"/>
                        </a:rPr>
                        <a:t>Importation : le vendeur doit aider </a:t>
                      </a:r>
                      <a:r>
                        <a:rPr lang="fr-FR" sz="1200" dirty="0" err="1">
                          <a:latin typeface="Corbel" panose="020B0503020204020204" pitchFamily="34" charset="0"/>
                        </a:rPr>
                        <a:t>l'acheteur</a:t>
                      </a:r>
                      <a:r>
                        <a:rPr lang="fr-FR" sz="1200" dirty="0">
                          <a:latin typeface="Corbel" panose="020B0503020204020204" pitchFamily="34" charset="0"/>
                        </a:rPr>
                        <a:t>, à la </a:t>
                      </a:r>
                      <a:r>
                        <a:rPr lang="fr-FR" sz="1200" dirty="0" err="1">
                          <a:latin typeface="Corbel" panose="020B0503020204020204" pitchFamily="34" charset="0"/>
                        </a:rPr>
                        <a:t>demande de ce dernier</a:t>
                      </a:r>
                      <a:r>
                        <a:rPr lang="fr-FR" sz="1200" dirty="0">
                          <a:latin typeface="Corbel" panose="020B0503020204020204" pitchFamily="34" charset="0"/>
                        </a:rPr>
                        <a:t>, à </a:t>
                      </a:r>
                      <a:r>
                        <a:rPr lang="fr-FR" sz="1200" dirty="0" err="1">
                          <a:latin typeface="Corbel" panose="020B0503020204020204" pitchFamily="34" charset="0"/>
                        </a:rPr>
                        <a:t>obtenir tous </a:t>
                      </a:r>
                      <a:r>
                        <a:rPr lang="fr-FR" sz="1200" dirty="0">
                          <a:latin typeface="Corbel" panose="020B0503020204020204" pitchFamily="34" charset="0"/>
                        </a:rPr>
                        <a:t>les documents ou informations </a:t>
                      </a:r>
                      <a:r>
                        <a:rPr lang="fr-FR" sz="1200" dirty="0" err="1">
                          <a:latin typeface="Corbel" panose="020B0503020204020204" pitchFamily="34" charset="0"/>
                        </a:rPr>
                        <a:t>relatifs </a:t>
                      </a:r>
                      <a:r>
                        <a:rPr lang="fr-FR" sz="1200" dirty="0">
                          <a:latin typeface="Corbel" panose="020B0503020204020204" pitchFamily="34" charset="0"/>
                        </a:rPr>
                        <a:t>aux </a:t>
                      </a:r>
                      <a:r>
                        <a:rPr lang="fr-FR" sz="1200" dirty="0" err="1">
                          <a:latin typeface="Corbel" panose="020B0503020204020204" pitchFamily="34" charset="0"/>
                        </a:rPr>
                        <a:t>formalités</a:t>
                      </a:r>
                      <a:r>
                        <a:rPr lang="fr-FR" sz="1200" dirty="0">
                          <a:latin typeface="Corbel" panose="020B0503020204020204" pitchFamily="34" charset="0"/>
                        </a:rPr>
                        <a:t> de dédouanement à l'importation.</a:t>
                      </a:r>
                    </a:p>
                  </a:txBody>
                  <a:tcPr/>
                </a:tc>
                <a:tc>
                  <a:txBody>
                    <a:bodyPr/>
                    <a:lstStyle/>
                    <a:p>
                      <a:r>
                        <a:rPr lang="fr-FR" sz="1200" dirty="0">
                          <a:latin typeface="Corbel" panose="020B0503020204020204" pitchFamily="34" charset="0"/>
                        </a:rPr>
                        <a:t>Exportation : </a:t>
                      </a:r>
                      <a:r>
                        <a:rPr lang="fr-FR" sz="1200" dirty="0" err="1">
                          <a:latin typeface="Corbel" panose="020B0503020204020204" pitchFamily="34" charset="0"/>
                        </a:rPr>
                        <a:t>l'acheteur </a:t>
                      </a:r>
                      <a:r>
                        <a:rPr lang="fr-FR" sz="1200" dirty="0">
                          <a:latin typeface="Corbel" panose="020B0503020204020204" pitchFamily="34" charset="0"/>
                        </a:rPr>
                        <a:t>doit aider le vendeur, à la </a:t>
                      </a:r>
                      <a:r>
                        <a:rPr lang="fr-FR" sz="1200" dirty="0" err="1">
                          <a:latin typeface="Corbel" panose="020B0503020204020204" pitchFamily="34" charset="0"/>
                        </a:rPr>
                        <a:t>demande de ce dernier, </a:t>
                      </a:r>
                      <a:r>
                        <a:rPr lang="fr-FR" sz="1200" dirty="0">
                          <a:latin typeface="Corbel" panose="020B0503020204020204" pitchFamily="34" charset="0"/>
                        </a:rPr>
                        <a:t>à </a:t>
                      </a:r>
                      <a:r>
                        <a:rPr lang="fr-FR" sz="1200" dirty="0" err="1">
                          <a:latin typeface="Corbel" panose="020B0503020204020204" pitchFamily="34" charset="0"/>
                        </a:rPr>
                        <a:t>obtenir tous </a:t>
                      </a:r>
                      <a:r>
                        <a:rPr lang="fr-FR" sz="1200" dirty="0">
                          <a:latin typeface="Corbel" panose="020B0503020204020204" pitchFamily="34" charset="0"/>
                        </a:rPr>
                        <a:t>les documents ou informations </a:t>
                      </a:r>
                      <a:r>
                        <a:rPr lang="fr-FR" sz="1200" dirty="0" err="1">
                          <a:latin typeface="Corbel" panose="020B0503020204020204" pitchFamily="34" charset="0"/>
                        </a:rPr>
                        <a:t>relatifs </a:t>
                      </a:r>
                      <a:r>
                        <a:rPr lang="fr-FR" sz="1200" dirty="0">
                          <a:latin typeface="Corbel" panose="020B0503020204020204" pitchFamily="34" charset="0"/>
                        </a:rPr>
                        <a:t>aux </a:t>
                      </a:r>
                      <a:r>
                        <a:rPr lang="fr-FR" sz="1200" dirty="0" err="1">
                          <a:latin typeface="Corbel" panose="020B0503020204020204" pitchFamily="34" charset="0"/>
                        </a:rPr>
                        <a:t>formalités</a:t>
                      </a:r>
                      <a:r>
                        <a:rPr lang="fr-FR" sz="1200" dirty="0">
                          <a:latin typeface="Corbel" panose="020B0503020204020204" pitchFamily="34" charset="0"/>
                        </a:rPr>
                        <a:t> de dédouanement à l'exportation.</a:t>
                      </a:r>
                    </a:p>
                    <a:p>
                      <a:endParaRPr lang="fr-FR" sz="1200" dirty="0">
                        <a:latin typeface="Corbel" panose="020B0503020204020204" pitchFamily="34" charset="0"/>
                      </a:endParaRPr>
                    </a:p>
                    <a:p>
                      <a:r>
                        <a:rPr lang="fr-FR" sz="1200" dirty="0">
                          <a:latin typeface="Corbel" panose="020B0503020204020204" pitchFamily="34" charset="0"/>
                        </a:rPr>
                        <a:t>Importation : </a:t>
                      </a:r>
                      <a:r>
                        <a:rPr lang="fr-FR" sz="1200" dirty="0" err="1">
                          <a:latin typeface="Corbel" panose="020B0503020204020204" pitchFamily="34" charset="0"/>
                        </a:rPr>
                        <a:t>l'acheteur </a:t>
                      </a:r>
                      <a:r>
                        <a:rPr lang="fr-FR" sz="1200" dirty="0">
                          <a:latin typeface="Corbel" panose="020B0503020204020204" pitchFamily="34" charset="0"/>
                        </a:rPr>
                        <a:t>doit effectuer et </a:t>
                      </a:r>
                      <a:r>
                        <a:rPr lang="fr-FR" sz="1200" dirty="0" err="1">
                          <a:latin typeface="Corbel" panose="020B0503020204020204" pitchFamily="34" charset="0"/>
                        </a:rPr>
                        <a:t>payer </a:t>
                      </a:r>
                      <a:r>
                        <a:rPr lang="fr-FR" sz="1200" dirty="0">
                          <a:latin typeface="Corbel" panose="020B0503020204020204" pitchFamily="34" charset="0"/>
                        </a:rPr>
                        <a:t>toutes </a:t>
                      </a:r>
                      <a:r>
                        <a:rPr lang="fr-FR" sz="1200" dirty="0" err="1">
                          <a:latin typeface="Corbel" panose="020B0503020204020204" pitchFamily="34" charset="0"/>
                        </a:rPr>
                        <a:t>les formalités</a:t>
                      </a:r>
                      <a:r>
                        <a:rPr lang="fr-FR" sz="1200" dirty="0">
                          <a:latin typeface="Corbel" panose="020B0503020204020204" pitchFamily="34" charset="0"/>
                        </a:rPr>
                        <a:t>.</a:t>
                      </a:r>
                    </a:p>
                  </a:txBody>
                  <a:tcPr/>
                </a:tc>
                <a:extLst>
                  <a:ext uri="{0D108BD9-81ED-4DB2-BD59-A6C34878D82A}">
                    <a16:rowId xmlns:a16="http://schemas.microsoft.com/office/drawing/2014/main" val="1746321478"/>
                  </a:ext>
                </a:extLst>
              </a:tr>
              <a:tr h="12558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Corbel" panose="020B0503020204020204" pitchFamily="34" charset="0"/>
                        </a:rPr>
                        <a:t>Contrôle / emballage / </a:t>
                      </a:r>
                      <a:r>
                        <a:rPr lang="fr-FR" sz="1200" dirty="0" err="1">
                          <a:latin typeface="Corbel" panose="020B0503020204020204" pitchFamily="34" charset="0"/>
                        </a:rPr>
                        <a:t>marquage</a:t>
                      </a:r>
                      <a:endParaRPr lang="fr-FR" sz="1200" dirty="0">
                        <a:latin typeface="Corbel" panose="020B0503020204020204" pitchFamily="34" charset="0"/>
                      </a:endParaRPr>
                    </a:p>
                    <a:p>
                      <a:endParaRPr lang="fr-FR" sz="1200" dirty="0">
                        <a:latin typeface="Corbel" panose="020B0503020204020204" pitchFamily="34" charset="0"/>
                      </a:endParaRPr>
                    </a:p>
                  </a:txBody>
                  <a:tcPr/>
                </a:tc>
                <a:tc>
                  <a:txBody>
                    <a:bodyPr/>
                    <a:lstStyle/>
                    <a:p>
                      <a:pPr algn="l"/>
                      <a:r>
                        <a:rPr lang="fr-FR" sz="1200" dirty="0">
                          <a:solidFill>
                            <a:schemeClr val="tx1"/>
                          </a:solidFill>
                          <a:latin typeface="Corbel" panose="020B0503020204020204" pitchFamily="34" charset="0"/>
                        </a:rPr>
                        <a:t>Le vendeur doit :</a:t>
                      </a:r>
                    </a:p>
                    <a:p>
                      <a:pPr marL="171450" indent="-171450" algn="l">
                        <a:buFontTx/>
                        <a:buChar char="-"/>
                      </a:pPr>
                      <a:r>
                        <a:rPr lang="fr-FR" sz="1200" dirty="0" err="1">
                          <a:solidFill>
                            <a:schemeClr val="tx1"/>
                          </a:solidFill>
                          <a:latin typeface="Corbel" panose="020B0503020204020204" pitchFamily="34" charset="0"/>
                        </a:rPr>
                        <a:t>Prendre en charge </a:t>
                      </a:r>
                      <a:r>
                        <a:rPr lang="fr-FR" sz="1200" dirty="0">
                          <a:solidFill>
                            <a:schemeClr val="tx1"/>
                          </a:solidFill>
                          <a:latin typeface="Corbel" panose="020B0503020204020204" pitchFamily="34" charset="0"/>
                        </a:rPr>
                        <a:t>le </a:t>
                      </a:r>
                      <a:r>
                        <a:rPr lang="fr-FR" sz="1200" dirty="0" err="1">
                          <a:solidFill>
                            <a:schemeClr val="tx1"/>
                          </a:solidFill>
                          <a:latin typeface="Corbel" panose="020B0503020204020204" pitchFamily="34" charset="0"/>
                        </a:rPr>
                        <a:t>coût </a:t>
                      </a:r>
                      <a:r>
                        <a:rPr lang="fr-FR" sz="1200" dirty="0">
                          <a:solidFill>
                            <a:schemeClr val="tx1"/>
                          </a:solidFill>
                          <a:latin typeface="Corbel" panose="020B0503020204020204" pitchFamily="34" charset="0"/>
                        </a:rPr>
                        <a:t>de toutes </a:t>
                      </a:r>
                      <a:r>
                        <a:rPr lang="fr-FR" sz="1200" dirty="0" err="1">
                          <a:solidFill>
                            <a:schemeClr val="tx1"/>
                          </a:solidFill>
                          <a:latin typeface="Corbel" panose="020B0503020204020204" pitchFamily="34" charset="0"/>
                        </a:rPr>
                        <a:t>les opérations</a:t>
                      </a:r>
                      <a:r>
                        <a:rPr lang="fr-FR" sz="1200" dirty="0">
                          <a:solidFill>
                            <a:schemeClr val="tx1"/>
                          </a:solidFill>
                          <a:latin typeface="Corbel" panose="020B0503020204020204" pitchFamily="34" charset="0"/>
                        </a:rPr>
                        <a:t> de contrôle (contrôle </a:t>
                      </a:r>
                      <a:r>
                        <a:rPr lang="fr-FR" sz="1200" dirty="0" err="1">
                          <a:solidFill>
                            <a:schemeClr val="tx1"/>
                          </a:solidFill>
                          <a:latin typeface="Corbel" panose="020B0503020204020204" pitchFamily="34" charset="0"/>
                        </a:rPr>
                        <a:t>de la qualité</a:t>
                      </a:r>
                      <a:r>
                        <a:rPr lang="fr-FR" sz="1200" dirty="0">
                          <a:solidFill>
                            <a:schemeClr val="tx1"/>
                          </a:solidFill>
                          <a:latin typeface="Corbel" panose="020B0503020204020204" pitchFamily="34" charset="0"/>
                        </a:rPr>
                        <a:t>, </a:t>
                      </a:r>
                      <a:r>
                        <a:rPr lang="fr-FR" sz="1200" dirty="0" err="1">
                          <a:solidFill>
                            <a:schemeClr val="tx1"/>
                          </a:solidFill>
                          <a:latin typeface="Corbel" panose="020B0503020204020204" pitchFamily="34" charset="0"/>
                        </a:rPr>
                        <a:t>mesure</a:t>
                      </a:r>
                      <a:r>
                        <a:rPr lang="fr-FR" sz="1200" dirty="0">
                          <a:solidFill>
                            <a:schemeClr val="tx1"/>
                          </a:solidFill>
                          <a:latin typeface="Corbel" panose="020B0503020204020204" pitchFamily="34" charset="0"/>
                        </a:rPr>
                        <a:t>, </a:t>
                      </a:r>
                      <a:r>
                        <a:rPr lang="fr-FR" sz="1200" dirty="0" err="1">
                          <a:solidFill>
                            <a:schemeClr val="tx1"/>
                          </a:solidFill>
                          <a:latin typeface="Corbel" panose="020B0503020204020204" pitchFamily="34" charset="0"/>
                        </a:rPr>
                        <a:t>pesage</a:t>
                      </a:r>
                      <a:r>
                        <a:rPr lang="fr-FR" sz="1200" dirty="0">
                          <a:solidFill>
                            <a:schemeClr val="tx1"/>
                          </a:solidFill>
                          <a:latin typeface="Corbel" panose="020B0503020204020204" pitchFamily="34" charset="0"/>
                        </a:rPr>
                        <a:t>, </a:t>
                      </a:r>
                      <a:r>
                        <a:rPr lang="fr-FR" sz="1200" dirty="0" err="1">
                          <a:solidFill>
                            <a:schemeClr val="tx1"/>
                          </a:solidFill>
                          <a:latin typeface="Corbel" panose="020B0503020204020204" pitchFamily="34" charset="0"/>
                        </a:rPr>
                        <a:t>comptage</a:t>
                      </a:r>
                      <a:r>
                        <a:rPr lang="fr-FR" sz="1200" dirty="0">
                          <a:solidFill>
                            <a:schemeClr val="tx1"/>
                          </a:solidFill>
                          <a:latin typeface="Corbel" panose="020B0503020204020204" pitchFamily="34" charset="0"/>
                        </a:rPr>
                        <a:t>)</a:t>
                      </a:r>
                    </a:p>
                    <a:p>
                      <a:pPr marL="171450" indent="-171450" algn="l">
                        <a:buFontTx/>
                        <a:buChar char="-"/>
                      </a:pPr>
                      <a:r>
                        <a:rPr lang="fr-FR" sz="1200" dirty="0">
                          <a:solidFill>
                            <a:schemeClr val="tx1"/>
                          </a:solidFill>
                          <a:latin typeface="Corbel" panose="020B0503020204020204" pitchFamily="34" charset="0"/>
                        </a:rPr>
                        <a:t>Emballer et marquer les </a:t>
                      </a:r>
                      <a:r>
                        <a:rPr lang="fr-FR" sz="1200" dirty="0" err="1">
                          <a:solidFill>
                            <a:schemeClr val="tx1"/>
                          </a:solidFill>
                          <a:latin typeface="Corbel" panose="020B0503020204020204" pitchFamily="34" charset="0"/>
                        </a:rPr>
                        <a:t>marchandises </a:t>
                      </a:r>
                      <a:r>
                        <a:rPr lang="fr-FR" sz="1200" dirty="0">
                          <a:solidFill>
                            <a:schemeClr val="tx1"/>
                          </a:solidFill>
                          <a:latin typeface="Corbel" panose="020B0503020204020204" pitchFamily="34" charset="0"/>
                        </a:rPr>
                        <a:t>de </a:t>
                      </a:r>
                      <a:r>
                        <a:rPr lang="fr-FR" sz="1200" dirty="0" err="1">
                          <a:solidFill>
                            <a:schemeClr val="tx1"/>
                          </a:solidFill>
                          <a:latin typeface="Corbel" panose="020B0503020204020204" pitchFamily="34" charset="0"/>
                        </a:rPr>
                        <a:t>manière appropriée </a:t>
                      </a:r>
                      <a:r>
                        <a:rPr lang="fr-FR" sz="1200" dirty="0">
                          <a:solidFill>
                            <a:schemeClr val="tx1"/>
                          </a:solidFill>
                          <a:latin typeface="Corbel" panose="020B0503020204020204" pitchFamily="34" charset="0"/>
                        </a:rPr>
                        <a:t>pour </a:t>
                      </a:r>
                      <a:r>
                        <a:rPr lang="fr-FR" sz="1200" dirty="0" err="1">
                          <a:solidFill>
                            <a:schemeClr val="tx1"/>
                          </a:solidFill>
                          <a:latin typeface="Corbel" panose="020B0503020204020204" pitchFamily="34" charset="0"/>
                        </a:rPr>
                        <a:t>leur </a:t>
                      </a:r>
                      <a:r>
                        <a:rPr lang="fr-FR" sz="1200" dirty="0">
                          <a:solidFill>
                            <a:schemeClr val="tx1"/>
                          </a:solidFill>
                          <a:latin typeface="Corbel" panose="020B0503020204020204" pitchFamily="34" charset="0"/>
                        </a:rPr>
                        <a:t>transport.</a:t>
                      </a:r>
                    </a:p>
                  </a:txBody>
                  <a:tcPr/>
                </a:tc>
                <a:tc>
                  <a:txBody>
                    <a:bodyPr/>
                    <a:lstStyle/>
                    <a:p>
                      <a:r>
                        <a:rPr lang="fr-FR" sz="1200" dirty="0" err="1">
                          <a:latin typeface="Corbel" panose="020B0503020204020204" pitchFamily="34" charset="0"/>
                        </a:rPr>
                        <a:t>L'acheteur </a:t>
                      </a:r>
                      <a:r>
                        <a:rPr lang="fr-FR" sz="1200" dirty="0">
                          <a:latin typeface="Corbel" panose="020B0503020204020204" pitchFamily="34" charset="0"/>
                        </a:rPr>
                        <a:t>n'a aucune obligation envers le vendeur.</a:t>
                      </a:r>
                    </a:p>
                  </a:txBody>
                  <a:tcPr/>
                </a:tc>
                <a:extLst>
                  <a:ext uri="{0D108BD9-81ED-4DB2-BD59-A6C34878D82A}">
                    <a16:rowId xmlns:a16="http://schemas.microsoft.com/office/drawing/2014/main" val="2274138719"/>
                  </a:ext>
                </a:extLst>
              </a:tr>
              <a:tr h="12558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Corbel" panose="020B0503020204020204" pitchFamily="34" charset="0"/>
                        </a:rPr>
                        <a:t>Avis</a:t>
                      </a:r>
                    </a:p>
                    <a:p>
                      <a:endParaRPr lang="fr-FR" sz="1200" dirty="0">
                        <a:latin typeface="Corbel" panose="020B0503020204020204" pitchFamily="34" charset="0"/>
                      </a:endParaRPr>
                    </a:p>
                  </a:txBody>
                  <a:tcPr/>
                </a:tc>
                <a:tc>
                  <a:txBody>
                    <a:bodyPr/>
                    <a:lstStyle/>
                    <a:p>
                      <a:r>
                        <a:rPr lang="fr-FR" sz="1200" dirty="0">
                          <a:latin typeface="Corbel" panose="020B0503020204020204" pitchFamily="34" charset="0"/>
                        </a:rPr>
                        <a:t>Le vendeur doit informer </a:t>
                      </a:r>
                      <a:r>
                        <a:rPr lang="fr-FR" sz="1200" dirty="0" err="1">
                          <a:latin typeface="Corbel" panose="020B0503020204020204" pitchFamily="34" charset="0"/>
                        </a:rPr>
                        <a:t>l'acheteur suffisamment à l'avance que </a:t>
                      </a:r>
                      <a:r>
                        <a:rPr lang="fr-FR" sz="1200" dirty="0">
                          <a:latin typeface="Corbel" panose="020B0503020204020204" pitchFamily="34" charset="0"/>
                        </a:rPr>
                        <a:t>les </a:t>
                      </a:r>
                      <a:r>
                        <a:rPr lang="fr-FR" sz="1200" dirty="0" err="1">
                          <a:latin typeface="Corbel" panose="020B0503020204020204" pitchFamily="34" charset="0"/>
                        </a:rPr>
                        <a:t>marchandises </a:t>
                      </a:r>
                      <a:r>
                        <a:rPr lang="fr-FR" sz="1200" dirty="0">
                          <a:latin typeface="Corbel" panose="020B0503020204020204" pitchFamily="34" charset="0"/>
                        </a:rPr>
                        <a:t>ont été </a:t>
                      </a:r>
                      <a:r>
                        <a:rPr lang="fr-FR" sz="1200" dirty="0" err="1">
                          <a:latin typeface="Corbel" panose="020B0503020204020204" pitchFamily="34" charset="0"/>
                        </a:rPr>
                        <a:t>livrées </a:t>
                      </a:r>
                      <a:r>
                        <a:rPr lang="fr-FR" sz="1200" dirty="0">
                          <a:latin typeface="Corbel" panose="020B0503020204020204" pitchFamily="34" charset="0"/>
                        </a:rPr>
                        <a:t>ou </a:t>
                      </a:r>
                      <a:r>
                        <a:rPr lang="fr-FR" sz="1200" dirty="0" err="1">
                          <a:latin typeface="Corbel" panose="020B0503020204020204" pitchFamily="34" charset="0"/>
                        </a:rPr>
                        <a:t>que </a:t>
                      </a:r>
                      <a:r>
                        <a:rPr lang="fr-FR" sz="1200" dirty="0">
                          <a:latin typeface="Corbel" panose="020B0503020204020204" pitchFamily="34" charset="0"/>
                        </a:rPr>
                        <a:t>le </a:t>
                      </a:r>
                      <a:r>
                        <a:rPr lang="fr-FR" sz="1200" dirty="0" err="1">
                          <a:latin typeface="Corbel" panose="020B0503020204020204" pitchFamily="34" charset="0"/>
                        </a:rPr>
                        <a:t>navire </a:t>
                      </a:r>
                      <a:r>
                        <a:rPr lang="fr-FR" sz="1200" dirty="0">
                          <a:latin typeface="Corbel" panose="020B0503020204020204" pitchFamily="34" charset="0"/>
                        </a:rPr>
                        <a:t>n'</a:t>
                      </a:r>
                      <a:r>
                        <a:rPr lang="fr-FR" sz="1200" dirty="0" err="1">
                          <a:latin typeface="Corbel" panose="020B0503020204020204" pitchFamily="34" charset="0"/>
                        </a:rPr>
                        <a:t>a </a:t>
                      </a:r>
                      <a:r>
                        <a:rPr lang="fr-FR" sz="1200" dirty="0">
                          <a:latin typeface="Corbel" panose="020B0503020204020204" pitchFamily="34" charset="0"/>
                        </a:rPr>
                        <a:t>pas </a:t>
                      </a:r>
                      <a:r>
                        <a:rPr lang="fr-FR" sz="1200" dirty="0" err="1">
                          <a:latin typeface="Corbel" panose="020B0503020204020204" pitchFamily="34" charset="0"/>
                        </a:rPr>
                        <a:t>pris livraison </a:t>
                      </a:r>
                      <a:r>
                        <a:rPr lang="fr-FR" sz="1200" dirty="0">
                          <a:latin typeface="Corbel" panose="020B0503020204020204" pitchFamily="34" charset="0"/>
                        </a:rPr>
                        <a:t>des </a:t>
                      </a:r>
                      <a:r>
                        <a:rPr lang="fr-FR" sz="1200" dirty="0" err="1">
                          <a:latin typeface="Corbel" panose="020B0503020204020204" pitchFamily="34" charset="0"/>
                        </a:rPr>
                        <a:t>marchandises dans </a:t>
                      </a:r>
                      <a:r>
                        <a:rPr lang="fr-FR" sz="1200" dirty="0">
                          <a:latin typeface="Corbel" panose="020B0503020204020204" pitchFamily="34" charset="0"/>
                        </a:rPr>
                        <a:t>le délai </a:t>
                      </a:r>
                      <a:r>
                        <a:rPr lang="fr-FR" sz="1200" dirty="0" err="1">
                          <a:latin typeface="Corbel" panose="020B0503020204020204" pitchFamily="34" charset="0"/>
                        </a:rPr>
                        <a:t>convenu</a:t>
                      </a:r>
                      <a:r>
                        <a:rPr lang="fr-FR" sz="1200" dirty="0">
                          <a:latin typeface="Corbel" panose="020B0503020204020204" pitchFamily="34" charset="0"/>
                        </a:rPr>
                        <a:t>.</a:t>
                      </a:r>
                    </a:p>
                  </a:txBody>
                  <a:tcPr/>
                </a:tc>
                <a:tc>
                  <a:txBody>
                    <a:bodyPr/>
                    <a:lstStyle/>
                    <a:p>
                      <a:r>
                        <a:rPr lang="fr-FR" sz="1200" dirty="0" err="1">
                          <a:latin typeface="Corbel" panose="020B0503020204020204" pitchFamily="34" charset="0"/>
                        </a:rPr>
                        <a:t>L'acheteur </a:t>
                      </a:r>
                      <a:r>
                        <a:rPr lang="fr-FR" sz="1200" dirty="0">
                          <a:latin typeface="Corbel" panose="020B0503020204020204" pitchFamily="34" charset="0"/>
                        </a:rPr>
                        <a:t>doit informer le vendeur </a:t>
                      </a:r>
                      <a:r>
                        <a:rPr lang="fr-FR" sz="1200" dirty="0" err="1">
                          <a:latin typeface="Corbel" panose="020B0503020204020204" pitchFamily="34" charset="0"/>
                        </a:rPr>
                        <a:t>suffisamment </a:t>
                      </a:r>
                      <a:r>
                        <a:rPr lang="fr-FR" sz="1200" dirty="0">
                          <a:latin typeface="Corbel" panose="020B0503020204020204" pitchFamily="34" charset="0"/>
                        </a:rPr>
                        <a:t>à l'avance de </a:t>
                      </a:r>
                      <a:r>
                        <a:rPr lang="fr-FR" sz="1200" dirty="0" err="1">
                          <a:latin typeface="Corbel" panose="020B0503020204020204" pitchFamily="34" charset="0"/>
                        </a:rPr>
                        <a:t>toute exigence en matière de sécurité liée au transport</a:t>
                      </a:r>
                      <a:r>
                        <a:rPr lang="fr-FR" sz="1200" dirty="0">
                          <a:latin typeface="Corbel" panose="020B0503020204020204" pitchFamily="34" charset="0"/>
                        </a:rPr>
                        <a:t>, </a:t>
                      </a:r>
                      <a:r>
                        <a:rPr lang="fr-FR" sz="1200" dirty="0" err="1">
                          <a:latin typeface="Corbel" panose="020B0503020204020204" pitchFamily="34" charset="0"/>
                        </a:rPr>
                        <a:t>du nom du navire</a:t>
                      </a:r>
                      <a:r>
                        <a:rPr lang="fr-FR" sz="1200" dirty="0">
                          <a:latin typeface="Corbel" panose="020B0503020204020204" pitchFamily="34" charset="0"/>
                        </a:rPr>
                        <a:t>, du point </a:t>
                      </a:r>
                      <a:r>
                        <a:rPr lang="fr-FR" sz="1200" dirty="0" err="1">
                          <a:latin typeface="Corbel" panose="020B0503020204020204" pitchFamily="34" charset="0"/>
                        </a:rPr>
                        <a:t>de chargement </a:t>
                      </a:r>
                      <a:r>
                        <a:rPr lang="fr-FR" sz="1200" dirty="0">
                          <a:latin typeface="Corbel" panose="020B0503020204020204" pitchFamily="34" charset="0"/>
                        </a:rPr>
                        <a:t>et, le </a:t>
                      </a:r>
                      <a:r>
                        <a:rPr lang="fr-FR" sz="1200" dirty="0" err="1">
                          <a:latin typeface="Corbel" panose="020B0503020204020204" pitchFamily="34" charset="0"/>
                        </a:rPr>
                        <a:t>cas échéant</a:t>
                      </a:r>
                      <a:r>
                        <a:rPr lang="fr-FR" sz="1200" dirty="0">
                          <a:latin typeface="Corbel" panose="020B0503020204020204" pitchFamily="34" charset="0"/>
                        </a:rPr>
                        <a:t>, de la date </a:t>
                      </a:r>
                      <a:r>
                        <a:rPr lang="fr-FR" sz="1200" dirty="0" err="1">
                          <a:latin typeface="Corbel" panose="020B0503020204020204" pitchFamily="34" charset="0"/>
                        </a:rPr>
                        <a:t>de livraison choisie dans </a:t>
                      </a:r>
                      <a:r>
                        <a:rPr lang="fr-FR" sz="1200" dirty="0">
                          <a:latin typeface="Corbel" panose="020B0503020204020204" pitchFamily="34" charset="0"/>
                        </a:rPr>
                        <a:t>le </a:t>
                      </a:r>
                      <a:r>
                        <a:rPr lang="fr-FR" sz="1200" dirty="0" err="1">
                          <a:latin typeface="Corbel" panose="020B0503020204020204" pitchFamily="34" charset="0"/>
                        </a:rPr>
                        <a:t>délai convenu</a:t>
                      </a:r>
                      <a:r>
                        <a:rPr lang="fr-FR" sz="1200" dirty="0">
                          <a:latin typeface="Corbel" panose="020B0503020204020204" pitchFamily="34" charset="0"/>
                        </a:rPr>
                        <a:t>.</a:t>
                      </a:r>
                    </a:p>
                  </a:txBody>
                  <a:tcPr/>
                </a:tc>
                <a:extLst>
                  <a:ext uri="{0D108BD9-81ED-4DB2-BD59-A6C34878D82A}">
                    <a16:rowId xmlns:a16="http://schemas.microsoft.com/office/drawing/2014/main" val="2119360061"/>
                  </a:ext>
                </a:extLst>
              </a:tr>
            </a:tbl>
          </a:graphicData>
        </a:graphic>
      </p:graphicFrame>
      <p:sp>
        <p:nvSpPr>
          <p:cNvPr id="13" name="Titre 1">
            <a:extLst>
              <a:ext uri="{FF2B5EF4-FFF2-40B4-BE49-F238E27FC236}">
                <a16:creationId xmlns:a16="http://schemas.microsoft.com/office/drawing/2014/main" id="{AD20F3BF-AAC8-4F20-88D4-3938CF1BE90A}"/>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FAS : Franco </a:t>
            </a:r>
            <a:r>
              <a:rPr lang="fr-FR" dirty="0" err="1">
                <a:solidFill>
                  <a:schemeClr val="bg1"/>
                </a:solidFill>
                <a:latin typeface="Franklin Gothic Book" panose="020B0503020102020204" pitchFamily="34" charset="0"/>
              </a:rPr>
              <a:t>le long du navire</a:t>
            </a:r>
            <a:endParaRPr lang="fr-FR" dirty="0">
              <a:solidFill>
                <a:schemeClr val="bg1"/>
              </a:solidFill>
              <a:latin typeface="Franklin Gothic Book" panose="020B0503020102020204" pitchFamily="34" charset="0"/>
            </a:endParaRPr>
          </a:p>
        </p:txBody>
      </p:sp>
      <p:sp>
        <p:nvSpPr>
          <p:cNvPr id="8" name="Footer Placeholder 3">
            <a:extLst>
              <a:ext uri="{FF2B5EF4-FFF2-40B4-BE49-F238E27FC236}">
                <a16:creationId xmlns:a16="http://schemas.microsoft.com/office/drawing/2014/main" id="{5F57D25A-BF2B-4FFC-AD51-BDD1466774F2}"/>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4043329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2" name="Espace réservé du contenu 2">
            <a:extLst>
              <a:ext uri="{FF2B5EF4-FFF2-40B4-BE49-F238E27FC236}">
                <a16:creationId xmlns:a16="http://schemas.microsoft.com/office/drawing/2014/main" id="{B4422B17-FEE4-4A30-9B1B-10E0952A98C8}"/>
              </a:ext>
            </a:extLst>
          </p:cNvPr>
          <p:cNvSpPr>
            <a:spLocks noGrp="1"/>
          </p:cNvSpPr>
          <p:nvPr>
            <p:ph idx="1"/>
          </p:nvPr>
        </p:nvSpPr>
        <p:spPr>
          <a:xfrm>
            <a:off x="200795" y="4707479"/>
            <a:ext cx="8741670" cy="1314870"/>
          </a:xfrm>
        </p:spPr>
        <p:txBody>
          <a:bodyPr>
            <a:normAutofit lnSpcReduction="10000"/>
          </a:bodyPr>
          <a:lstStyle/>
          <a:p>
            <a:pPr marL="0" indent="0">
              <a:buNone/>
            </a:pPr>
            <a:r>
              <a:rPr lang="fr-FR" sz="1400" b="1" u="sng" dirty="0"/>
              <a:t>Lieu de </a:t>
            </a:r>
            <a:r>
              <a:rPr lang="fr-FR" sz="1400" b="1" u="sng" dirty="0" err="1"/>
              <a:t>livraison </a:t>
            </a:r>
            <a:r>
              <a:rPr lang="fr-FR" sz="1400" b="1" u="sng" dirty="0"/>
              <a:t>: </a:t>
            </a:r>
            <a:r>
              <a:rPr lang="fr-FR" sz="1400" dirty="0"/>
              <a:t>à </a:t>
            </a:r>
            <a:r>
              <a:rPr lang="fr-FR" sz="1400" dirty="0" err="1"/>
              <a:t>bord </a:t>
            </a:r>
            <a:r>
              <a:rPr lang="fr-FR" sz="1400" dirty="0"/>
              <a:t>du </a:t>
            </a:r>
            <a:r>
              <a:rPr lang="fr-FR" sz="1400" dirty="0" err="1"/>
              <a:t>navire</a:t>
            </a:r>
            <a:r>
              <a:rPr lang="fr-FR" sz="1400" dirty="0"/>
              <a:t>, au port de </a:t>
            </a:r>
            <a:r>
              <a:rPr lang="fr-FR" sz="1400" dirty="0" err="1"/>
              <a:t>chargement désigné</a:t>
            </a:r>
            <a:r>
              <a:rPr lang="fr-FR" sz="1400" dirty="0"/>
              <a:t>.</a:t>
            </a:r>
          </a:p>
          <a:p>
            <a:pPr marL="0" indent="0">
              <a:buNone/>
            </a:pPr>
            <a:r>
              <a:rPr lang="fr-FR" sz="1400" b="1" u="sng" strike="noStrike" baseline="0" dirty="0"/>
              <a:t>Obligations </a:t>
            </a:r>
            <a:r>
              <a:rPr lang="fr-FR" sz="1400" b="1" u="sng" strike="noStrike" baseline="0" dirty="0" err="1"/>
              <a:t>du vendeur </a:t>
            </a:r>
            <a:r>
              <a:rPr lang="fr-FR" sz="1400" b="1" u="sng" strike="noStrike" baseline="0" dirty="0"/>
              <a:t>: </a:t>
            </a:r>
            <a:r>
              <a:rPr lang="fr-FR" sz="1400" strike="noStrike" baseline="0" dirty="0" err="1"/>
              <a:t>dédouaner </a:t>
            </a:r>
            <a:r>
              <a:rPr lang="fr-FR" sz="1400" strike="noStrike" baseline="0" dirty="0"/>
              <a:t>les </a:t>
            </a:r>
            <a:r>
              <a:rPr lang="fr-FR" sz="1400" strike="noStrike" baseline="0" dirty="0" err="1"/>
              <a:t>marchandises </a:t>
            </a:r>
            <a:r>
              <a:rPr lang="fr-FR" sz="1400" strike="noStrike" baseline="0" dirty="0"/>
              <a:t>pour l'exportation + </a:t>
            </a:r>
            <a:r>
              <a:rPr lang="fr-FR" sz="1400" strike="noStrike" baseline="0" dirty="0" err="1"/>
              <a:t>livrer </a:t>
            </a:r>
            <a:r>
              <a:rPr lang="fr-FR" sz="1400" strike="noStrike" baseline="0" dirty="0"/>
              <a:t>les </a:t>
            </a:r>
            <a:r>
              <a:rPr lang="fr-FR" sz="1400" strike="noStrike" baseline="0" dirty="0" err="1"/>
              <a:t>marchandises </a:t>
            </a:r>
            <a:r>
              <a:rPr lang="fr-FR" sz="1400" strike="noStrike" baseline="0" dirty="0"/>
              <a:t>à </a:t>
            </a:r>
            <a:r>
              <a:rPr lang="fr-FR" sz="1400" strike="noStrike" baseline="0" dirty="0" err="1"/>
              <a:t>bord </a:t>
            </a:r>
            <a:r>
              <a:rPr lang="fr-FR" sz="1400" strike="noStrike" baseline="0" dirty="0"/>
              <a:t>du </a:t>
            </a:r>
            <a:r>
              <a:rPr lang="fr-FR" sz="1400" strike="noStrike" baseline="0" dirty="0" err="1"/>
              <a:t>navire désigné </a:t>
            </a:r>
            <a:r>
              <a:rPr lang="fr-FR" sz="1400" strike="noStrike" baseline="0" dirty="0"/>
              <a:t>par </a:t>
            </a:r>
            <a:r>
              <a:rPr lang="fr-FR" sz="1400" strike="noStrike" baseline="0" dirty="0" err="1"/>
              <a:t>l'acheteur </a:t>
            </a:r>
            <a:r>
              <a:rPr lang="fr-FR" sz="1400" strike="noStrike" baseline="0" dirty="0"/>
              <a:t>au port de </a:t>
            </a:r>
            <a:r>
              <a:rPr lang="fr-FR" sz="1400" strike="noStrike" baseline="0" dirty="0" err="1"/>
              <a:t>chargement désigné </a:t>
            </a:r>
            <a:r>
              <a:rPr lang="fr-FR" sz="1400" strike="noStrike" baseline="0" dirty="0"/>
              <a:t>+ </a:t>
            </a:r>
            <a:r>
              <a:rPr lang="fr-FR" sz="1400" strike="noStrike" baseline="0" dirty="0" err="1"/>
              <a:t>dédouaner </a:t>
            </a:r>
            <a:r>
              <a:rPr lang="fr-FR" sz="1400" strike="noStrike" baseline="0" dirty="0"/>
              <a:t>les </a:t>
            </a:r>
            <a:r>
              <a:rPr lang="fr-FR" sz="1400" strike="noStrike" baseline="0" dirty="0" err="1"/>
              <a:t>marchandises </a:t>
            </a:r>
            <a:r>
              <a:rPr lang="fr-FR" sz="1400" strike="noStrike" baseline="0" dirty="0"/>
              <a:t>pour l'exportation.</a:t>
            </a:r>
          </a:p>
          <a:p>
            <a:pPr marL="0" indent="0">
              <a:buNone/>
            </a:pPr>
            <a:r>
              <a:rPr lang="fr-FR" sz="1400" strike="noStrike" baseline="0" dirty="0"/>
              <a:t>Mais : pas de </a:t>
            </a:r>
            <a:r>
              <a:rPr lang="fr-FR" sz="1400" strike="noStrike" baseline="0" dirty="0" err="1"/>
              <a:t>contrat de transport</a:t>
            </a:r>
            <a:r>
              <a:rPr lang="fr-FR" sz="1400" dirty="0"/>
              <a:t>, pas de </a:t>
            </a:r>
            <a:r>
              <a:rPr lang="fr-FR" sz="1400" dirty="0" err="1"/>
              <a:t>contrat d'assurance</a:t>
            </a:r>
            <a:r>
              <a:rPr lang="fr-FR" sz="1400" dirty="0"/>
              <a:t>.</a:t>
            </a:r>
            <a:endParaRPr lang="en-GB" sz="1400" dirty="0"/>
          </a:p>
        </p:txBody>
      </p:sp>
      <p:sp>
        <p:nvSpPr>
          <p:cNvPr id="13" name="Titre 1">
            <a:extLst>
              <a:ext uri="{FF2B5EF4-FFF2-40B4-BE49-F238E27FC236}">
                <a16:creationId xmlns:a16="http://schemas.microsoft.com/office/drawing/2014/main" id="{AD20F3BF-AAC8-4F20-88D4-3938CF1BE90A}"/>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FOB : Franco à </a:t>
            </a:r>
            <a:r>
              <a:rPr lang="fr-FR" dirty="0" err="1">
                <a:solidFill>
                  <a:schemeClr val="bg1"/>
                </a:solidFill>
                <a:latin typeface="Franklin Gothic Book" panose="020B0503020102020204" pitchFamily="34" charset="0"/>
              </a:rPr>
              <a:t>bord</a:t>
            </a:r>
            <a:endParaRPr lang="fr-FR" dirty="0">
              <a:solidFill>
                <a:schemeClr val="bg1"/>
              </a:solidFill>
              <a:latin typeface="Franklin Gothic Book" panose="020B0503020102020204" pitchFamily="34" charset="0"/>
            </a:endParaRPr>
          </a:p>
        </p:txBody>
      </p:sp>
      <p:sp>
        <p:nvSpPr>
          <p:cNvPr id="8" name="Footer Placeholder 3">
            <a:extLst>
              <a:ext uri="{FF2B5EF4-FFF2-40B4-BE49-F238E27FC236}">
                <a16:creationId xmlns:a16="http://schemas.microsoft.com/office/drawing/2014/main" id="{5F57D25A-BF2B-4FFC-AD51-BDD1466774F2}"/>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pic>
        <p:nvPicPr>
          <p:cNvPr id="4" name="Image 3" descr="Une image contenant texte, tableau blanc&#10;&#10;Description générée automatiquement">
            <a:extLst>
              <a:ext uri="{FF2B5EF4-FFF2-40B4-BE49-F238E27FC236}">
                <a16:creationId xmlns:a16="http://schemas.microsoft.com/office/drawing/2014/main" id="{4D73E660-7C2E-41BB-AC1C-F5C1441B2C0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12277" y="1683474"/>
            <a:ext cx="6172199" cy="2944586"/>
          </a:xfrm>
          <a:prstGeom prst="rect">
            <a:avLst/>
          </a:prstGeom>
        </p:spPr>
      </p:pic>
    </p:spTree>
    <p:extLst>
      <p:ext uri="{BB962C8B-B14F-4D97-AF65-F5344CB8AC3E}">
        <p14:creationId xmlns:p14="http://schemas.microsoft.com/office/powerpoint/2010/main" val="4103699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graphicFrame>
        <p:nvGraphicFramePr>
          <p:cNvPr id="2" name="Tableau 2">
            <a:extLst>
              <a:ext uri="{FF2B5EF4-FFF2-40B4-BE49-F238E27FC236}">
                <a16:creationId xmlns:a16="http://schemas.microsoft.com/office/drawing/2014/main" id="{4923AA5A-CF72-4A7C-A28E-70067763B537}"/>
              </a:ext>
            </a:extLst>
          </p:cNvPr>
          <p:cNvGraphicFramePr>
            <a:graphicFrameLocks noGrp="1"/>
          </p:cNvGraphicFramePr>
          <p:nvPr>
            <p:ph idx="1"/>
            <p:extLst>
              <p:ext uri="{D42A27DB-BD31-4B8C-83A1-F6EECF244321}">
                <p14:modId xmlns:p14="http://schemas.microsoft.com/office/powerpoint/2010/main" val="2686711606"/>
              </p:ext>
            </p:extLst>
          </p:nvPr>
        </p:nvGraphicFramePr>
        <p:xfrm>
          <a:off x="201165" y="1644162"/>
          <a:ext cx="8758197" cy="4343399"/>
        </p:xfrm>
        <a:graphic>
          <a:graphicData uri="http://schemas.openxmlformats.org/drawingml/2006/table">
            <a:tbl>
              <a:tblPr firstRow="1" bandRow="1">
                <a:tableStyleId>{5C22544A-7EE6-4342-B048-85BDC9FD1C3A}</a:tableStyleId>
              </a:tblPr>
              <a:tblGrid>
                <a:gridCol w="1495750">
                  <a:extLst>
                    <a:ext uri="{9D8B030D-6E8A-4147-A177-3AD203B41FA5}">
                      <a16:colId xmlns:a16="http://schemas.microsoft.com/office/drawing/2014/main" val="2966108568"/>
                    </a:ext>
                  </a:extLst>
                </a:gridCol>
                <a:gridCol w="3560885">
                  <a:extLst>
                    <a:ext uri="{9D8B030D-6E8A-4147-A177-3AD203B41FA5}">
                      <a16:colId xmlns:a16="http://schemas.microsoft.com/office/drawing/2014/main" val="226637040"/>
                    </a:ext>
                  </a:extLst>
                </a:gridCol>
                <a:gridCol w="3701562">
                  <a:extLst>
                    <a:ext uri="{9D8B030D-6E8A-4147-A177-3AD203B41FA5}">
                      <a16:colId xmlns:a16="http://schemas.microsoft.com/office/drawing/2014/main" val="2667653260"/>
                    </a:ext>
                  </a:extLst>
                </a:gridCol>
              </a:tblGrid>
              <a:tr h="543566">
                <a:tc>
                  <a:txBody>
                    <a:bodyPr/>
                    <a:lstStyle/>
                    <a:p>
                      <a:endParaRPr lang="fr-FR" sz="1200">
                        <a:latin typeface="Corbel" panose="020B0503020204020204" pitchFamily="34" charset="0"/>
                      </a:endParaRPr>
                    </a:p>
                  </a:txBody>
                  <a:tcPr/>
                </a:tc>
                <a:tc>
                  <a:txBody>
                    <a:bodyPr/>
                    <a:lstStyle/>
                    <a:p>
                      <a:pPr algn="ctr"/>
                      <a:r>
                        <a:rPr lang="fr-FR" sz="1200" dirty="0">
                          <a:latin typeface="Corbel" panose="020B0503020204020204" pitchFamily="34" charset="0"/>
                        </a:rPr>
                        <a:t>Vendeur</a:t>
                      </a:r>
                    </a:p>
                  </a:txBody>
                  <a:tcPr/>
                </a:tc>
                <a:tc>
                  <a:txBody>
                    <a:bodyPr/>
                    <a:lstStyle/>
                    <a:p>
                      <a:pPr algn="ctr"/>
                      <a:r>
                        <a:rPr lang="fr-FR" sz="1200" dirty="0">
                          <a:latin typeface="Corbel" panose="020B0503020204020204" pitchFamily="34" charset="0"/>
                        </a:rPr>
                        <a:t>Acheteur</a:t>
                      </a:r>
                    </a:p>
                  </a:txBody>
                  <a:tcPr/>
                </a:tc>
                <a:extLst>
                  <a:ext uri="{0D108BD9-81ED-4DB2-BD59-A6C34878D82A}">
                    <a16:rowId xmlns:a16="http://schemas.microsoft.com/office/drawing/2014/main" val="2386952436"/>
                  </a:ext>
                </a:extLst>
              </a:tr>
              <a:tr h="12666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Corbel" panose="020B0503020204020204" pitchFamily="34" charset="0"/>
                        </a:rPr>
                        <a:t>Dédouanement à l'exportation/à l'importation</a:t>
                      </a:r>
                    </a:p>
                    <a:p>
                      <a:endParaRPr lang="fr-FR" sz="1200" dirty="0">
                        <a:latin typeface="Corbel" panose="020B0503020204020204" pitchFamily="34" charset="0"/>
                      </a:endParaRPr>
                    </a:p>
                  </a:txBody>
                  <a:tcPr/>
                </a:tc>
                <a:tc>
                  <a:txBody>
                    <a:bodyPr/>
                    <a:lstStyle/>
                    <a:p>
                      <a:r>
                        <a:rPr lang="fr-FR" sz="1200" dirty="0">
                          <a:latin typeface="Corbel" panose="020B0503020204020204" pitchFamily="34" charset="0"/>
                        </a:rPr>
                        <a:t>Exportation : le vendeur doit effectuer et </a:t>
                      </a:r>
                      <a:r>
                        <a:rPr lang="fr-FR" sz="1200" dirty="0" err="1">
                          <a:latin typeface="Corbel" panose="020B0503020204020204" pitchFamily="34" charset="0"/>
                        </a:rPr>
                        <a:t>payer </a:t>
                      </a:r>
                      <a:r>
                        <a:rPr lang="fr-FR" sz="1200" dirty="0">
                          <a:latin typeface="Corbel" panose="020B0503020204020204" pitchFamily="34" charset="0"/>
                        </a:rPr>
                        <a:t>toutes </a:t>
                      </a:r>
                      <a:r>
                        <a:rPr lang="fr-FR" sz="1200" dirty="0" err="1">
                          <a:latin typeface="Corbel" panose="020B0503020204020204" pitchFamily="34" charset="0"/>
                        </a:rPr>
                        <a:t>les formalités</a:t>
                      </a:r>
                      <a:r>
                        <a:rPr lang="fr-FR" sz="1200" dirty="0">
                          <a:latin typeface="Corbel" panose="020B0503020204020204" pitchFamily="34" charset="0"/>
                        </a:rPr>
                        <a:t> de dédouanement à l'exportation.</a:t>
                      </a:r>
                    </a:p>
                    <a:p>
                      <a:endParaRPr lang="fr-FR" sz="1200" dirty="0">
                        <a:latin typeface="Corbel" panose="020B0503020204020204" pitchFamily="34" charset="0"/>
                      </a:endParaRPr>
                    </a:p>
                    <a:p>
                      <a:r>
                        <a:rPr lang="fr-FR" sz="1200" dirty="0">
                          <a:latin typeface="Corbel" panose="020B0503020204020204" pitchFamily="34" charset="0"/>
                        </a:rPr>
                        <a:t>Importation : le vendeur doit aider </a:t>
                      </a:r>
                      <a:r>
                        <a:rPr lang="fr-FR" sz="1200" dirty="0" err="1">
                          <a:latin typeface="Corbel" panose="020B0503020204020204" pitchFamily="34" charset="0"/>
                        </a:rPr>
                        <a:t>l'acheteur</a:t>
                      </a:r>
                      <a:r>
                        <a:rPr lang="fr-FR" sz="1200" dirty="0">
                          <a:latin typeface="Corbel" panose="020B0503020204020204" pitchFamily="34" charset="0"/>
                        </a:rPr>
                        <a:t>, à la </a:t>
                      </a:r>
                      <a:r>
                        <a:rPr lang="fr-FR" sz="1200" dirty="0" err="1">
                          <a:latin typeface="Corbel" panose="020B0503020204020204" pitchFamily="34" charset="0"/>
                        </a:rPr>
                        <a:t>demande de ce dernier</a:t>
                      </a:r>
                      <a:r>
                        <a:rPr lang="fr-FR" sz="1200" dirty="0">
                          <a:latin typeface="Corbel" panose="020B0503020204020204" pitchFamily="34" charset="0"/>
                        </a:rPr>
                        <a:t>, à </a:t>
                      </a:r>
                      <a:r>
                        <a:rPr lang="fr-FR" sz="1200" dirty="0" err="1">
                          <a:latin typeface="Corbel" panose="020B0503020204020204" pitchFamily="34" charset="0"/>
                        </a:rPr>
                        <a:t>obtenir tous </a:t>
                      </a:r>
                      <a:r>
                        <a:rPr lang="fr-FR" sz="1200" dirty="0">
                          <a:latin typeface="Corbel" panose="020B0503020204020204" pitchFamily="34" charset="0"/>
                        </a:rPr>
                        <a:t>les documents ou informations </a:t>
                      </a:r>
                      <a:r>
                        <a:rPr lang="fr-FR" sz="1200" dirty="0" err="1">
                          <a:latin typeface="Corbel" panose="020B0503020204020204" pitchFamily="34" charset="0"/>
                        </a:rPr>
                        <a:t>relatifs </a:t>
                      </a:r>
                      <a:r>
                        <a:rPr lang="fr-FR" sz="1200" dirty="0">
                          <a:latin typeface="Corbel" panose="020B0503020204020204" pitchFamily="34" charset="0"/>
                        </a:rPr>
                        <a:t>aux </a:t>
                      </a:r>
                      <a:r>
                        <a:rPr lang="fr-FR" sz="1200" dirty="0" err="1">
                          <a:latin typeface="Corbel" panose="020B0503020204020204" pitchFamily="34" charset="0"/>
                        </a:rPr>
                        <a:t>formalités</a:t>
                      </a:r>
                      <a:r>
                        <a:rPr lang="fr-FR" sz="1200" dirty="0">
                          <a:latin typeface="Corbel" panose="020B0503020204020204" pitchFamily="34" charset="0"/>
                        </a:rPr>
                        <a:t> de dédouanement à l'importation.</a:t>
                      </a:r>
                    </a:p>
                  </a:txBody>
                  <a:tcPr/>
                </a:tc>
                <a:tc>
                  <a:txBody>
                    <a:bodyPr/>
                    <a:lstStyle/>
                    <a:p>
                      <a:r>
                        <a:rPr lang="fr-FR" sz="1200" dirty="0">
                          <a:latin typeface="Corbel" panose="020B0503020204020204" pitchFamily="34" charset="0"/>
                        </a:rPr>
                        <a:t>Exportation : </a:t>
                      </a:r>
                      <a:r>
                        <a:rPr lang="fr-FR" sz="1200" dirty="0" err="1">
                          <a:latin typeface="Corbel" panose="020B0503020204020204" pitchFamily="34" charset="0"/>
                        </a:rPr>
                        <a:t>l'acheteur </a:t>
                      </a:r>
                      <a:r>
                        <a:rPr lang="fr-FR" sz="1200" dirty="0">
                          <a:latin typeface="Corbel" panose="020B0503020204020204" pitchFamily="34" charset="0"/>
                        </a:rPr>
                        <a:t>doit aider le vendeur, à la </a:t>
                      </a:r>
                      <a:r>
                        <a:rPr lang="fr-FR" sz="1200" dirty="0" err="1">
                          <a:latin typeface="Corbel" panose="020B0503020204020204" pitchFamily="34" charset="0"/>
                        </a:rPr>
                        <a:t>demande de ce dernier, </a:t>
                      </a:r>
                      <a:r>
                        <a:rPr lang="fr-FR" sz="1200" dirty="0">
                          <a:latin typeface="Corbel" panose="020B0503020204020204" pitchFamily="34" charset="0"/>
                        </a:rPr>
                        <a:t>à </a:t>
                      </a:r>
                      <a:r>
                        <a:rPr lang="fr-FR" sz="1200" dirty="0" err="1">
                          <a:latin typeface="Corbel" panose="020B0503020204020204" pitchFamily="34" charset="0"/>
                        </a:rPr>
                        <a:t>obtenir tous </a:t>
                      </a:r>
                      <a:r>
                        <a:rPr lang="fr-FR" sz="1200" dirty="0">
                          <a:latin typeface="Corbel" panose="020B0503020204020204" pitchFamily="34" charset="0"/>
                        </a:rPr>
                        <a:t>les documents ou informations </a:t>
                      </a:r>
                      <a:r>
                        <a:rPr lang="fr-FR" sz="1200" dirty="0" err="1">
                          <a:latin typeface="Corbel" panose="020B0503020204020204" pitchFamily="34" charset="0"/>
                        </a:rPr>
                        <a:t>relatifs </a:t>
                      </a:r>
                      <a:r>
                        <a:rPr lang="fr-FR" sz="1200" dirty="0">
                          <a:latin typeface="Corbel" panose="020B0503020204020204" pitchFamily="34" charset="0"/>
                        </a:rPr>
                        <a:t>aux </a:t>
                      </a:r>
                      <a:r>
                        <a:rPr lang="fr-FR" sz="1200" dirty="0" err="1">
                          <a:latin typeface="Corbel" panose="020B0503020204020204" pitchFamily="34" charset="0"/>
                        </a:rPr>
                        <a:t>formalités</a:t>
                      </a:r>
                      <a:r>
                        <a:rPr lang="fr-FR" sz="1200" dirty="0">
                          <a:latin typeface="Corbel" panose="020B0503020204020204" pitchFamily="34" charset="0"/>
                        </a:rPr>
                        <a:t> de dédouanement à l'exportation.</a:t>
                      </a:r>
                    </a:p>
                    <a:p>
                      <a:endParaRPr lang="fr-FR" sz="1200" dirty="0">
                        <a:latin typeface="Corbel" panose="020B0503020204020204" pitchFamily="34" charset="0"/>
                      </a:endParaRPr>
                    </a:p>
                    <a:p>
                      <a:r>
                        <a:rPr lang="fr-FR" sz="1200" dirty="0">
                          <a:latin typeface="Corbel" panose="020B0503020204020204" pitchFamily="34" charset="0"/>
                        </a:rPr>
                        <a:t>Importation : </a:t>
                      </a:r>
                      <a:r>
                        <a:rPr lang="fr-FR" sz="1200" dirty="0" err="1">
                          <a:latin typeface="Corbel" panose="020B0503020204020204" pitchFamily="34" charset="0"/>
                        </a:rPr>
                        <a:t>l'acheteur </a:t>
                      </a:r>
                      <a:r>
                        <a:rPr lang="fr-FR" sz="1200" dirty="0">
                          <a:latin typeface="Corbel" panose="020B0503020204020204" pitchFamily="34" charset="0"/>
                        </a:rPr>
                        <a:t>doit effectuer et </a:t>
                      </a:r>
                      <a:r>
                        <a:rPr lang="fr-FR" sz="1200" dirty="0" err="1">
                          <a:latin typeface="Corbel" panose="020B0503020204020204" pitchFamily="34" charset="0"/>
                        </a:rPr>
                        <a:t>payer </a:t>
                      </a:r>
                      <a:r>
                        <a:rPr lang="fr-FR" sz="1200" dirty="0">
                          <a:latin typeface="Corbel" panose="020B0503020204020204" pitchFamily="34" charset="0"/>
                        </a:rPr>
                        <a:t>toutes </a:t>
                      </a:r>
                      <a:r>
                        <a:rPr lang="fr-FR" sz="1200" dirty="0" err="1">
                          <a:latin typeface="Corbel" panose="020B0503020204020204" pitchFamily="34" charset="0"/>
                        </a:rPr>
                        <a:t>les formalités</a:t>
                      </a:r>
                      <a:r>
                        <a:rPr lang="fr-FR" sz="1200" dirty="0">
                          <a:latin typeface="Corbel" panose="020B0503020204020204" pitchFamily="34" charset="0"/>
                        </a:rPr>
                        <a:t>.</a:t>
                      </a:r>
                    </a:p>
                  </a:txBody>
                  <a:tcPr/>
                </a:tc>
                <a:extLst>
                  <a:ext uri="{0D108BD9-81ED-4DB2-BD59-A6C34878D82A}">
                    <a16:rowId xmlns:a16="http://schemas.microsoft.com/office/drawing/2014/main" val="3041156388"/>
                  </a:ext>
                </a:extLst>
              </a:tr>
              <a:tr h="12666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Corbel" panose="020B0503020204020204" pitchFamily="34" charset="0"/>
                        </a:rPr>
                        <a:t>Contrôle / emballage / </a:t>
                      </a:r>
                      <a:r>
                        <a:rPr lang="fr-FR" sz="1200" dirty="0" err="1">
                          <a:latin typeface="Corbel" panose="020B0503020204020204" pitchFamily="34" charset="0"/>
                        </a:rPr>
                        <a:t>marquage</a:t>
                      </a:r>
                      <a:endParaRPr lang="fr-FR" sz="1200" dirty="0">
                        <a:latin typeface="Corbel" panose="020B0503020204020204" pitchFamily="34" charset="0"/>
                      </a:endParaRPr>
                    </a:p>
                    <a:p>
                      <a:endParaRPr lang="fr-FR" sz="1200" dirty="0">
                        <a:latin typeface="Corbel" panose="020B0503020204020204" pitchFamily="34" charset="0"/>
                      </a:endParaRPr>
                    </a:p>
                  </a:txBody>
                  <a:tcPr/>
                </a:tc>
                <a:tc>
                  <a:txBody>
                    <a:bodyPr/>
                    <a:lstStyle/>
                    <a:p>
                      <a:pPr algn="l"/>
                      <a:r>
                        <a:rPr lang="fr-FR" sz="1200" dirty="0">
                          <a:solidFill>
                            <a:schemeClr val="tx1"/>
                          </a:solidFill>
                          <a:latin typeface="Corbel" panose="020B0503020204020204" pitchFamily="34" charset="0"/>
                        </a:rPr>
                        <a:t>Le vendeur doit :</a:t>
                      </a:r>
                    </a:p>
                    <a:p>
                      <a:pPr marL="171450" indent="-171450" algn="l">
                        <a:buFontTx/>
                        <a:buChar char="-"/>
                      </a:pPr>
                      <a:r>
                        <a:rPr lang="fr-FR" sz="1200" dirty="0" err="1">
                          <a:solidFill>
                            <a:schemeClr val="tx1"/>
                          </a:solidFill>
                          <a:latin typeface="Corbel" panose="020B0503020204020204" pitchFamily="34" charset="0"/>
                        </a:rPr>
                        <a:t>Prendre en charge </a:t>
                      </a:r>
                      <a:r>
                        <a:rPr lang="fr-FR" sz="1200" dirty="0">
                          <a:solidFill>
                            <a:schemeClr val="tx1"/>
                          </a:solidFill>
                          <a:latin typeface="Corbel" panose="020B0503020204020204" pitchFamily="34" charset="0"/>
                        </a:rPr>
                        <a:t>le </a:t>
                      </a:r>
                      <a:r>
                        <a:rPr lang="fr-FR" sz="1200" dirty="0" err="1">
                          <a:solidFill>
                            <a:schemeClr val="tx1"/>
                          </a:solidFill>
                          <a:latin typeface="Corbel" panose="020B0503020204020204" pitchFamily="34" charset="0"/>
                        </a:rPr>
                        <a:t>coût </a:t>
                      </a:r>
                      <a:r>
                        <a:rPr lang="fr-FR" sz="1200" dirty="0">
                          <a:solidFill>
                            <a:schemeClr val="tx1"/>
                          </a:solidFill>
                          <a:latin typeface="Corbel" panose="020B0503020204020204" pitchFamily="34" charset="0"/>
                        </a:rPr>
                        <a:t>de toutes </a:t>
                      </a:r>
                      <a:r>
                        <a:rPr lang="fr-FR" sz="1200" dirty="0" err="1">
                          <a:solidFill>
                            <a:schemeClr val="tx1"/>
                          </a:solidFill>
                          <a:latin typeface="Corbel" panose="020B0503020204020204" pitchFamily="34" charset="0"/>
                        </a:rPr>
                        <a:t>les opérations</a:t>
                      </a:r>
                      <a:r>
                        <a:rPr lang="fr-FR" sz="1200" dirty="0">
                          <a:solidFill>
                            <a:schemeClr val="tx1"/>
                          </a:solidFill>
                          <a:latin typeface="Corbel" panose="020B0503020204020204" pitchFamily="34" charset="0"/>
                        </a:rPr>
                        <a:t> de contrôle (contrôle </a:t>
                      </a:r>
                      <a:r>
                        <a:rPr lang="fr-FR" sz="1200" dirty="0" err="1">
                          <a:solidFill>
                            <a:schemeClr val="tx1"/>
                          </a:solidFill>
                          <a:latin typeface="Corbel" panose="020B0503020204020204" pitchFamily="34" charset="0"/>
                        </a:rPr>
                        <a:t>de la qualité</a:t>
                      </a:r>
                      <a:r>
                        <a:rPr lang="fr-FR" sz="1200" dirty="0">
                          <a:solidFill>
                            <a:schemeClr val="tx1"/>
                          </a:solidFill>
                          <a:latin typeface="Corbel" panose="020B0503020204020204" pitchFamily="34" charset="0"/>
                        </a:rPr>
                        <a:t>, </a:t>
                      </a:r>
                      <a:r>
                        <a:rPr lang="fr-FR" sz="1200" dirty="0" err="1">
                          <a:solidFill>
                            <a:schemeClr val="tx1"/>
                          </a:solidFill>
                          <a:latin typeface="Corbel" panose="020B0503020204020204" pitchFamily="34" charset="0"/>
                        </a:rPr>
                        <a:t>mesure</a:t>
                      </a:r>
                      <a:r>
                        <a:rPr lang="fr-FR" sz="1200" dirty="0">
                          <a:solidFill>
                            <a:schemeClr val="tx1"/>
                          </a:solidFill>
                          <a:latin typeface="Corbel" panose="020B0503020204020204" pitchFamily="34" charset="0"/>
                        </a:rPr>
                        <a:t>, </a:t>
                      </a:r>
                      <a:r>
                        <a:rPr lang="fr-FR" sz="1200" dirty="0" err="1">
                          <a:solidFill>
                            <a:schemeClr val="tx1"/>
                          </a:solidFill>
                          <a:latin typeface="Corbel" panose="020B0503020204020204" pitchFamily="34" charset="0"/>
                        </a:rPr>
                        <a:t>pesage</a:t>
                      </a:r>
                      <a:r>
                        <a:rPr lang="fr-FR" sz="1200" dirty="0">
                          <a:solidFill>
                            <a:schemeClr val="tx1"/>
                          </a:solidFill>
                          <a:latin typeface="Corbel" panose="020B0503020204020204" pitchFamily="34" charset="0"/>
                        </a:rPr>
                        <a:t>, </a:t>
                      </a:r>
                      <a:r>
                        <a:rPr lang="fr-FR" sz="1200" dirty="0" err="1">
                          <a:solidFill>
                            <a:schemeClr val="tx1"/>
                          </a:solidFill>
                          <a:latin typeface="Corbel" panose="020B0503020204020204" pitchFamily="34" charset="0"/>
                        </a:rPr>
                        <a:t>comptage</a:t>
                      </a:r>
                      <a:r>
                        <a:rPr lang="fr-FR" sz="1200" dirty="0">
                          <a:solidFill>
                            <a:schemeClr val="tx1"/>
                          </a:solidFill>
                          <a:latin typeface="Corbel" panose="020B0503020204020204" pitchFamily="34" charset="0"/>
                        </a:rPr>
                        <a:t>)</a:t>
                      </a:r>
                    </a:p>
                    <a:p>
                      <a:pPr marL="171450" indent="-171450" algn="l">
                        <a:buFontTx/>
                        <a:buChar char="-"/>
                      </a:pPr>
                      <a:r>
                        <a:rPr lang="fr-FR" sz="1200" dirty="0">
                          <a:solidFill>
                            <a:schemeClr val="tx1"/>
                          </a:solidFill>
                          <a:latin typeface="Corbel" panose="020B0503020204020204" pitchFamily="34" charset="0"/>
                        </a:rPr>
                        <a:t>Emballer et marquer les </a:t>
                      </a:r>
                      <a:r>
                        <a:rPr lang="fr-FR" sz="1200" dirty="0" err="1">
                          <a:solidFill>
                            <a:schemeClr val="tx1"/>
                          </a:solidFill>
                          <a:latin typeface="Corbel" panose="020B0503020204020204" pitchFamily="34" charset="0"/>
                        </a:rPr>
                        <a:t>marchandises </a:t>
                      </a:r>
                      <a:r>
                        <a:rPr lang="fr-FR" sz="1200" dirty="0">
                          <a:solidFill>
                            <a:schemeClr val="tx1"/>
                          </a:solidFill>
                          <a:latin typeface="Corbel" panose="020B0503020204020204" pitchFamily="34" charset="0"/>
                        </a:rPr>
                        <a:t>de </a:t>
                      </a:r>
                      <a:r>
                        <a:rPr lang="fr-FR" sz="1200" dirty="0" err="1">
                          <a:solidFill>
                            <a:schemeClr val="tx1"/>
                          </a:solidFill>
                          <a:latin typeface="Corbel" panose="020B0503020204020204" pitchFamily="34" charset="0"/>
                        </a:rPr>
                        <a:t>manière appropriée </a:t>
                      </a:r>
                      <a:r>
                        <a:rPr lang="fr-FR" sz="1200" dirty="0">
                          <a:solidFill>
                            <a:schemeClr val="tx1"/>
                          </a:solidFill>
                          <a:latin typeface="Corbel" panose="020B0503020204020204" pitchFamily="34" charset="0"/>
                        </a:rPr>
                        <a:t>pour </a:t>
                      </a:r>
                      <a:r>
                        <a:rPr lang="fr-FR" sz="1200" dirty="0" err="1">
                          <a:solidFill>
                            <a:schemeClr val="tx1"/>
                          </a:solidFill>
                          <a:latin typeface="Corbel" panose="020B0503020204020204" pitchFamily="34" charset="0"/>
                        </a:rPr>
                        <a:t>leur </a:t>
                      </a:r>
                      <a:r>
                        <a:rPr lang="fr-FR" sz="1200" dirty="0">
                          <a:solidFill>
                            <a:schemeClr val="tx1"/>
                          </a:solidFill>
                          <a:latin typeface="Corbel" panose="020B0503020204020204" pitchFamily="34" charset="0"/>
                        </a:rPr>
                        <a:t>transport.</a:t>
                      </a:r>
                    </a:p>
                    <a:p>
                      <a:endParaRPr lang="fr-FR" sz="1200" dirty="0">
                        <a:latin typeface="Corbel" panose="020B0503020204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err="1">
                          <a:latin typeface="Corbel" panose="020B0503020204020204" pitchFamily="34" charset="0"/>
                        </a:rPr>
                        <a:t>L'acheteur </a:t>
                      </a:r>
                      <a:r>
                        <a:rPr lang="fr-FR" sz="1200" dirty="0">
                          <a:latin typeface="Corbel" panose="020B0503020204020204" pitchFamily="34" charset="0"/>
                        </a:rPr>
                        <a:t>n'a aucune obligation envers le vendeur.</a:t>
                      </a:r>
                    </a:p>
                    <a:p>
                      <a:endParaRPr lang="fr-FR" sz="1200" dirty="0">
                        <a:latin typeface="Corbel" panose="020B0503020204020204" pitchFamily="34" charset="0"/>
                      </a:endParaRPr>
                    </a:p>
                  </a:txBody>
                  <a:tcPr/>
                </a:tc>
                <a:extLst>
                  <a:ext uri="{0D108BD9-81ED-4DB2-BD59-A6C34878D82A}">
                    <a16:rowId xmlns:a16="http://schemas.microsoft.com/office/drawing/2014/main" val="3097881285"/>
                  </a:ext>
                </a:extLst>
              </a:tr>
              <a:tr h="12666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Corbel" panose="020B0503020204020204" pitchFamily="34" charset="0"/>
                        </a:rPr>
                        <a:t>Avis</a:t>
                      </a:r>
                    </a:p>
                    <a:p>
                      <a:endParaRPr lang="fr-FR" sz="1200" dirty="0">
                        <a:latin typeface="Corbel" panose="020B0503020204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Corbel" panose="020B0503020204020204" pitchFamily="34" charset="0"/>
                        </a:rPr>
                        <a:t>Le vendeur doit informer </a:t>
                      </a:r>
                      <a:r>
                        <a:rPr lang="fr-FR" sz="1200" dirty="0" err="1">
                          <a:latin typeface="Corbel" panose="020B0503020204020204" pitchFamily="34" charset="0"/>
                        </a:rPr>
                        <a:t>l'acheteur suffisamment à l'avance que </a:t>
                      </a:r>
                      <a:r>
                        <a:rPr lang="fr-FR" sz="1200" dirty="0">
                          <a:latin typeface="Corbel" panose="020B0503020204020204" pitchFamily="34" charset="0"/>
                        </a:rPr>
                        <a:t>les </a:t>
                      </a:r>
                      <a:r>
                        <a:rPr lang="fr-FR" sz="1200" dirty="0" err="1">
                          <a:latin typeface="Corbel" panose="020B0503020204020204" pitchFamily="34" charset="0"/>
                        </a:rPr>
                        <a:t>marchandises </a:t>
                      </a:r>
                      <a:r>
                        <a:rPr lang="fr-FR" sz="1200" dirty="0">
                          <a:latin typeface="Corbel" panose="020B0503020204020204" pitchFamily="34" charset="0"/>
                        </a:rPr>
                        <a:t>ont été </a:t>
                      </a:r>
                      <a:r>
                        <a:rPr lang="fr-FR" sz="1200" dirty="0" err="1">
                          <a:latin typeface="Corbel" panose="020B0503020204020204" pitchFamily="34" charset="0"/>
                        </a:rPr>
                        <a:t>livrées </a:t>
                      </a:r>
                      <a:r>
                        <a:rPr lang="fr-FR" sz="1200" dirty="0">
                          <a:latin typeface="Corbel" panose="020B0503020204020204" pitchFamily="34" charset="0"/>
                        </a:rPr>
                        <a:t>ou </a:t>
                      </a:r>
                      <a:r>
                        <a:rPr lang="fr-FR" sz="1200" dirty="0" err="1">
                          <a:latin typeface="Corbel" panose="020B0503020204020204" pitchFamily="34" charset="0"/>
                        </a:rPr>
                        <a:t>que </a:t>
                      </a:r>
                      <a:r>
                        <a:rPr lang="fr-FR" sz="1200" dirty="0">
                          <a:latin typeface="Corbel" panose="020B0503020204020204" pitchFamily="34" charset="0"/>
                        </a:rPr>
                        <a:t>le </a:t>
                      </a:r>
                      <a:r>
                        <a:rPr lang="fr-FR" sz="1200" dirty="0" err="1">
                          <a:latin typeface="Corbel" panose="020B0503020204020204" pitchFamily="34" charset="0"/>
                        </a:rPr>
                        <a:t>navire </a:t>
                      </a:r>
                      <a:r>
                        <a:rPr lang="fr-FR" sz="1200" dirty="0">
                          <a:latin typeface="Corbel" panose="020B0503020204020204" pitchFamily="34" charset="0"/>
                        </a:rPr>
                        <a:t>n'</a:t>
                      </a:r>
                      <a:r>
                        <a:rPr lang="fr-FR" sz="1200" dirty="0" err="1">
                          <a:latin typeface="Corbel" panose="020B0503020204020204" pitchFamily="34" charset="0"/>
                        </a:rPr>
                        <a:t>a </a:t>
                      </a:r>
                      <a:r>
                        <a:rPr lang="fr-FR" sz="1200" dirty="0">
                          <a:latin typeface="Corbel" panose="020B0503020204020204" pitchFamily="34" charset="0"/>
                        </a:rPr>
                        <a:t>pas </a:t>
                      </a:r>
                      <a:r>
                        <a:rPr lang="fr-FR" sz="1200" dirty="0" err="1">
                          <a:latin typeface="Corbel" panose="020B0503020204020204" pitchFamily="34" charset="0"/>
                        </a:rPr>
                        <a:t>pris livraison </a:t>
                      </a:r>
                      <a:r>
                        <a:rPr lang="fr-FR" sz="1200" dirty="0">
                          <a:latin typeface="Corbel" panose="020B0503020204020204" pitchFamily="34" charset="0"/>
                        </a:rPr>
                        <a:t>des </a:t>
                      </a:r>
                      <a:r>
                        <a:rPr lang="fr-FR" sz="1200" dirty="0" err="1">
                          <a:latin typeface="Corbel" panose="020B0503020204020204" pitchFamily="34" charset="0"/>
                        </a:rPr>
                        <a:t>marchandises dans </a:t>
                      </a:r>
                      <a:r>
                        <a:rPr lang="fr-FR" sz="1200" dirty="0">
                          <a:latin typeface="Corbel" panose="020B0503020204020204" pitchFamily="34" charset="0"/>
                        </a:rPr>
                        <a:t>le délai </a:t>
                      </a:r>
                      <a:r>
                        <a:rPr lang="fr-FR" sz="1200" dirty="0" err="1">
                          <a:latin typeface="Corbel" panose="020B0503020204020204" pitchFamily="34" charset="0"/>
                        </a:rPr>
                        <a:t>convenu</a:t>
                      </a:r>
                      <a:r>
                        <a:rPr lang="fr-FR" sz="1200" dirty="0">
                          <a:latin typeface="Corbel" panose="020B0503020204020204" pitchFamily="34" charset="0"/>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err="1">
                          <a:latin typeface="Corbel" panose="020B0503020204020204" pitchFamily="34" charset="0"/>
                        </a:rPr>
                        <a:t>L'acheteur </a:t>
                      </a:r>
                      <a:r>
                        <a:rPr lang="fr-FR" sz="1200" dirty="0">
                          <a:latin typeface="Corbel" panose="020B0503020204020204" pitchFamily="34" charset="0"/>
                        </a:rPr>
                        <a:t>doit informer le vendeur </a:t>
                      </a:r>
                      <a:r>
                        <a:rPr lang="fr-FR" sz="1200" dirty="0" err="1">
                          <a:latin typeface="Corbel" panose="020B0503020204020204" pitchFamily="34" charset="0"/>
                        </a:rPr>
                        <a:t>suffisamment </a:t>
                      </a:r>
                      <a:r>
                        <a:rPr lang="fr-FR" sz="1200" dirty="0">
                          <a:latin typeface="Corbel" panose="020B0503020204020204" pitchFamily="34" charset="0"/>
                        </a:rPr>
                        <a:t>à l'avance de </a:t>
                      </a:r>
                      <a:r>
                        <a:rPr lang="fr-FR" sz="1200" dirty="0" err="1">
                          <a:latin typeface="Corbel" panose="020B0503020204020204" pitchFamily="34" charset="0"/>
                        </a:rPr>
                        <a:t>toute exigence en matière de sécurité liée au transport</a:t>
                      </a:r>
                      <a:r>
                        <a:rPr lang="fr-FR" sz="1200" dirty="0">
                          <a:latin typeface="Corbel" panose="020B0503020204020204" pitchFamily="34" charset="0"/>
                        </a:rPr>
                        <a:t>, </a:t>
                      </a:r>
                      <a:r>
                        <a:rPr lang="fr-FR" sz="1200" dirty="0" err="1">
                          <a:latin typeface="Corbel" panose="020B0503020204020204" pitchFamily="34" charset="0"/>
                        </a:rPr>
                        <a:t>du nom du navire</a:t>
                      </a:r>
                      <a:r>
                        <a:rPr lang="fr-FR" sz="1200" dirty="0">
                          <a:latin typeface="Corbel" panose="020B0503020204020204" pitchFamily="34" charset="0"/>
                        </a:rPr>
                        <a:t>, du point </a:t>
                      </a:r>
                      <a:r>
                        <a:rPr lang="fr-FR" sz="1200" dirty="0" err="1">
                          <a:latin typeface="Corbel" panose="020B0503020204020204" pitchFamily="34" charset="0"/>
                        </a:rPr>
                        <a:t>de chargement </a:t>
                      </a:r>
                      <a:r>
                        <a:rPr lang="fr-FR" sz="1200" dirty="0">
                          <a:latin typeface="Corbel" panose="020B0503020204020204" pitchFamily="34" charset="0"/>
                        </a:rPr>
                        <a:t>et, le </a:t>
                      </a:r>
                      <a:r>
                        <a:rPr lang="fr-FR" sz="1200" dirty="0" err="1">
                          <a:latin typeface="Corbel" panose="020B0503020204020204" pitchFamily="34" charset="0"/>
                        </a:rPr>
                        <a:t>cas échéant</a:t>
                      </a:r>
                      <a:r>
                        <a:rPr lang="fr-FR" sz="1200" dirty="0">
                          <a:latin typeface="Corbel" panose="020B0503020204020204" pitchFamily="34" charset="0"/>
                        </a:rPr>
                        <a:t>, de la date </a:t>
                      </a:r>
                      <a:r>
                        <a:rPr lang="fr-FR" sz="1200" dirty="0" err="1">
                          <a:latin typeface="Corbel" panose="020B0503020204020204" pitchFamily="34" charset="0"/>
                        </a:rPr>
                        <a:t>de livraison choisie dans </a:t>
                      </a:r>
                      <a:r>
                        <a:rPr lang="fr-FR" sz="1200" dirty="0">
                          <a:latin typeface="Corbel" panose="020B0503020204020204" pitchFamily="34" charset="0"/>
                        </a:rPr>
                        <a:t>le </a:t>
                      </a:r>
                      <a:r>
                        <a:rPr lang="fr-FR" sz="1200" dirty="0" err="1">
                          <a:latin typeface="Corbel" panose="020B0503020204020204" pitchFamily="34" charset="0"/>
                        </a:rPr>
                        <a:t>délai convenu</a:t>
                      </a:r>
                      <a:r>
                        <a:rPr lang="fr-FR" sz="1200" dirty="0">
                          <a:latin typeface="Corbel" panose="020B0503020204020204" pitchFamily="34" charset="0"/>
                        </a:rPr>
                        <a:t>.</a:t>
                      </a:r>
                    </a:p>
                    <a:p>
                      <a:endParaRPr lang="fr-FR" sz="1200" dirty="0">
                        <a:latin typeface="Corbel" panose="020B0503020204020204" pitchFamily="34" charset="0"/>
                      </a:endParaRPr>
                    </a:p>
                  </a:txBody>
                  <a:tcPr/>
                </a:tc>
                <a:extLst>
                  <a:ext uri="{0D108BD9-81ED-4DB2-BD59-A6C34878D82A}">
                    <a16:rowId xmlns:a16="http://schemas.microsoft.com/office/drawing/2014/main" val="2399529922"/>
                  </a:ext>
                </a:extLst>
              </a:tr>
            </a:tbl>
          </a:graphicData>
        </a:graphic>
      </p:graphicFrame>
      <p:sp>
        <p:nvSpPr>
          <p:cNvPr id="13" name="Titre 1">
            <a:extLst>
              <a:ext uri="{FF2B5EF4-FFF2-40B4-BE49-F238E27FC236}">
                <a16:creationId xmlns:a16="http://schemas.microsoft.com/office/drawing/2014/main" id="{AD20F3BF-AAC8-4F20-88D4-3938CF1BE90A}"/>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FOB : Franco à </a:t>
            </a:r>
            <a:r>
              <a:rPr lang="fr-FR" dirty="0" err="1">
                <a:solidFill>
                  <a:schemeClr val="bg1"/>
                </a:solidFill>
                <a:latin typeface="Franklin Gothic Book" panose="020B0503020102020204" pitchFamily="34" charset="0"/>
              </a:rPr>
              <a:t>bord</a:t>
            </a:r>
            <a:endParaRPr lang="fr-FR" dirty="0">
              <a:solidFill>
                <a:schemeClr val="bg1"/>
              </a:solidFill>
              <a:latin typeface="Franklin Gothic Book" panose="020B0503020102020204" pitchFamily="34" charset="0"/>
            </a:endParaRPr>
          </a:p>
        </p:txBody>
      </p:sp>
      <p:sp>
        <p:nvSpPr>
          <p:cNvPr id="8" name="Footer Placeholder 3">
            <a:extLst>
              <a:ext uri="{FF2B5EF4-FFF2-40B4-BE49-F238E27FC236}">
                <a16:creationId xmlns:a16="http://schemas.microsoft.com/office/drawing/2014/main" id="{5F57D25A-BF2B-4FFC-AD51-BDD1466774F2}"/>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209222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2" name="Espace réservé du contenu 2">
            <a:extLst>
              <a:ext uri="{FF2B5EF4-FFF2-40B4-BE49-F238E27FC236}">
                <a16:creationId xmlns:a16="http://schemas.microsoft.com/office/drawing/2014/main" id="{B4422B17-FEE4-4A30-9B1B-10E0952A98C8}"/>
              </a:ext>
            </a:extLst>
          </p:cNvPr>
          <p:cNvSpPr>
            <a:spLocks noGrp="1"/>
          </p:cNvSpPr>
          <p:nvPr>
            <p:ph idx="1"/>
          </p:nvPr>
        </p:nvSpPr>
        <p:spPr>
          <a:xfrm>
            <a:off x="200795" y="4739054"/>
            <a:ext cx="8741670" cy="1281311"/>
          </a:xfrm>
        </p:spPr>
        <p:txBody>
          <a:bodyPr>
            <a:normAutofit fontScale="92500" lnSpcReduction="10000"/>
          </a:bodyPr>
          <a:lstStyle/>
          <a:p>
            <a:pPr marL="0" indent="0">
              <a:buNone/>
            </a:pPr>
            <a:r>
              <a:rPr lang="fr-FR" sz="1400" b="1" u="sng" dirty="0"/>
              <a:t>Lieu de </a:t>
            </a:r>
            <a:r>
              <a:rPr lang="fr-FR" sz="1400" b="1" u="sng" dirty="0" err="1"/>
              <a:t>livraison </a:t>
            </a:r>
            <a:r>
              <a:rPr lang="fr-FR" sz="1400" b="1" u="sng" dirty="0"/>
              <a:t>: </a:t>
            </a:r>
            <a:r>
              <a:rPr lang="fr-FR" sz="1400" dirty="0"/>
              <a:t>à </a:t>
            </a:r>
            <a:r>
              <a:rPr lang="fr-FR" sz="1400" dirty="0" err="1"/>
              <a:t>bord </a:t>
            </a:r>
            <a:r>
              <a:rPr lang="fr-FR" sz="1400" dirty="0"/>
              <a:t>du </a:t>
            </a:r>
            <a:r>
              <a:rPr lang="fr-FR" sz="1400" dirty="0" err="1"/>
              <a:t>navire</a:t>
            </a:r>
            <a:r>
              <a:rPr lang="fr-FR" sz="1400" dirty="0"/>
              <a:t>, au port de </a:t>
            </a:r>
            <a:r>
              <a:rPr lang="fr-FR" sz="1400" dirty="0" err="1"/>
              <a:t>chargement désigné</a:t>
            </a:r>
            <a:r>
              <a:rPr lang="fr-FR" sz="1400" dirty="0"/>
              <a:t>.</a:t>
            </a:r>
          </a:p>
          <a:p>
            <a:pPr marL="0" indent="0">
              <a:buNone/>
            </a:pPr>
            <a:r>
              <a:rPr lang="fr-FR" sz="1400" b="1" u="sng" dirty="0"/>
              <a:t>Obligations </a:t>
            </a:r>
            <a:r>
              <a:rPr lang="fr-FR" sz="1400" b="1" u="sng" dirty="0" err="1"/>
              <a:t>du vendeur </a:t>
            </a:r>
            <a:r>
              <a:rPr lang="fr-FR" sz="1400" b="1" u="sng" dirty="0"/>
              <a:t>: </a:t>
            </a:r>
            <a:r>
              <a:rPr lang="fr-FR" sz="1400" dirty="0" err="1"/>
              <a:t>livrer </a:t>
            </a:r>
            <a:r>
              <a:rPr lang="fr-FR" sz="1400" dirty="0"/>
              <a:t>les </a:t>
            </a:r>
            <a:r>
              <a:rPr lang="fr-FR" sz="1400" dirty="0" err="1"/>
              <a:t>marchandises </a:t>
            </a:r>
            <a:r>
              <a:rPr lang="fr-FR" sz="1400" dirty="0"/>
              <a:t>à </a:t>
            </a:r>
            <a:r>
              <a:rPr lang="fr-FR" sz="1400" dirty="0" err="1"/>
              <a:t>bord </a:t>
            </a:r>
            <a:r>
              <a:rPr lang="fr-FR" sz="1400" dirty="0"/>
              <a:t>du </a:t>
            </a:r>
            <a:r>
              <a:rPr lang="fr-FR" sz="1400" dirty="0" err="1"/>
              <a:t>navire </a:t>
            </a:r>
            <a:r>
              <a:rPr lang="fr-FR" sz="1400" dirty="0"/>
              <a:t>au port de </a:t>
            </a:r>
            <a:r>
              <a:rPr lang="fr-FR" sz="1400" dirty="0" err="1"/>
              <a:t>chargement désigné </a:t>
            </a:r>
            <a:r>
              <a:rPr lang="fr-FR" sz="1400" dirty="0"/>
              <a:t>+ </a:t>
            </a:r>
            <a:r>
              <a:rPr lang="fr-FR" sz="1400" dirty="0" err="1"/>
              <a:t>dédouaner </a:t>
            </a:r>
            <a:r>
              <a:rPr lang="fr-FR" sz="1400" dirty="0"/>
              <a:t>les </a:t>
            </a:r>
            <a:r>
              <a:rPr lang="fr-FR" sz="1400" dirty="0" err="1"/>
              <a:t>marchandises </a:t>
            </a:r>
            <a:r>
              <a:rPr lang="fr-FR" sz="1400" dirty="0"/>
              <a:t>pour l'exportation + </a:t>
            </a:r>
            <a:r>
              <a:rPr lang="fr-FR" sz="1400" dirty="0" err="1"/>
              <a:t>conclure </a:t>
            </a:r>
            <a:r>
              <a:rPr lang="fr-FR" sz="1400" dirty="0"/>
              <a:t>le </a:t>
            </a:r>
            <a:r>
              <a:rPr lang="fr-FR" sz="1400" dirty="0" err="1"/>
              <a:t>contrat de transport</a:t>
            </a:r>
            <a:r>
              <a:rPr lang="fr-FR" sz="1400" dirty="0"/>
              <a:t> principal.</a:t>
            </a:r>
          </a:p>
          <a:p>
            <a:pPr marL="0" indent="0">
              <a:buNone/>
            </a:pPr>
            <a:r>
              <a:rPr lang="fr-FR" sz="1400" dirty="0"/>
              <a:t>Mais : pas de </a:t>
            </a:r>
            <a:r>
              <a:rPr lang="fr-FR" sz="1400" dirty="0" err="1"/>
              <a:t>contrat d'assurance</a:t>
            </a:r>
            <a:r>
              <a:rPr lang="fr-FR" sz="1400" dirty="0"/>
              <a:t>.</a:t>
            </a:r>
            <a:endParaRPr lang="en-GB" sz="1400" dirty="0"/>
          </a:p>
        </p:txBody>
      </p:sp>
      <p:sp>
        <p:nvSpPr>
          <p:cNvPr id="13" name="Titre 1">
            <a:extLst>
              <a:ext uri="{FF2B5EF4-FFF2-40B4-BE49-F238E27FC236}">
                <a16:creationId xmlns:a16="http://schemas.microsoft.com/office/drawing/2014/main" id="{AD20F3BF-AAC8-4F20-88D4-3938CF1BE90A}"/>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CFR : </a:t>
            </a:r>
            <a:r>
              <a:rPr lang="fr-FR" dirty="0" err="1">
                <a:solidFill>
                  <a:schemeClr val="bg1"/>
                </a:solidFill>
                <a:latin typeface="Franklin Gothic Book" panose="020B0503020102020204" pitchFamily="34" charset="0"/>
              </a:rPr>
              <a:t>Coût </a:t>
            </a:r>
            <a:r>
              <a:rPr lang="fr-FR" dirty="0">
                <a:solidFill>
                  <a:schemeClr val="bg1"/>
                </a:solidFill>
                <a:latin typeface="Franklin Gothic Book" panose="020B0503020102020204" pitchFamily="34" charset="0"/>
              </a:rPr>
              <a:t>et </a:t>
            </a:r>
            <a:r>
              <a:rPr lang="fr-FR" dirty="0" err="1">
                <a:solidFill>
                  <a:schemeClr val="bg1"/>
                </a:solidFill>
                <a:latin typeface="Franklin Gothic Book" panose="020B0503020102020204" pitchFamily="34" charset="0"/>
              </a:rPr>
              <a:t>fret</a:t>
            </a:r>
            <a:endParaRPr lang="fr-FR" dirty="0">
              <a:solidFill>
                <a:schemeClr val="bg1"/>
              </a:solidFill>
              <a:latin typeface="Franklin Gothic Book" panose="020B0503020102020204" pitchFamily="34" charset="0"/>
            </a:endParaRPr>
          </a:p>
        </p:txBody>
      </p:sp>
      <p:sp>
        <p:nvSpPr>
          <p:cNvPr id="8" name="Footer Placeholder 3">
            <a:extLst>
              <a:ext uri="{FF2B5EF4-FFF2-40B4-BE49-F238E27FC236}">
                <a16:creationId xmlns:a16="http://schemas.microsoft.com/office/drawing/2014/main" id="{5F57D25A-BF2B-4FFC-AD51-BDD1466774F2}"/>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pic>
        <p:nvPicPr>
          <p:cNvPr id="3" name="Image 2" descr="Une image contenant texte&#10;&#10;Description générée automatiquement">
            <a:extLst>
              <a:ext uri="{FF2B5EF4-FFF2-40B4-BE49-F238E27FC236}">
                <a16:creationId xmlns:a16="http://schemas.microsoft.com/office/drawing/2014/main" id="{18308C48-92A0-4669-AD06-C77438882D8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59524" y="1699196"/>
            <a:ext cx="6260122" cy="2922814"/>
          </a:xfrm>
          <a:prstGeom prst="rect">
            <a:avLst/>
          </a:prstGeom>
        </p:spPr>
      </p:pic>
    </p:spTree>
    <p:extLst>
      <p:ext uri="{BB962C8B-B14F-4D97-AF65-F5344CB8AC3E}">
        <p14:creationId xmlns:p14="http://schemas.microsoft.com/office/powerpoint/2010/main" val="2829758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graphicFrame>
        <p:nvGraphicFramePr>
          <p:cNvPr id="2" name="Tableau 3">
            <a:extLst>
              <a:ext uri="{FF2B5EF4-FFF2-40B4-BE49-F238E27FC236}">
                <a16:creationId xmlns:a16="http://schemas.microsoft.com/office/drawing/2014/main" id="{8AE84DF5-C5BF-431A-8C5A-31964A57733E}"/>
              </a:ext>
            </a:extLst>
          </p:cNvPr>
          <p:cNvGraphicFramePr>
            <a:graphicFrameLocks noGrp="1"/>
          </p:cNvGraphicFramePr>
          <p:nvPr>
            <p:ph idx="1"/>
            <p:extLst>
              <p:ext uri="{D42A27DB-BD31-4B8C-83A1-F6EECF244321}">
                <p14:modId xmlns:p14="http://schemas.microsoft.com/office/powerpoint/2010/main" val="3319150412"/>
              </p:ext>
            </p:extLst>
          </p:nvPr>
        </p:nvGraphicFramePr>
        <p:xfrm>
          <a:off x="201165" y="1679331"/>
          <a:ext cx="8758197" cy="4317022"/>
        </p:xfrm>
        <a:graphic>
          <a:graphicData uri="http://schemas.openxmlformats.org/drawingml/2006/table">
            <a:tbl>
              <a:tblPr firstRow="1" bandRow="1">
                <a:tableStyleId>{5C22544A-7EE6-4342-B048-85BDC9FD1C3A}</a:tableStyleId>
              </a:tblPr>
              <a:tblGrid>
                <a:gridCol w="1478166">
                  <a:extLst>
                    <a:ext uri="{9D8B030D-6E8A-4147-A177-3AD203B41FA5}">
                      <a16:colId xmlns:a16="http://schemas.microsoft.com/office/drawing/2014/main" val="2969482057"/>
                    </a:ext>
                  </a:extLst>
                </a:gridCol>
                <a:gridCol w="3578469">
                  <a:extLst>
                    <a:ext uri="{9D8B030D-6E8A-4147-A177-3AD203B41FA5}">
                      <a16:colId xmlns:a16="http://schemas.microsoft.com/office/drawing/2014/main" val="2847268189"/>
                    </a:ext>
                  </a:extLst>
                </a:gridCol>
                <a:gridCol w="3701562">
                  <a:extLst>
                    <a:ext uri="{9D8B030D-6E8A-4147-A177-3AD203B41FA5}">
                      <a16:colId xmlns:a16="http://schemas.microsoft.com/office/drawing/2014/main" val="438368751"/>
                    </a:ext>
                  </a:extLst>
                </a:gridCol>
              </a:tblGrid>
              <a:tr h="584866">
                <a:tc>
                  <a:txBody>
                    <a:bodyPr/>
                    <a:lstStyle/>
                    <a:p>
                      <a:endParaRPr lang="fr-FR"/>
                    </a:p>
                  </a:txBody>
                  <a:tcPr/>
                </a:tc>
                <a:tc>
                  <a:txBody>
                    <a:bodyPr/>
                    <a:lstStyle/>
                    <a:p>
                      <a:pPr algn="ctr"/>
                      <a:r>
                        <a:rPr lang="fr-FR" dirty="0"/>
                        <a:t>Vendeur</a:t>
                      </a:r>
                    </a:p>
                  </a:txBody>
                  <a:tcPr/>
                </a:tc>
                <a:tc>
                  <a:txBody>
                    <a:bodyPr/>
                    <a:lstStyle/>
                    <a:p>
                      <a:pPr algn="ctr"/>
                      <a:r>
                        <a:rPr lang="fr-FR" dirty="0"/>
                        <a:t>Acheteur</a:t>
                      </a:r>
                    </a:p>
                  </a:txBody>
                  <a:tcPr/>
                </a:tc>
                <a:extLst>
                  <a:ext uri="{0D108BD9-81ED-4DB2-BD59-A6C34878D82A}">
                    <a16:rowId xmlns:a16="http://schemas.microsoft.com/office/drawing/2014/main" val="3679155002"/>
                  </a:ext>
                </a:extLst>
              </a:tr>
              <a:tr h="12440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Corbel" panose="020B0503020204020204" pitchFamily="34" charset="0"/>
                        </a:rPr>
                        <a:t>Dédouanement à l'exportation/à l'importation</a:t>
                      </a:r>
                    </a:p>
                    <a:p>
                      <a:endParaRPr lang="fr-FR" sz="1200" dirty="0">
                        <a:latin typeface="Corbel" panose="020B0503020204020204" pitchFamily="34" charset="0"/>
                      </a:endParaRPr>
                    </a:p>
                  </a:txBody>
                  <a:tcPr/>
                </a:tc>
                <a:tc>
                  <a:txBody>
                    <a:bodyPr/>
                    <a:lstStyle/>
                    <a:p>
                      <a:r>
                        <a:rPr lang="fr-FR" sz="1200" dirty="0">
                          <a:latin typeface="Corbel" panose="020B0503020204020204" pitchFamily="34" charset="0"/>
                        </a:rPr>
                        <a:t>Exportation : le vendeur doit effectuer et </a:t>
                      </a:r>
                      <a:r>
                        <a:rPr lang="fr-FR" sz="1200" dirty="0" err="1">
                          <a:latin typeface="Corbel" panose="020B0503020204020204" pitchFamily="34" charset="0"/>
                        </a:rPr>
                        <a:t>payer </a:t>
                      </a:r>
                      <a:r>
                        <a:rPr lang="fr-FR" sz="1200" dirty="0">
                          <a:latin typeface="Corbel" panose="020B0503020204020204" pitchFamily="34" charset="0"/>
                        </a:rPr>
                        <a:t>toutes </a:t>
                      </a:r>
                      <a:r>
                        <a:rPr lang="fr-FR" sz="1200" dirty="0" err="1">
                          <a:latin typeface="Corbel" panose="020B0503020204020204" pitchFamily="34" charset="0"/>
                        </a:rPr>
                        <a:t>les formalités</a:t>
                      </a:r>
                      <a:r>
                        <a:rPr lang="fr-FR" sz="1200" dirty="0">
                          <a:latin typeface="Corbel" panose="020B0503020204020204" pitchFamily="34" charset="0"/>
                        </a:rPr>
                        <a:t> de dédouanement à l'exportation.</a:t>
                      </a:r>
                    </a:p>
                    <a:p>
                      <a:endParaRPr lang="fr-FR" sz="1200" dirty="0">
                        <a:latin typeface="Corbel" panose="020B0503020204020204" pitchFamily="34" charset="0"/>
                      </a:endParaRPr>
                    </a:p>
                    <a:p>
                      <a:r>
                        <a:rPr lang="fr-FR" sz="1200" dirty="0">
                          <a:latin typeface="Corbel" panose="020B0503020204020204" pitchFamily="34" charset="0"/>
                        </a:rPr>
                        <a:t>Importation : le vendeur doit aider </a:t>
                      </a:r>
                      <a:r>
                        <a:rPr lang="fr-FR" sz="1200" dirty="0" err="1">
                          <a:latin typeface="Corbel" panose="020B0503020204020204" pitchFamily="34" charset="0"/>
                        </a:rPr>
                        <a:t>l'acheteur</a:t>
                      </a:r>
                      <a:r>
                        <a:rPr lang="fr-FR" sz="1200" dirty="0">
                          <a:latin typeface="Corbel" panose="020B0503020204020204" pitchFamily="34" charset="0"/>
                        </a:rPr>
                        <a:t>, à la </a:t>
                      </a:r>
                      <a:r>
                        <a:rPr lang="fr-FR" sz="1200" dirty="0" err="1">
                          <a:latin typeface="Corbel" panose="020B0503020204020204" pitchFamily="34" charset="0"/>
                        </a:rPr>
                        <a:t>demande de ce dernier</a:t>
                      </a:r>
                      <a:r>
                        <a:rPr lang="fr-FR" sz="1200" dirty="0">
                          <a:latin typeface="Corbel" panose="020B0503020204020204" pitchFamily="34" charset="0"/>
                        </a:rPr>
                        <a:t>, à </a:t>
                      </a:r>
                      <a:r>
                        <a:rPr lang="fr-FR" sz="1200" dirty="0" err="1">
                          <a:latin typeface="Corbel" panose="020B0503020204020204" pitchFamily="34" charset="0"/>
                        </a:rPr>
                        <a:t>obtenir tous </a:t>
                      </a:r>
                      <a:r>
                        <a:rPr lang="fr-FR" sz="1200" dirty="0">
                          <a:latin typeface="Corbel" panose="020B0503020204020204" pitchFamily="34" charset="0"/>
                        </a:rPr>
                        <a:t>les documents ou informations </a:t>
                      </a:r>
                      <a:r>
                        <a:rPr lang="fr-FR" sz="1200" dirty="0" err="1">
                          <a:latin typeface="Corbel" panose="020B0503020204020204" pitchFamily="34" charset="0"/>
                        </a:rPr>
                        <a:t>relatifs </a:t>
                      </a:r>
                      <a:r>
                        <a:rPr lang="fr-FR" sz="1200" dirty="0">
                          <a:latin typeface="Corbel" panose="020B0503020204020204" pitchFamily="34" charset="0"/>
                        </a:rPr>
                        <a:t>aux </a:t>
                      </a:r>
                      <a:r>
                        <a:rPr lang="fr-FR" sz="1200" dirty="0" err="1">
                          <a:latin typeface="Corbel" panose="020B0503020204020204" pitchFamily="34" charset="0"/>
                        </a:rPr>
                        <a:t>formalités</a:t>
                      </a:r>
                      <a:r>
                        <a:rPr lang="fr-FR" sz="1200" dirty="0">
                          <a:latin typeface="Corbel" panose="020B0503020204020204" pitchFamily="34" charset="0"/>
                        </a:rPr>
                        <a:t> de dédouanement à l'importation.</a:t>
                      </a:r>
                    </a:p>
                  </a:txBody>
                  <a:tcPr/>
                </a:tc>
                <a:tc>
                  <a:txBody>
                    <a:bodyPr/>
                    <a:lstStyle/>
                    <a:p>
                      <a:r>
                        <a:rPr lang="fr-FR" sz="1200" dirty="0">
                          <a:latin typeface="Corbel" panose="020B0503020204020204" pitchFamily="34" charset="0"/>
                        </a:rPr>
                        <a:t>Exportation : </a:t>
                      </a:r>
                      <a:r>
                        <a:rPr lang="fr-FR" sz="1200" dirty="0" err="1">
                          <a:latin typeface="Corbel" panose="020B0503020204020204" pitchFamily="34" charset="0"/>
                        </a:rPr>
                        <a:t>l'acheteur </a:t>
                      </a:r>
                      <a:r>
                        <a:rPr lang="fr-FR" sz="1200" dirty="0">
                          <a:latin typeface="Corbel" panose="020B0503020204020204" pitchFamily="34" charset="0"/>
                        </a:rPr>
                        <a:t>doit aider le vendeur, à la </a:t>
                      </a:r>
                      <a:r>
                        <a:rPr lang="fr-FR" sz="1200" dirty="0" err="1">
                          <a:latin typeface="Corbel" panose="020B0503020204020204" pitchFamily="34" charset="0"/>
                        </a:rPr>
                        <a:t>demande de ce dernier, </a:t>
                      </a:r>
                      <a:r>
                        <a:rPr lang="fr-FR" sz="1200" dirty="0">
                          <a:latin typeface="Corbel" panose="020B0503020204020204" pitchFamily="34" charset="0"/>
                        </a:rPr>
                        <a:t>à </a:t>
                      </a:r>
                      <a:r>
                        <a:rPr lang="fr-FR" sz="1200" dirty="0" err="1">
                          <a:latin typeface="Corbel" panose="020B0503020204020204" pitchFamily="34" charset="0"/>
                        </a:rPr>
                        <a:t>obtenir tous </a:t>
                      </a:r>
                      <a:r>
                        <a:rPr lang="fr-FR" sz="1200" dirty="0">
                          <a:latin typeface="Corbel" panose="020B0503020204020204" pitchFamily="34" charset="0"/>
                        </a:rPr>
                        <a:t>les documents ou informations </a:t>
                      </a:r>
                      <a:r>
                        <a:rPr lang="fr-FR" sz="1200" dirty="0" err="1">
                          <a:latin typeface="Corbel" panose="020B0503020204020204" pitchFamily="34" charset="0"/>
                        </a:rPr>
                        <a:t>relatifs </a:t>
                      </a:r>
                      <a:r>
                        <a:rPr lang="fr-FR" sz="1200" dirty="0">
                          <a:latin typeface="Corbel" panose="020B0503020204020204" pitchFamily="34" charset="0"/>
                        </a:rPr>
                        <a:t>aux </a:t>
                      </a:r>
                      <a:r>
                        <a:rPr lang="fr-FR" sz="1200" dirty="0" err="1">
                          <a:latin typeface="Corbel" panose="020B0503020204020204" pitchFamily="34" charset="0"/>
                        </a:rPr>
                        <a:t>formalités</a:t>
                      </a:r>
                      <a:r>
                        <a:rPr lang="fr-FR" sz="1200" dirty="0">
                          <a:latin typeface="Corbel" panose="020B0503020204020204" pitchFamily="34" charset="0"/>
                        </a:rPr>
                        <a:t> de dédouanement à l'exportation.</a:t>
                      </a:r>
                    </a:p>
                    <a:p>
                      <a:endParaRPr lang="fr-FR" sz="1200" dirty="0">
                        <a:latin typeface="Corbel" panose="020B0503020204020204" pitchFamily="34" charset="0"/>
                      </a:endParaRPr>
                    </a:p>
                    <a:p>
                      <a:r>
                        <a:rPr lang="fr-FR" sz="1200" dirty="0">
                          <a:latin typeface="Corbel" panose="020B0503020204020204" pitchFamily="34" charset="0"/>
                        </a:rPr>
                        <a:t>Importation : </a:t>
                      </a:r>
                      <a:r>
                        <a:rPr lang="fr-FR" sz="1200" dirty="0" err="1">
                          <a:latin typeface="Corbel" panose="020B0503020204020204" pitchFamily="34" charset="0"/>
                        </a:rPr>
                        <a:t>l'acheteur </a:t>
                      </a:r>
                      <a:r>
                        <a:rPr lang="fr-FR" sz="1200" dirty="0">
                          <a:latin typeface="Corbel" panose="020B0503020204020204" pitchFamily="34" charset="0"/>
                        </a:rPr>
                        <a:t>doit effectuer et </a:t>
                      </a:r>
                      <a:r>
                        <a:rPr lang="fr-FR" sz="1200" dirty="0" err="1">
                          <a:latin typeface="Corbel" panose="020B0503020204020204" pitchFamily="34" charset="0"/>
                        </a:rPr>
                        <a:t>payer </a:t>
                      </a:r>
                      <a:r>
                        <a:rPr lang="fr-FR" sz="1200" dirty="0">
                          <a:latin typeface="Corbel" panose="020B0503020204020204" pitchFamily="34" charset="0"/>
                        </a:rPr>
                        <a:t>toutes </a:t>
                      </a:r>
                      <a:r>
                        <a:rPr lang="fr-FR" sz="1200" dirty="0" err="1">
                          <a:latin typeface="Corbel" panose="020B0503020204020204" pitchFamily="34" charset="0"/>
                        </a:rPr>
                        <a:t>les formalités</a:t>
                      </a:r>
                      <a:r>
                        <a:rPr lang="fr-FR" sz="1200" dirty="0">
                          <a:latin typeface="Corbel" panose="020B0503020204020204" pitchFamily="34" charset="0"/>
                        </a:rPr>
                        <a:t>.</a:t>
                      </a:r>
                    </a:p>
                  </a:txBody>
                  <a:tcPr/>
                </a:tc>
                <a:extLst>
                  <a:ext uri="{0D108BD9-81ED-4DB2-BD59-A6C34878D82A}">
                    <a16:rowId xmlns:a16="http://schemas.microsoft.com/office/drawing/2014/main" val="2766399453"/>
                  </a:ext>
                </a:extLst>
              </a:tr>
              <a:tr h="12440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Corbel" panose="020B0503020204020204" pitchFamily="34" charset="0"/>
                        </a:rPr>
                        <a:t>Contrôle / emballage / </a:t>
                      </a:r>
                      <a:r>
                        <a:rPr lang="fr-FR" sz="1200" dirty="0" err="1">
                          <a:latin typeface="Corbel" panose="020B0503020204020204" pitchFamily="34" charset="0"/>
                        </a:rPr>
                        <a:t>marquage</a:t>
                      </a:r>
                      <a:endParaRPr lang="fr-FR" sz="1200" dirty="0">
                        <a:latin typeface="Corbel" panose="020B0503020204020204" pitchFamily="34" charset="0"/>
                      </a:endParaRPr>
                    </a:p>
                    <a:p>
                      <a:endParaRPr lang="fr-FR" sz="1200" dirty="0">
                        <a:latin typeface="Corbel" panose="020B0503020204020204" pitchFamily="34" charset="0"/>
                      </a:endParaRPr>
                    </a:p>
                  </a:txBody>
                  <a:tcPr/>
                </a:tc>
                <a:tc>
                  <a:txBody>
                    <a:bodyPr/>
                    <a:lstStyle/>
                    <a:p>
                      <a:pPr algn="l"/>
                      <a:r>
                        <a:rPr lang="fr-FR" sz="1200" dirty="0">
                          <a:solidFill>
                            <a:schemeClr val="tx1"/>
                          </a:solidFill>
                          <a:latin typeface="Corbel" panose="020B0503020204020204" pitchFamily="34" charset="0"/>
                        </a:rPr>
                        <a:t>Le vendeur doit :</a:t>
                      </a:r>
                    </a:p>
                    <a:p>
                      <a:pPr marL="171450" indent="-171450" algn="l">
                        <a:buFontTx/>
                        <a:buChar char="-"/>
                      </a:pPr>
                      <a:r>
                        <a:rPr lang="fr-FR" sz="1200" dirty="0" err="1">
                          <a:solidFill>
                            <a:schemeClr val="tx1"/>
                          </a:solidFill>
                          <a:latin typeface="Corbel" panose="020B0503020204020204" pitchFamily="34" charset="0"/>
                        </a:rPr>
                        <a:t>Prendre en charge </a:t>
                      </a:r>
                      <a:r>
                        <a:rPr lang="fr-FR" sz="1200" dirty="0">
                          <a:solidFill>
                            <a:schemeClr val="tx1"/>
                          </a:solidFill>
                          <a:latin typeface="Corbel" panose="020B0503020204020204" pitchFamily="34" charset="0"/>
                        </a:rPr>
                        <a:t>le </a:t>
                      </a:r>
                      <a:r>
                        <a:rPr lang="fr-FR" sz="1200" dirty="0" err="1">
                          <a:solidFill>
                            <a:schemeClr val="tx1"/>
                          </a:solidFill>
                          <a:latin typeface="Corbel" panose="020B0503020204020204" pitchFamily="34" charset="0"/>
                        </a:rPr>
                        <a:t>coût </a:t>
                      </a:r>
                      <a:r>
                        <a:rPr lang="fr-FR" sz="1200" dirty="0">
                          <a:solidFill>
                            <a:schemeClr val="tx1"/>
                          </a:solidFill>
                          <a:latin typeface="Corbel" panose="020B0503020204020204" pitchFamily="34" charset="0"/>
                        </a:rPr>
                        <a:t>de toutes </a:t>
                      </a:r>
                      <a:r>
                        <a:rPr lang="fr-FR" sz="1200" dirty="0" err="1">
                          <a:solidFill>
                            <a:schemeClr val="tx1"/>
                          </a:solidFill>
                          <a:latin typeface="Corbel" panose="020B0503020204020204" pitchFamily="34" charset="0"/>
                        </a:rPr>
                        <a:t>les opérations</a:t>
                      </a:r>
                      <a:r>
                        <a:rPr lang="fr-FR" sz="1200" dirty="0">
                          <a:solidFill>
                            <a:schemeClr val="tx1"/>
                          </a:solidFill>
                          <a:latin typeface="Corbel" panose="020B0503020204020204" pitchFamily="34" charset="0"/>
                        </a:rPr>
                        <a:t> de contrôle (contrôle </a:t>
                      </a:r>
                      <a:r>
                        <a:rPr lang="fr-FR" sz="1200" dirty="0" err="1">
                          <a:solidFill>
                            <a:schemeClr val="tx1"/>
                          </a:solidFill>
                          <a:latin typeface="Corbel" panose="020B0503020204020204" pitchFamily="34" charset="0"/>
                        </a:rPr>
                        <a:t>de la qualité</a:t>
                      </a:r>
                      <a:r>
                        <a:rPr lang="fr-FR" sz="1200" dirty="0">
                          <a:solidFill>
                            <a:schemeClr val="tx1"/>
                          </a:solidFill>
                          <a:latin typeface="Corbel" panose="020B0503020204020204" pitchFamily="34" charset="0"/>
                        </a:rPr>
                        <a:t>, </a:t>
                      </a:r>
                      <a:r>
                        <a:rPr lang="fr-FR" sz="1200" dirty="0" err="1">
                          <a:solidFill>
                            <a:schemeClr val="tx1"/>
                          </a:solidFill>
                          <a:latin typeface="Corbel" panose="020B0503020204020204" pitchFamily="34" charset="0"/>
                        </a:rPr>
                        <a:t>mesure</a:t>
                      </a:r>
                      <a:r>
                        <a:rPr lang="fr-FR" sz="1200" dirty="0">
                          <a:solidFill>
                            <a:schemeClr val="tx1"/>
                          </a:solidFill>
                          <a:latin typeface="Corbel" panose="020B0503020204020204" pitchFamily="34" charset="0"/>
                        </a:rPr>
                        <a:t>, </a:t>
                      </a:r>
                      <a:r>
                        <a:rPr lang="fr-FR" sz="1200" dirty="0" err="1">
                          <a:solidFill>
                            <a:schemeClr val="tx1"/>
                          </a:solidFill>
                          <a:latin typeface="Corbel" panose="020B0503020204020204" pitchFamily="34" charset="0"/>
                        </a:rPr>
                        <a:t>pesage</a:t>
                      </a:r>
                      <a:r>
                        <a:rPr lang="fr-FR" sz="1200" dirty="0">
                          <a:solidFill>
                            <a:schemeClr val="tx1"/>
                          </a:solidFill>
                          <a:latin typeface="Corbel" panose="020B0503020204020204" pitchFamily="34" charset="0"/>
                        </a:rPr>
                        <a:t>, </a:t>
                      </a:r>
                      <a:r>
                        <a:rPr lang="fr-FR" sz="1200" dirty="0" err="1">
                          <a:solidFill>
                            <a:schemeClr val="tx1"/>
                          </a:solidFill>
                          <a:latin typeface="Corbel" panose="020B0503020204020204" pitchFamily="34" charset="0"/>
                        </a:rPr>
                        <a:t>comptage</a:t>
                      </a:r>
                      <a:r>
                        <a:rPr lang="fr-FR" sz="1200" dirty="0">
                          <a:solidFill>
                            <a:schemeClr val="tx1"/>
                          </a:solidFill>
                          <a:latin typeface="Corbel" panose="020B0503020204020204" pitchFamily="34" charset="0"/>
                        </a:rPr>
                        <a:t>)</a:t>
                      </a:r>
                    </a:p>
                    <a:p>
                      <a:pPr marL="171450" indent="-171450" algn="l">
                        <a:buFontTx/>
                        <a:buChar char="-"/>
                      </a:pPr>
                      <a:r>
                        <a:rPr lang="fr-FR" sz="1200" dirty="0">
                          <a:solidFill>
                            <a:schemeClr val="tx1"/>
                          </a:solidFill>
                          <a:latin typeface="Corbel" panose="020B0503020204020204" pitchFamily="34" charset="0"/>
                        </a:rPr>
                        <a:t>Emballer et marquer les </a:t>
                      </a:r>
                      <a:r>
                        <a:rPr lang="fr-FR" sz="1200" dirty="0" err="1">
                          <a:solidFill>
                            <a:schemeClr val="tx1"/>
                          </a:solidFill>
                          <a:latin typeface="Corbel" panose="020B0503020204020204" pitchFamily="34" charset="0"/>
                        </a:rPr>
                        <a:t>marchandises </a:t>
                      </a:r>
                      <a:r>
                        <a:rPr lang="fr-FR" sz="1200" dirty="0">
                          <a:solidFill>
                            <a:schemeClr val="tx1"/>
                          </a:solidFill>
                          <a:latin typeface="Corbel" panose="020B0503020204020204" pitchFamily="34" charset="0"/>
                        </a:rPr>
                        <a:t>de </a:t>
                      </a:r>
                      <a:r>
                        <a:rPr lang="fr-FR" sz="1200" dirty="0" err="1">
                          <a:solidFill>
                            <a:schemeClr val="tx1"/>
                          </a:solidFill>
                          <a:latin typeface="Corbel" panose="020B0503020204020204" pitchFamily="34" charset="0"/>
                        </a:rPr>
                        <a:t>manière appropriée </a:t>
                      </a:r>
                      <a:r>
                        <a:rPr lang="fr-FR" sz="1200" dirty="0">
                          <a:solidFill>
                            <a:schemeClr val="tx1"/>
                          </a:solidFill>
                          <a:latin typeface="Corbel" panose="020B0503020204020204" pitchFamily="34" charset="0"/>
                        </a:rPr>
                        <a:t>pour </a:t>
                      </a:r>
                      <a:r>
                        <a:rPr lang="fr-FR" sz="1200" dirty="0" err="1">
                          <a:solidFill>
                            <a:schemeClr val="tx1"/>
                          </a:solidFill>
                          <a:latin typeface="Corbel" panose="020B0503020204020204" pitchFamily="34" charset="0"/>
                        </a:rPr>
                        <a:t>leur </a:t>
                      </a:r>
                      <a:r>
                        <a:rPr lang="fr-FR" sz="1200" dirty="0">
                          <a:solidFill>
                            <a:schemeClr val="tx1"/>
                          </a:solidFill>
                          <a:latin typeface="Corbel" panose="020B0503020204020204" pitchFamily="34" charset="0"/>
                        </a:rPr>
                        <a:t>transport.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err="1">
                          <a:latin typeface="Corbel" panose="020B0503020204020204" pitchFamily="34" charset="0"/>
                        </a:rPr>
                        <a:t>L'acheteur </a:t>
                      </a:r>
                      <a:r>
                        <a:rPr lang="fr-FR" sz="1200" dirty="0">
                          <a:latin typeface="Corbel" panose="020B0503020204020204" pitchFamily="34" charset="0"/>
                        </a:rPr>
                        <a:t>n'a aucune obligation envers le vendeur.</a:t>
                      </a:r>
                    </a:p>
                    <a:p>
                      <a:endParaRPr lang="fr-FR" sz="1200" dirty="0">
                        <a:latin typeface="Corbel" panose="020B0503020204020204" pitchFamily="34" charset="0"/>
                      </a:endParaRPr>
                    </a:p>
                  </a:txBody>
                  <a:tcPr/>
                </a:tc>
                <a:extLst>
                  <a:ext uri="{0D108BD9-81ED-4DB2-BD59-A6C34878D82A}">
                    <a16:rowId xmlns:a16="http://schemas.microsoft.com/office/drawing/2014/main" val="657265240"/>
                  </a:ext>
                </a:extLst>
              </a:tr>
              <a:tr h="12440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Corbel" panose="020B0503020204020204" pitchFamily="34" charset="0"/>
                        </a:rPr>
                        <a:t>Avis</a:t>
                      </a:r>
                    </a:p>
                    <a:p>
                      <a:endParaRPr lang="fr-FR" sz="1200" dirty="0">
                        <a:latin typeface="Corbel" panose="020B0503020204020204" pitchFamily="34" charset="0"/>
                      </a:endParaRPr>
                    </a:p>
                  </a:txBody>
                  <a:tcPr/>
                </a:tc>
                <a:tc>
                  <a:txBody>
                    <a:bodyPr/>
                    <a:lstStyle/>
                    <a:p>
                      <a:r>
                        <a:rPr lang="fr-FR" sz="1200" dirty="0">
                          <a:latin typeface="Corbel" panose="020B0503020204020204" pitchFamily="34" charset="0"/>
                        </a:rPr>
                        <a:t>Le vendeur doit </a:t>
                      </a:r>
                      <a:r>
                        <a:rPr lang="fr-FR" sz="1200" dirty="0" err="1">
                          <a:latin typeface="Corbel" panose="020B0503020204020204" pitchFamily="34" charset="0"/>
                        </a:rPr>
                        <a:t>informer </a:t>
                      </a:r>
                      <a:r>
                        <a:rPr lang="fr-FR" sz="1200" dirty="0">
                          <a:latin typeface="Corbel" panose="020B0503020204020204" pitchFamily="34" charset="0"/>
                        </a:rPr>
                        <a:t>l'</a:t>
                      </a:r>
                      <a:r>
                        <a:rPr lang="fr-FR" sz="1200" dirty="0" err="1">
                          <a:latin typeface="Corbel" panose="020B0503020204020204" pitchFamily="34" charset="0"/>
                        </a:rPr>
                        <a:t>acheteur que </a:t>
                      </a:r>
                      <a:r>
                        <a:rPr lang="fr-FR" sz="1200" dirty="0">
                          <a:latin typeface="Corbel" panose="020B0503020204020204" pitchFamily="34" charset="0"/>
                        </a:rPr>
                        <a:t>les </a:t>
                      </a:r>
                      <a:r>
                        <a:rPr lang="fr-FR" sz="1200" dirty="0" err="1">
                          <a:latin typeface="Corbel" panose="020B0503020204020204" pitchFamily="34" charset="0"/>
                        </a:rPr>
                        <a:t>marchandises </a:t>
                      </a:r>
                      <a:r>
                        <a:rPr lang="fr-FR" sz="1200" dirty="0">
                          <a:latin typeface="Corbel" panose="020B0503020204020204" pitchFamily="34" charset="0"/>
                        </a:rPr>
                        <a:t>ont été </a:t>
                      </a:r>
                      <a:r>
                        <a:rPr lang="fr-FR" sz="1200" dirty="0" err="1">
                          <a:latin typeface="Corbel" panose="020B0503020204020204" pitchFamily="34" charset="0"/>
                        </a:rPr>
                        <a:t>livrées</a:t>
                      </a:r>
                      <a:r>
                        <a:rPr lang="fr-FR" sz="1200" dirty="0">
                          <a:latin typeface="Corbel" panose="020B0503020204020204" pitchFamily="34" charset="0"/>
                        </a:rPr>
                        <a:t>.</a:t>
                      </a:r>
                    </a:p>
                    <a:p>
                      <a:r>
                        <a:rPr lang="fr-FR" sz="1200" dirty="0">
                          <a:latin typeface="Corbel" panose="020B0503020204020204" pitchFamily="34" charset="0"/>
                        </a:rPr>
                        <a:t>Le vendeur doit </a:t>
                      </a:r>
                      <a:r>
                        <a:rPr lang="fr-FR" sz="1200" dirty="0" err="1">
                          <a:latin typeface="Corbel" panose="020B0503020204020204" pitchFamily="34" charset="0"/>
                        </a:rPr>
                        <a:t>donner </a:t>
                      </a:r>
                      <a:r>
                        <a:rPr lang="fr-FR" sz="1200" dirty="0">
                          <a:latin typeface="Corbel" panose="020B0503020204020204" pitchFamily="34" charset="0"/>
                        </a:rPr>
                        <a:t>à </a:t>
                      </a:r>
                      <a:r>
                        <a:rPr lang="fr-FR" sz="1200" dirty="0" err="1">
                          <a:latin typeface="Corbel" panose="020B0503020204020204" pitchFamily="34" charset="0"/>
                        </a:rPr>
                        <a:t>l'acheteur toute </a:t>
                      </a:r>
                      <a:r>
                        <a:rPr lang="fr-FR" sz="1200" dirty="0">
                          <a:latin typeface="Corbel" panose="020B0503020204020204" pitchFamily="34" charset="0"/>
                        </a:rPr>
                        <a:t>notification </a:t>
                      </a:r>
                      <a:r>
                        <a:rPr lang="fr-FR" sz="1200" dirty="0" err="1">
                          <a:latin typeface="Corbel" panose="020B0503020204020204" pitchFamily="34" charset="0"/>
                        </a:rPr>
                        <a:t>nécessaire </a:t>
                      </a:r>
                      <a:r>
                        <a:rPr lang="fr-FR" sz="1200" dirty="0">
                          <a:latin typeface="Corbel" panose="020B0503020204020204" pitchFamily="34" charset="0"/>
                        </a:rPr>
                        <a:t>pour </a:t>
                      </a:r>
                      <a:r>
                        <a:rPr lang="fr-FR" sz="1200" dirty="0" err="1">
                          <a:latin typeface="Corbel" panose="020B0503020204020204" pitchFamily="34" charset="0"/>
                        </a:rPr>
                        <a:t>lui</a:t>
                      </a:r>
                      <a:r>
                        <a:rPr lang="fr-FR" sz="1200" dirty="0">
                          <a:latin typeface="Corbel" panose="020B0503020204020204" pitchFamily="34" charset="0"/>
                        </a:rPr>
                        <a:t> permettre de </a:t>
                      </a:r>
                      <a:r>
                        <a:rPr lang="fr-FR" sz="1200" dirty="0" err="1">
                          <a:latin typeface="Corbel" panose="020B0503020204020204" pitchFamily="34" charset="0"/>
                        </a:rPr>
                        <a:t>réceptionner </a:t>
                      </a:r>
                      <a:r>
                        <a:rPr lang="fr-FR" sz="1200" dirty="0">
                          <a:latin typeface="Corbel" panose="020B0503020204020204" pitchFamily="34" charset="0"/>
                        </a:rPr>
                        <a:t>les </a:t>
                      </a:r>
                      <a:r>
                        <a:rPr lang="fr-FR" sz="1200" dirty="0" err="1">
                          <a:latin typeface="Corbel" panose="020B0503020204020204" pitchFamily="34" charset="0"/>
                        </a:rPr>
                        <a:t>marchandises</a:t>
                      </a:r>
                      <a:r>
                        <a:rPr lang="fr-FR" sz="1200" dirty="0">
                          <a:latin typeface="Corbel" panose="020B0503020204020204" pitchFamily="34" charset="0"/>
                        </a:rPr>
                        <a:t>.</a:t>
                      </a:r>
                    </a:p>
                  </a:txBody>
                  <a:tcPr/>
                </a:tc>
                <a:tc>
                  <a:txBody>
                    <a:bodyPr/>
                    <a:lstStyle/>
                    <a:p>
                      <a:r>
                        <a:rPr lang="fr-FR" sz="1200" dirty="0">
                          <a:latin typeface="Corbel" panose="020B0503020204020204" pitchFamily="34" charset="0"/>
                        </a:rPr>
                        <a:t>Si </a:t>
                      </a:r>
                      <a:r>
                        <a:rPr lang="fr-FR" sz="1200" dirty="0" err="1">
                          <a:latin typeface="Corbel" panose="020B0503020204020204" pitchFamily="34" charset="0"/>
                        </a:rPr>
                        <a:t>l'acheteur a le droit </a:t>
                      </a:r>
                      <a:r>
                        <a:rPr lang="fr-FR" sz="1200" dirty="0">
                          <a:latin typeface="Corbel" panose="020B0503020204020204" pitchFamily="34" charset="0"/>
                        </a:rPr>
                        <a:t>de </a:t>
                      </a:r>
                      <a:r>
                        <a:rPr lang="fr-FR" sz="1200" dirty="0" err="1">
                          <a:latin typeface="Corbel" panose="020B0503020204020204" pitchFamily="34" charset="0"/>
                        </a:rPr>
                        <a:t>déterminer </a:t>
                      </a:r>
                      <a:r>
                        <a:rPr lang="fr-FR" sz="1200" dirty="0">
                          <a:latin typeface="Corbel" panose="020B0503020204020204" pitchFamily="34" charset="0"/>
                        </a:rPr>
                        <a:t>le délai d'expédition des </a:t>
                      </a:r>
                      <a:r>
                        <a:rPr lang="fr-FR" sz="1200" dirty="0" err="1">
                          <a:latin typeface="Corbel" panose="020B0503020204020204" pitchFamily="34" charset="0"/>
                        </a:rPr>
                        <a:t>marchandises </a:t>
                      </a:r>
                      <a:r>
                        <a:rPr lang="fr-FR" sz="1200" dirty="0">
                          <a:latin typeface="Corbel" panose="020B0503020204020204" pitchFamily="34" charset="0"/>
                        </a:rPr>
                        <a:t>et/ou le lieu de </a:t>
                      </a:r>
                      <a:r>
                        <a:rPr lang="fr-FR" sz="1200" dirty="0" err="1">
                          <a:latin typeface="Corbel" panose="020B0503020204020204" pitchFamily="34" charset="0"/>
                        </a:rPr>
                        <a:t>réception </a:t>
                      </a:r>
                      <a:r>
                        <a:rPr lang="fr-FR" sz="1200" dirty="0">
                          <a:latin typeface="Corbel" panose="020B0503020204020204" pitchFamily="34" charset="0"/>
                        </a:rPr>
                        <a:t>des </a:t>
                      </a:r>
                      <a:r>
                        <a:rPr lang="fr-FR" sz="1200" dirty="0" err="1">
                          <a:latin typeface="Corbel" panose="020B0503020204020204" pitchFamily="34" charset="0"/>
                        </a:rPr>
                        <a:t>marchandises dans </a:t>
                      </a:r>
                      <a:r>
                        <a:rPr lang="fr-FR" sz="1200" dirty="0">
                          <a:latin typeface="Corbel" panose="020B0503020204020204" pitchFamily="34" charset="0"/>
                        </a:rPr>
                        <a:t>le port de destination </a:t>
                      </a:r>
                      <a:r>
                        <a:rPr lang="fr-FR" sz="1200" dirty="0" err="1">
                          <a:latin typeface="Corbel" panose="020B0503020204020204" pitchFamily="34" charset="0"/>
                        </a:rPr>
                        <a:t>désigné</a:t>
                      </a:r>
                      <a:r>
                        <a:rPr lang="fr-FR" sz="1200" dirty="0">
                          <a:latin typeface="Corbel" panose="020B0503020204020204" pitchFamily="34" charset="0"/>
                        </a:rPr>
                        <a:t>, </a:t>
                      </a:r>
                      <a:r>
                        <a:rPr lang="fr-FR" sz="1200" dirty="0" err="1">
                          <a:latin typeface="Corbel" panose="020B0503020204020204" pitchFamily="34" charset="0"/>
                        </a:rPr>
                        <a:t>il </a:t>
                      </a:r>
                      <a:r>
                        <a:rPr lang="fr-FR" sz="1200" dirty="0">
                          <a:latin typeface="Corbel" panose="020B0503020204020204" pitchFamily="34" charset="0"/>
                        </a:rPr>
                        <a:t>doit en informer le vendeur </a:t>
                      </a:r>
                      <a:r>
                        <a:rPr lang="fr-FR" sz="1200" dirty="0" err="1">
                          <a:latin typeface="Corbel" panose="020B0503020204020204" pitchFamily="34" charset="0"/>
                        </a:rPr>
                        <a:t>suffisamment à </a:t>
                      </a:r>
                      <a:r>
                        <a:rPr lang="fr-FR" sz="1200" dirty="0">
                          <a:latin typeface="Corbel" panose="020B0503020204020204" pitchFamily="34" charset="0"/>
                        </a:rPr>
                        <a:t>l'avance.</a:t>
                      </a:r>
                    </a:p>
                  </a:txBody>
                  <a:tcPr/>
                </a:tc>
                <a:extLst>
                  <a:ext uri="{0D108BD9-81ED-4DB2-BD59-A6C34878D82A}">
                    <a16:rowId xmlns:a16="http://schemas.microsoft.com/office/drawing/2014/main" val="3077620370"/>
                  </a:ext>
                </a:extLst>
              </a:tr>
            </a:tbl>
          </a:graphicData>
        </a:graphic>
      </p:graphicFrame>
      <p:sp>
        <p:nvSpPr>
          <p:cNvPr id="13" name="Titre 1">
            <a:extLst>
              <a:ext uri="{FF2B5EF4-FFF2-40B4-BE49-F238E27FC236}">
                <a16:creationId xmlns:a16="http://schemas.microsoft.com/office/drawing/2014/main" id="{AD20F3BF-AAC8-4F20-88D4-3938CF1BE90A}"/>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CFR : </a:t>
            </a:r>
            <a:r>
              <a:rPr lang="fr-FR" dirty="0" err="1">
                <a:solidFill>
                  <a:schemeClr val="bg1"/>
                </a:solidFill>
                <a:latin typeface="Franklin Gothic Book" panose="020B0503020102020204" pitchFamily="34" charset="0"/>
              </a:rPr>
              <a:t>Coût </a:t>
            </a:r>
            <a:r>
              <a:rPr lang="fr-FR" dirty="0">
                <a:solidFill>
                  <a:schemeClr val="bg1"/>
                </a:solidFill>
                <a:latin typeface="Franklin Gothic Book" panose="020B0503020102020204" pitchFamily="34" charset="0"/>
              </a:rPr>
              <a:t>et </a:t>
            </a:r>
            <a:r>
              <a:rPr lang="fr-FR" dirty="0" err="1">
                <a:solidFill>
                  <a:schemeClr val="bg1"/>
                </a:solidFill>
                <a:latin typeface="Franklin Gothic Book" panose="020B0503020102020204" pitchFamily="34" charset="0"/>
              </a:rPr>
              <a:t>fret</a:t>
            </a:r>
            <a:endParaRPr lang="fr-FR" dirty="0">
              <a:solidFill>
                <a:schemeClr val="bg1"/>
              </a:solidFill>
              <a:latin typeface="Franklin Gothic Book" panose="020B0503020102020204" pitchFamily="34" charset="0"/>
            </a:endParaRPr>
          </a:p>
        </p:txBody>
      </p:sp>
      <p:sp>
        <p:nvSpPr>
          <p:cNvPr id="8" name="Footer Placeholder 3">
            <a:extLst>
              <a:ext uri="{FF2B5EF4-FFF2-40B4-BE49-F238E27FC236}">
                <a16:creationId xmlns:a16="http://schemas.microsoft.com/office/drawing/2014/main" id="{5F57D25A-BF2B-4FFC-AD51-BDD1466774F2}"/>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775375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2" name="Espace réservé du contenu 2">
            <a:extLst>
              <a:ext uri="{FF2B5EF4-FFF2-40B4-BE49-F238E27FC236}">
                <a16:creationId xmlns:a16="http://schemas.microsoft.com/office/drawing/2014/main" id="{B4422B17-FEE4-4A30-9B1B-10E0952A98C8}"/>
              </a:ext>
            </a:extLst>
          </p:cNvPr>
          <p:cNvSpPr>
            <a:spLocks noGrp="1"/>
          </p:cNvSpPr>
          <p:nvPr>
            <p:ph idx="1"/>
          </p:nvPr>
        </p:nvSpPr>
        <p:spPr>
          <a:xfrm>
            <a:off x="200795" y="4915583"/>
            <a:ext cx="8741670" cy="1054394"/>
          </a:xfrm>
        </p:spPr>
        <p:txBody>
          <a:bodyPr>
            <a:normAutofit/>
          </a:bodyPr>
          <a:lstStyle/>
          <a:p>
            <a:pPr marL="0" indent="0">
              <a:buNone/>
            </a:pPr>
            <a:r>
              <a:rPr lang="en-US" sz="1400" b="1" u="sng" strike="noStrike" baseline="0" dirty="0"/>
              <a:t>Lieu de livraison : </a:t>
            </a:r>
            <a:r>
              <a:rPr lang="en-US" sz="1400" strike="noStrike" baseline="0" dirty="0"/>
              <a:t>à bord du navire, au port de chargement désigné.</a:t>
            </a:r>
          </a:p>
          <a:p>
            <a:pPr marL="0" indent="0">
              <a:buNone/>
            </a:pPr>
            <a:r>
              <a:rPr lang="en-US" sz="1400" b="1" u="sng" dirty="0"/>
              <a:t>Obligations du vendeur : </a:t>
            </a:r>
            <a:r>
              <a:rPr lang="en-US" sz="1400" dirty="0"/>
              <a:t>dédouaner les marchandises pour l'exportation + </a:t>
            </a:r>
            <a:r>
              <a:rPr lang="en-US" sz="1400" strike="noStrike" baseline="0" dirty="0"/>
              <a:t>livrer les marchandises à bord du navire au port de chargement + conclure le contrat de transport principal + conclure le contrat d'assurance.</a:t>
            </a:r>
            <a:endParaRPr lang="en-GB" sz="1400" dirty="0"/>
          </a:p>
        </p:txBody>
      </p:sp>
      <p:sp>
        <p:nvSpPr>
          <p:cNvPr id="13" name="Titre 1">
            <a:extLst>
              <a:ext uri="{FF2B5EF4-FFF2-40B4-BE49-F238E27FC236}">
                <a16:creationId xmlns:a16="http://schemas.microsoft.com/office/drawing/2014/main" id="{AD20F3BF-AAC8-4F20-88D4-3938CF1BE90A}"/>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CIF : </a:t>
            </a:r>
            <a:r>
              <a:rPr lang="fr-FR" dirty="0" err="1">
                <a:solidFill>
                  <a:schemeClr val="bg1"/>
                </a:solidFill>
                <a:latin typeface="Franklin Gothic Book" panose="020B0503020102020204" pitchFamily="34" charset="0"/>
              </a:rPr>
              <a:t>Coût</a:t>
            </a:r>
            <a:r>
              <a:rPr lang="fr-FR" dirty="0">
                <a:solidFill>
                  <a:schemeClr val="bg1"/>
                </a:solidFill>
                <a:latin typeface="Franklin Gothic Book" panose="020B0503020102020204" pitchFamily="34" charset="0"/>
              </a:rPr>
              <a:t>, </a:t>
            </a:r>
            <a:r>
              <a:rPr lang="fr-FR" dirty="0" err="1">
                <a:solidFill>
                  <a:schemeClr val="bg1"/>
                </a:solidFill>
                <a:latin typeface="Franklin Gothic Book" panose="020B0503020102020204" pitchFamily="34" charset="0"/>
              </a:rPr>
              <a:t>assurance </a:t>
            </a:r>
            <a:r>
              <a:rPr lang="fr-FR" dirty="0">
                <a:solidFill>
                  <a:schemeClr val="bg1"/>
                </a:solidFill>
                <a:latin typeface="Franklin Gothic Book" panose="020B0503020102020204" pitchFamily="34" charset="0"/>
              </a:rPr>
              <a:t>et </a:t>
            </a:r>
            <a:r>
              <a:rPr lang="fr-FR" dirty="0" err="1">
                <a:solidFill>
                  <a:schemeClr val="bg1"/>
                </a:solidFill>
                <a:latin typeface="Franklin Gothic Book" panose="020B0503020102020204" pitchFamily="34" charset="0"/>
              </a:rPr>
              <a:t>fret</a:t>
            </a:r>
            <a:endParaRPr lang="fr-FR" dirty="0">
              <a:solidFill>
                <a:schemeClr val="bg1"/>
              </a:solidFill>
              <a:latin typeface="Franklin Gothic Book" panose="020B0503020102020204" pitchFamily="34" charset="0"/>
            </a:endParaRPr>
          </a:p>
        </p:txBody>
      </p:sp>
      <p:sp>
        <p:nvSpPr>
          <p:cNvPr id="8" name="Footer Placeholder 3">
            <a:extLst>
              <a:ext uri="{FF2B5EF4-FFF2-40B4-BE49-F238E27FC236}">
                <a16:creationId xmlns:a16="http://schemas.microsoft.com/office/drawing/2014/main" id="{5F57D25A-BF2B-4FFC-AD51-BDD1466774F2}"/>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pic>
        <p:nvPicPr>
          <p:cNvPr id="4" name="Image 3">
            <a:extLst>
              <a:ext uri="{FF2B5EF4-FFF2-40B4-BE49-F238E27FC236}">
                <a16:creationId xmlns:a16="http://schemas.microsoft.com/office/drawing/2014/main" id="{A4FBC4F6-BCB9-47D1-94FE-07138495793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12276" y="1811992"/>
            <a:ext cx="6189785" cy="2971800"/>
          </a:xfrm>
          <a:prstGeom prst="rect">
            <a:avLst/>
          </a:prstGeom>
        </p:spPr>
      </p:pic>
    </p:spTree>
    <p:extLst>
      <p:ext uri="{BB962C8B-B14F-4D97-AF65-F5344CB8AC3E}">
        <p14:creationId xmlns:p14="http://schemas.microsoft.com/office/powerpoint/2010/main" val="599624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graphicFrame>
        <p:nvGraphicFramePr>
          <p:cNvPr id="2" name="Tableau 2">
            <a:extLst>
              <a:ext uri="{FF2B5EF4-FFF2-40B4-BE49-F238E27FC236}">
                <a16:creationId xmlns:a16="http://schemas.microsoft.com/office/drawing/2014/main" id="{B18731D3-C8D2-497B-8ED0-9C3D0D5DA555}"/>
              </a:ext>
            </a:extLst>
          </p:cNvPr>
          <p:cNvGraphicFramePr>
            <a:graphicFrameLocks noGrp="1"/>
          </p:cNvGraphicFramePr>
          <p:nvPr>
            <p:ph idx="1"/>
            <p:extLst>
              <p:ext uri="{D42A27DB-BD31-4B8C-83A1-F6EECF244321}">
                <p14:modId xmlns:p14="http://schemas.microsoft.com/office/powerpoint/2010/main" val="1095331760"/>
              </p:ext>
            </p:extLst>
          </p:nvPr>
        </p:nvGraphicFramePr>
        <p:xfrm>
          <a:off x="201165" y="1670536"/>
          <a:ext cx="8740611" cy="4387548"/>
        </p:xfrm>
        <a:graphic>
          <a:graphicData uri="http://schemas.openxmlformats.org/drawingml/2006/table">
            <a:tbl>
              <a:tblPr firstRow="1" bandRow="1">
                <a:tableStyleId>{5C22544A-7EE6-4342-B048-85BDC9FD1C3A}</a:tableStyleId>
              </a:tblPr>
              <a:tblGrid>
                <a:gridCol w="1478166">
                  <a:extLst>
                    <a:ext uri="{9D8B030D-6E8A-4147-A177-3AD203B41FA5}">
                      <a16:colId xmlns:a16="http://schemas.microsoft.com/office/drawing/2014/main" val="2197825006"/>
                    </a:ext>
                  </a:extLst>
                </a:gridCol>
                <a:gridCol w="3508131">
                  <a:extLst>
                    <a:ext uri="{9D8B030D-6E8A-4147-A177-3AD203B41FA5}">
                      <a16:colId xmlns:a16="http://schemas.microsoft.com/office/drawing/2014/main" val="881511159"/>
                    </a:ext>
                  </a:extLst>
                </a:gridCol>
                <a:gridCol w="3754314">
                  <a:extLst>
                    <a:ext uri="{9D8B030D-6E8A-4147-A177-3AD203B41FA5}">
                      <a16:colId xmlns:a16="http://schemas.microsoft.com/office/drawing/2014/main" val="4032496702"/>
                    </a:ext>
                  </a:extLst>
                </a:gridCol>
              </a:tblGrid>
              <a:tr h="461853">
                <a:tc>
                  <a:txBody>
                    <a:bodyPr/>
                    <a:lstStyle/>
                    <a:p>
                      <a:endParaRPr lang="fr-FR" sz="1200">
                        <a:latin typeface="Corbel" panose="020B0503020204020204" pitchFamily="34" charset="0"/>
                      </a:endParaRPr>
                    </a:p>
                  </a:txBody>
                  <a:tcPr/>
                </a:tc>
                <a:tc>
                  <a:txBody>
                    <a:bodyPr/>
                    <a:lstStyle/>
                    <a:p>
                      <a:pPr algn="ctr"/>
                      <a:r>
                        <a:rPr lang="fr-FR" sz="1200" dirty="0">
                          <a:latin typeface="Corbel" panose="020B0503020204020204" pitchFamily="34" charset="0"/>
                        </a:rPr>
                        <a:t>Vendeur</a:t>
                      </a:r>
                    </a:p>
                  </a:txBody>
                  <a:tcPr/>
                </a:tc>
                <a:tc>
                  <a:txBody>
                    <a:bodyPr/>
                    <a:lstStyle/>
                    <a:p>
                      <a:pPr algn="ctr"/>
                      <a:r>
                        <a:rPr lang="fr-FR" sz="1200" dirty="0">
                          <a:latin typeface="Corbel" panose="020B0503020204020204" pitchFamily="34" charset="0"/>
                        </a:rPr>
                        <a:t>Acheteur</a:t>
                      </a:r>
                    </a:p>
                  </a:txBody>
                  <a:tcPr/>
                </a:tc>
                <a:extLst>
                  <a:ext uri="{0D108BD9-81ED-4DB2-BD59-A6C34878D82A}">
                    <a16:rowId xmlns:a16="http://schemas.microsoft.com/office/drawing/2014/main" val="1096643366"/>
                  </a:ext>
                </a:extLst>
              </a:tr>
              <a:tr h="11269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Corbel" panose="020B0503020204020204" pitchFamily="34" charset="0"/>
                        </a:rPr>
                        <a:t>Dédouanement à l'exportation/à l'importation</a:t>
                      </a:r>
                    </a:p>
                    <a:p>
                      <a:endParaRPr lang="fr-FR" sz="1200" dirty="0">
                        <a:latin typeface="Corbel" panose="020B0503020204020204" pitchFamily="34" charset="0"/>
                      </a:endParaRPr>
                    </a:p>
                  </a:txBody>
                  <a:tcPr/>
                </a:tc>
                <a:tc>
                  <a:txBody>
                    <a:bodyPr/>
                    <a:lstStyle/>
                    <a:p>
                      <a:r>
                        <a:rPr lang="fr-FR" sz="1200" dirty="0">
                          <a:latin typeface="Corbel" panose="020B0503020204020204" pitchFamily="34" charset="0"/>
                        </a:rPr>
                        <a:t>Exportation : le vendeur doit effectuer et </a:t>
                      </a:r>
                      <a:r>
                        <a:rPr lang="fr-FR" sz="1200" dirty="0" err="1">
                          <a:latin typeface="Corbel" panose="020B0503020204020204" pitchFamily="34" charset="0"/>
                        </a:rPr>
                        <a:t>payer </a:t>
                      </a:r>
                      <a:r>
                        <a:rPr lang="fr-FR" sz="1200" dirty="0">
                          <a:latin typeface="Corbel" panose="020B0503020204020204" pitchFamily="34" charset="0"/>
                        </a:rPr>
                        <a:t>toutes </a:t>
                      </a:r>
                      <a:r>
                        <a:rPr lang="fr-FR" sz="1200" dirty="0" err="1">
                          <a:latin typeface="Corbel" panose="020B0503020204020204" pitchFamily="34" charset="0"/>
                        </a:rPr>
                        <a:t>les formalités</a:t>
                      </a:r>
                      <a:r>
                        <a:rPr lang="fr-FR" sz="1200" dirty="0">
                          <a:latin typeface="Corbel" panose="020B0503020204020204" pitchFamily="34" charset="0"/>
                        </a:rPr>
                        <a:t> de dédouanement à l'exportation.</a:t>
                      </a:r>
                    </a:p>
                    <a:p>
                      <a:endParaRPr lang="fr-FR" sz="1200" dirty="0">
                        <a:latin typeface="Corbel" panose="020B0503020204020204" pitchFamily="34" charset="0"/>
                      </a:endParaRPr>
                    </a:p>
                    <a:p>
                      <a:r>
                        <a:rPr lang="fr-FR" sz="1200" dirty="0">
                          <a:latin typeface="Corbel" panose="020B0503020204020204" pitchFamily="34" charset="0"/>
                        </a:rPr>
                        <a:t>Importation : le vendeur doit aider </a:t>
                      </a:r>
                      <a:r>
                        <a:rPr lang="fr-FR" sz="1200" dirty="0" err="1">
                          <a:latin typeface="Corbel" panose="020B0503020204020204" pitchFamily="34" charset="0"/>
                        </a:rPr>
                        <a:t>l'acheteur</a:t>
                      </a:r>
                      <a:r>
                        <a:rPr lang="fr-FR" sz="1200" dirty="0">
                          <a:latin typeface="Corbel" panose="020B0503020204020204" pitchFamily="34" charset="0"/>
                        </a:rPr>
                        <a:t>, à la </a:t>
                      </a:r>
                      <a:r>
                        <a:rPr lang="fr-FR" sz="1200" dirty="0" err="1">
                          <a:latin typeface="Corbel" panose="020B0503020204020204" pitchFamily="34" charset="0"/>
                        </a:rPr>
                        <a:t>demande de ce dernier</a:t>
                      </a:r>
                      <a:r>
                        <a:rPr lang="fr-FR" sz="1200" dirty="0">
                          <a:latin typeface="Corbel" panose="020B0503020204020204" pitchFamily="34" charset="0"/>
                        </a:rPr>
                        <a:t>, à </a:t>
                      </a:r>
                      <a:r>
                        <a:rPr lang="fr-FR" sz="1200" dirty="0" err="1">
                          <a:latin typeface="Corbel" panose="020B0503020204020204" pitchFamily="34" charset="0"/>
                        </a:rPr>
                        <a:t>obtenir tous </a:t>
                      </a:r>
                      <a:r>
                        <a:rPr lang="fr-FR" sz="1200" dirty="0">
                          <a:latin typeface="Corbel" panose="020B0503020204020204" pitchFamily="34" charset="0"/>
                        </a:rPr>
                        <a:t>les documents ou informations </a:t>
                      </a:r>
                      <a:r>
                        <a:rPr lang="fr-FR" sz="1200" dirty="0" err="1">
                          <a:latin typeface="Corbel" panose="020B0503020204020204" pitchFamily="34" charset="0"/>
                        </a:rPr>
                        <a:t>relatifs </a:t>
                      </a:r>
                      <a:r>
                        <a:rPr lang="fr-FR" sz="1200" dirty="0">
                          <a:latin typeface="Corbel" panose="020B0503020204020204" pitchFamily="34" charset="0"/>
                        </a:rPr>
                        <a:t>aux </a:t>
                      </a:r>
                      <a:r>
                        <a:rPr lang="fr-FR" sz="1200" dirty="0" err="1">
                          <a:latin typeface="Corbel" panose="020B0503020204020204" pitchFamily="34" charset="0"/>
                        </a:rPr>
                        <a:t>formalités</a:t>
                      </a:r>
                      <a:r>
                        <a:rPr lang="fr-FR" sz="1200" dirty="0">
                          <a:latin typeface="Corbel" panose="020B0503020204020204" pitchFamily="34" charset="0"/>
                        </a:rPr>
                        <a:t> de dédouanement à l'importation.</a:t>
                      </a:r>
                    </a:p>
                  </a:txBody>
                  <a:tcPr/>
                </a:tc>
                <a:tc>
                  <a:txBody>
                    <a:bodyPr/>
                    <a:lstStyle/>
                    <a:p>
                      <a:r>
                        <a:rPr lang="fr-FR" sz="1200" dirty="0">
                          <a:latin typeface="Corbel" panose="020B0503020204020204" pitchFamily="34" charset="0"/>
                        </a:rPr>
                        <a:t>Exportation : </a:t>
                      </a:r>
                      <a:r>
                        <a:rPr lang="fr-FR" sz="1200" dirty="0" err="1">
                          <a:latin typeface="Corbel" panose="020B0503020204020204" pitchFamily="34" charset="0"/>
                        </a:rPr>
                        <a:t>l'acheteur </a:t>
                      </a:r>
                      <a:r>
                        <a:rPr lang="fr-FR" sz="1200" dirty="0">
                          <a:latin typeface="Corbel" panose="020B0503020204020204" pitchFamily="34" charset="0"/>
                        </a:rPr>
                        <a:t>doit aider le vendeur, à la </a:t>
                      </a:r>
                      <a:r>
                        <a:rPr lang="fr-FR" sz="1200" dirty="0" err="1">
                          <a:latin typeface="Corbel" panose="020B0503020204020204" pitchFamily="34" charset="0"/>
                        </a:rPr>
                        <a:t>demande de ce dernier, </a:t>
                      </a:r>
                      <a:r>
                        <a:rPr lang="fr-FR" sz="1200" dirty="0">
                          <a:latin typeface="Corbel" panose="020B0503020204020204" pitchFamily="34" charset="0"/>
                        </a:rPr>
                        <a:t>à </a:t>
                      </a:r>
                      <a:r>
                        <a:rPr lang="fr-FR" sz="1200" dirty="0" err="1">
                          <a:latin typeface="Corbel" panose="020B0503020204020204" pitchFamily="34" charset="0"/>
                        </a:rPr>
                        <a:t>obtenir tous </a:t>
                      </a:r>
                      <a:r>
                        <a:rPr lang="fr-FR" sz="1200" dirty="0">
                          <a:latin typeface="Corbel" panose="020B0503020204020204" pitchFamily="34" charset="0"/>
                        </a:rPr>
                        <a:t>les documents ou informations </a:t>
                      </a:r>
                      <a:r>
                        <a:rPr lang="fr-FR" sz="1200" dirty="0" err="1">
                          <a:latin typeface="Corbel" panose="020B0503020204020204" pitchFamily="34" charset="0"/>
                        </a:rPr>
                        <a:t>relatifs </a:t>
                      </a:r>
                      <a:r>
                        <a:rPr lang="fr-FR" sz="1200" dirty="0">
                          <a:latin typeface="Corbel" panose="020B0503020204020204" pitchFamily="34" charset="0"/>
                        </a:rPr>
                        <a:t>aux </a:t>
                      </a:r>
                      <a:r>
                        <a:rPr lang="fr-FR" sz="1200" dirty="0" err="1">
                          <a:latin typeface="Corbel" panose="020B0503020204020204" pitchFamily="34" charset="0"/>
                        </a:rPr>
                        <a:t>formalités</a:t>
                      </a:r>
                      <a:r>
                        <a:rPr lang="fr-FR" sz="1200" dirty="0">
                          <a:latin typeface="Corbel" panose="020B0503020204020204" pitchFamily="34" charset="0"/>
                        </a:rPr>
                        <a:t> de dédouanement à l'exportation.</a:t>
                      </a:r>
                    </a:p>
                    <a:p>
                      <a:endParaRPr lang="fr-FR" sz="1200" dirty="0">
                        <a:latin typeface="Corbel" panose="020B0503020204020204" pitchFamily="34" charset="0"/>
                      </a:endParaRPr>
                    </a:p>
                    <a:p>
                      <a:r>
                        <a:rPr lang="fr-FR" sz="1200" dirty="0">
                          <a:latin typeface="Corbel" panose="020B0503020204020204" pitchFamily="34" charset="0"/>
                        </a:rPr>
                        <a:t>Importation : </a:t>
                      </a:r>
                      <a:r>
                        <a:rPr lang="fr-FR" sz="1200" dirty="0" err="1">
                          <a:latin typeface="Corbel" panose="020B0503020204020204" pitchFamily="34" charset="0"/>
                        </a:rPr>
                        <a:t>l'acheteur </a:t>
                      </a:r>
                      <a:r>
                        <a:rPr lang="fr-FR" sz="1200" dirty="0">
                          <a:latin typeface="Corbel" panose="020B0503020204020204" pitchFamily="34" charset="0"/>
                        </a:rPr>
                        <a:t>doit effectuer et </a:t>
                      </a:r>
                      <a:r>
                        <a:rPr lang="fr-FR" sz="1200" dirty="0" err="1">
                          <a:latin typeface="Corbel" panose="020B0503020204020204" pitchFamily="34" charset="0"/>
                        </a:rPr>
                        <a:t>payer </a:t>
                      </a:r>
                      <a:r>
                        <a:rPr lang="fr-FR" sz="1200" dirty="0">
                          <a:latin typeface="Corbel" panose="020B0503020204020204" pitchFamily="34" charset="0"/>
                        </a:rPr>
                        <a:t>toutes </a:t>
                      </a:r>
                      <a:r>
                        <a:rPr lang="fr-FR" sz="1200" dirty="0" err="1">
                          <a:latin typeface="Corbel" panose="020B0503020204020204" pitchFamily="34" charset="0"/>
                        </a:rPr>
                        <a:t>les formalités</a:t>
                      </a:r>
                      <a:r>
                        <a:rPr lang="fr-FR" sz="1200" dirty="0">
                          <a:latin typeface="Corbel" panose="020B0503020204020204" pitchFamily="34" charset="0"/>
                        </a:rPr>
                        <a:t>.</a:t>
                      </a:r>
                    </a:p>
                  </a:txBody>
                  <a:tcPr/>
                </a:tc>
                <a:extLst>
                  <a:ext uri="{0D108BD9-81ED-4DB2-BD59-A6C34878D82A}">
                    <a16:rowId xmlns:a16="http://schemas.microsoft.com/office/drawing/2014/main" val="2876070871"/>
                  </a:ext>
                </a:extLst>
              </a:tr>
              <a:tr h="16099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Corbel" panose="020B0503020204020204" pitchFamily="34" charset="0"/>
                        </a:rPr>
                        <a:t>Contrôle / emballage / </a:t>
                      </a:r>
                      <a:r>
                        <a:rPr lang="fr-FR" sz="1200" dirty="0" err="1">
                          <a:latin typeface="Corbel" panose="020B0503020204020204" pitchFamily="34" charset="0"/>
                        </a:rPr>
                        <a:t>marquage</a:t>
                      </a:r>
                      <a:endParaRPr lang="fr-FR" sz="1200" dirty="0">
                        <a:latin typeface="Corbel" panose="020B0503020204020204" pitchFamily="34" charset="0"/>
                      </a:endParaRPr>
                    </a:p>
                    <a:p>
                      <a:endParaRPr lang="fr-FR" sz="1200" dirty="0">
                        <a:latin typeface="Corbel" panose="020B0503020204020204" pitchFamily="34" charset="0"/>
                      </a:endParaRPr>
                    </a:p>
                  </a:txBody>
                  <a:tcPr/>
                </a:tc>
                <a:tc>
                  <a:txBody>
                    <a:bodyPr/>
                    <a:lstStyle/>
                    <a:p>
                      <a:pPr algn="l"/>
                      <a:r>
                        <a:rPr lang="fr-FR" sz="1200" dirty="0">
                          <a:solidFill>
                            <a:schemeClr val="tx1"/>
                          </a:solidFill>
                          <a:latin typeface="Corbel" panose="020B0503020204020204" pitchFamily="34" charset="0"/>
                        </a:rPr>
                        <a:t>Le vendeur doit :</a:t>
                      </a:r>
                    </a:p>
                    <a:p>
                      <a:pPr marL="171450" indent="-171450" algn="l">
                        <a:buFontTx/>
                        <a:buChar char="-"/>
                      </a:pPr>
                      <a:r>
                        <a:rPr lang="fr-FR" sz="1200" dirty="0" err="1">
                          <a:solidFill>
                            <a:schemeClr val="tx1"/>
                          </a:solidFill>
                          <a:latin typeface="Corbel" panose="020B0503020204020204" pitchFamily="34" charset="0"/>
                        </a:rPr>
                        <a:t>Prendre en charge </a:t>
                      </a:r>
                      <a:r>
                        <a:rPr lang="fr-FR" sz="1200" dirty="0">
                          <a:solidFill>
                            <a:schemeClr val="tx1"/>
                          </a:solidFill>
                          <a:latin typeface="Corbel" panose="020B0503020204020204" pitchFamily="34" charset="0"/>
                        </a:rPr>
                        <a:t>le </a:t>
                      </a:r>
                      <a:r>
                        <a:rPr lang="fr-FR" sz="1200" dirty="0" err="1">
                          <a:solidFill>
                            <a:schemeClr val="tx1"/>
                          </a:solidFill>
                          <a:latin typeface="Corbel" panose="020B0503020204020204" pitchFamily="34" charset="0"/>
                        </a:rPr>
                        <a:t>coût </a:t>
                      </a:r>
                      <a:r>
                        <a:rPr lang="fr-FR" sz="1200" dirty="0">
                          <a:solidFill>
                            <a:schemeClr val="tx1"/>
                          </a:solidFill>
                          <a:latin typeface="Corbel" panose="020B0503020204020204" pitchFamily="34" charset="0"/>
                        </a:rPr>
                        <a:t>de toutes </a:t>
                      </a:r>
                      <a:r>
                        <a:rPr lang="fr-FR" sz="1200" dirty="0" err="1">
                          <a:solidFill>
                            <a:schemeClr val="tx1"/>
                          </a:solidFill>
                          <a:latin typeface="Corbel" panose="020B0503020204020204" pitchFamily="34" charset="0"/>
                        </a:rPr>
                        <a:t>les opérations</a:t>
                      </a:r>
                      <a:r>
                        <a:rPr lang="fr-FR" sz="1200" dirty="0">
                          <a:solidFill>
                            <a:schemeClr val="tx1"/>
                          </a:solidFill>
                          <a:latin typeface="Corbel" panose="020B0503020204020204" pitchFamily="34" charset="0"/>
                        </a:rPr>
                        <a:t> de contrôle (contrôle </a:t>
                      </a:r>
                      <a:r>
                        <a:rPr lang="fr-FR" sz="1200" dirty="0" err="1">
                          <a:solidFill>
                            <a:schemeClr val="tx1"/>
                          </a:solidFill>
                          <a:latin typeface="Corbel" panose="020B0503020204020204" pitchFamily="34" charset="0"/>
                        </a:rPr>
                        <a:t>de la qualité</a:t>
                      </a:r>
                      <a:r>
                        <a:rPr lang="fr-FR" sz="1200" dirty="0">
                          <a:solidFill>
                            <a:schemeClr val="tx1"/>
                          </a:solidFill>
                          <a:latin typeface="Corbel" panose="020B0503020204020204" pitchFamily="34" charset="0"/>
                        </a:rPr>
                        <a:t>, </a:t>
                      </a:r>
                      <a:r>
                        <a:rPr lang="fr-FR" sz="1200" dirty="0" err="1">
                          <a:solidFill>
                            <a:schemeClr val="tx1"/>
                          </a:solidFill>
                          <a:latin typeface="Corbel" panose="020B0503020204020204" pitchFamily="34" charset="0"/>
                        </a:rPr>
                        <a:t>mesure</a:t>
                      </a:r>
                      <a:r>
                        <a:rPr lang="fr-FR" sz="1200" dirty="0">
                          <a:solidFill>
                            <a:schemeClr val="tx1"/>
                          </a:solidFill>
                          <a:latin typeface="Corbel" panose="020B0503020204020204" pitchFamily="34" charset="0"/>
                        </a:rPr>
                        <a:t>, </a:t>
                      </a:r>
                      <a:r>
                        <a:rPr lang="fr-FR" sz="1200" dirty="0" err="1">
                          <a:solidFill>
                            <a:schemeClr val="tx1"/>
                          </a:solidFill>
                          <a:latin typeface="Corbel" panose="020B0503020204020204" pitchFamily="34" charset="0"/>
                        </a:rPr>
                        <a:t>pesage</a:t>
                      </a:r>
                      <a:r>
                        <a:rPr lang="fr-FR" sz="1200" dirty="0">
                          <a:solidFill>
                            <a:schemeClr val="tx1"/>
                          </a:solidFill>
                          <a:latin typeface="Corbel" panose="020B0503020204020204" pitchFamily="34" charset="0"/>
                        </a:rPr>
                        <a:t>, </a:t>
                      </a:r>
                      <a:r>
                        <a:rPr lang="fr-FR" sz="1200" dirty="0" err="1">
                          <a:solidFill>
                            <a:schemeClr val="tx1"/>
                          </a:solidFill>
                          <a:latin typeface="Corbel" panose="020B0503020204020204" pitchFamily="34" charset="0"/>
                        </a:rPr>
                        <a:t>comptage</a:t>
                      </a:r>
                      <a:r>
                        <a:rPr lang="fr-FR" sz="1200" dirty="0">
                          <a:solidFill>
                            <a:schemeClr val="tx1"/>
                          </a:solidFill>
                          <a:latin typeface="Corbel" panose="020B0503020204020204" pitchFamily="34" charset="0"/>
                        </a:rPr>
                        <a:t>)</a:t>
                      </a:r>
                    </a:p>
                    <a:p>
                      <a:pPr marL="171450" indent="-171450" algn="l">
                        <a:buFontTx/>
                        <a:buChar char="-"/>
                      </a:pPr>
                      <a:r>
                        <a:rPr lang="fr-FR" sz="1200" dirty="0">
                          <a:solidFill>
                            <a:schemeClr val="tx1"/>
                          </a:solidFill>
                          <a:latin typeface="Corbel" panose="020B0503020204020204" pitchFamily="34" charset="0"/>
                        </a:rPr>
                        <a:t>Emballer et marquer les </a:t>
                      </a:r>
                      <a:r>
                        <a:rPr lang="fr-FR" sz="1200" dirty="0" err="1">
                          <a:solidFill>
                            <a:schemeClr val="tx1"/>
                          </a:solidFill>
                          <a:latin typeface="Corbel" panose="020B0503020204020204" pitchFamily="34" charset="0"/>
                        </a:rPr>
                        <a:t>marchandises </a:t>
                      </a:r>
                      <a:r>
                        <a:rPr lang="fr-FR" sz="1200" dirty="0">
                          <a:solidFill>
                            <a:schemeClr val="tx1"/>
                          </a:solidFill>
                          <a:latin typeface="Corbel" panose="020B0503020204020204" pitchFamily="34" charset="0"/>
                        </a:rPr>
                        <a:t>de </a:t>
                      </a:r>
                      <a:r>
                        <a:rPr lang="fr-FR" sz="1200" dirty="0" err="1">
                          <a:solidFill>
                            <a:schemeClr val="tx1"/>
                          </a:solidFill>
                          <a:latin typeface="Corbel" panose="020B0503020204020204" pitchFamily="34" charset="0"/>
                        </a:rPr>
                        <a:t>manière appropriée </a:t>
                      </a:r>
                      <a:r>
                        <a:rPr lang="fr-FR" sz="1200" dirty="0">
                          <a:solidFill>
                            <a:schemeClr val="tx1"/>
                          </a:solidFill>
                          <a:latin typeface="Corbel" panose="020B0503020204020204" pitchFamily="34" charset="0"/>
                        </a:rPr>
                        <a:t>pour </a:t>
                      </a:r>
                      <a:r>
                        <a:rPr lang="fr-FR" sz="1200" dirty="0" err="1">
                          <a:solidFill>
                            <a:schemeClr val="tx1"/>
                          </a:solidFill>
                          <a:latin typeface="Corbel" panose="020B0503020204020204" pitchFamily="34" charset="0"/>
                        </a:rPr>
                        <a:t>leur </a:t>
                      </a:r>
                      <a:r>
                        <a:rPr lang="fr-FR" sz="1200" dirty="0">
                          <a:solidFill>
                            <a:schemeClr val="tx1"/>
                          </a:solidFill>
                          <a:latin typeface="Corbel" panose="020B0503020204020204" pitchFamily="34" charset="0"/>
                        </a:rPr>
                        <a:t>transport.</a:t>
                      </a:r>
                    </a:p>
                    <a:p>
                      <a:endParaRPr lang="fr-FR" sz="1200" dirty="0">
                        <a:latin typeface="Corbel" panose="020B0503020204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err="1">
                          <a:latin typeface="Corbel" panose="020B0503020204020204" pitchFamily="34" charset="0"/>
                        </a:rPr>
                        <a:t>L'acheteur </a:t>
                      </a:r>
                      <a:r>
                        <a:rPr lang="fr-FR" sz="1200" dirty="0">
                          <a:latin typeface="Corbel" panose="020B0503020204020204" pitchFamily="34" charset="0"/>
                        </a:rPr>
                        <a:t>n'a aucune obligation envers le vendeur.</a:t>
                      </a:r>
                    </a:p>
                    <a:p>
                      <a:endParaRPr lang="fr-FR" sz="1200" dirty="0">
                        <a:latin typeface="Corbel" panose="020B0503020204020204" pitchFamily="34" charset="0"/>
                      </a:endParaRPr>
                    </a:p>
                  </a:txBody>
                  <a:tcPr/>
                </a:tc>
                <a:extLst>
                  <a:ext uri="{0D108BD9-81ED-4DB2-BD59-A6C34878D82A}">
                    <a16:rowId xmlns:a16="http://schemas.microsoft.com/office/drawing/2014/main" val="741862795"/>
                  </a:ext>
                </a:extLst>
              </a:tr>
              <a:tr h="11269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Corbel" panose="020B0503020204020204" pitchFamily="34" charset="0"/>
                        </a:rPr>
                        <a:t>Avis</a:t>
                      </a:r>
                    </a:p>
                    <a:p>
                      <a:endParaRPr lang="fr-FR" sz="1200" dirty="0">
                        <a:latin typeface="Corbel" panose="020B0503020204020204" pitchFamily="34" charset="0"/>
                      </a:endParaRPr>
                    </a:p>
                  </a:txBody>
                  <a:tcPr/>
                </a:tc>
                <a:tc>
                  <a:txBody>
                    <a:bodyPr/>
                    <a:lstStyle/>
                    <a:p>
                      <a:r>
                        <a:rPr lang="fr-FR" sz="1200" dirty="0">
                          <a:latin typeface="Corbel" panose="020B0503020204020204" pitchFamily="34" charset="0"/>
                        </a:rPr>
                        <a:t>Le vendeur doit </a:t>
                      </a:r>
                      <a:r>
                        <a:rPr lang="fr-FR" sz="1200" dirty="0" err="1">
                          <a:latin typeface="Corbel" panose="020B0503020204020204" pitchFamily="34" charset="0"/>
                        </a:rPr>
                        <a:t>informer </a:t>
                      </a:r>
                      <a:r>
                        <a:rPr lang="fr-FR" sz="1200" dirty="0">
                          <a:latin typeface="Corbel" panose="020B0503020204020204" pitchFamily="34" charset="0"/>
                        </a:rPr>
                        <a:t>l'</a:t>
                      </a:r>
                      <a:r>
                        <a:rPr lang="fr-FR" sz="1200" dirty="0" err="1">
                          <a:latin typeface="Corbel" panose="020B0503020204020204" pitchFamily="34" charset="0"/>
                        </a:rPr>
                        <a:t>acheteur que </a:t>
                      </a:r>
                      <a:r>
                        <a:rPr lang="fr-FR" sz="1200" dirty="0">
                          <a:latin typeface="Corbel" panose="020B0503020204020204" pitchFamily="34" charset="0"/>
                        </a:rPr>
                        <a:t>les </a:t>
                      </a:r>
                      <a:r>
                        <a:rPr lang="fr-FR" sz="1200" dirty="0" err="1">
                          <a:latin typeface="Corbel" panose="020B0503020204020204" pitchFamily="34" charset="0"/>
                        </a:rPr>
                        <a:t>marchandises </a:t>
                      </a:r>
                      <a:r>
                        <a:rPr lang="fr-FR" sz="1200" dirty="0">
                          <a:latin typeface="Corbel" panose="020B0503020204020204" pitchFamily="34" charset="0"/>
                        </a:rPr>
                        <a:t>ont été </a:t>
                      </a:r>
                      <a:r>
                        <a:rPr lang="fr-FR" sz="1200" dirty="0" err="1">
                          <a:latin typeface="Corbel" panose="020B0503020204020204" pitchFamily="34" charset="0"/>
                        </a:rPr>
                        <a:t>livrées</a:t>
                      </a:r>
                      <a:r>
                        <a:rPr lang="fr-FR" sz="1200" dirty="0">
                          <a:latin typeface="Corbel" panose="020B0503020204020204" pitchFamily="34" charset="0"/>
                        </a:rPr>
                        <a:t>.</a:t>
                      </a:r>
                    </a:p>
                    <a:p>
                      <a:r>
                        <a:rPr lang="fr-FR" sz="1200" dirty="0">
                          <a:latin typeface="Corbel" panose="020B0503020204020204" pitchFamily="34" charset="0"/>
                        </a:rPr>
                        <a:t>Le vendeur doit </a:t>
                      </a:r>
                      <a:r>
                        <a:rPr lang="fr-FR" sz="1200" dirty="0" err="1">
                          <a:latin typeface="Corbel" panose="020B0503020204020204" pitchFamily="34" charset="0"/>
                        </a:rPr>
                        <a:t>donner </a:t>
                      </a:r>
                      <a:r>
                        <a:rPr lang="fr-FR" sz="1200" dirty="0">
                          <a:latin typeface="Corbel" panose="020B0503020204020204" pitchFamily="34" charset="0"/>
                        </a:rPr>
                        <a:t>à </a:t>
                      </a:r>
                      <a:r>
                        <a:rPr lang="fr-FR" sz="1200" dirty="0" err="1">
                          <a:latin typeface="Corbel" panose="020B0503020204020204" pitchFamily="34" charset="0"/>
                        </a:rPr>
                        <a:t>l'acheteur toute </a:t>
                      </a:r>
                      <a:r>
                        <a:rPr lang="fr-FR" sz="1200" dirty="0">
                          <a:latin typeface="Corbel" panose="020B0503020204020204" pitchFamily="34" charset="0"/>
                        </a:rPr>
                        <a:t>notification </a:t>
                      </a:r>
                      <a:r>
                        <a:rPr lang="fr-FR" sz="1200" dirty="0" err="1">
                          <a:latin typeface="Corbel" panose="020B0503020204020204" pitchFamily="34" charset="0"/>
                        </a:rPr>
                        <a:t>nécessaire </a:t>
                      </a:r>
                      <a:r>
                        <a:rPr lang="fr-FR" sz="1200" dirty="0">
                          <a:latin typeface="Corbel" panose="020B0503020204020204" pitchFamily="34" charset="0"/>
                        </a:rPr>
                        <a:t>pour </a:t>
                      </a:r>
                      <a:r>
                        <a:rPr lang="fr-FR" sz="1200" dirty="0" err="1">
                          <a:latin typeface="Corbel" panose="020B0503020204020204" pitchFamily="34" charset="0"/>
                        </a:rPr>
                        <a:t>lui</a:t>
                      </a:r>
                      <a:r>
                        <a:rPr lang="fr-FR" sz="1200" dirty="0">
                          <a:latin typeface="Corbel" panose="020B0503020204020204" pitchFamily="34" charset="0"/>
                        </a:rPr>
                        <a:t> permettre de </a:t>
                      </a:r>
                      <a:r>
                        <a:rPr lang="fr-FR" sz="1200" dirty="0" err="1">
                          <a:latin typeface="Corbel" panose="020B0503020204020204" pitchFamily="34" charset="0"/>
                        </a:rPr>
                        <a:t>réceptionner </a:t>
                      </a:r>
                      <a:r>
                        <a:rPr lang="fr-FR" sz="1200" dirty="0">
                          <a:latin typeface="Corbel" panose="020B0503020204020204" pitchFamily="34" charset="0"/>
                        </a:rPr>
                        <a:t>les </a:t>
                      </a:r>
                      <a:r>
                        <a:rPr lang="fr-FR" sz="1200" dirty="0" err="1">
                          <a:latin typeface="Corbel" panose="020B0503020204020204" pitchFamily="34" charset="0"/>
                        </a:rPr>
                        <a:t>marchandises</a:t>
                      </a:r>
                      <a:r>
                        <a:rPr lang="fr-FR" sz="1200" dirty="0">
                          <a:latin typeface="Corbel" panose="020B0503020204020204" pitchFamily="34" charset="0"/>
                        </a:rPr>
                        <a:t>.</a:t>
                      </a:r>
                    </a:p>
                    <a:p>
                      <a:endParaRPr lang="fr-FR" sz="1200" dirty="0">
                        <a:latin typeface="Corbel" panose="020B0503020204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Corbel" panose="020B0503020204020204" pitchFamily="34" charset="0"/>
                        </a:rPr>
                        <a:t>Si </a:t>
                      </a:r>
                      <a:r>
                        <a:rPr lang="fr-FR" sz="1200" dirty="0" err="1">
                          <a:latin typeface="Corbel" panose="020B0503020204020204" pitchFamily="34" charset="0"/>
                        </a:rPr>
                        <a:t>l'acheteur est en droit </a:t>
                      </a:r>
                      <a:r>
                        <a:rPr lang="fr-FR" sz="1200" dirty="0">
                          <a:latin typeface="Corbel" panose="020B0503020204020204" pitchFamily="34" charset="0"/>
                        </a:rPr>
                        <a:t>de </a:t>
                      </a:r>
                      <a:r>
                        <a:rPr lang="fr-FR" sz="1200" dirty="0" err="1">
                          <a:latin typeface="Corbel" panose="020B0503020204020204" pitchFamily="34" charset="0"/>
                        </a:rPr>
                        <a:t>déterminer </a:t>
                      </a:r>
                      <a:r>
                        <a:rPr lang="fr-FR" sz="1200" dirty="0">
                          <a:latin typeface="Corbel" panose="020B0503020204020204" pitchFamily="34" charset="0"/>
                        </a:rPr>
                        <a:t>le moment de l'expédition des </a:t>
                      </a:r>
                      <a:r>
                        <a:rPr lang="fr-FR" sz="1200" dirty="0" err="1">
                          <a:latin typeface="Corbel" panose="020B0503020204020204" pitchFamily="34" charset="0"/>
                        </a:rPr>
                        <a:t>marchandises </a:t>
                      </a:r>
                      <a:r>
                        <a:rPr lang="fr-FR" sz="1200" dirty="0">
                          <a:latin typeface="Corbel" panose="020B0503020204020204" pitchFamily="34" charset="0"/>
                        </a:rPr>
                        <a:t>et/ou le point de </a:t>
                      </a:r>
                      <a:r>
                        <a:rPr lang="fr-FR" sz="1200" dirty="0" err="1">
                          <a:latin typeface="Corbel" panose="020B0503020204020204" pitchFamily="34" charset="0"/>
                        </a:rPr>
                        <a:t>réception </a:t>
                      </a:r>
                      <a:r>
                        <a:rPr lang="fr-FR" sz="1200" dirty="0">
                          <a:latin typeface="Corbel" panose="020B0503020204020204" pitchFamily="34" charset="0"/>
                        </a:rPr>
                        <a:t>des </a:t>
                      </a:r>
                      <a:r>
                        <a:rPr lang="fr-FR" sz="1200" dirty="0" err="1">
                          <a:latin typeface="Corbel" panose="020B0503020204020204" pitchFamily="34" charset="0"/>
                        </a:rPr>
                        <a:t>marchandises dans </a:t>
                      </a:r>
                      <a:r>
                        <a:rPr lang="fr-FR" sz="1200" dirty="0">
                          <a:latin typeface="Corbel" panose="020B0503020204020204" pitchFamily="34" charset="0"/>
                        </a:rPr>
                        <a:t>le port de destination </a:t>
                      </a:r>
                      <a:r>
                        <a:rPr lang="fr-FR" sz="1200" dirty="0" err="1">
                          <a:latin typeface="Corbel" panose="020B0503020204020204" pitchFamily="34" charset="0"/>
                        </a:rPr>
                        <a:t>désigné</a:t>
                      </a:r>
                      <a:r>
                        <a:rPr lang="fr-FR" sz="1200" dirty="0">
                          <a:latin typeface="Corbel" panose="020B0503020204020204" pitchFamily="34" charset="0"/>
                        </a:rPr>
                        <a:t>, </a:t>
                      </a:r>
                      <a:r>
                        <a:rPr lang="fr-FR" sz="1200" dirty="0" err="1">
                          <a:latin typeface="Corbel" panose="020B0503020204020204" pitchFamily="34" charset="0"/>
                        </a:rPr>
                        <a:t>il </a:t>
                      </a:r>
                      <a:r>
                        <a:rPr lang="fr-FR" sz="1200" dirty="0">
                          <a:latin typeface="Corbel" panose="020B0503020204020204" pitchFamily="34" charset="0"/>
                        </a:rPr>
                        <a:t>doit en informer le vendeur </a:t>
                      </a:r>
                      <a:r>
                        <a:rPr lang="fr-FR" sz="1200" dirty="0" err="1">
                          <a:latin typeface="Corbel" panose="020B0503020204020204" pitchFamily="34" charset="0"/>
                        </a:rPr>
                        <a:t>suffisamment à l'avance</a:t>
                      </a:r>
                      <a:r>
                        <a:rPr lang="fr-FR" sz="1200" dirty="0">
                          <a:latin typeface="Corbel" panose="020B0503020204020204" pitchFamily="34" charset="0"/>
                        </a:rPr>
                        <a:t>.</a:t>
                      </a:r>
                    </a:p>
                    <a:p>
                      <a:endParaRPr lang="fr-FR" sz="1200" dirty="0">
                        <a:latin typeface="Corbel" panose="020B0503020204020204" pitchFamily="34" charset="0"/>
                      </a:endParaRPr>
                    </a:p>
                  </a:txBody>
                  <a:tcPr/>
                </a:tc>
                <a:extLst>
                  <a:ext uri="{0D108BD9-81ED-4DB2-BD59-A6C34878D82A}">
                    <a16:rowId xmlns:a16="http://schemas.microsoft.com/office/drawing/2014/main" val="752021027"/>
                  </a:ext>
                </a:extLst>
              </a:tr>
            </a:tbl>
          </a:graphicData>
        </a:graphic>
      </p:graphicFrame>
      <p:sp>
        <p:nvSpPr>
          <p:cNvPr id="13" name="Titre 1">
            <a:extLst>
              <a:ext uri="{FF2B5EF4-FFF2-40B4-BE49-F238E27FC236}">
                <a16:creationId xmlns:a16="http://schemas.microsoft.com/office/drawing/2014/main" id="{AD20F3BF-AAC8-4F20-88D4-3938CF1BE90A}"/>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CIF : </a:t>
            </a:r>
            <a:r>
              <a:rPr lang="fr-FR" dirty="0" err="1">
                <a:solidFill>
                  <a:schemeClr val="bg1"/>
                </a:solidFill>
                <a:latin typeface="Franklin Gothic Book" panose="020B0503020102020204" pitchFamily="34" charset="0"/>
              </a:rPr>
              <a:t>Coût</a:t>
            </a:r>
            <a:r>
              <a:rPr lang="fr-FR" dirty="0">
                <a:solidFill>
                  <a:schemeClr val="bg1"/>
                </a:solidFill>
                <a:latin typeface="Franklin Gothic Book" panose="020B0503020102020204" pitchFamily="34" charset="0"/>
              </a:rPr>
              <a:t>, </a:t>
            </a:r>
            <a:r>
              <a:rPr lang="fr-FR" dirty="0" err="1">
                <a:solidFill>
                  <a:schemeClr val="bg1"/>
                </a:solidFill>
                <a:latin typeface="Franklin Gothic Book" panose="020B0503020102020204" pitchFamily="34" charset="0"/>
              </a:rPr>
              <a:t>assurance </a:t>
            </a:r>
            <a:r>
              <a:rPr lang="fr-FR" dirty="0">
                <a:solidFill>
                  <a:schemeClr val="bg1"/>
                </a:solidFill>
                <a:latin typeface="Franklin Gothic Book" panose="020B0503020102020204" pitchFamily="34" charset="0"/>
              </a:rPr>
              <a:t>et </a:t>
            </a:r>
            <a:r>
              <a:rPr lang="fr-FR" dirty="0" err="1">
                <a:solidFill>
                  <a:schemeClr val="bg1"/>
                </a:solidFill>
                <a:latin typeface="Franklin Gothic Book" panose="020B0503020102020204" pitchFamily="34" charset="0"/>
              </a:rPr>
              <a:t>fret</a:t>
            </a:r>
            <a:endParaRPr lang="fr-FR" dirty="0">
              <a:solidFill>
                <a:schemeClr val="bg1"/>
              </a:solidFill>
              <a:latin typeface="Franklin Gothic Book" panose="020B0503020102020204" pitchFamily="34" charset="0"/>
            </a:endParaRPr>
          </a:p>
        </p:txBody>
      </p:sp>
      <p:sp>
        <p:nvSpPr>
          <p:cNvPr id="8" name="Footer Placeholder 3">
            <a:extLst>
              <a:ext uri="{FF2B5EF4-FFF2-40B4-BE49-F238E27FC236}">
                <a16:creationId xmlns:a16="http://schemas.microsoft.com/office/drawing/2014/main" id="{5F57D25A-BF2B-4FFC-AD51-BDD1466774F2}"/>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1200502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1" name="Espace réservé du contenu 2">
            <a:extLst>
              <a:ext uri="{FF2B5EF4-FFF2-40B4-BE49-F238E27FC236}">
                <a16:creationId xmlns:a16="http://schemas.microsoft.com/office/drawing/2014/main" id="{3EE804A4-8C36-44E3-8395-59A13096BF63}"/>
              </a:ext>
            </a:extLst>
          </p:cNvPr>
          <p:cNvSpPr>
            <a:spLocks noGrp="1"/>
          </p:cNvSpPr>
          <p:nvPr>
            <p:ph idx="1"/>
          </p:nvPr>
        </p:nvSpPr>
        <p:spPr>
          <a:xfrm>
            <a:off x="201165" y="4844561"/>
            <a:ext cx="8407893" cy="1123655"/>
          </a:xfrm>
        </p:spPr>
        <p:txBody>
          <a:bodyPr>
            <a:normAutofit lnSpcReduction="10000"/>
          </a:bodyPr>
          <a:lstStyle/>
          <a:p>
            <a:pPr marL="0" indent="0">
              <a:buNone/>
            </a:pPr>
            <a:r>
              <a:rPr lang="en-US" sz="1400" b="1" u="sng" dirty="0"/>
              <a:t>Lieu de livraison : </a:t>
            </a:r>
            <a:r>
              <a:rPr lang="en-US" sz="1400" dirty="0"/>
              <a:t>lieu de destination désigné, dès que les marchandises sont remises au transporteur.</a:t>
            </a:r>
          </a:p>
          <a:p>
            <a:pPr marL="0" indent="0">
              <a:buNone/>
            </a:pPr>
            <a:r>
              <a:rPr lang="en-US" sz="1400" b="1" u="sng" dirty="0"/>
              <a:t>Obligations du vendeur : </a:t>
            </a:r>
            <a:r>
              <a:rPr lang="en-US" sz="1400" dirty="0"/>
              <a:t>dédouaner les marchandises pour l'exportation + conclure le contrat de transport principal.</a:t>
            </a:r>
          </a:p>
          <a:p>
            <a:pPr marL="0" indent="0">
              <a:buNone/>
            </a:pPr>
            <a:r>
              <a:rPr lang="en-US" sz="1400" dirty="0"/>
              <a:t>Mais : aucune obligation de conclure un contrat d'assurance.</a:t>
            </a:r>
          </a:p>
        </p:txBody>
      </p:sp>
      <p:sp>
        <p:nvSpPr>
          <p:cNvPr id="12" name="Titre 1">
            <a:extLst>
              <a:ext uri="{FF2B5EF4-FFF2-40B4-BE49-F238E27FC236}">
                <a16:creationId xmlns:a16="http://schemas.microsoft.com/office/drawing/2014/main" id="{CB188703-EA68-4C2E-B9E0-17A65868CCBD}"/>
              </a:ext>
            </a:extLst>
          </p:cNvPr>
          <p:cNvSpPr>
            <a:spLocks noGrp="1"/>
          </p:cNvSpPr>
          <p:nvPr>
            <p:ph type="title"/>
          </p:nvPr>
        </p:nvSpPr>
        <p:spPr>
          <a:xfrm>
            <a:off x="381000" y="355847"/>
            <a:ext cx="8381260" cy="1054394"/>
          </a:xfrm>
        </p:spPr>
        <p:txBody>
          <a:bodyPr>
            <a:normAutofit/>
          </a:bodyPr>
          <a:lstStyle/>
          <a:p>
            <a:pPr algn="ctr"/>
            <a:r>
              <a:rPr lang="fr-FR" dirty="0">
                <a:solidFill>
                  <a:schemeClr val="bg1"/>
                </a:solidFill>
                <a:latin typeface="Franklin Gothic Book" panose="020B0503020102020204" pitchFamily="34" charset="0"/>
              </a:rPr>
              <a:t>CPT : </a:t>
            </a:r>
            <a:r>
              <a:rPr lang="fr-FR" dirty="0" err="1">
                <a:solidFill>
                  <a:schemeClr val="bg1"/>
                </a:solidFill>
                <a:latin typeface="Franklin Gothic Book" panose="020B0503020102020204" pitchFamily="34" charset="0"/>
              </a:rPr>
              <a:t>Transport payé </a:t>
            </a:r>
            <a:r>
              <a:rPr lang="fr-FR" dirty="0">
                <a:solidFill>
                  <a:schemeClr val="bg1"/>
                </a:solidFill>
                <a:latin typeface="Franklin Gothic Book" panose="020B0503020102020204" pitchFamily="34" charset="0"/>
              </a:rPr>
              <a:t>jusqu'à</a:t>
            </a:r>
          </a:p>
        </p:txBody>
      </p:sp>
      <p:sp>
        <p:nvSpPr>
          <p:cNvPr id="8" name="Footer Placeholder 3">
            <a:extLst>
              <a:ext uri="{FF2B5EF4-FFF2-40B4-BE49-F238E27FC236}">
                <a16:creationId xmlns:a16="http://schemas.microsoft.com/office/drawing/2014/main" id="{E0F17567-5D32-4D7E-A9A2-BD2E7A2EF105}"/>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pic>
        <p:nvPicPr>
          <p:cNvPr id="4" name="Image 3">
            <a:extLst>
              <a:ext uri="{FF2B5EF4-FFF2-40B4-BE49-F238E27FC236}">
                <a16:creationId xmlns:a16="http://schemas.microsoft.com/office/drawing/2014/main" id="{7870D6A6-B446-4908-AD3A-9E6B591BEE8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29862" y="1849166"/>
            <a:ext cx="6128237" cy="2824843"/>
          </a:xfrm>
          <a:prstGeom prst="rect">
            <a:avLst/>
          </a:prstGeom>
        </p:spPr>
      </p:pic>
    </p:spTree>
    <p:extLst>
      <p:ext uri="{BB962C8B-B14F-4D97-AF65-F5344CB8AC3E}">
        <p14:creationId xmlns:p14="http://schemas.microsoft.com/office/powerpoint/2010/main" val="3875738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graphicFrame>
        <p:nvGraphicFramePr>
          <p:cNvPr id="2" name="Tableau 2">
            <a:extLst>
              <a:ext uri="{FF2B5EF4-FFF2-40B4-BE49-F238E27FC236}">
                <a16:creationId xmlns:a16="http://schemas.microsoft.com/office/drawing/2014/main" id="{787A258A-AEF8-4ADC-8657-0E12AA8DD043}"/>
              </a:ext>
            </a:extLst>
          </p:cNvPr>
          <p:cNvGraphicFramePr>
            <a:graphicFrameLocks noGrp="1"/>
          </p:cNvGraphicFramePr>
          <p:nvPr>
            <p:ph idx="1"/>
            <p:extLst>
              <p:ext uri="{D42A27DB-BD31-4B8C-83A1-F6EECF244321}">
                <p14:modId xmlns:p14="http://schemas.microsoft.com/office/powerpoint/2010/main" val="3805067594"/>
              </p:ext>
            </p:extLst>
          </p:nvPr>
        </p:nvGraphicFramePr>
        <p:xfrm>
          <a:off x="201165" y="1652955"/>
          <a:ext cx="8740611" cy="4343400"/>
        </p:xfrm>
        <a:graphic>
          <a:graphicData uri="http://schemas.openxmlformats.org/drawingml/2006/table">
            <a:tbl>
              <a:tblPr firstRow="1" bandRow="1">
                <a:tableStyleId>{5C22544A-7EE6-4342-B048-85BDC9FD1C3A}</a:tableStyleId>
              </a:tblPr>
              <a:tblGrid>
                <a:gridCol w="1522127">
                  <a:extLst>
                    <a:ext uri="{9D8B030D-6E8A-4147-A177-3AD203B41FA5}">
                      <a16:colId xmlns:a16="http://schemas.microsoft.com/office/drawing/2014/main" val="1158404488"/>
                    </a:ext>
                  </a:extLst>
                </a:gridCol>
                <a:gridCol w="3472962">
                  <a:extLst>
                    <a:ext uri="{9D8B030D-6E8A-4147-A177-3AD203B41FA5}">
                      <a16:colId xmlns:a16="http://schemas.microsoft.com/office/drawing/2014/main" val="2919415497"/>
                    </a:ext>
                  </a:extLst>
                </a:gridCol>
                <a:gridCol w="3745522">
                  <a:extLst>
                    <a:ext uri="{9D8B030D-6E8A-4147-A177-3AD203B41FA5}">
                      <a16:colId xmlns:a16="http://schemas.microsoft.com/office/drawing/2014/main" val="18763971"/>
                    </a:ext>
                  </a:extLst>
                </a:gridCol>
              </a:tblGrid>
              <a:tr h="568440">
                <a:tc>
                  <a:txBody>
                    <a:bodyPr/>
                    <a:lstStyle/>
                    <a:p>
                      <a:endParaRPr lang="fr-FR" sz="1200">
                        <a:latin typeface="Corbel" panose="020B0503020204020204" pitchFamily="34" charset="0"/>
                      </a:endParaRPr>
                    </a:p>
                  </a:txBody>
                  <a:tcPr/>
                </a:tc>
                <a:tc>
                  <a:txBody>
                    <a:bodyPr/>
                    <a:lstStyle/>
                    <a:p>
                      <a:pPr algn="ctr"/>
                      <a:r>
                        <a:rPr lang="fr-FR" sz="1200" dirty="0">
                          <a:latin typeface="Corbel" panose="020B0503020204020204" pitchFamily="34" charset="0"/>
                        </a:rPr>
                        <a:t>Vendeur</a:t>
                      </a:r>
                    </a:p>
                  </a:txBody>
                  <a:tcPr/>
                </a:tc>
                <a:tc>
                  <a:txBody>
                    <a:bodyPr/>
                    <a:lstStyle/>
                    <a:p>
                      <a:pPr algn="ctr"/>
                      <a:r>
                        <a:rPr lang="fr-FR" sz="1200" dirty="0">
                          <a:latin typeface="Corbel" panose="020B0503020204020204" pitchFamily="34" charset="0"/>
                        </a:rPr>
                        <a:t>Acheteur</a:t>
                      </a:r>
                    </a:p>
                  </a:txBody>
                  <a:tcPr/>
                </a:tc>
                <a:extLst>
                  <a:ext uri="{0D108BD9-81ED-4DB2-BD59-A6C34878D82A}">
                    <a16:rowId xmlns:a16="http://schemas.microsoft.com/office/drawing/2014/main" val="434122013"/>
                  </a:ext>
                </a:extLst>
              </a:tr>
              <a:tr h="1258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Corbel" panose="020B0503020204020204" pitchFamily="34" charset="0"/>
                        </a:rPr>
                        <a:t>Dédouanement à l'exportation/à l'importation</a:t>
                      </a:r>
                    </a:p>
                    <a:p>
                      <a:endParaRPr lang="fr-FR" sz="1200" dirty="0">
                        <a:latin typeface="Corbel" panose="020B0503020204020204" pitchFamily="34" charset="0"/>
                      </a:endParaRPr>
                    </a:p>
                  </a:txBody>
                  <a:tcPr/>
                </a:tc>
                <a:tc>
                  <a:txBody>
                    <a:bodyPr/>
                    <a:lstStyle/>
                    <a:p>
                      <a:r>
                        <a:rPr lang="fr-FR" sz="1200" dirty="0">
                          <a:latin typeface="Corbel" panose="020B0503020204020204" pitchFamily="34" charset="0"/>
                        </a:rPr>
                        <a:t>Exportation : le vendeur doit effectuer et </a:t>
                      </a:r>
                      <a:r>
                        <a:rPr lang="fr-FR" sz="1200" dirty="0" err="1">
                          <a:latin typeface="Corbel" panose="020B0503020204020204" pitchFamily="34" charset="0"/>
                        </a:rPr>
                        <a:t>payer </a:t>
                      </a:r>
                      <a:r>
                        <a:rPr lang="fr-FR" sz="1200" dirty="0">
                          <a:latin typeface="Corbel" panose="020B0503020204020204" pitchFamily="34" charset="0"/>
                        </a:rPr>
                        <a:t>toutes </a:t>
                      </a:r>
                      <a:r>
                        <a:rPr lang="fr-FR" sz="1200" dirty="0" err="1">
                          <a:latin typeface="Corbel" panose="020B0503020204020204" pitchFamily="34" charset="0"/>
                        </a:rPr>
                        <a:t>les formalités</a:t>
                      </a:r>
                      <a:r>
                        <a:rPr lang="fr-FR" sz="1200" dirty="0">
                          <a:latin typeface="Corbel" panose="020B0503020204020204" pitchFamily="34" charset="0"/>
                        </a:rPr>
                        <a:t> de dédouanement à l'exportation.</a:t>
                      </a:r>
                    </a:p>
                    <a:p>
                      <a:endParaRPr lang="fr-FR" sz="1200" dirty="0">
                        <a:latin typeface="Corbel" panose="020B0503020204020204" pitchFamily="34" charset="0"/>
                      </a:endParaRPr>
                    </a:p>
                    <a:p>
                      <a:r>
                        <a:rPr lang="fr-FR" sz="1200" dirty="0">
                          <a:latin typeface="Corbel" panose="020B0503020204020204" pitchFamily="34" charset="0"/>
                        </a:rPr>
                        <a:t>Importation : le vendeur doit aider </a:t>
                      </a:r>
                      <a:r>
                        <a:rPr lang="fr-FR" sz="1200" dirty="0" err="1">
                          <a:latin typeface="Corbel" panose="020B0503020204020204" pitchFamily="34" charset="0"/>
                        </a:rPr>
                        <a:t>l'acheteur</a:t>
                      </a:r>
                      <a:r>
                        <a:rPr lang="fr-FR" sz="1200" dirty="0">
                          <a:latin typeface="Corbel" panose="020B0503020204020204" pitchFamily="34" charset="0"/>
                        </a:rPr>
                        <a:t>, à la </a:t>
                      </a:r>
                      <a:r>
                        <a:rPr lang="fr-FR" sz="1200" dirty="0" err="1">
                          <a:latin typeface="Corbel" panose="020B0503020204020204" pitchFamily="34" charset="0"/>
                        </a:rPr>
                        <a:t>demande de ce dernier</a:t>
                      </a:r>
                      <a:r>
                        <a:rPr lang="fr-FR" sz="1200" dirty="0">
                          <a:latin typeface="Corbel" panose="020B0503020204020204" pitchFamily="34" charset="0"/>
                        </a:rPr>
                        <a:t>, à </a:t>
                      </a:r>
                      <a:r>
                        <a:rPr lang="fr-FR" sz="1200" dirty="0" err="1">
                          <a:latin typeface="Corbel" panose="020B0503020204020204" pitchFamily="34" charset="0"/>
                        </a:rPr>
                        <a:t>obtenir tous </a:t>
                      </a:r>
                      <a:r>
                        <a:rPr lang="fr-FR" sz="1200" dirty="0">
                          <a:latin typeface="Corbel" panose="020B0503020204020204" pitchFamily="34" charset="0"/>
                        </a:rPr>
                        <a:t>les documents ou informations </a:t>
                      </a:r>
                      <a:r>
                        <a:rPr lang="fr-FR" sz="1200" dirty="0" err="1">
                          <a:latin typeface="Corbel" panose="020B0503020204020204" pitchFamily="34" charset="0"/>
                        </a:rPr>
                        <a:t>relatifs </a:t>
                      </a:r>
                      <a:r>
                        <a:rPr lang="fr-FR" sz="1200" dirty="0">
                          <a:latin typeface="Corbel" panose="020B0503020204020204" pitchFamily="34" charset="0"/>
                        </a:rPr>
                        <a:t>aux </a:t>
                      </a:r>
                      <a:r>
                        <a:rPr lang="fr-FR" sz="1200" dirty="0" err="1">
                          <a:latin typeface="Corbel" panose="020B0503020204020204" pitchFamily="34" charset="0"/>
                        </a:rPr>
                        <a:t>formalités</a:t>
                      </a:r>
                      <a:r>
                        <a:rPr lang="fr-FR" sz="1200" dirty="0">
                          <a:latin typeface="Corbel" panose="020B0503020204020204" pitchFamily="34" charset="0"/>
                        </a:rPr>
                        <a:t> de dédouanement à l'importation.</a:t>
                      </a:r>
                    </a:p>
                  </a:txBody>
                  <a:tcPr/>
                </a:tc>
                <a:tc>
                  <a:txBody>
                    <a:bodyPr/>
                    <a:lstStyle/>
                    <a:p>
                      <a:r>
                        <a:rPr lang="fr-FR" sz="1200" dirty="0">
                          <a:latin typeface="Corbel" panose="020B0503020204020204" pitchFamily="34" charset="0"/>
                        </a:rPr>
                        <a:t>Exportation : </a:t>
                      </a:r>
                      <a:r>
                        <a:rPr lang="fr-FR" sz="1200" dirty="0" err="1">
                          <a:latin typeface="Corbel" panose="020B0503020204020204" pitchFamily="34" charset="0"/>
                        </a:rPr>
                        <a:t>l'acheteur </a:t>
                      </a:r>
                      <a:r>
                        <a:rPr lang="fr-FR" sz="1200" dirty="0">
                          <a:latin typeface="Corbel" panose="020B0503020204020204" pitchFamily="34" charset="0"/>
                        </a:rPr>
                        <a:t>doit aider le vendeur, à la </a:t>
                      </a:r>
                      <a:r>
                        <a:rPr lang="fr-FR" sz="1200" dirty="0" err="1">
                          <a:latin typeface="Corbel" panose="020B0503020204020204" pitchFamily="34" charset="0"/>
                        </a:rPr>
                        <a:t>demande de ce dernier, </a:t>
                      </a:r>
                      <a:r>
                        <a:rPr lang="fr-FR" sz="1200" dirty="0">
                          <a:latin typeface="Corbel" panose="020B0503020204020204" pitchFamily="34" charset="0"/>
                        </a:rPr>
                        <a:t>à </a:t>
                      </a:r>
                      <a:r>
                        <a:rPr lang="fr-FR" sz="1200" dirty="0" err="1">
                          <a:latin typeface="Corbel" panose="020B0503020204020204" pitchFamily="34" charset="0"/>
                        </a:rPr>
                        <a:t>obtenir tous </a:t>
                      </a:r>
                      <a:r>
                        <a:rPr lang="fr-FR" sz="1200" dirty="0">
                          <a:latin typeface="Corbel" panose="020B0503020204020204" pitchFamily="34" charset="0"/>
                        </a:rPr>
                        <a:t>les documents ou informations </a:t>
                      </a:r>
                      <a:r>
                        <a:rPr lang="fr-FR" sz="1200" dirty="0" err="1">
                          <a:latin typeface="Corbel" panose="020B0503020204020204" pitchFamily="34" charset="0"/>
                        </a:rPr>
                        <a:t>relatifs </a:t>
                      </a:r>
                      <a:r>
                        <a:rPr lang="fr-FR" sz="1200" dirty="0">
                          <a:latin typeface="Corbel" panose="020B0503020204020204" pitchFamily="34" charset="0"/>
                        </a:rPr>
                        <a:t>aux </a:t>
                      </a:r>
                      <a:r>
                        <a:rPr lang="fr-FR" sz="1200" dirty="0" err="1">
                          <a:latin typeface="Corbel" panose="020B0503020204020204" pitchFamily="34" charset="0"/>
                        </a:rPr>
                        <a:t>formalités</a:t>
                      </a:r>
                      <a:r>
                        <a:rPr lang="fr-FR" sz="1200" dirty="0">
                          <a:latin typeface="Corbel" panose="020B0503020204020204" pitchFamily="34" charset="0"/>
                        </a:rPr>
                        <a:t> de dédouanement à l'exportation.</a:t>
                      </a:r>
                    </a:p>
                    <a:p>
                      <a:endParaRPr lang="fr-FR" sz="1200" dirty="0">
                        <a:latin typeface="Corbel" panose="020B0503020204020204" pitchFamily="34" charset="0"/>
                      </a:endParaRPr>
                    </a:p>
                    <a:p>
                      <a:r>
                        <a:rPr lang="fr-FR" sz="1200" dirty="0">
                          <a:latin typeface="Corbel" panose="020B0503020204020204" pitchFamily="34" charset="0"/>
                        </a:rPr>
                        <a:t>Importation : </a:t>
                      </a:r>
                      <a:r>
                        <a:rPr lang="fr-FR" sz="1200" dirty="0" err="1">
                          <a:latin typeface="Corbel" panose="020B0503020204020204" pitchFamily="34" charset="0"/>
                        </a:rPr>
                        <a:t>l'acheteur </a:t>
                      </a:r>
                      <a:r>
                        <a:rPr lang="fr-FR" sz="1200" dirty="0">
                          <a:latin typeface="Corbel" panose="020B0503020204020204" pitchFamily="34" charset="0"/>
                        </a:rPr>
                        <a:t>doit effectuer et </a:t>
                      </a:r>
                      <a:r>
                        <a:rPr lang="fr-FR" sz="1200" dirty="0" err="1">
                          <a:latin typeface="Corbel" panose="020B0503020204020204" pitchFamily="34" charset="0"/>
                        </a:rPr>
                        <a:t>payer </a:t>
                      </a:r>
                      <a:r>
                        <a:rPr lang="fr-FR" sz="1200" dirty="0">
                          <a:latin typeface="Corbel" panose="020B0503020204020204" pitchFamily="34" charset="0"/>
                        </a:rPr>
                        <a:t>toutes </a:t>
                      </a:r>
                      <a:r>
                        <a:rPr lang="fr-FR" sz="1200" dirty="0" err="1">
                          <a:latin typeface="Corbel" panose="020B0503020204020204" pitchFamily="34" charset="0"/>
                        </a:rPr>
                        <a:t>les formalités</a:t>
                      </a:r>
                      <a:r>
                        <a:rPr lang="fr-FR" sz="1200" dirty="0">
                          <a:latin typeface="Corbel" panose="020B0503020204020204" pitchFamily="34" charset="0"/>
                        </a:rPr>
                        <a:t>.</a:t>
                      </a:r>
                    </a:p>
                  </a:txBody>
                  <a:tcPr/>
                </a:tc>
                <a:extLst>
                  <a:ext uri="{0D108BD9-81ED-4DB2-BD59-A6C34878D82A}">
                    <a16:rowId xmlns:a16="http://schemas.microsoft.com/office/drawing/2014/main" val="4150087083"/>
                  </a:ext>
                </a:extLst>
              </a:tr>
              <a:tr h="1258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Corbel" panose="020B0503020204020204" pitchFamily="34" charset="0"/>
                        </a:rPr>
                        <a:t>Contrôle / emballage / </a:t>
                      </a:r>
                      <a:r>
                        <a:rPr lang="fr-FR" sz="1200" dirty="0" err="1">
                          <a:latin typeface="Corbel" panose="020B0503020204020204" pitchFamily="34" charset="0"/>
                        </a:rPr>
                        <a:t>marquage</a:t>
                      </a:r>
                      <a:endParaRPr lang="fr-FR" sz="1200" dirty="0">
                        <a:latin typeface="Corbel" panose="020B0503020204020204" pitchFamily="34" charset="0"/>
                      </a:endParaRPr>
                    </a:p>
                    <a:p>
                      <a:endParaRPr lang="fr-FR" sz="1200" dirty="0">
                        <a:latin typeface="Corbel" panose="020B0503020204020204" pitchFamily="34" charset="0"/>
                      </a:endParaRPr>
                    </a:p>
                  </a:txBody>
                  <a:tcPr/>
                </a:tc>
                <a:tc>
                  <a:txBody>
                    <a:bodyPr/>
                    <a:lstStyle/>
                    <a:p>
                      <a:pPr algn="l"/>
                      <a:r>
                        <a:rPr lang="fr-FR" sz="1200" dirty="0">
                          <a:solidFill>
                            <a:schemeClr val="tx1"/>
                          </a:solidFill>
                          <a:latin typeface="Corbel" panose="020B0503020204020204" pitchFamily="34" charset="0"/>
                        </a:rPr>
                        <a:t>Le vendeur doit :</a:t>
                      </a:r>
                    </a:p>
                    <a:p>
                      <a:pPr marL="171450" indent="-171450" algn="l">
                        <a:buFontTx/>
                        <a:buChar char="-"/>
                      </a:pPr>
                      <a:r>
                        <a:rPr lang="fr-FR" sz="1200" dirty="0" err="1">
                          <a:solidFill>
                            <a:schemeClr val="tx1"/>
                          </a:solidFill>
                          <a:latin typeface="Corbel" panose="020B0503020204020204" pitchFamily="34" charset="0"/>
                        </a:rPr>
                        <a:t>Prendre en charge </a:t>
                      </a:r>
                      <a:r>
                        <a:rPr lang="fr-FR" sz="1200" dirty="0">
                          <a:solidFill>
                            <a:schemeClr val="tx1"/>
                          </a:solidFill>
                          <a:latin typeface="Corbel" panose="020B0503020204020204" pitchFamily="34" charset="0"/>
                        </a:rPr>
                        <a:t>le </a:t>
                      </a:r>
                      <a:r>
                        <a:rPr lang="fr-FR" sz="1200" dirty="0" err="1">
                          <a:solidFill>
                            <a:schemeClr val="tx1"/>
                          </a:solidFill>
                          <a:latin typeface="Corbel" panose="020B0503020204020204" pitchFamily="34" charset="0"/>
                        </a:rPr>
                        <a:t>coût </a:t>
                      </a:r>
                      <a:r>
                        <a:rPr lang="fr-FR" sz="1200" dirty="0">
                          <a:solidFill>
                            <a:schemeClr val="tx1"/>
                          </a:solidFill>
                          <a:latin typeface="Corbel" panose="020B0503020204020204" pitchFamily="34" charset="0"/>
                        </a:rPr>
                        <a:t>de toutes </a:t>
                      </a:r>
                      <a:r>
                        <a:rPr lang="fr-FR" sz="1200" dirty="0" err="1">
                          <a:solidFill>
                            <a:schemeClr val="tx1"/>
                          </a:solidFill>
                          <a:latin typeface="Corbel" panose="020B0503020204020204" pitchFamily="34" charset="0"/>
                        </a:rPr>
                        <a:t>les opérations</a:t>
                      </a:r>
                      <a:r>
                        <a:rPr lang="fr-FR" sz="1200" dirty="0">
                          <a:solidFill>
                            <a:schemeClr val="tx1"/>
                          </a:solidFill>
                          <a:latin typeface="Corbel" panose="020B0503020204020204" pitchFamily="34" charset="0"/>
                        </a:rPr>
                        <a:t> de contrôle (contrôle </a:t>
                      </a:r>
                      <a:r>
                        <a:rPr lang="fr-FR" sz="1200" dirty="0" err="1">
                          <a:solidFill>
                            <a:schemeClr val="tx1"/>
                          </a:solidFill>
                          <a:latin typeface="Corbel" panose="020B0503020204020204" pitchFamily="34" charset="0"/>
                        </a:rPr>
                        <a:t>de la qualité</a:t>
                      </a:r>
                      <a:r>
                        <a:rPr lang="fr-FR" sz="1200" dirty="0">
                          <a:solidFill>
                            <a:schemeClr val="tx1"/>
                          </a:solidFill>
                          <a:latin typeface="Corbel" panose="020B0503020204020204" pitchFamily="34" charset="0"/>
                        </a:rPr>
                        <a:t>, </a:t>
                      </a:r>
                      <a:r>
                        <a:rPr lang="fr-FR" sz="1200" dirty="0" err="1">
                          <a:solidFill>
                            <a:schemeClr val="tx1"/>
                          </a:solidFill>
                          <a:latin typeface="Corbel" panose="020B0503020204020204" pitchFamily="34" charset="0"/>
                        </a:rPr>
                        <a:t>mesure</a:t>
                      </a:r>
                      <a:r>
                        <a:rPr lang="fr-FR" sz="1200" dirty="0">
                          <a:solidFill>
                            <a:schemeClr val="tx1"/>
                          </a:solidFill>
                          <a:latin typeface="Corbel" panose="020B0503020204020204" pitchFamily="34" charset="0"/>
                        </a:rPr>
                        <a:t>, </a:t>
                      </a:r>
                      <a:r>
                        <a:rPr lang="fr-FR" sz="1200" dirty="0" err="1">
                          <a:solidFill>
                            <a:schemeClr val="tx1"/>
                          </a:solidFill>
                          <a:latin typeface="Corbel" panose="020B0503020204020204" pitchFamily="34" charset="0"/>
                        </a:rPr>
                        <a:t>pesage</a:t>
                      </a:r>
                      <a:r>
                        <a:rPr lang="fr-FR" sz="1200" dirty="0">
                          <a:solidFill>
                            <a:schemeClr val="tx1"/>
                          </a:solidFill>
                          <a:latin typeface="Corbel" panose="020B0503020204020204" pitchFamily="34" charset="0"/>
                        </a:rPr>
                        <a:t>, </a:t>
                      </a:r>
                      <a:r>
                        <a:rPr lang="fr-FR" sz="1200" dirty="0" err="1">
                          <a:solidFill>
                            <a:schemeClr val="tx1"/>
                          </a:solidFill>
                          <a:latin typeface="Corbel" panose="020B0503020204020204" pitchFamily="34" charset="0"/>
                        </a:rPr>
                        <a:t>comptage</a:t>
                      </a:r>
                      <a:r>
                        <a:rPr lang="fr-FR" sz="1200" dirty="0">
                          <a:solidFill>
                            <a:schemeClr val="tx1"/>
                          </a:solidFill>
                          <a:latin typeface="Corbel" panose="020B0503020204020204" pitchFamily="34" charset="0"/>
                        </a:rPr>
                        <a:t>)</a:t>
                      </a:r>
                    </a:p>
                    <a:p>
                      <a:pPr marL="171450" indent="-171450" algn="l">
                        <a:buFontTx/>
                        <a:buChar char="-"/>
                      </a:pPr>
                      <a:r>
                        <a:rPr lang="fr-FR" sz="1200" dirty="0">
                          <a:solidFill>
                            <a:schemeClr val="tx1"/>
                          </a:solidFill>
                          <a:latin typeface="Corbel" panose="020B0503020204020204" pitchFamily="34" charset="0"/>
                        </a:rPr>
                        <a:t>Emballer et marquer les </a:t>
                      </a:r>
                      <a:r>
                        <a:rPr lang="fr-FR" sz="1200" dirty="0" err="1">
                          <a:solidFill>
                            <a:schemeClr val="tx1"/>
                          </a:solidFill>
                          <a:latin typeface="Corbel" panose="020B0503020204020204" pitchFamily="34" charset="0"/>
                        </a:rPr>
                        <a:t>marchandises </a:t>
                      </a:r>
                      <a:r>
                        <a:rPr lang="fr-FR" sz="1200" dirty="0">
                          <a:solidFill>
                            <a:schemeClr val="tx1"/>
                          </a:solidFill>
                          <a:latin typeface="Corbel" panose="020B0503020204020204" pitchFamily="34" charset="0"/>
                        </a:rPr>
                        <a:t>de </a:t>
                      </a:r>
                      <a:r>
                        <a:rPr lang="fr-FR" sz="1200" dirty="0" err="1">
                          <a:solidFill>
                            <a:schemeClr val="tx1"/>
                          </a:solidFill>
                          <a:latin typeface="Corbel" panose="020B0503020204020204" pitchFamily="34" charset="0"/>
                        </a:rPr>
                        <a:t>manière appropriée </a:t>
                      </a:r>
                      <a:r>
                        <a:rPr lang="fr-FR" sz="1200" dirty="0">
                          <a:solidFill>
                            <a:schemeClr val="tx1"/>
                          </a:solidFill>
                          <a:latin typeface="Corbel" panose="020B0503020204020204" pitchFamily="34" charset="0"/>
                        </a:rPr>
                        <a:t>pour </a:t>
                      </a:r>
                      <a:r>
                        <a:rPr lang="fr-FR" sz="1200" dirty="0" err="1">
                          <a:solidFill>
                            <a:schemeClr val="tx1"/>
                          </a:solidFill>
                          <a:latin typeface="Corbel" panose="020B0503020204020204" pitchFamily="34" charset="0"/>
                        </a:rPr>
                        <a:t>leur </a:t>
                      </a:r>
                      <a:r>
                        <a:rPr lang="fr-FR" sz="1200" dirty="0">
                          <a:solidFill>
                            <a:schemeClr val="tx1"/>
                          </a:solidFill>
                          <a:latin typeface="Corbel" panose="020B0503020204020204" pitchFamily="34" charset="0"/>
                        </a:rPr>
                        <a:t>transport.</a:t>
                      </a:r>
                    </a:p>
                    <a:p>
                      <a:endParaRPr lang="fr-FR" sz="1200" dirty="0">
                        <a:latin typeface="Corbel" panose="020B0503020204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err="1">
                          <a:latin typeface="Corbel" panose="020B0503020204020204" pitchFamily="34" charset="0"/>
                        </a:rPr>
                        <a:t>L'acheteur </a:t>
                      </a:r>
                      <a:r>
                        <a:rPr lang="fr-FR" sz="1200" dirty="0">
                          <a:latin typeface="Corbel" panose="020B0503020204020204" pitchFamily="34" charset="0"/>
                        </a:rPr>
                        <a:t>n'a aucune obligation envers le vendeur.</a:t>
                      </a:r>
                    </a:p>
                    <a:p>
                      <a:endParaRPr lang="fr-FR" sz="1200" dirty="0">
                        <a:latin typeface="Corbel" panose="020B0503020204020204" pitchFamily="34" charset="0"/>
                      </a:endParaRPr>
                    </a:p>
                  </a:txBody>
                  <a:tcPr/>
                </a:tc>
                <a:extLst>
                  <a:ext uri="{0D108BD9-81ED-4DB2-BD59-A6C34878D82A}">
                    <a16:rowId xmlns:a16="http://schemas.microsoft.com/office/drawing/2014/main" val="3729960924"/>
                  </a:ext>
                </a:extLst>
              </a:tr>
              <a:tr h="1258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Corbel" panose="020B0503020204020204" pitchFamily="34" charset="0"/>
                        </a:rPr>
                        <a:t>Avis</a:t>
                      </a:r>
                    </a:p>
                    <a:p>
                      <a:endParaRPr lang="fr-FR" sz="1200" dirty="0">
                        <a:latin typeface="Corbel" panose="020B0503020204020204" pitchFamily="34" charset="0"/>
                      </a:endParaRPr>
                    </a:p>
                  </a:txBody>
                  <a:tcPr/>
                </a:tc>
                <a:tc>
                  <a:txBody>
                    <a:bodyPr/>
                    <a:lstStyle/>
                    <a:p>
                      <a:r>
                        <a:rPr lang="fr-FR" sz="1200" dirty="0">
                          <a:latin typeface="Corbel" panose="020B0503020204020204" pitchFamily="34" charset="0"/>
                        </a:rPr>
                        <a:t>Le vendeur doit </a:t>
                      </a:r>
                      <a:r>
                        <a:rPr lang="fr-FR" sz="1200" dirty="0" err="1">
                          <a:latin typeface="Corbel" panose="020B0503020204020204" pitchFamily="34" charset="0"/>
                        </a:rPr>
                        <a:t>informer </a:t>
                      </a:r>
                      <a:r>
                        <a:rPr lang="fr-FR" sz="1200" dirty="0">
                          <a:latin typeface="Corbel" panose="020B0503020204020204" pitchFamily="34" charset="0"/>
                        </a:rPr>
                        <a:t>l'</a:t>
                      </a:r>
                      <a:r>
                        <a:rPr lang="fr-FR" sz="1200" dirty="0" err="1">
                          <a:latin typeface="Corbel" panose="020B0503020204020204" pitchFamily="34" charset="0"/>
                        </a:rPr>
                        <a:t>acheteur que </a:t>
                      </a:r>
                      <a:r>
                        <a:rPr lang="fr-FR" sz="1200" dirty="0">
                          <a:latin typeface="Corbel" panose="020B0503020204020204" pitchFamily="34" charset="0"/>
                        </a:rPr>
                        <a:t>les </a:t>
                      </a:r>
                      <a:r>
                        <a:rPr lang="fr-FR" sz="1200" dirty="0" err="1">
                          <a:latin typeface="Corbel" panose="020B0503020204020204" pitchFamily="34" charset="0"/>
                        </a:rPr>
                        <a:t>marchandises </a:t>
                      </a:r>
                      <a:r>
                        <a:rPr lang="fr-FR" sz="1200" dirty="0">
                          <a:latin typeface="Corbel" panose="020B0503020204020204" pitchFamily="34" charset="0"/>
                        </a:rPr>
                        <a:t>ont été </a:t>
                      </a:r>
                      <a:r>
                        <a:rPr lang="fr-FR" sz="1200" dirty="0" err="1">
                          <a:latin typeface="Corbel" panose="020B0503020204020204" pitchFamily="34" charset="0"/>
                        </a:rPr>
                        <a:t>livrées</a:t>
                      </a:r>
                      <a:r>
                        <a:rPr lang="fr-FR" sz="1200" dirty="0">
                          <a:latin typeface="Corbel" panose="020B0503020204020204" pitchFamily="34" charset="0"/>
                        </a:rPr>
                        <a:t>.</a:t>
                      </a:r>
                    </a:p>
                    <a:p>
                      <a:r>
                        <a:rPr lang="fr-FR" sz="1200" dirty="0">
                          <a:latin typeface="Corbel" panose="020B0503020204020204" pitchFamily="34" charset="0"/>
                        </a:rPr>
                        <a:t>Le vendeur doit </a:t>
                      </a:r>
                      <a:r>
                        <a:rPr lang="fr-FR" sz="1200" dirty="0" err="1">
                          <a:latin typeface="Corbel" panose="020B0503020204020204" pitchFamily="34" charset="0"/>
                        </a:rPr>
                        <a:t>donner </a:t>
                      </a:r>
                      <a:r>
                        <a:rPr lang="fr-FR" sz="1200" dirty="0">
                          <a:latin typeface="Corbel" panose="020B0503020204020204" pitchFamily="34" charset="0"/>
                        </a:rPr>
                        <a:t>à </a:t>
                      </a:r>
                      <a:r>
                        <a:rPr lang="fr-FR" sz="1200" dirty="0" err="1">
                          <a:latin typeface="Corbel" panose="020B0503020204020204" pitchFamily="34" charset="0"/>
                        </a:rPr>
                        <a:t>l'acheteur toute </a:t>
                      </a:r>
                      <a:r>
                        <a:rPr lang="fr-FR" sz="1200" dirty="0">
                          <a:latin typeface="Corbel" panose="020B0503020204020204" pitchFamily="34" charset="0"/>
                        </a:rPr>
                        <a:t>notification </a:t>
                      </a:r>
                      <a:r>
                        <a:rPr lang="fr-FR" sz="1200" dirty="0" err="1">
                          <a:latin typeface="Corbel" panose="020B0503020204020204" pitchFamily="34" charset="0"/>
                        </a:rPr>
                        <a:t>nécessaire </a:t>
                      </a:r>
                      <a:r>
                        <a:rPr lang="fr-FR" sz="1200" dirty="0">
                          <a:latin typeface="Corbel" panose="020B0503020204020204" pitchFamily="34" charset="0"/>
                        </a:rPr>
                        <a:t>pour </a:t>
                      </a:r>
                      <a:r>
                        <a:rPr lang="fr-FR" sz="1200" dirty="0" err="1">
                          <a:latin typeface="Corbel" panose="020B0503020204020204" pitchFamily="34" charset="0"/>
                        </a:rPr>
                        <a:t>lui</a:t>
                      </a:r>
                      <a:r>
                        <a:rPr lang="fr-FR" sz="1200" dirty="0">
                          <a:latin typeface="Corbel" panose="020B0503020204020204" pitchFamily="34" charset="0"/>
                        </a:rPr>
                        <a:t> permettre de </a:t>
                      </a:r>
                      <a:r>
                        <a:rPr lang="fr-FR" sz="1200" dirty="0" err="1">
                          <a:latin typeface="Corbel" panose="020B0503020204020204" pitchFamily="34" charset="0"/>
                        </a:rPr>
                        <a:t>réceptionner </a:t>
                      </a:r>
                      <a:r>
                        <a:rPr lang="fr-FR" sz="1200" dirty="0">
                          <a:latin typeface="Corbel" panose="020B0503020204020204" pitchFamily="34" charset="0"/>
                        </a:rPr>
                        <a:t>les </a:t>
                      </a:r>
                      <a:r>
                        <a:rPr lang="fr-FR" sz="1200" dirty="0" err="1">
                          <a:latin typeface="Corbel" panose="020B0503020204020204" pitchFamily="34" charset="0"/>
                        </a:rPr>
                        <a:t>marchandises</a:t>
                      </a:r>
                      <a:r>
                        <a:rPr lang="fr-FR" sz="1200" dirty="0">
                          <a:latin typeface="Corbel" panose="020B0503020204020204" pitchFamily="34" charset="0"/>
                        </a:rPr>
                        <a:t>.</a:t>
                      </a:r>
                    </a:p>
                    <a:p>
                      <a:endParaRPr lang="fr-FR" sz="1200" dirty="0">
                        <a:latin typeface="Corbel" panose="020B0503020204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Corbel" panose="020B0503020204020204" pitchFamily="34" charset="0"/>
                        </a:rPr>
                        <a:t>Si </a:t>
                      </a:r>
                      <a:r>
                        <a:rPr lang="fr-FR" sz="1200" dirty="0" err="1">
                          <a:latin typeface="Corbel" panose="020B0503020204020204" pitchFamily="34" charset="0"/>
                        </a:rPr>
                        <a:t>l'acheteur est en droit </a:t>
                      </a:r>
                      <a:r>
                        <a:rPr lang="fr-FR" sz="1200" dirty="0">
                          <a:latin typeface="Corbel" panose="020B0503020204020204" pitchFamily="34" charset="0"/>
                        </a:rPr>
                        <a:t>de </a:t>
                      </a:r>
                      <a:r>
                        <a:rPr lang="fr-FR" sz="1200" dirty="0" err="1">
                          <a:latin typeface="Corbel" panose="020B0503020204020204" pitchFamily="34" charset="0"/>
                        </a:rPr>
                        <a:t>déterminer </a:t>
                      </a:r>
                      <a:r>
                        <a:rPr lang="fr-FR" sz="1200" dirty="0">
                          <a:latin typeface="Corbel" panose="020B0503020204020204" pitchFamily="34" charset="0"/>
                        </a:rPr>
                        <a:t>le moment de l'expédition des </a:t>
                      </a:r>
                      <a:r>
                        <a:rPr lang="fr-FR" sz="1200" dirty="0" err="1">
                          <a:latin typeface="Corbel" panose="020B0503020204020204" pitchFamily="34" charset="0"/>
                        </a:rPr>
                        <a:t>marchandises </a:t>
                      </a:r>
                      <a:r>
                        <a:rPr lang="fr-FR" sz="1200" dirty="0">
                          <a:latin typeface="Corbel" panose="020B0503020204020204" pitchFamily="34" charset="0"/>
                        </a:rPr>
                        <a:t>et/ou le point de </a:t>
                      </a:r>
                      <a:r>
                        <a:rPr lang="fr-FR" sz="1200" dirty="0" err="1">
                          <a:latin typeface="Corbel" panose="020B0503020204020204" pitchFamily="34" charset="0"/>
                        </a:rPr>
                        <a:t>réception </a:t>
                      </a:r>
                      <a:r>
                        <a:rPr lang="fr-FR" sz="1200" dirty="0">
                          <a:latin typeface="Corbel" panose="020B0503020204020204" pitchFamily="34" charset="0"/>
                        </a:rPr>
                        <a:t>des </a:t>
                      </a:r>
                      <a:r>
                        <a:rPr lang="fr-FR" sz="1200" dirty="0" err="1">
                          <a:latin typeface="Corbel" panose="020B0503020204020204" pitchFamily="34" charset="0"/>
                        </a:rPr>
                        <a:t>marchandises dans </a:t>
                      </a:r>
                      <a:r>
                        <a:rPr lang="fr-FR" sz="1200" dirty="0">
                          <a:latin typeface="Corbel" panose="020B0503020204020204" pitchFamily="34" charset="0"/>
                        </a:rPr>
                        <a:t>le port de destination </a:t>
                      </a:r>
                      <a:r>
                        <a:rPr lang="fr-FR" sz="1200" dirty="0" err="1">
                          <a:latin typeface="Corbel" panose="020B0503020204020204" pitchFamily="34" charset="0"/>
                        </a:rPr>
                        <a:t>désigné</a:t>
                      </a:r>
                      <a:r>
                        <a:rPr lang="fr-FR" sz="1200" dirty="0">
                          <a:latin typeface="Corbel" panose="020B0503020204020204" pitchFamily="34" charset="0"/>
                        </a:rPr>
                        <a:t>, </a:t>
                      </a:r>
                      <a:r>
                        <a:rPr lang="fr-FR" sz="1200" dirty="0" err="1">
                          <a:latin typeface="Corbel" panose="020B0503020204020204" pitchFamily="34" charset="0"/>
                        </a:rPr>
                        <a:t>il </a:t>
                      </a:r>
                      <a:r>
                        <a:rPr lang="fr-FR" sz="1200" dirty="0">
                          <a:latin typeface="Corbel" panose="020B0503020204020204" pitchFamily="34" charset="0"/>
                        </a:rPr>
                        <a:t>doit en informer le vendeur </a:t>
                      </a:r>
                      <a:r>
                        <a:rPr lang="fr-FR" sz="1200" dirty="0" err="1">
                          <a:latin typeface="Corbel" panose="020B0503020204020204" pitchFamily="34" charset="0"/>
                        </a:rPr>
                        <a:t>suffisamment à l'avance</a:t>
                      </a:r>
                      <a:r>
                        <a:rPr lang="fr-FR" sz="1200" dirty="0">
                          <a:latin typeface="Corbel" panose="020B0503020204020204" pitchFamily="34" charset="0"/>
                        </a:rPr>
                        <a:t>.</a:t>
                      </a:r>
                    </a:p>
                    <a:p>
                      <a:endParaRPr lang="fr-FR" sz="1200" dirty="0">
                        <a:latin typeface="Corbel" panose="020B0503020204020204" pitchFamily="34" charset="0"/>
                      </a:endParaRPr>
                    </a:p>
                  </a:txBody>
                  <a:tcPr/>
                </a:tc>
                <a:extLst>
                  <a:ext uri="{0D108BD9-81ED-4DB2-BD59-A6C34878D82A}">
                    <a16:rowId xmlns:a16="http://schemas.microsoft.com/office/drawing/2014/main" val="3240843301"/>
                  </a:ext>
                </a:extLst>
              </a:tr>
            </a:tbl>
          </a:graphicData>
        </a:graphic>
      </p:graphicFrame>
      <p:sp>
        <p:nvSpPr>
          <p:cNvPr id="12" name="Titre 1">
            <a:extLst>
              <a:ext uri="{FF2B5EF4-FFF2-40B4-BE49-F238E27FC236}">
                <a16:creationId xmlns:a16="http://schemas.microsoft.com/office/drawing/2014/main" id="{CB188703-EA68-4C2E-B9E0-17A65868CCBD}"/>
              </a:ext>
            </a:extLst>
          </p:cNvPr>
          <p:cNvSpPr>
            <a:spLocks noGrp="1"/>
          </p:cNvSpPr>
          <p:nvPr>
            <p:ph type="title"/>
          </p:nvPr>
        </p:nvSpPr>
        <p:spPr>
          <a:xfrm>
            <a:off x="381000" y="355847"/>
            <a:ext cx="8381260" cy="1054394"/>
          </a:xfrm>
        </p:spPr>
        <p:txBody>
          <a:bodyPr>
            <a:normAutofit/>
          </a:bodyPr>
          <a:lstStyle/>
          <a:p>
            <a:pPr algn="ctr"/>
            <a:r>
              <a:rPr lang="fr-FR" dirty="0">
                <a:solidFill>
                  <a:schemeClr val="bg1"/>
                </a:solidFill>
                <a:latin typeface="Franklin Gothic Book" panose="020B0503020102020204" pitchFamily="34" charset="0"/>
              </a:rPr>
              <a:t>CPT : </a:t>
            </a:r>
            <a:r>
              <a:rPr lang="fr-FR" dirty="0" err="1">
                <a:solidFill>
                  <a:schemeClr val="bg1"/>
                </a:solidFill>
                <a:latin typeface="Franklin Gothic Book" panose="020B0503020102020204" pitchFamily="34" charset="0"/>
              </a:rPr>
              <a:t>Transport payé </a:t>
            </a:r>
            <a:r>
              <a:rPr lang="fr-FR" dirty="0">
                <a:solidFill>
                  <a:schemeClr val="bg1"/>
                </a:solidFill>
                <a:latin typeface="Franklin Gothic Book" panose="020B0503020102020204" pitchFamily="34" charset="0"/>
              </a:rPr>
              <a:t>jusqu'à</a:t>
            </a:r>
          </a:p>
        </p:txBody>
      </p:sp>
      <p:sp>
        <p:nvSpPr>
          <p:cNvPr id="8" name="Footer Placeholder 3">
            <a:extLst>
              <a:ext uri="{FF2B5EF4-FFF2-40B4-BE49-F238E27FC236}">
                <a16:creationId xmlns:a16="http://schemas.microsoft.com/office/drawing/2014/main" id="{E0F17567-5D32-4D7E-A9A2-BD2E7A2EF105}"/>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2901771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1" name="Espace réservé du contenu 2">
            <a:extLst>
              <a:ext uri="{FF2B5EF4-FFF2-40B4-BE49-F238E27FC236}">
                <a16:creationId xmlns:a16="http://schemas.microsoft.com/office/drawing/2014/main" id="{6E072F58-6AED-4789-AC8E-931088889C6A}"/>
              </a:ext>
            </a:extLst>
          </p:cNvPr>
          <p:cNvSpPr>
            <a:spLocks noGrp="1"/>
          </p:cNvSpPr>
          <p:nvPr>
            <p:ph idx="1"/>
          </p:nvPr>
        </p:nvSpPr>
        <p:spPr>
          <a:xfrm>
            <a:off x="201165" y="4457700"/>
            <a:ext cx="8784573" cy="1538654"/>
          </a:xfrm>
        </p:spPr>
        <p:txBody>
          <a:bodyPr>
            <a:noAutofit/>
          </a:bodyPr>
          <a:lstStyle/>
          <a:p>
            <a:pPr marL="0" indent="0">
              <a:buNone/>
            </a:pPr>
            <a:r>
              <a:rPr lang="en-US" sz="1400" b="1" u="sng" dirty="0"/>
              <a:t>Lieu de livraison : </a:t>
            </a:r>
            <a:r>
              <a:rPr lang="en-US" sz="1400" dirty="0"/>
              <a:t>lieu de destination désigné.</a:t>
            </a:r>
          </a:p>
          <a:p>
            <a:pPr marL="0" indent="0">
              <a:buNone/>
            </a:pPr>
            <a:r>
              <a:rPr lang="en-US" sz="1400" b="1" u="sng" dirty="0"/>
              <a:t>Obligations du vendeur : </a:t>
            </a:r>
            <a:r>
              <a:rPr lang="en-US" sz="1400" dirty="0"/>
              <a:t>dédouaner les marchandises pour l'exportation + conclure le contrat de transport principal + conclure le contrat d'assurance lié au transport jusqu'au lieu de destination désigné.</a:t>
            </a:r>
          </a:p>
          <a:p>
            <a:pPr marL="0" indent="0">
              <a:buNone/>
            </a:pPr>
            <a:r>
              <a:rPr lang="en-US" sz="1400" b="1" u="sng" dirty="0"/>
              <a:t>Remarque : </a:t>
            </a:r>
            <a:r>
              <a:rPr lang="en-US" sz="1400" dirty="0"/>
              <a:t>les frais de déchargement au lieu de destination convenu sont à la charge du vendeur uniquement si le contrat de transport le prévoit.</a:t>
            </a:r>
            <a:endParaRPr lang="fr-FR" sz="1400" dirty="0"/>
          </a:p>
        </p:txBody>
      </p:sp>
      <p:sp>
        <p:nvSpPr>
          <p:cNvPr id="13" name="Titre 1">
            <a:extLst>
              <a:ext uri="{FF2B5EF4-FFF2-40B4-BE49-F238E27FC236}">
                <a16:creationId xmlns:a16="http://schemas.microsoft.com/office/drawing/2014/main" id="{5B3230A3-B6BE-462B-A597-37CF9D11DBD1}"/>
              </a:ext>
            </a:extLst>
          </p:cNvPr>
          <p:cNvSpPr>
            <a:spLocks noGrp="1"/>
          </p:cNvSpPr>
          <p:nvPr>
            <p:ph type="title"/>
          </p:nvPr>
        </p:nvSpPr>
        <p:spPr>
          <a:xfrm>
            <a:off x="381000" y="355847"/>
            <a:ext cx="8381260" cy="1054394"/>
          </a:xfrm>
        </p:spPr>
        <p:txBody>
          <a:bodyPr>
            <a:normAutofit/>
          </a:bodyPr>
          <a:lstStyle/>
          <a:p>
            <a:r>
              <a:rPr lang="fr-FR" sz="3800" dirty="0">
                <a:solidFill>
                  <a:schemeClr val="bg1"/>
                </a:solidFill>
                <a:latin typeface="Franklin Gothic Book" panose="020B0503020102020204" pitchFamily="34" charset="0"/>
              </a:rPr>
              <a:t>CIP : </a:t>
            </a:r>
            <a:r>
              <a:rPr lang="fr-FR" sz="3800" dirty="0" err="1">
                <a:solidFill>
                  <a:schemeClr val="bg1"/>
                </a:solidFill>
                <a:latin typeface="Franklin Gothic Book" panose="020B0503020102020204" pitchFamily="34" charset="0"/>
              </a:rPr>
              <a:t>Transport </a:t>
            </a:r>
            <a:r>
              <a:rPr lang="fr-FR" sz="3800" dirty="0">
                <a:solidFill>
                  <a:schemeClr val="bg1"/>
                </a:solidFill>
                <a:latin typeface="Franklin Gothic Book" panose="020B0503020102020204" pitchFamily="34" charset="0"/>
              </a:rPr>
              <a:t>et </a:t>
            </a:r>
            <a:r>
              <a:rPr lang="fr-FR" sz="3800" dirty="0" err="1">
                <a:solidFill>
                  <a:schemeClr val="bg1"/>
                </a:solidFill>
                <a:latin typeface="Franklin Gothic Book" panose="020B0503020102020204" pitchFamily="34" charset="0"/>
              </a:rPr>
              <a:t>assurance payés </a:t>
            </a:r>
            <a:r>
              <a:rPr lang="fr-FR" sz="3800" dirty="0">
                <a:solidFill>
                  <a:schemeClr val="bg1"/>
                </a:solidFill>
                <a:latin typeface="Franklin Gothic Book" panose="020B0503020102020204" pitchFamily="34" charset="0"/>
              </a:rPr>
              <a:t>jusqu'à (1)</a:t>
            </a:r>
          </a:p>
        </p:txBody>
      </p:sp>
      <p:sp>
        <p:nvSpPr>
          <p:cNvPr id="8" name="Footer Placeholder 3">
            <a:extLst>
              <a:ext uri="{FF2B5EF4-FFF2-40B4-BE49-F238E27FC236}">
                <a16:creationId xmlns:a16="http://schemas.microsoft.com/office/drawing/2014/main" id="{56AEF6D4-A186-4038-A4A6-E2C46CA6B622}"/>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pic>
        <p:nvPicPr>
          <p:cNvPr id="4" name="Image 3">
            <a:extLst>
              <a:ext uri="{FF2B5EF4-FFF2-40B4-BE49-F238E27FC236}">
                <a16:creationId xmlns:a16="http://schemas.microsoft.com/office/drawing/2014/main" id="{A75392BD-D6B7-4868-9F84-4E7CCE5929F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91408" y="1709475"/>
            <a:ext cx="5996353" cy="2748225"/>
          </a:xfrm>
          <a:prstGeom prst="rect">
            <a:avLst/>
          </a:prstGeom>
        </p:spPr>
      </p:pic>
    </p:spTree>
    <p:extLst>
      <p:ext uri="{BB962C8B-B14F-4D97-AF65-F5344CB8AC3E}">
        <p14:creationId xmlns:p14="http://schemas.microsoft.com/office/powerpoint/2010/main" val="1466100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graphicFrame>
        <p:nvGraphicFramePr>
          <p:cNvPr id="2" name="Tableau 2">
            <a:extLst>
              <a:ext uri="{FF2B5EF4-FFF2-40B4-BE49-F238E27FC236}">
                <a16:creationId xmlns:a16="http://schemas.microsoft.com/office/drawing/2014/main" id="{ACA66BFD-4320-4819-AE7F-89BCFBD93F3A}"/>
              </a:ext>
            </a:extLst>
          </p:cNvPr>
          <p:cNvGraphicFramePr>
            <a:graphicFrameLocks noGrp="1"/>
          </p:cNvGraphicFramePr>
          <p:nvPr>
            <p:ph idx="1"/>
            <p:extLst>
              <p:ext uri="{D42A27DB-BD31-4B8C-83A1-F6EECF244321}">
                <p14:modId xmlns:p14="http://schemas.microsoft.com/office/powerpoint/2010/main" val="3073745106"/>
              </p:ext>
            </p:extLst>
          </p:nvPr>
        </p:nvGraphicFramePr>
        <p:xfrm>
          <a:off x="201165" y="1670538"/>
          <a:ext cx="8740611" cy="4325815"/>
        </p:xfrm>
        <a:graphic>
          <a:graphicData uri="http://schemas.openxmlformats.org/drawingml/2006/table">
            <a:tbl>
              <a:tblPr firstRow="1" bandRow="1">
                <a:tableStyleId>{5C22544A-7EE6-4342-B048-85BDC9FD1C3A}</a:tableStyleId>
              </a:tblPr>
              <a:tblGrid>
                <a:gridCol w="1530920">
                  <a:extLst>
                    <a:ext uri="{9D8B030D-6E8A-4147-A177-3AD203B41FA5}">
                      <a16:colId xmlns:a16="http://schemas.microsoft.com/office/drawing/2014/main" val="1761941760"/>
                    </a:ext>
                  </a:extLst>
                </a:gridCol>
                <a:gridCol w="3499338">
                  <a:extLst>
                    <a:ext uri="{9D8B030D-6E8A-4147-A177-3AD203B41FA5}">
                      <a16:colId xmlns:a16="http://schemas.microsoft.com/office/drawing/2014/main" val="2513046791"/>
                    </a:ext>
                  </a:extLst>
                </a:gridCol>
                <a:gridCol w="3710353">
                  <a:extLst>
                    <a:ext uri="{9D8B030D-6E8A-4147-A177-3AD203B41FA5}">
                      <a16:colId xmlns:a16="http://schemas.microsoft.com/office/drawing/2014/main" val="751107264"/>
                    </a:ext>
                  </a:extLst>
                </a:gridCol>
              </a:tblGrid>
              <a:tr h="615811">
                <a:tc>
                  <a:txBody>
                    <a:bodyPr/>
                    <a:lstStyle/>
                    <a:p>
                      <a:endParaRPr lang="fr-FR" sz="1200" dirty="0">
                        <a:latin typeface="Corbel" panose="020B0503020204020204" pitchFamily="34" charset="0"/>
                      </a:endParaRPr>
                    </a:p>
                  </a:txBody>
                  <a:tcPr/>
                </a:tc>
                <a:tc>
                  <a:txBody>
                    <a:bodyPr/>
                    <a:lstStyle/>
                    <a:p>
                      <a:pPr algn="ctr"/>
                      <a:r>
                        <a:rPr lang="fr-FR" sz="1200" dirty="0">
                          <a:latin typeface="Corbel" panose="020B0503020204020204" pitchFamily="34" charset="0"/>
                        </a:rPr>
                        <a:t>Vendeur</a:t>
                      </a:r>
                    </a:p>
                  </a:txBody>
                  <a:tcPr/>
                </a:tc>
                <a:tc>
                  <a:txBody>
                    <a:bodyPr/>
                    <a:lstStyle/>
                    <a:p>
                      <a:pPr algn="ctr"/>
                      <a:r>
                        <a:rPr lang="fr-FR" sz="1200" dirty="0">
                          <a:latin typeface="Corbel" panose="020B0503020204020204" pitchFamily="34" charset="0"/>
                        </a:rPr>
                        <a:t>Acheteur</a:t>
                      </a:r>
                    </a:p>
                  </a:txBody>
                  <a:tcPr/>
                </a:tc>
                <a:extLst>
                  <a:ext uri="{0D108BD9-81ED-4DB2-BD59-A6C34878D82A}">
                    <a16:rowId xmlns:a16="http://schemas.microsoft.com/office/drawing/2014/main" val="2288807433"/>
                  </a:ext>
                </a:extLst>
              </a:tr>
              <a:tr h="12366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Corbel" panose="020B0503020204020204" pitchFamily="34" charset="0"/>
                        </a:rPr>
                        <a:t>Dédouanement à l'exportation/à l'importation</a:t>
                      </a:r>
                    </a:p>
                    <a:p>
                      <a:endParaRPr lang="fr-FR" sz="1200" dirty="0">
                        <a:latin typeface="Corbel" panose="020B0503020204020204" pitchFamily="34" charset="0"/>
                      </a:endParaRPr>
                    </a:p>
                  </a:txBody>
                  <a:tcPr/>
                </a:tc>
                <a:tc>
                  <a:txBody>
                    <a:bodyPr/>
                    <a:lstStyle/>
                    <a:p>
                      <a:r>
                        <a:rPr lang="fr-FR" sz="1200" dirty="0">
                          <a:latin typeface="Corbel" panose="020B0503020204020204" pitchFamily="34" charset="0"/>
                        </a:rPr>
                        <a:t>Exportation : le vendeur doit effectuer et </a:t>
                      </a:r>
                      <a:r>
                        <a:rPr lang="fr-FR" sz="1200" dirty="0" err="1">
                          <a:latin typeface="Corbel" panose="020B0503020204020204" pitchFamily="34" charset="0"/>
                        </a:rPr>
                        <a:t>payer </a:t>
                      </a:r>
                      <a:r>
                        <a:rPr lang="fr-FR" sz="1200" dirty="0">
                          <a:latin typeface="Corbel" panose="020B0503020204020204" pitchFamily="34" charset="0"/>
                        </a:rPr>
                        <a:t>toutes </a:t>
                      </a:r>
                      <a:r>
                        <a:rPr lang="fr-FR" sz="1200" dirty="0" err="1">
                          <a:latin typeface="Corbel" panose="020B0503020204020204" pitchFamily="34" charset="0"/>
                        </a:rPr>
                        <a:t>les formalités</a:t>
                      </a:r>
                      <a:r>
                        <a:rPr lang="fr-FR" sz="1200" dirty="0">
                          <a:latin typeface="Corbel" panose="020B0503020204020204" pitchFamily="34" charset="0"/>
                        </a:rPr>
                        <a:t> de dédouanement à l'exportation.</a:t>
                      </a:r>
                    </a:p>
                    <a:p>
                      <a:endParaRPr lang="fr-FR" sz="1200" dirty="0">
                        <a:latin typeface="Corbel" panose="020B0503020204020204" pitchFamily="34" charset="0"/>
                      </a:endParaRPr>
                    </a:p>
                    <a:p>
                      <a:r>
                        <a:rPr lang="fr-FR" sz="1200" dirty="0">
                          <a:latin typeface="Corbel" panose="020B0503020204020204" pitchFamily="34" charset="0"/>
                        </a:rPr>
                        <a:t>Importation : le vendeur doit aider </a:t>
                      </a:r>
                      <a:r>
                        <a:rPr lang="fr-FR" sz="1200" dirty="0" err="1">
                          <a:latin typeface="Corbel" panose="020B0503020204020204" pitchFamily="34" charset="0"/>
                        </a:rPr>
                        <a:t>l'acheteur</a:t>
                      </a:r>
                      <a:r>
                        <a:rPr lang="fr-FR" sz="1200" dirty="0">
                          <a:latin typeface="Corbel" panose="020B0503020204020204" pitchFamily="34" charset="0"/>
                        </a:rPr>
                        <a:t>, à la </a:t>
                      </a:r>
                      <a:r>
                        <a:rPr lang="fr-FR" sz="1200" dirty="0" err="1">
                          <a:latin typeface="Corbel" panose="020B0503020204020204" pitchFamily="34" charset="0"/>
                        </a:rPr>
                        <a:t>demande de ce dernier</a:t>
                      </a:r>
                      <a:r>
                        <a:rPr lang="fr-FR" sz="1200" dirty="0">
                          <a:latin typeface="Corbel" panose="020B0503020204020204" pitchFamily="34" charset="0"/>
                        </a:rPr>
                        <a:t>, à </a:t>
                      </a:r>
                      <a:r>
                        <a:rPr lang="fr-FR" sz="1200" dirty="0" err="1">
                          <a:latin typeface="Corbel" panose="020B0503020204020204" pitchFamily="34" charset="0"/>
                        </a:rPr>
                        <a:t>obtenir tous </a:t>
                      </a:r>
                      <a:r>
                        <a:rPr lang="fr-FR" sz="1200" dirty="0">
                          <a:latin typeface="Corbel" panose="020B0503020204020204" pitchFamily="34" charset="0"/>
                        </a:rPr>
                        <a:t>les documents ou informations </a:t>
                      </a:r>
                      <a:r>
                        <a:rPr lang="fr-FR" sz="1200" dirty="0" err="1">
                          <a:latin typeface="Corbel" panose="020B0503020204020204" pitchFamily="34" charset="0"/>
                        </a:rPr>
                        <a:t>relatifs </a:t>
                      </a:r>
                      <a:r>
                        <a:rPr lang="fr-FR" sz="1200" dirty="0">
                          <a:latin typeface="Corbel" panose="020B0503020204020204" pitchFamily="34" charset="0"/>
                        </a:rPr>
                        <a:t>aux </a:t>
                      </a:r>
                      <a:r>
                        <a:rPr lang="fr-FR" sz="1200" dirty="0" err="1">
                          <a:latin typeface="Corbel" panose="020B0503020204020204" pitchFamily="34" charset="0"/>
                        </a:rPr>
                        <a:t>formalités</a:t>
                      </a:r>
                      <a:r>
                        <a:rPr lang="fr-FR" sz="1200" dirty="0">
                          <a:latin typeface="Corbel" panose="020B0503020204020204" pitchFamily="34" charset="0"/>
                        </a:rPr>
                        <a:t> de dédouanement à l'importation.</a:t>
                      </a:r>
                    </a:p>
                  </a:txBody>
                  <a:tcPr/>
                </a:tc>
                <a:tc>
                  <a:txBody>
                    <a:bodyPr/>
                    <a:lstStyle/>
                    <a:p>
                      <a:r>
                        <a:rPr lang="fr-FR" sz="1200" dirty="0">
                          <a:latin typeface="Corbel" panose="020B0503020204020204" pitchFamily="34" charset="0"/>
                        </a:rPr>
                        <a:t>Exportation : </a:t>
                      </a:r>
                      <a:r>
                        <a:rPr lang="fr-FR" sz="1200" dirty="0" err="1">
                          <a:latin typeface="Corbel" panose="020B0503020204020204" pitchFamily="34" charset="0"/>
                        </a:rPr>
                        <a:t>l'acheteur </a:t>
                      </a:r>
                      <a:r>
                        <a:rPr lang="fr-FR" sz="1200" dirty="0">
                          <a:latin typeface="Corbel" panose="020B0503020204020204" pitchFamily="34" charset="0"/>
                        </a:rPr>
                        <a:t>doit aider le vendeur, à la </a:t>
                      </a:r>
                      <a:r>
                        <a:rPr lang="fr-FR" sz="1200" dirty="0" err="1">
                          <a:latin typeface="Corbel" panose="020B0503020204020204" pitchFamily="34" charset="0"/>
                        </a:rPr>
                        <a:t>demande de ce dernier, </a:t>
                      </a:r>
                      <a:r>
                        <a:rPr lang="fr-FR" sz="1200" dirty="0">
                          <a:latin typeface="Corbel" panose="020B0503020204020204" pitchFamily="34" charset="0"/>
                        </a:rPr>
                        <a:t>à </a:t>
                      </a:r>
                      <a:r>
                        <a:rPr lang="fr-FR" sz="1200" dirty="0" err="1">
                          <a:latin typeface="Corbel" panose="020B0503020204020204" pitchFamily="34" charset="0"/>
                        </a:rPr>
                        <a:t>obtenir tous </a:t>
                      </a:r>
                      <a:r>
                        <a:rPr lang="fr-FR" sz="1200" dirty="0">
                          <a:latin typeface="Corbel" panose="020B0503020204020204" pitchFamily="34" charset="0"/>
                        </a:rPr>
                        <a:t>les documents ou informations </a:t>
                      </a:r>
                      <a:r>
                        <a:rPr lang="fr-FR" sz="1200" dirty="0" err="1">
                          <a:latin typeface="Corbel" panose="020B0503020204020204" pitchFamily="34" charset="0"/>
                        </a:rPr>
                        <a:t>relatifs </a:t>
                      </a:r>
                      <a:r>
                        <a:rPr lang="fr-FR" sz="1200" dirty="0">
                          <a:latin typeface="Corbel" panose="020B0503020204020204" pitchFamily="34" charset="0"/>
                        </a:rPr>
                        <a:t>aux </a:t>
                      </a:r>
                      <a:r>
                        <a:rPr lang="fr-FR" sz="1200" dirty="0" err="1">
                          <a:latin typeface="Corbel" panose="020B0503020204020204" pitchFamily="34" charset="0"/>
                        </a:rPr>
                        <a:t>formalités</a:t>
                      </a:r>
                      <a:r>
                        <a:rPr lang="fr-FR" sz="1200" dirty="0">
                          <a:latin typeface="Corbel" panose="020B0503020204020204" pitchFamily="34" charset="0"/>
                        </a:rPr>
                        <a:t> de dédouanement à l'exportation.</a:t>
                      </a:r>
                    </a:p>
                    <a:p>
                      <a:endParaRPr lang="fr-FR" sz="1200" dirty="0">
                        <a:latin typeface="Corbel" panose="020B0503020204020204" pitchFamily="34" charset="0"/>
                      </a:endParaRPr>
                    </a:p>
                    <a:p>
                      <a:r>
                        <a:rPr lang="fr-FR" sz="1200" dirty="0">
                          <a:latin typeface="Corbel" panose="020B0503020204020204" pitchFamily="34" charset="0"/>
                        </a:rPr>
                        <a:t>Importation : </a:t>
                      </a:r>
                      <a:r>
                        <a:rPr lang="fr-FR" sz="1200" dirty="0" err="1">
                          <a:latin typeface="Corbel" panose="020B0503020204020204" pitchFamily="34" charset="0"/>
                        </a:rPr>
                        <a:t>l'acheteur </a:t>
                      </a:r>
                      <a:r>
                        <a:rPr lang="fr-FR" sz="1200" dirty="0">
                          <a:latin typeface="Corbel" panose="020B0503020204020204" pitchFamily="34" charset="0"/>
                        </a:rPr>
                        <a:t>doit effectuer et </a:t>
                      </a:r>
                      <a:r>
                        <a:rPr lang="fr-FR" sz="1200" dirty="0" err="1">
                          <a:latin typeface="Corbel" panose="020B0503020204020204" pitchFamily="34" charset="0"/>
                        </a:rPr>
                        <a:t>payer </a:t>
                      </a:r>
                      <a:r>
                        <a:rPr lang="fr-FR" sz="1200" dirty="0">
                          <a:latin typeface="Corbel" panose="020B0503020204020204" pitchFamily="34" charset="0"/>
                        </a:rPr>
                        <a:t>toutes </a:t>
                      </a:r>
                      <a:r>
                        <a:rPr lang="fr-FR" sz="1200" dirty="0" err="1">
                          <a:latin typeface="Corbel" panose="020B0503020204020204" pitchFamily="34" charset="0"/>
                        </a:rPr>
                        <a:t>les formalités</a:t>
                      </a:r>
                      <a:r>
                        <a:rPr lang="fr-FR" sz="1200" dirty="0">
                          <a:latin typeface="Corbel" panose="020B0503020204020204" pitchFamily="34" charset="0"/>
                        </a:rPr>
                        <a:t>.</a:t>
                      </a:r>
                    </a:p>
                  </a:txBody>
                  <a:tcPr/>
                </a:tc>
                <a:extLst>
                  <a:ext uri="{0D108BD9-81ED-4DB2-BD59-A6C34878D82A}">
                    <a16:rowId xmlns:a16="http://schemas.microsoft.com/office/drawing/2014/main" val="3798640279"/>
                  </a:ext>
                </a:extLst>
              </a:tr>
              <a:tr h="12366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Corbel" panose="020B0503020204020204" pitchFamily="34" charset="0"/>
                        </a:rPr>
                        <a:t>Contrôle / emballage / </a:t>
                      </a:r>
                      <a:r>
                        <a:rPr lang="fr-FR" sz="1200" dirty="0" err="1">
                          <a:latin typeface="Corbel" panose="020B0503020204020204" pitchFamily="34" charset="0"/>
                        </a:rPr>
                        <a:t>marquage</a:t>
                      </a:r>
                      <a:endParaRPr lang="fr-FR" sz="1200" dirty="0">
                        <a:latin typeface="Corbel" panose="020B0503020204020204" pitchFamily="34" charset="0"/>
                      </a:endParaRPr>
                    </a:p>
                    <a:p>
                      <a:endParaRPr lang="fr-FR" sz="1200" dirty="0">
                        <a:latin typeface="Corbel" panose="020B0503020204020204" pitchFamily="34" charset="0"/>
                      </a:endParaRPr>
                    </a:p>
                  </a:txBody>
                  <a:tcPr/>
                </a:tc>
                <a:tc>
                  <a:txBody>
                    <a:bodyPr/>
                    <a:lstStyle/>
                    <a:p>
                      <a:pPr algn="l"/>
                      <a:r>
                        <a:rPr lang="fr-FR" sz="1200" dirty="0">
                          <a:solidFill>
                            <a:schemeClr val="tx1"/>
                          </a:solidFill>
                          <a:latin typeface="Corbel" panose="020B0503020204020204" pitchFamily="34" charset="0"/>
                        </a:rPr>
                        <a:t>Le vendeur doit :</a:t>
                      </a:r>
                    </a:p>
                    <a:p>
                      <a:pPr marL="171450" indent="-171450" algn="l">
                        <a:buFontTx/>
                        <a:buChar char="-"/>
                      </a:pPr>
                      <a:r>
                        <a:rPr lang="fr-FR" sz="1200" dirty="0" err="1">
                          <a:solidFill>
                            <a:schemeClr val="tx1"/>
                          </a:solidFill>
                          <a:latin typeface="Corbel" panose="020B0503020204020204" pitchFamily="34" charset="0"/>
                        </a:rPr>
                        <a:t>Prendre en charge </a:t>
                      </a:r>
                      <a:r>
                        <a:rPr lang="fr-FR" sz="1200" dirty="0">
                          <a:solidFill>
                            <a:schemeClr val="tx1"/>
                          </a:solidFill>
                          <a:latin typeface="Corbel" panose="020B0503020204020204" pitchFamily="34" charset="0"/>
                        </a:rPr>
                        <a:t>le </a:t>
                      </a:r>
                      <a:r>
                        <a:rPr lang="fr-FR" sz="1200" dirty="0" err="1">
                          <a:solidFill>
                            <a:schemeClr val="tx1"/>
                          </a:solidFill>
                          <a:latin typeface="Corbel" panose="020B0503020204020204" pitchFamily="34" charset="0"/>
                        </a:rPr>
                        <a:t>coût </a:t>
                      </a:r>
                      <a:r>
                        <a:rPr lang="fr-FR" sz="1200" dirty="0">
                          <a:solidFill>
                            <a:schemeClr val="tx1"/>
                          </a:solidFill>
                          <a:latin typeface="Corbel" panose="020B0503020204020204" pitchFamily="34" charset="0"/>
                        </a:rPr>
                        <a:t>de toutes </a:t>
                      </a:r>
                      <a:r>
                        <a:rPr lang="fr-FR" sz="1200" dirty="0" err="1">
                          <a:solidFill>
                            <a:schemeClr val="tx1"/>
                          </a:solidFill>
                          <a:latin typeface="Corbel" panose="020B0503020204020204" pitchFamily="34" charset="0"/>
                        </a:rPr>
                        <a:t>les opérations</a:t>
                      </a:r>
                      <a:r>
                        <a:rPr lang="fr-FR" sz="1200" dirty="0">
                          <a:solidFill>
                            <a:schemeClr val="tx1"/>
                          </a:solidFill>
                          <a:latin typeface="Corbel" panose="020B0503020204020204" pitchFamily="34" charset="0"/>
                        </a:rPr>
                        <a:t> de contrôle (contrôle </a:t>
                      </a:r>
                      <a:r>
                        <a:rPr lang="fr-FR" sz="1200" dirty="0" err="1">
                          <a:solidFill>
                            <a:schemeClr val="tx1"/>
                          </a:solidFill>
                          <a:latin typeface="Corbel" panose="020B0503020204020204" pitchFamily="34" charset="0"/>
                        </a:rPr>
                        <a:t>de la qualité</a:t>
                      </a:r>
                      <a:r>
                        <a:rPr lang="fr-FR" sz="1200" dirty="0">
                          <a:solidFill>
                            <a:schemeClr val="tx1"/>
                          </a:solidFill>
                          <a:latin typeface="Corbel" panose="020B0503020204020204" pitchFamily="34" charset="0"/>
                        </a:rPr>
                        <a:t>, </a:t>
                      </a:r>
                      <a:r>
                        <a:rPr lang="fr-FR" sz="1200" dirty="0" err="1">
                          <a:solidFill>
                            <a:schemeClr val="tx1"/>
                          </a:solidFill>
                          <a:latin typeface="Corbel" panose="020B0503020204020204" pitchFamily="34" charset="0"/>
                        </a:rPr>
                        <a:t>mesure</a:t>
                      </a:r>
                      <a:r>
                        <a:rPr lang="fr-FR" sz="1200" dirty="0">
                          <a:solidFill>
                            <a:schemeClr val="tx1"/>
                          </a:solidFill>
                          <a:latin typeface="Corbel" panose="020B0503020204020204" pitchFamily="34" charset="0"/>
                        </a:rPr>
                        <a:t>, </a:t>
                      </a:r>
                      <a:r>
                        <a:rPr lang="fr-FR" sz="1200" dirty="0" err="1">
                          <a:solidFill>
                            <a:schemeClr val="tx1"/>
                          </a:solidFill>
                          <a:latin typeface="Corbel" panose="020B0503020204020204" pitchFamily="34" charset="0"/>
                        </a:rPr>
                        <a:t>pesage</a:t>
                      </a:r>
                      <a:r>
                        <a:rPr lang="fr-FR" sz="1200" dirty="0">
                          <a:solidFill>
                            <a:schemeClr val="tx1"/>
                          </a:solidFill>
                          <a:latin typeface="Corbel" panose="020B0503020204020204" pitchFamily="34" charset="0"/>
                        </a:rPr>
                        <a:t>, </a:t>
                      </a:r>
                      <a:r>
                        <a:rPr lang="fr-FR" sz="1200" dirty="0" err="1">
                          <a:solidFill>
                            <a:schemeClr val="tx1"/>
                          </a:solidFill>
                          <a:latin typeface="Corbel" panose="020B0503020204020204" pitchFamily="34" charset="0"/>
                        </a:rPr>
                        <a:t>comptage</a:t>
                      </a:r>
                      <a:r>
                        <a:rPr lang="fr-FR" sz="1200" dirty="0">
                          <a:solidFill>
                            <a:schemeClr val="tx1"/>
                          </a:solidFill>
                          <a:latin typeface="Corbel" panose="020B0503020204020204" pitchFamily="34" charset="0"/>
                        </a:rPr>
                        <a:t>)</a:t>
                      </a:r>
                    </a:p>
                    <a:p>
                      <a:pPr marL="171450" indent="-171450" algn="l">
                        <a:buFontTx/>
                        <a:buChar char="-"/>
                      </a:pPr>
                      <a:r>
                        <a:rPr lang="fr-FR" sz="1200" dirty="0">
                          <a:solidFill>
                            <a:schemeClr val="tx1"/>
                          </a:solidFill>
                          <a:latin typeface="Corbel" panose="020B0503020204020204" pitchFamily="34" charset="0"/>
                        </a:rPr>
                        <a:t>Emballer et marquer les </a:t>
                      </a:r>
                      <a:r>
                        <a:rPr lang="fr-FR" sz="1200" dirty="0" err="1">
                          <a:solidFill>
                            <a:schemeClr val="tx1"/>
                          </a:solidFill>
                          <a:latin typeface="Corbel" panose="020B0503020204020204" pitchFamily="34" charset="0"/>
                        </a:rPr>
                        <a:t>marchandises </a:t>
                      </a:r>
                      <a:r>
                        <a:rPr lang="fr-FR" sz="1200" dirty="0">
                          <a:solidFill>
                            <a:schemeClr val="tx1"/>
                          </a:solidFill>
                          <a:latin typeface="Corbel" panose="020B0503020204020204" pitchFamily="34" charset="0"/>
                        </a:rPr>
                        <a:t>de </a:t>
                      </a:r>
                      <a:r>
                        <a:rPr lang="fr-FR" sz="1200" dirty="0" err="1">
                          <a:solidFill>
                            <a:schemeClr val="tx1"/>
                          </a:solidFill>
                          <a:latin typeface="Corbel" panose="020B0503020204020204" pitchFamily="34" charset="0"/>
                        </a:rPr>
                        <a:t>manière appropriée </a:t>
                      </a:r>
                      <a:r>
                        <a:rPr lang="fr-FR" sz="1200" dirty="0">
                          <a:solidFill>
                            <a:schemeClr val="tx1"/>
                          </a:solidFill>
                          <a:latin typeface="Corbel" panose="020B0503020204020204" pitchFamily="34" charset="0"/>
                        </a:rPr>
                        <a:t>pour </a:t>
                      </a:r>
                      <a:r>
                        <a:rPr lang="fr-FR" sz="1200" dirty="0" err="1">
                          <a:solidFill>
                            <a:schemeClr val="tx1"/>
                          </a:solidFill>
                          <a:latin typeface="Corbel" panose="020B0503020204020204" pitchFamily="34" charset="0"/>
                        </a:rPr>
                        <a:t>leur </a:t>
                      </a:r>
                      <a:r>
                        <a:rPr lang="fr-FR" sz="1200" dirty="0">
                          <a:solidFill>
                            <a:schemeClr val="tx1"/>
                          </a:solidFill>
                          <a:latin typeface="Corbel" panose="020B0503020204020204" pitchFamily="34" charset="0"/>
                        </a:rPr>
                        <a:t>transport.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err="1">
                          <a:latin typeface="Corbel" panose="020B0503020204020204" pitchFamily="34" charset="0"/>
                        </a:rPr>
                        <a:t>L'acheteur </a:t>
                      </a:r>
                      <a:r>
                        <a:rPr lang="fr-FR" sz="1200" dirty="0">
                          <a:latin typeface="Corbel" panose="020B0503020204020204" pitchFamily="34" charset="0"/>
                        </a:rPr>
                        <a:t>n'a aucune obligation envers le vendeur.</a:t>
                      </a:r>
                    </a:p>
                    <a:p>
                      <a:endParaRPr lang="fr-FR" sz="1200" dirty="0">
                        <a:latin typeface="Corbel" panose="020B0503020204020204" pitchFamily="34" charset="0"/>
                      </a:endParaRPr>
                    </a:p>
                  </a:txBody>
                  <a:tcPr/>
                </a:tc>
                <a:extLst>
                  <a:ext uri="{0D108BD9-81ED-4DB2-BD59-A6C34878D82A}">
                    <a16:rowId xmlns:a16="http://schemas.microsoft.com/office/drawing/2014/main" val="104553588"/>
                  </a:ext>
                </a:extLst>
              </a:tr>
              <a:tr h="12366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Corbel" panose="020B0503020204020204" pitchFamily="34" charset="0"/>
                        </a:rPr>
                        <a:t>Avis</a:t>
                      </a:r>
                    </a:p>
                    <a:p>
                      <a:endParaRPr lang="fr-FR" sz="1200" dirty="0">
                        <a:latin typeface="Corbel" panose="020B0503020204020204" pitchFamily="34" charset="0"/>
                      </a:endParaRPr>
                    </a:p>
                  </a:txBody>
                  <a:tcPr/>
                </a:tc>
                <a:tc>
                  <a:txBody>
                    <a:bodyPr/>
                    <a:lstStyle/>
                    <a:p>
                      <a:r>
                        <a:rPr lang="fr-FR" sz="1200" dirty="0">
                          <a:latin typeface="Corbel" panose="020B0503020204020204" pitchFamily="34" charset="0"/>
                        </a:rPr>
                        <a:t>Le vendeur doit </a:t>
                      </a:r>
                      <a:r>
                        <a:rPr lang="fr-FR" sz="1200" dirty="0" err="1">
                          <a:latin typeface="Corbel" panose="020B0503020204020204" pitchFamily="34" charset="0"/>
                        </a:rPr>
                        <a:t>informer </a:t>
                      </a:r>
                      <a:r>
                        <a:rPr lang="fr-FR" sz="1200" dirty="0">
                          <a:latin typeface="Corbel" panose="020B0503020204020204" pitchFamily="34" charset="0"/>
                        </a:rPr>
                        <a:t>l'</a:t>
                      </a:r>
                      <a:r>
                        <a:rPr lang="fr-FR" sz="1200" dirty="0" err="1">
                          <a:latin typeface="Corbel" panose="020B0503020204020204" pitchFamily="34" charset="0"/>
                        </a:rPr>
                        <a:t>acheteur que </a:t>
                      </a:r>
                      <a:r>
                        <a:rPr lang="fr-FR" sz="1200" dirty="0">
                          <a:latin typeface="Corbel" panose="020B0503020204020204" pitchFamily="34" charset="0"/>
                        </a:rPr>
                        <a:t>les </a:t>
                      </a:r>
                      <a:r>
                        <a:rPr lang="fr-FR" sz="1200" dirty="0" err="1">
                          <a:latin typeface="Corbel" panose="020B0503020204020204" pitchFamily="34" charset="0"/>
                        </a:rPr>
                        <a:t>marchandises </a:t>
                      </a:r>
                      <a:r>
                        <a:rPr lang="fr-FR" sz="1200" dirty="0">
                          <a:latin typeface="Corbel" panose="020B0503020204020204" pitchFamily="34" charset="0"/>
                        </a:rPr>
                        <a:t>ont été </a:t>
                      </a:r>
                      <a:r>
                        <a:rPr lang="fr-FR" sz="1200" dirty="0" err="1">
                          <a:latin typeface="Corbel" panose="020B0503020204020204" pitchFamily="34" charset="0"/>
                        </a:rPr>
                        <a:t>livrées</a:t>
                      </a:r>
                      <a:r>
                        <a:rPr lang="fr-FR" sz="1200" dirty="0">
                          <a:latin typeface="Corbel" panose="020B0503020204020204" pitchFamily="34" charset="0"/>
                        </a:rPr>
                        <a:t>.</a:t>
                      </a:r>
                    </a:p>
                    <a:p>
                      <a:r>
                        <a:rPr lang="fr-FR" sz="1200" dirty="0">
                          <a:latin typeface="Corbel" panose="020B0503020204020204" pitchFamily="34" charset="0"/>
                        </a:rPr>
                        <a:t>Le vendeur doit </a:t>
                      </a:r>
                      <a:r>
                        <a:rPr lang="fr-FR" sz="1200" dirty="0" err="1">
                          <a:latin typeface="Corbel" panose="020B0503020204020204" pitchFamily="34" charset="0"/>
                        </a:rPr>
                        <a:t>donner </a:t>
                      </a:r>
                      <a:r>
                        <a:rPr lang="fr-FR" sz="1200" dirty="0">
                          <a:latin typeface="Corbel" panose="020B0503020204020204" pitchFamily="34" charset="0"/>
                        </a:rPr>
                        <a:t>à </a:t>
                      </a:r>
                      <a:r>
                        <a:rPr lang="fr-FR" sz="1200" dirty="0" err="1">
                          <a:latin typeface="Corbel" panose="020B0503020204020204" pitchFamily="34" charset="0"/>
                        </a:rPr>
                        <a:t>l'acheteur toute </a:t>
                      </a:r>
                      <a:r>
                        <a:rPr lang="fr-FR" sz="1200" dirty="0">
                          <a:latin typeface="Corbel" panose="020B0503020204020204" pitchFamily="34" charset="0"/>
                        </a:rPr>
                        <a:t>notification </a:t>
                      </a:r>
                      <a:r>
                        <a:rPr lang="fr-FR" sz="1200" dirty="0" err="1">
                          <a:latin typeface="Corbel" panose="020B0503020204020204" pitchFamily="34" charset="0"/>
                        </a:rPr>
                        <a:t>nécessaire </a:t>
                      </a:r>
                      <a:r>
                        <a:rPr lang="fr-FR" sz="1200" dirty="0">
                          <a:latin typeface="Corbel" panose="020B0503020204020204" pitchFamily="34" charset="0"/>
                        </a:rPr>
                        <a:t>pour </a:t>
                      </a:r>
                      <a:r>
                        <a:rPr lang="fr-FR" sz="1200" dirty="0" err="1">
                          <a:latin typeface="Corbel" panose="020B0503020204020204" pitchFamily="34" charset="0"/>
                        </a:rPr>
                        <a:t>lui</a:t>
                      </a:r>
                      <a:r>
                        <a:rPr lang="fr-FR" sz="1200" dirty="0">
                          <a:latin typeface="Corbel" panose="020B0503020204020204" pitchFamily="34" charset="0"/>
                        </a:rPr>
                        <a:t> permettre de </a:t>
                      </a:r>
                      <a:r>
                        <a:rPr lang="fr-FR" sz="1200" dirty="0" err="1">
                          <a:latin typeface="Corbel" panose="020B0503020204020204" pitchFamily="34" charset="0"/>
                        </a:rPr>
                        <a:t>réceptionner </a:t>
                      </a:r>
                      <a:r>
                        <a:rPr lang="fr-FR" sz="1200" dirty="0">
                          <a:latin typeface="Corbel" panose="020B0503020204020204" pitchFamily="34" charset="0"/>
                        </a:rPr>
                        <a:t>les </a:t>
                      </a:r>
                      <a:r>
                        <a:rPr lang="fr-FR" sz="1200" dirty="0" err="1">
                          <a:latin typeface="Corbel" panose="020B0503020204020204" pitchFamily="34" charset="0"/>
                        </a:rPr>
                        <a:t>marchandises</a:t>
                      </a:r>
                      <a:r>
                        <a:rPr lang="fr-FR" sz="1200" dirty="0">
                          <a:latin typeface="Corbel" panose="020B0503020204020204" pitchFamily="34" charset="0"/>
                        </a:rPr>
                        <a:t>.</a:t>
                      </a:r>
                    </a:p>
                    <a:p>
                      <a:endParaRPr lang="fr-FR" sz="1200" dirty="0">
                        <a:latin typeface="Corbel" panose="020B0503020204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Corbel" panose="020B0503020204020204" pitchFamily="34" charset="0"/>
                        </a:rPr>
                        <a:t>Si </a:t>
                      </a:r>
                      <a:r>
                        <a:rPr lang="fr-FR" sz="1200" dirty="0" err="1">
                          <a:latin typeface="Corbel" panose="020B0503020204020204" pitchFamily="34" charset="0"/>
                        </a:rPr>
                        <a:t>l'acheteur est en droit </a:t>
                      </a:r>
                      <a:r>
                        <a:rPr lang="fr-FR" sz="1200" dirty="0">
                          <a:latin typeface="Corbel" panose="020B0503020204020204" pitchFamily="34" charset="0"/>
                        </a:rPr>
                        <a:t>de </a:t>
                      </a:r>
                      <a:r>
                        <a:rPr lang="fr-FR" sz="1200" dirty="0" err="1">
                          <a:latin typeface="Corbel" panose="020B0503020204020204" pitchFamily="34" charset="0"/>
                        </a:rPr>
                        <a:t>déterminer </a:t>
                      </a:r>
                      <a:r>
                        <a:rPr lang="fr-FR" sz="1200" dirty="0">
                          <a:latin typeface="Corbel" panose="020B0503020204020204" pitchFamily="34" charset="0"/>
                        </a:rPr>
                        <a:t>le moment de l'expédition des </a:t>
                      </a:r>
                      <a:r>
                        <a:rPr lang="fr-FR" sz="1200" dirty="0" err="1">
                          <a:latin typeface="Corbel" panose="020B0503020204020204" pitchFamily="34" charset="0"/>
                        </a:rPr>
                        <a:t>marchandises </a:t>
                      </a:r>
                      <a:r>
                        <a:rPr lang="fr-FR" sz="1200" dirty="0">
                          <a:latin typeface="Corbel" panose="020B0503020204020204" pitchFamily="34" charset="0"/>
                        </a:rPr>
                        <a:t>et/ou le point de </a:t>
                      </a:r>
                      <a:r>
                        <a:rPr lang="fr-FR" sz="1200" dirty="0" err="1">
                          <a:latin typeface="Corbel" panose="020B0503020204020204" pitchFamily="34" charset="0"/>
                        </a:rPr>
                        <a:t>réception </a:t>
                      </a:r>
                      <a:r>
                        <a:rPr lang="fr-FR" sz="1200" dirty="0">
                          <a:latin typeface="Corbel" panose="020B0503020204020204" pitchFamily="34" charset="0"/>
                        </a:rPr>
                        <a:t>des </a:t>
                      </a:r>
                      <a:r>
                        <a:rPr lang="fr-FR" sz="1200" dirty="0" err="1">
                          <a:latin typeface="Corbel" panose="020B0503020204020204" pitchFamily="34" charset="0"/>
                        </a:rPr>
                        <a:t>marchandises dans </a:t>
                      </a:r>
                      <a:r>
                        <a:rPr lang="fr-FR" sz="1200" dirty="0">
                          <a:latin typeface="Corbel" panose="020B0503020204020204" pitchFamily="34" charset="0"/>
                        </a:rPr>
                        <a:t>le port de destination </a:t>
                      </a:r>
                      <a:r>
                        <a:rPr lang="fr-FR" sz="1200" dirty="0" err="1">
                          <a:latin typeface="Corbel" panose="020B0503020204020204" pitchFamily="34" charset="0"/>
                        </a:rPr>
                        <a:t>désigné</a:t>
                      </a:r>
                      <a:r>
                        <a:rPr lang="fr-FR" sz="1200" dirty="0">
                          <a:latin typeface="Corbel" panose="020B0503020204020204" pitchFamily="34" charset="0"/>
                        </a:rPr>
                        <a:t>, </a:t>
                      </a:r>
                      <a:r>
                        <a:rPr lang="fr-FR" sz="1200" dirty="0" err="1">
                          <a:latin typeface="Corbel" panose="020B0503020204020204" pitchFamily="34" charset="0"/>
                        </a:rPr>
                        <a:t>il </a:t>
                      </a:r>
                      <a:r>
                        <a:rPr lang="fr-FR" sz="1200" dirty="0">
                          <a:latin typeface="Corbel" panose="020B0503020204020204" pitchFamily="34" charset="0"/>
                        </a:rPr>
                        <a:t>doit en informer le vendeur </a:t>
                      </a:r>
                      <a:r>
                        <a:rPr lang="fr-FR" sz="1200" dirty="0" err="1">
                          <a:latin typeface="Corbel" panose="020B0503020204020204" pitchFamily="34" charset="0"/>
                        </a:rPr>
                        <a:t>suffisamment à l'avance</a:t>
                      </a:r>
                      <a:r>
                        <a:rPr lang="fr-FR" sz="1200" dirty="0">
                          <a:latin typeface="Corbel" panose="020B0503020204020204" pitchFamily="34" charset="0"/>
                        </a:rPr>
                        <a:t>.</a:t>
                      </a:r>
                    </a:p>
                    <a:p>
                      <a:endParaRPr lang="fr-FR" sz="1200" dirty="0">
                        <a:latin typeface="Corbel" panose="020B0503020204020204" pitchFamily="34" charset="0"/>
                      </a:endParaRPr>
                    </a:p>
                  </a:txBody>
                  <a:tcPr/>
                </a:tc>
                <a:extLst>
                  <a:ext uri="{0D108BD9-81ED-4DB2-BD59-A6C34878D82A}">
                    <a16:rowId xmlns:a16="http://schemas.microsoft.com/office/drawing/2014/main" val="136351079"/>
                  </a:ext>
                </a:extLst>
              </a:tr>
            </a:tbl>
          </a:graphicData>
        </a:graphic>
      </p:graphicFrame>
      <p:sp>
        <p:nvSpPr>
          <p:cNvPr id="13" name="Titre 1">
            <a:extLst>
              <a:ext uri="{FF2B5EF4-FFF2-40B4-BE49-F238E27FC236}">
                <a16:creationId xmlns:a16="http://schemas.microsoft.com/office/drawing/2014/main" id="{5B3230A3-B6BE-462B-A597-37CF9D11DBD1}"/>
              </a:ext>
            </a:extLst>
          </p:cNvPr>
          <p:cNvSpPr>
            <a:spLocks noGrp="1"/>
          </p:cNvSpPr>
          <p:nvPr>
            <p:ph type="title"/>
          </p:nvPr>
        </p:nvSpPr>
        <p:spPr>
          <a:xfrm>
            <a:off x="381000" y="355847"/>
            <a:ext cx="8381260" cy="1054394"/>
          </a:xfrm>
        </p:spPr>
        <p:txBody>
          <a:bodyPr>
            <a:normAutofit/>
          </a:bodyPr>
          <a:lstStyle/>
          <a:p>
            <a:r>
              <a:rPr lang="fr-FR" sz="3800" dirty="0">
                <a:solidFill>
                  <a:schemeClr val="bg1"/>
                </a:solidFill>
                <a:latin typeface="Franklin Gothic Book" panose="020B0503020102020204" pitchFamily="34" charset="0"/>
              </a:rPr>
              <a:t>CIP : </a:t>
            </a:r>
            <a:r>
              <a:rPr lang="fr-FR" sz="3800" dirty="0" err="1">
                <a:solidFill>
                  <a:schemeClr val="bg1"/>
                </a:solidFill>
                <a:latin typeface="Franklin Gothic Book" panose="020B0503020102020204" pitchFamily="34" charset="0"/>
              </a:rPr>
              <a:t>Transport </a:t>
            </a:r>
            <a:r>
              <a:rPr lang="fr-FR" sz="3800" dirty="0">
                <a:solidFill>
                  <a:schemeClr val="bg1"/>
                </a:solidFill>
                <a:latin typeface="Franklin Gothic Book" panose="020B0503020102020204" pitchFamily="34" charset="0"/>
              </a:rPr>
              <a:t>et </a:t>
            </a:r>
            <a:r>
              <a:rPr lang="fr-FR" sz="3800" dirty="0" err="1">
                <a:solidFill>
                  <a:schemeClr val="bg1"/>
                </a:solidFill>
                <a:latin typeface="Franklin Gothic Book" panose="020B0503020102020204" pitchFamily="34" charset="0"/>
              </a:rPr>
              <a:t>assurance payés </a:t>
            </a:r>
            <a:r>
              <a:rPr lang="fr-FR" sz="3800" dirty="0">
                <a:solidFill>
                  <a:schemeClr val="bg1"/>
                </a:solidFill>
                <a:latin typeface="Franklin Gothic Book" panose="020B0503020102020204" pitchFamily="34" charset="0"/>
              </a:rPr>
              <a:t>jusqu'à (2)</a:t>
            </a:r>
          </a:p>
        </p:txBody>
      </p:sp>
      <p:sp>
        <p:nvSpPr>
          <p:cNvPr id="8" name="Footer Placeholder 3">
            <a:extLst>
              <a:ext uri="{FF2B5EF4-FFF2-40B4-BE49-F238E27FC236}">
                <a16:creationId xmlns:a16="http://schemas.microsoft.com/office/drawing/2014/main" id="{56AEF6D4-A186-4038-A4A6-E2C46CA6B622}"/>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2194391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graphicFrame>
        <p:nvGraphicFramePr>
          <p:cNvPr id="2" name="Tableau 2">
            <a:extLst>
              <a:ext uri="{FF2B5EF4-FFF2-40B4-BE49-F238E27FC236}">
                <a16:creationId xmlns:a16="http://schemas.microsoft.com/office/drawing/2014/main" id="{ACA66BFD-4320-4819-AE7F-89BCFBD93F3A}"/>
              </a:ext>
            </a:extLst>
          </p:cNvPr>
          <p:cNvGraphicFramePr>
            <a:graphicFrameLocks noGrp="1"/>
          </p:cNvGraphicFramePr>
          <p:nvPr>
            <p:ph idx="1"/>
            <p:extLst>
              <p:ext uri="{D42A27DB-BD31-4B8C-83A1-F6EECF244321}">
                <p14:modId xmlns:p14="http://schemas.microsoft.com/office/powerpoint/2010/main" val="186260470"/>
              </p:ext>
            </p:extLst>
          </p:nvPr>
        </p:nvGraphicFramePr>
        <p:xfrm>
          <a:off x="201165" y="1670538"/>
          <a:ext cx="8740611" cy="4308231"/>
        </p:xfrm>
        <a:graphic>
          <a:graphicData uri="http://schemas.openxmlformats.org/drawingml/2006/table">
            <a:tbl>
              <a:tblPr firstRow="1" bandRow="1">
                <a:tableStyleId>{5C22544A-7EE6-4342-B048-85BDC9FD1C3A}</a:tableStyleId>
              </a:tblPr>
              <a:tblGrid>
                <a:gridCol w="1346281">
                  <a:extLst>
                    <a:ext uri="{9D8B030D-6E8A-4147-A177-3AD203B41FA5}">
                      <a16:colId xmlns:a16="http://schemas.microsoft.com/office/drawing/2014/main" val="1761941760"/>
                    </a:ext>
                  </a:extLst>
                </a:gridCol>
                <a:gridCol w="3683977">
                  <a:extLst>
                    <a:ext uri="{9D8B030D-6E8A-4147-A177-3AD203B41FA5}">
                      <a16:colId xmlns:a16="http://schemas.microsoft.com/office/drawing/2014/main" val="2513046791"/>
                    </a:ext>
                  </a:extLst>
                </a:gridCol>
                <a:gridCol w="3710353">
                  <a:extLst>
                    <a:ext uri="{9D8B030D-6E8A-4147-A177-3AD203B41FA5}">
                      <a16:colId xmlns:a16="http://schemas.microsoft.com/office/drawing/2014/main" val="751107264"/>
                    </a:ext>
                  </a:extLst>
                </a:gridCol>
              </a:tblGrid>
              <a:tr h="610437">
                <a:tc>
                  <a:txBody>
                    <a:bodyPr/>
                    <a:lstStyle/>
                    <a:p>
                      <a:endParaRPr lang="fr-FR" sz="1200" dirty="0">
                        <a:latin typeface="Corbel" panose="020B0503020204020204" pitchFamily="34" charset="0"/>
                      </a:endParaRPr>
                    </a:p>
                  </a:txBody>
                  <a:tcPr/>
                </a:tc>
                <a:tc>
                  <a:txBody>
                    <a:bodyPr/>
                    <a:lstStyle/>
                    <a:p>
                      <a:pPr algn="ctr"/>
                      <a:r>
                        <a:rPr lang="fr-FR" sz="1200" dirty="0">
                          <a:latin typeface="Corbel" panose="020B0503020204020204" pitchFamily="34" charset="0"/>
                        </a:rPr>
                        <a:t>Vendeur</a:t>
                      </a:r>
                    </a:p>
                  </a:txBody>
                  <a:tcPr/>
                </a:tc>
                <a:tc>
                  <a:txBody>
                    <a:bodyPr/>
                    <a:lstStyle/>
                    <a:p>
                      <a:pPr algn="ctr"/>
                      <a:r>
                        <a:rPr lang="fr-FR" sz="1200" dirty="0">
                          <a:latin typeface="Corbel" panose="020B0503020204020204" pitchFamily="34" charset="0"/>
                        </a:rPr>
                        <a:t>Acheteur</a:t>
                      </a:r>
                    </a:p>
                  </a:txBody>
                  <a:tcPr/>
                </a:tc>
                <a:extLst>
                  <a:ext uri="{0D108BD9-81ED-4DB2-BD59-A6C34878D82A}">
                    <a16:rowId xmlns:a16="http://schemas.microsoft.com/office/drawing/2014/main" val="2288807433"/>
                  </a:ext>
                </a:extLst>
              </a:tr>
              <a:tr h="3697794">
                <a:tc>
                  <a:txBody>
                    <a:bodyPr/>
                    <a:lstStyle/>
                    <a:p>
                      <a:r>
                        <a:rPr lang="fr-FR" sz="1200" dirty="0" err="1">
                          <a:latin typeface="Corbel" panose="020B0503020204020204" pitchFamily="34" charset="0"/>
                        </a:rPr>
                        <a:t>Assurance</a:t>
                      </a:r>
                      <a:endParaRPr lang="fr-FR" sz="1200" dirty="0">
                        <a:latin typeface="Corbel" panose="020B0503020204020204" pitchFamily="34" charset="0"/>
                      </a:endParaRPr>
                    </a:p>
                  </a:txBody>
                  <a:tcPr/>
                </a:tc>
                <a:tc>
                  <a:txBody>
                    <a:bodyPr/>
                    <a:lstStyle/>
                    <a:p>
                      <a:pPr algn="just"/>
                      <a:r>
                        <a:rPr lang="fr-FR" sz="1200" b="1" u="sng" dirty="0">
                          <a:latin typeface="Corbel" panose="020B0503020204020204" pitchFamily="34" charset="0"/>
                        </a:rPr>
                        <a:t>Le vendeur doit </a:t>
                      </a:r>
                      <a:r>
                        <a:rPr lang="fr-FR" sz="1200" b="1" u="sng" dirty="0" err="1">
                          <a:latin typeface="Corbel" panose="020B0503020204020204" pitchFamily="34" charset="0"/>
                        </a:rPr>
                        <a:t>souscrire </a:t>
                      </a:r>
                      <a:r>
                        <a:rPr lang="fr-FR" sz="1200" b="1" u="sng" dirty="0">
                          <a:latin typeface="Corbel" panose="020B0503020204020204" pitchFamily="34" charset="0"/>
                        </a:rPr>
                        <a:t>à </a:t>
                      </a:r>
                      <a:r>
                        <a:rPr lang="fr-FR" sz="1200" b="1" u="sng" dirty="0" err="1">
                          <a:latin typeface="Corbel" panose="020B0503020204020204" pitchFamily="34" charset="0"/>
                        </a:rPr>
                        <a:t>ses frais une assurance</a:t>
                      </a:r>
                      <a:r>
                        <a:rPr lang="fr-FR" sz="1200" b="1" u="sng" dirty="0">
                          <a:latin typeface="Corbel" panose="020B0503020204020204" pitchFamily="34" charset="0"/>
                        </a:rPr>
                        <a:t> sur la marchandise</a:t>
                      </a:r>
                      <a:r>
                        <a:rPr lang="fr-FR" sz="1200" b="0" u="none" dirty="0">
                          <a:latin typeface="Corbel" panose="020B0503020204020204" pitchFamily="34" charset="0"/>
                        </a:rPr>
                        <a:t>.</a:t>
                      </a:r>
                    </a:p>
                    <a:p>
                      <a:pPr algn="just"/>
                      <a:endParaRPr lang="fr-FR" sz="1200" dirty="0">
                        <a:latin typeface="Corbel" panose="020B0503020204020204" pitchFamily="34" charset="0"/>
                      </a:endParaRPr>
                    </a:p>
                    <a:p>
                      <a:pPr algn="just"/>
                      <a:r>
                        <a:rPr lang="fr-FR" sz="1200" dirty="0" err="1">
                          <a:latin typeface="Corbel" panose="020B0503020204020204" pitchFamily="34" charset="0"/>
                        </a:rPr>
                        <a:t>À la demande </a:t>
                      </a:r>
                      <a:r>
                        <a:rPr lang="fr-FR" sz="1200" dirty="0">
                          <a:latin typeface="Corbel" panose="020B0503020204020204" pitchFamily="34" charset="0"/>
                        </a:rPr>
                        <a:t>de </a:t>
                      </a:r>
                      <a:r>
                        <a:rPr lang="fr-FR" sz="1200" dirty="0" err="1">
                          <a:latin typeface="Corbel" panose="020B0503020204020204" pitchFamily="34" charset="0"/>
                        </a:rPr>
                        <a:t>l'acheteur</a:t>
                      </a:r>
                      <a:r>
                        <a:rPr lang="fr-FR" sz="1200" dirty="0">
                          <a:latin typeface="Corbel" panose="020B0503020204020204" pitchFamily="34" charset="0"/>
                        </a:rPr>
                        <a:t>, le vendeur doit </a:t>
                      </a:r>
                      <a:r>
                        <a:rPr lang="fr-FR" sz="1200" dirty="0" err="1">
                          <a:latin typeface="Corbel" panose="020B0503020204020204" pitchFamily="34" charset="0"/>
                        </a:rPr>
                        <a:t>fournir</a:t>
                      </a:r>
                      <a:r>
                        <a:rPr lang="fr-FR" sz="1200" dirty="0">
                          <a:latin typeface="Corbel" panose="020B0503020204020204" pitchFamily="34" charset="0"/>
                        </a:rPr>
                        <a:t>, aux </a:t>
                      </a:r>
                      <a:r>
                        <a:rPr lang="fr-FR" sz="1200" dirty="0" err="1">
                          <a:latin typeface="Corbel" panose="020B0503020204020204" pitchFamily="34" charset="0"/>
                        </a:rPr>
                        <a:t>frais</a:t>
                      </a:r>
                      <a:r>
                        <a:rPr lang="fr-FR" sz="1200" dirty="0">
                          <a:latin typeface="Corbel" panose="020B0503020204020204" pitchFamily="34" charset="0"/>
                        </a:rPr>
                        <a:t> </a:t>
                      </a:r>
                      <a:r>
                        <a:rPr lang="fr-FR" sz="1200" dirty="0" err="1">
                          <a:latin typeface="Corbel" panose="020B0503020204020204" pitchFamily="34" charset="0"/>
                        </a:rPr>
                        <a:t>de l'acheteur</a:t>
                      </a:r>
                      <a:r>
                        <a:rPr lang="fr-FR" sz="1200" dirty="0">
                          <a:latin typeface="Corbel" panose="020B0503020204020204" pitchFamily="34" charset="0"/>
                        </a:rPr>
                        <a:t>, </a:t>
                      </a:r>
                      <a:r>
                        <a:rPr lang="fr-FR" sz="1200" dirty="0" err="1">
                          <a:latin typeface="Corbel" panose="020B0503020204020204" pitchFamily="34" charset="0"/>
                        </a:rPr>
                        <a:t>toute </a:t>
                      </a:r>
                      <a:r>
                        <a:rPr lang="fr-FR" sz="1200" dirty="0">
                          <a:latin typeface="Corbel" panose="020B0503020204020204" pitchFamily="34" charset="0"/>
                        </a:rPr>
                        <a:t>couverture </a:t>
                      </a:r>
                      <a:r>
                        <a:rPr lang="fr-FR" sz="1200" dirty="0" err="1">
                          <a:latin typeface="Corbel" panose="020B0503020204020204" pitchFamily="34" charset="0"/>
                        </a:rPr>
                        <a:t>supplémentaire</a:t>
                      </a:r>
                      <a:r>
                        <a:rPr lang="fr-FR" sz="1200" dirty="0">
                          <a:latin typeface="Corbel" panose="020B0503020204020204" pitchFamily="34" charset="0"/>
                        </a:rPr>
                        <a:t>, si elle est disponible, </a:t>
                      </a:r>
                      <a:r>
                        <a:rPr lang="fr-FR" sz="1200" dirty="0" err="1">
                          <a:latin typeface="Corbel" panose="020B0503020204020204" pitchFamily="34" charset="0"/>
                        </a:rPr>
                        <a:t>telle </a:t>
                      </a:r>
                      <a:r>
                        <a:rPr lang="fr-FR" sz="1200" dirty="0">
                          <a:latin typeface="Corbel" panose="020B0503020204020204" pitchFamily="34" charset="0"/>
                        </a:rPr>
                        <a:t>que la couverture </a:t>
                      </a:r>
                      <a:r>
                        <a:rPr lang="fr-FR" sz="1200" dirty="0" err="1">
                          <a:latin typeface="Corbel" panose="020B0503020204020204" pitchFamily="34" charset="0"/>
                        </a:rPr>
                        <a:t>conforme aux </a:t>
                      </a:r>
                      <a:r>
                        <a:rPr lang="fr-FR" sz="1200" dirty="0">
                          <a:latin typeface="Corbel" panose="020B0503020204020204" pitchFamily="34" charset="0"/>
                        </a:rPr>
                        <a:t>clauses </a:t>
                      </a:r>
                      <a:r>
                        <a:rPr lang="fr-FR" sz="1200" dirty="0" err="1">
                          <a:latin typeface="Corbel" panose="020B0503020204020204" pitchFamily="34" charset="0"/>
                        </a:rPr>
                        <a:t>de guerre</a:t>
                      </a:r>
                      <a:r>
                        <a:rPr lang="fr-FR" sz="1200" dirty="0">
                          <a:latin typeface="Corbel" panose="020B0503020204020204" pitchFamily="34" charset="0"/>
                        </a:rPr>
                        <a:t> de l'Institut et/ou aux clauses de grève de l'Institut.</a:t>
                      </a:r>
                    </a:p>
                    <a:p>
                      <a:pPr algn="just"/>
                      <a:endParaRPr lang="fr-FR" sz="1200" dirty="0">
                        <a:latin typeface="Corbel" panose="020B0503020204020204" pitchFamily="34" charset="0"/>
                      </a:endParaRPr>
                    </a:p>
                    <a:p>
                      <a:pPr algn="just"/>
                      <a:r>
                        <a:rPr lang="fr-FR" sz="1200" dirty="0" err="1">
                          <a:latin typeface="Corbel" panose="020B0503020204020204" pitchFamily="34" charset="0"/>
                        </a:rPr>
                        <a:t>L'assurance doit </a:t>
                      </a:r>
                      <a:r>
                        <a:rPr lang="fr-FR" sz="1200" dirty="0">
                          <a:latin typeface="Corbel" panose="020B0503020204020204" pitchFamily="34" charset="0"/>
                        </a:rPr>
                        <a:t>couvrir au minimum le </a:t>
                      </a:r>
                      <a:r>
                        <a:rPr lang="fr-FR" sz="1200" dirty="0" err="1">
                          <a:latin typeface="Corbel" panose="020B0503020204020204" pitchFamily="34" charset="0"/>
                        </a:rPr>
                        <a:t>prix prévu </a:t>
                      </a:r>
                      <a:r>
                        <a:rPr lang="fr-FR" sz="1200" dirty="0">
                          <a:latin typeface="Corbel" panose="020B0503020204020204" pitchFamily="34" charset="0"/>
                        </a:rPr>
                        <a:t>dans le </a:t>
                      </a:r>
                      <a:r>
                        <a:rPr lang="fr-FR" sz="1200" dirty="0" err="1">
                          <a:latin typeface="Corbel" panose="020B0503020204020204" pitchFamily="34" charset="0"/>
                        </a:rPr>
                        <a:t>contrat </a:t>
                      </a:r>
                      <a:r>
                        <a:rPr lang="fr-FR" sz="1200" dirty="0">
                          <a:latin typeface="Corbel" panose="020B0503020204020204" pitchFamily="34" charset="0"/>
                        </a:rPr>
                        <a:t>majoré de 10 % (soit 110 %) et </a:t>
                      </a:r>
                      <a:r>
                        <a:rPr lang="fr-FR" sz="1200" dirty="0" err="1">
                          <a:latin typeface="Corbel" panose="020B0503020204020204" pitchFamily="34" charset="0"/>
                        </a:rPr>
                        <a:t>être libellée </a:t>
                      </a:r>
                      <a:r>
                        <a:rPr lang="fr-FR" sz="1200" dirty="0">
                          <a:latin typeface="Corbel" panose="020B0503020204020204" pitchFamily="34" charset="0"/>
                        </a:rPr>
                        <a:t>dans la </a:t>
                      </a:r>
                      <a:r>
                        <a:rPr lang="fr-FR" sz="1200" dirty="0" err="1">
                          <a:latin typeface="Corbel" panose="020B0503020204020204" pitchFamily="34" charset="0"/>
                        </a:rPr>
                        <a:t>devise </a:t>
                      </a:r>
                      <a:r>
                        <a:rPr lang="fr-FR" sz="1200" dirty="0">
                          <a:latin typeface="Corbel" panose="020B0503020204020204" pitchFamily="34" charset="0"/>
                        </a:rPr>
                        <a:t>du </a:t>
                      </a:r>
                      <a:r>
                        <a:rPr lang="fr-FR" sz="1200" dirty="0" err="1">
                          <a:latin typeface="Corbel" panose="020B0503020204020204" pitchFamily="34" charset="0"/>
                        </a:rPr>
                        <a:t>contrat</a:t>
                      </a:r>
                      <a:r>
                        <a:rPr lang="fr-FR" sz="1200" dirty="0">
                          <a:latin typeface="Corbel" panose="020B0503020204020204" pitchFamily="34" charset="0"/>
                        </a:rPr>
                        <a:t>.</a:t>
                      </a:r>
                    </a:p>
                    <a:p>
                      <a:pPr algn="just"/>
                      <a:endParaRPr lang="fr-FR" sz="1200" dirty="0">
                        <a:latin typeface="Corbel" panose="020B0503020204020204" pitchFamily="34" charset="0"/>
                      </a:endParaRPr>
                    </a:p>
                    <a:p>
                      <a:pPr algn="just"/>
                      <a:r>
                        <a:rPr lang="fr-FR" sz="1200" dirty="0" err="1">
                          <a:latin typeface="Corbel" panose="020B0503020204020204" pitchFamily="34" charset="0"/>
                        </a:rPr>
                        <a:t>L'assurance doit </a:t>
                      </a:r>
                      <a:r>
                        <a:rPr lang="fr-FR" sz="1200" dirty="0">
                          <a:latin typeface="Corbel" panose="020B0503020204020204" pitchFamily="34" charset="0"/>
                        </a:rPr>
                        <a:t>couvrir les </a:t>
                      </a:r>
                      <a:r>
                        <a:rPr lang="fr-FR" sz="1200" dirty="0" err="1">
                          <a:latin typeface="Corbel" panose="020B0503020204020204" pitchFamily="34" charset="0"/>
                        </a:rPr>
                        <a:t>marchandises depuis </a:t>
                      </a:r>
                      <a:r>
                        <a:rPr lang="fr-FR" sz="1200" dirty="0">
                          <a:latin typeface="Corbel" panose="020B0503020204020204" pitchFamily="34" charset="0"/>
                        </a:rPr>
                        <a:t>le point de </a:t>
                      </a:r>
                      <a:r>
                        <a:rPr lang="fr-FR" sz="1200" dirty="0" err="1">
                          <a:latin typeface="Corbel" panose="020B0503020204020204" pitchFamily="34" charset="0"/>
                        </a:rPr>
                        <a:t>livraison </a:t>
                      </a:r>
                      <a:r>
                        <a:rPr lang="fr-FR" sz="1200" dirty="0">
                          <a:latin typeface="Corbel" panose="020B0503020204020204" pitchFamily="34" charset="0"/>
                        </a:rPr>
                        <a:t>jusqu'au lieu de destination </a:t>
                      </a:r>
                      <a:r>
                        <a:rPr lang="fr-FR" sz="1200" dirty="0" err="1">
                          <a:latin typeface="Corbel" panose="020B0503020204020204" pitchFamily="34" charset="0"/>
                        </a:rPr>
                        <a:t>désigné</a:t>
                      </a:r>
                      <a:r>
                        <a:rPr lang="fr-FR" sz="1200" dirty="0">
                          <a:latin typeface="Corbel" panose="020B0503020204020204" pitchFamily="34" charset="0"/>
                        </a:rPr>
                        <a:t> au minimum.</a:t>
                      </a:r>
                    </a:p>
                    <a:p>
                      <a:pPr algn="just"/>
                      <a:endParaRPr lang="fr-FR" sz="1200" dirty="0">
                        <a:latin typeface="Corbel" panose="020B0503020204020204" pitchFamily="34" charset="0"/>
                      </a:endParaRPr>
                    </a:p>
                    <a:p>
                      <a:pPr algn="just"/>
                      <a:r>
                        <a:rPr lang="fr-FR" sz="1200" dirty="0">
                          <a:latin typeface="Corbel" panose="020B0503020204020204" pitchFamily="34" charset="0"/>
                        </a:rPr>
                        <a:t>Le vendeur doit </a:t>
                      </a:r>
                      <a:r>
                        <a:rPr lang="fr-FR" sz="1200" dirty="0" err="1">
                          <a:latin typeface="Corbel" panose="020B0503020204020204" pitchFamily="34" charset="0"/>
                        </a:rPr>
                        <a:t>fournir à l'acheteur </a:t>
                      </a:r>
                      <a:r>
                        <a:rPr lang="fr-FR" sz="1200" dirty="0">
                          <a:latin typeface="Corbel" panose="020B0503020204020204" pitchFamily="34" charset="0"/>
                        </a:rPr>
                        <a:t>la </a:t>
                      </a:r>
                      <a:r>
                        <a:rPr lang="fr-FR" sz="1200" dirty="0" err="1">
                          <a:latin typeface="Corbel" panose="020B0503020204020204" pitchFamily="34" charset="0"/>
                        </a:rPr>
                        <a:t>police </a:t>
                      </a:r>
                      <a:r>
                        <a:rPr lang="fr-FR" sz="1200" dirty="0">
                          <a:latin typeface="Corbel" panose="020B0503020204020204" pitchFamily="34" charset="0"/>
                        </a:rPr>
                        <a:t>ou </a:t>
                      </a:r>
                      <a:r>
                        <a:rPr lang="fr-FR" sz="1200" dirty="0" err="1">
                          <a:latin typeface="Corbel" panose="020B0503020204020204" pitchFamily="34" charset="0"/>
                        </a:rPr>
                        <a:t>le certificat d'assurance</a:t>
                      </a:r>
                      <a:r>
                        <a:rPr lang="fr-FR" sz="1200" dirty="0">
                          <a:latin typeface="Corbel" panose="020B0503020204020204" pitchFamily="34" charset="0"/>
                        </a:rPr>
                        <a:t>.</a:t>
                      </a:r>
                    </a:p>
                  </a:txBody>
                  <a:tcPr/>
                </a:tc>
                <a:tc>
                  <a:txBody>
                    <a:bodyPr/>
                    <a:lstStyle/>
                    <a:p>
                      <a:pPr algn="just"/>
                      <a:r>
                        <a:rPr lang="fr-FR" sz="1200" dirty="0" err="1">
                          <a:latin typeface="Corbel" panose="020B0503020204020204" pitchFamily="34" charset="0"/>
                        </a:rPr>
                        <a:t>L'acheteur </a:t>
                      </a:r>
                      <a:r>
                        <a:rPr lang="fr-FR" sz="1200" dirty="0">
                          <a:latin typeface="Corbel" panose="020B0503020204020204" pitchFamily="34" charset="0"/>
                        </a:rPr>
                        <a:t>n'a aucune obligation envers le vendeur de </a:t>
                      </a:r>
                      <a:r>
                        <a:rPr lang="fr-FR" sz="1200" dirty="0" err="1">
                          <a:latin typeface="Corbel" panose="020B0503020204020204" pitchFamily="34" charset="0"/>
                        </a:rPr>
                        <a:t>souscrire </a:t>
                      </a:r>
                      <a:r>
                        <a:rPr lang="fr-FR" sz="1200" dirty="0">
                          <a:latin typeface="Corbel" panose="020B0503020204020204" pitchFamily="34" charset="0"/>
                        </a:rPr>
                        <a:t>un </a:t>
                      </a:r>
                      <a:r>
                        <a:rPr lang="fr-FR" sz="1200" dirty="0" err="1">
                          <a:latin typeface="Corbel" panose="020B0503020204020204" pitchFamily="34" charset="0"/>
                        </a:rPr>
                        <a:t>contrat d'assurance</a:t>
                      </a:r>
                      <a:r>
                        <a:rPr lang="fr-FR" sz="1200" dirty="0">
                          <a:latin typeface="Corbel" panose="020B0503020204020204" pitchFamily="34" charset="0"/>
                        </a:rPr>
                        <a:t>. </a:t>
                      </a:r>
                      <a:r>
                        <a:rPr lang="fr-FR" sz="1200" dirty="0" err="1">
                          <a:latin typeface="Corbel" panose="020B0503020204020204" pitchFamily="34" charset="0"/>
                        </a:rPr>
                        <a:t>Toutefois</a:t>
                      </a:r>
                      <a:r>
                        <a:rPr lang="fr-FR" sz="1200" dirty="0">
                          <a:latin typeface="Corbel" panose="020B0503020204020204" pitchFamily="34" charset="0"/>
                        </a:rPr>
                        <a:t>, </a:t>
                      </a:r>
                      <a:r>
                        <a:rPr lang="fr-FR" sz="1200" dirty="0" err="1">
                          <a:latin typeface="Corbel" panose="020B0503020204020204" pitchFamily="34" charset="0"/>
                        </a:rPr>
                        <a:t>l'acheteur </a:t>
                      </a:r>
                      <a:r>
                        <a:rPr lang="fr-FR" sz="1200" dirty="0">
                          <a:latin typeface="Corbel" panose="020B0503020204020204" pitchFamily="34" charset="0"/>
                        </a:rPr>
                        <a:t>doit </a:t>
                      </a:r>
                      <a:r>
                        <a:rPr lang="fr-FR" sz="1200" dirty="0" err="1">
                          <a:latin typeface="Corbel" panose="020B0503020204020204" pitchFamily="34" charset="0"/>
                        </a:rPr>
                        <a:t>fournir </a:t>
                      </a:r>
                      <a:r>
                        <a:rPr lang="fr-FR" sz="1200" dirty="0">
                          <a:latin typeface="Corbel" panose="020B0503020204020204" pitchFamily="34" charset="0"/>
                        </a:rPr>
                        <a:t>au vendeur, </a:t>
                      </a:r>
                      <a:r>
                        <a:rPr lang="fr-FR" sz="1200" dirty="0" err="1">
                          <a:latin typeface="Corbel" panose="020B0503020204020204" pitchFamily="34" charset="0"/>
                        </a:rPr>
                        <a:t>sur demande</a:t>
                      </a:r>
                      <a:r>
                        <a:rPr lang="fr-FR" sz="1200" dirty="0">
                          <a:latin typeface="Corbel" panose="020B0503020204020204" pitchFamily="34" charset="0"/>
                        </a:rPr>
                        <a:t>, </a:t>
                      </a:r>
                      <a:r>
                        <a:rPr lang="fr-FR" sz="1200" dirty="0" err="1">
                          <a:latin typeface="Corbel" panose="020B0503020204020204" pitchFamily="34" charset="0"/>
                        </a:rPr>
                        <a:t>toutes </a:t>
                      </a:r>
                      <a:r>
                        <a:rPr lang="fr-FR" sz="1200" dirty="0">
                          <a:latin typeface="Corbel" panose="020B0503020204020204" pitchFamily="34" charset="0"/>
                        </a:rPr>
                        <a:t>les informations </a:t>
                      </a:r>
                      <a:r>
                        <a:rPr lang="fr-FR" sz="1200" dirty="0" err="1">
                          <a:latin typeface="Corbel" panose="020B0503020204020204" pitchFamily="34" charset="0"/>
                        </a:rPr>
                        <a:t>nécessaires </a:t>
                      </a:r>
                      <a:r>
                        <a:rPr lang="fr-FR" sz="1200" dirty="0">
                          <a:latin typeface="Corbel" panose="020B0503020204020204" pitchFamily="34" charset="0"/>
                        </a:rPr>
                        <a:t>pour que ce dernier puisse souscrire </a:t>
                      </a:r>
                      <a:r>
                        <a:rPr lang="fr-FR" sz="1200" dirty="0" err="1">
                          <a:latin typeface="Corbel" panose="020B0503020204020204" pitchFamily="34" charset="0"/>
                        </a:rPr>
                        <a:t>toute assurance supplémentaire demandée </a:t>
                      </a:r>
                      <a:r>
                        <a:rPr lang="fr-FR" sz="1200" dirty="0">
                          <a:latin typeface="Corbel" panose="020B0503020204020204" pitchFamily="34" charset="0"/>
                        </a:rPr>
                        <a:t>par </a:t>
                      </a:r>
                      <a:r>
                        <a:rPr lang="fr-FR" sz="1200" dirty="0" err="1">
                          <a:latin typeface="Corbel" panose="020B0503020204020204" pitchFamily="34" charset="0"/>
                        </a:rPr>
                        <a:t>l'acheteur</a:t>
                      </a:r>
                      <a:r>
                        <a:rPr lang="fr-FR" sz="1200" dirty="0">
                          <a:latin typeface="Corbel" panose="020B0503020204020204" pitchFamily="34" charset="0"/>
                        </a:rPr>
                        <a:t>.</a:t>
                      </a:r>
                    </a:p>
                  </a:txBody>
                  <a:tcPr/>
                </a:tc>
                <a:extLst>
                  <a:ext uri="{0D108BD9-81ED-4DB2-BD59-A6C34878D82A}">
                    <a16:rowId xmlns:a16="http://schemas.microsoft.com/office/drawing/2014/main" val="3798640279"/>
                  </a:ext>
                </a:extLst>
              </a:tr>
            </a:tbl>
          </a:graphicData>
        </a:graphic>
      </p:graphicFrame>
      <p:sp>
        <p:nvSpPr>
          <p:cNvPr id="13" name="Titre 1">
            <a:extLst>
              <a:ext uri="{FF2B5EF4-FFF2-40B4-BE49-F238E27FC236}">
                <a16:creationId xmlns:a16="http://schemas.microsoft.com/office/drawing/2014/main" id="{5B3230A3-B6BE-462B-A597-37CF9D11DBD1}"/>
              </a:ext>
            </a:extLst>
          </p:cNvPr>
          <p:cNvSpPr>
            <a:spLocks noGrp="1"/>
          </p:cNvSpPr>
          <p:nvPr>
            <p:ph type="title"/>
          </p:nvPr>
        </p:nvSpPr>
        <p:spPr>
          <a:xfrm>
            <a:off x="381000" y="355847"/>
            <a:ext cx="8381260" cy="1054394"/>
          </a:xfrm>
        </p:spPr>
        <p:txBody>
          <a:bodyPr>
            <a:normAutofit/>
          </a:bodyPr>
          <a:lstStyle/>
          <a:p>
            <a:r>
              <a:rPr lang="fr-FR" sz="3800" dirty="0">
                <a:solidFill>
                  <a:schemeClr val="bg1"/>
                </a:solidFill>
                <a:latin typeface="Franklin Gothic Book" panose="020B0503020102020204" pitchFamily="34" charset="0"/>
              </a:rPr>
              <a:t>CIP : </a:t>
            </a:r>
            <a:r>
              <a:rPr lang="fr-FR" sz="3800" dirty="0" err="1">
                <a:solidFill>
                  <a:schemeClr val="bg1"/>
                </a:solidFill>
                <a:latin typeface="Franklin Gothic Book" panose="020B0503020102020204" pitchFamily="34" charset="0"/>
              </a:rPr>
              <a:t>Transport </a:t>
            </a:r>
            <a:r>
              <a:rPr lang="fr-FR" sz="3800" dirty="0">
                <a:solidFill>
                  <a:schemeClr val="bg1"/>
                </a:solidFill>
                <a:latin typeface="Franklin Gothic Book" panose="020B0503020102020204" pitchFamily="34" charset="0"/>
              </a:rPr>
              <a:t>et </a:t>
            </a:r>
            <a:r>
              <a:rPr lang="fr-FR" sz="3800" dirty="0" err="1">
                <a:solidFill>
                  <a:schemeClr val="bg1"/>
                </a:solidFill>
                <a:latin typeface="Franklin Gothic Book" panose="020B0503020102020204" pitchFamily="34" charset="0"/>
              </a:rPr>
              <a:t>assurance payés </a:t>
            </a:r>
            <a:r>
              <a:rPr lang="fr-FR" sz="3800" dirty="0">
                <a:solidFill>
                  <a:schemeClr val="bg1"/>
                </a:solidFill>
                <a:latin typeface="Franklin Gothic Book" panose="020B0503020102020204" pitchFamily="34" charset="0"/>
              </a:rPr>
              <a:t>jusqu'à (3)</a:t>
            </a:r>
          </a:p>
        </p:txBody>
      </p:sp>
      <p:sp>
        <p:nvSpPr>
          <p:cNvPr id="8" name="Footer Placeholder 3">
            <a:extLst>
              <a:ext uri="{FF2B5EF4-FFF2-40B4-BE49-F238E27FC236}">
                <a16:creationId xmlns:a16="http://schemas.microsoft.com/office/drawing/2014/main" id="{56AEF6D4-A186-4038-A4A6-E2C46CA6B622}"/>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3584896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1" name="Espace réservé du contenu 2">
            <a:extLst>
              <a:ext uri="{FF2B5EF4-FFF2-40B4-BE49-F238E27FC236}">
                <a16:creationId xmlns:a16="http://schemas.microsoft.com/office/drawing/2014/main" id="{686FE67F-E23C-4215-85BA-8E8FA7F5A124}"/>
              </a:ext>
            </a:extLst>
          </p:cNvPr>
          <p:cNvSpPr>
            <a:spLocks noGrp="1"/>
          </p:cNvSpPr>
          <p:nvPr>
            <p:ph idx="1"/>
          </p:nvPr>
        </p:nvSpPr>
        <p:spPr>
          <a:xfrm>
            <a:off x="201165" y="4220307"/>
            <a:ext cx="8741670" cy="1783078"/>
          </a:xfrm>
        </p:spPr>
        <p:txBody>
          <a:bodyPr>
            <a:noAutofit/>
          </a:bodyPr>
          <a:lstStyle/>
          <a:p>
            <a:pPr marL="0" indent="0">
              <a:buNone/>
            </a:pPr>
            <a:r>
              <a:rPr lang="en-US" sz="1400" b="1" u="sng" dirty="0"/>
              <a:t>Lieu de livraison : </a:t>
            </a:r>
            <a:r>
              <a:rPr lang="en-US" sz="1400" dirty="0"/>
              <a:t>lieu de destination désigné.</a:t>
            </a:r>
          </a:p>
          <a:p>
            <a:pPr marL="0" indent="0">
              <a:buNone/>
            </a:pPr>
            <a:r>
              <a:rPr lang="en-US" sz="1400" b="1" u="sng" dirty="0"/>
              <a:t>Obligations du vendeur : </a:t>
            </a:r>
            <a:r>
              <a:rPr lang="en-US" sz="1400" dirty="0"/>
              <a:t>dédouaner les marchandises pour l'exportation + mettre les marchandises à la disposition de l'acheteur sur le moyen de transport à l'arrivée, prêtes à être déchargées au lieu de destination désigné + conclure le contrat de transport principal.</a:t>
            </a:r>
          </a:p>
          <a:p>
            <a:pPr marL="0" indent="0">
              <a:buNone/>
            </a:pPr>
            <a:r>
              <a:rPr lang="en-US" sz="1400" b="1" u="sng" dirty="0"/>
              <a:t>Mais : </a:t>
            </a:r>
            <a:r>
              <a:rPr lang="en-US" sz="1400" dirty="0"/>
              <a:t>pas de contrat d'assurance.</a:t>
            </a:r>
          </a:p>
          <a:p>
            <a:pPr marL="0" indent="0">
              <a:buNone/>
            </a:pPr>
            <a:r>
              <a:rPr lang="en-US" sz="1400" dirty="0"/>
              <a:t>DAP = CPT + risques.</a:t>
            </a:r>
            <a:endParaRPr lang="en-GB" sz="1400" dirty="0"/>
          </a:p>
        </p:txBody>
      </p:sp>
      <p:sp>
        <p:nvSpPr>
          <p:cNvPr id="12" name="Titre 1">
            <a:extLst>
              <a:ext uri="{FF2B5EF4-FFF2-40B4-BE49-F238E27FC236}">
                <a16:creationId xmlns:a16="http://schemas.microsoft.com/office/drawing/2014/main" id="{9C73BF69-1FF6-4E57-A72A-82C547C980B9}"/>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DAP : </a:t>
            </a:r>
            <a:r>
              <a:rPr lang="fr-FR" dirty="0" err="1">
                <a:solidFill>
                  <a:schemeClr val="bg1"/>
                </a:solidFill>
                <a:latin typeface="Franklin Gothic Book" panose="020B0503020102020204" pitchFamily="34" charset="0"/>
              </a:rPr>
              <a:t>Livraison </a:t>
            </a:r>
            <a:r>
              <a:rPr lang="fr-FR" dirty="0">
                <a:solidFill>
                  <a:schemeClr val="bg1"/>
                </a:solidFill>
                <a:latin typeface="Franklin Gothic Book" panose="020B0503020102020204" pitchFamily="34" charset="0"/>
              </a:rPr>
              <a:t>à destination</a:t>
            </a:r>
          </a:p>
        </p:txBody>
      </p:sp>
      <p:sp>
        <p:nvSpPr>
          <p:cNvPr id="8" name="Footer Placeholder 3">
            <a:extLst>
              <a:ext uri="{FF2B5EF4-FFF2-40B4-BE49-F238E27FC236}">
                <a16:creationId xmlns:a16="http://schemas.microsoft.com/office/drawing/2014/main" id="{CAF1CC85-6C33-4D6E-93D9-5804664F6909}"/>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pic>
        <p:nvPicPr>
          <p:cNvPr id="4" name="Image 3" descr="Une image contenant texte, clipart, capture d’écran&#10;&#10;Description générée automatiquement">
            <a:extLst>
              <a:ext uri="{FF2B5EF4-FFF2-40B4-BE49-F238E27FC236}">
                <a16:creationId xmlns:a16="http://schemas.microsoft.com/office/drawing/2014/main" id="{6EEC0CDD-81A6-4717-A255-B4B55BC971C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38958" y="1582616"/>
            <a:ext cx="5678465" cy="2637692"/>
          </a:xfrm>
          <a:prstGeom prst="rect">
            <a:avLst/>
          </a:prstGeom>
        </p:spPr>
      </p:pic>
    </p:spTree>
    <p:extLst>
      <p:ext uri="{BB962C8B-B14F-4D97-AF65-F5344CB8AC3E}">
        <p14:creationId xmlns:p14="http://schemas.microsoft.com/office/powerpoint/2010/main" val="437172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graphicFrame>
        <p:nvGraphicFramePr>
          <p:cNvPr id="2" name="Tableau 2">
            <a:extLst>
              <a:ext uri="{FF2B5EF4-FFF2-40B4-BE49-F238E27FC236}">
                <a16:creationId xmlns:a16="http://schemas.microsoft.com/office/drawing/2014/main" id="{B4CE1701-467B-4B07-B281-4F746B5925C1}"/>
              </a:ext>
            </a:extLst>
          </p:cNvPr>
          <p:cNvGraphicFramePr>
            <a:graphicFrameLocks noGrp="1"/>
          </p:cNvGraphicFramePr>
          <p:nvPr>
            <p:ph idx="1"/>
            <p:extLst>
              <p:ext uri="{D42A27DB-BD31-4B8C-83A1-F6EECF244321}">
                <p14:modId xmlns:p14="http://schemas.microsoft.com/office/powerpoint/2010/main" val="1173582775"/>
              </p:ext>
            </p:extLst>
          </p:nvPr>
        </p:nvGraphicFramePr>
        <p:xfrm>
          <a:off x="201165" y="1661746"/>
          <a:ext cx="8758197" cy="4299440"/>
        </p:xfrm>
        <a:graphic>
          <a:graphicData uri="http://schemas.openxmlformats.org/drawingml/2006/table">
            <a:tbl>
              <a:tblPr firstRow="1" bandRow="1">
                <a:tableStyleId>{5C22544A-7EE6-4342-B048-85BDC9FD1C3A}</a:tableStyleId>
              </a:tblPr>
              <a:tblGrid>
                <a:gridCol w="1539712">
                  <a:extLst>
                    <a:ext uri="{9D8B030D-6E8A-4147-A177-3AD203B41FA5}">
                      <a16:colId xmlns:a16="http://schemas.microsoft.com/office/drawing/2014/main" val="3855544754"/>
                    </a:ext>
                  </a:extLst>
                </a:gridCol>
                <a:gridCol w="3516923">
                  <a:extLst>
                    <a:ext uri="{9D8B030D-6E8A-4147-A177-3AD203B41FA5}">
                      <a16:colId xmlns:a16="http://schemas.microsoft.com/office/drawing/2014/main" val="3724410661"/>
                    </a:ext>
                  </a:extLst>
                </a:gridCol>
                <a:gridCol w="3701562">
                  <a:extLst>
                    <a:ext uri="{9D8B030D-6E8A-4147-A177-3AD203B41FA5}">
                      <a16:colId xmlns:a16="http://schemas.microsoft.com/office/drawing/2014/main" val="3391186507"/>
                    </a:ext>
                  </a:extLst>
                </a:gridCol>
              </a:tblGrid>
              <a:tr h="494900">
                <a:tc>
                  <a:txBody>
                    <a:bodyPr/>
                    <a:lstStyle/>
                    <a:p>
                      <a:endParaRPr lang="fr-FR" sz="1200">
                        <a:latin typeface="Corbel" panose="020B0503020204020204" pitchFamily="34" charset="0"/>
                      </a:endParaRPr>
                    </a:p>
                  </a:txBody>
                  <a:tcPr/>
                </a:tc>
                <a:tc>
                  <a:txBody>
                    <a:bodyPr/>
                    <a:lstStyle/>
                    <a:p>
                      <a:pPr algn="ctr"/>
                      <a:r>
                        <a:rPr lang="fr-FR" sz="1200" dirty="0">
                          <a:latin typeface="Corbel" panose="020B0503020204020204" pitchFamily="34" charset="0"/>
                        </a:rPr>
                        <a:t>Vendeur</a:t>
                      </a:r>
                    </a:p>
                  </a:txBody>
                  <a:tcPr/>
                </a:tc>
                <a:tc>
                  <a:txBody>
                    <a:bodyPr/>
                    <a:lstStyle/>
                    <a:p>
                      <a:pPr algn="ctr"/>
                      <a:r>
                        <a:rPr lang="fr-FR" sz="1200" dirty="0">
                          <a:latin typeface="Corbel" panose="020B0503020204020204" pitchFamily="34" charset="0"/>
                        </a:rPr>
                        <a:t>Acheteur</a:t>
                      </a:r>
                    </a:p>
                  </a:txBody>
                  <a:tcPr/>
                </a:tc>
                <a:extLst>
                  <a:ext uri="{0D108BD9-81ED-4DB2-BD59-A6C34878D82A}">
                    <a16:rowId xmlns:a16="http://schemas.microsoft.com/office/drawing/2014/main" val="2083754910"/>
                  </a:ext>
                </a:extLst>
              </a:tr>
              <a:tr h="12681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Corbel" panose="020B0503020204020204" pitchFamily="34" charset="0"/>
                        </a:rPr>
                        <a:t>Dédouanement à l'exportation/à l'importation</a:t>
                      </a:r>
                    </a:p>
                    <a:p>
                      <a:endParaRPr lang="fr-FR" sz="1200" dirty="0">
                        <a:latin typeface="Corbel" panose="020B0503020204020204" pitchFamily="34" charset="0"/>
                      </a:endParaRPr>
                    </a:p>
                  </a:txBody>
                  <a:tcPr/>
                </a:tc>
                <a:tc>
                  <a:txBody>
                    <a:bodyPr/>
                    <a:lstStyle/>
                    <a:p>
                      <a:r>
                        <a:rPr lang="fr-FR" sz="1200" dirty="0">
                          <a:latin typeface="Corbel" panose="020B0503020204020204" pitchFamily="34" charset="0"/>
                        </a:rPr>
                        <a:t>Exportation : le vendeur doit effectuer et </a:t>
                      </a:r>
                      <a:r>
                        <a:rPr lang="fr-FR" sz="1200" dirty="0" err="1">
                          <a:latin typeface="Corbel" panose="020B0503020204020204" pitchFamily="34" charset="0"/>
                        </a:rPr>
                        <a:t>payer </a:t>
                      </a:r>
                      <a:r>
                        <a:rPr lang="fr-FR" sz="1200" dirty="0">
                          <a:latin typeface="Corbel" panose="020B0503020204020204" pitchFamily="34" charset="0"/>
                        </a:rPr>
                        <a:t>toutes </a:t>
                      </a:r>
                      <a:r>
                        <a:rPr lang="fr-FR" sz="1200" dirty="0" err="1">
                          <a:latin typeface="Corbel" panose="020B0503020204020204" pitchFamily="34" charset="0"/>
                        </a:rPr>
                        <a:t>les formalités</a:t>
                      </a:r>
                      <a:r>
                        <a:rPr lang="fr-FR" sz="1200" dirty="0">
                          <a:latin typeface="Corbel" panose="020B0503020204020204" pitchFamily="34" charset="0"/>
                        </a:rPr>
                        <a:t> de dédouanement à l'exportation.</a:t>
                      </a:r>
                    </a:p>
                    <a:p>
                      <a:endParaRPr lang="fr-FR" sz="1200" dirty="0">
                        <a:latin typeface="Corbel" panose="020B0503020204020204" pitchFamily="34" charset="0"/>
                      </a:endParaRPr>
                    </a:p>
                    <a:p>
                      <a:r>
                        <a:rPr lang="fr-FR" sz="1200" dirty="0">
                          <a:latin typeface="Corbel" panose="020B0503020204020204" pitchFamily="34" charset="0"/>
                        </a:rPr>
                        <a:t>Importation : le vendeur doit aider </a:t>
                      </a:r>
                      <a:r>
                        <a:rPr lang="fr-FR" sz="1200" dirty="0" err="1">
                          <a:latin typeface="Corbel" panose="020B0503020204020204" pitchFamily="34" charset="0"/>
                        </a:rPr>
                        <a:t>l'acheteur</a:t>
                      </a:r>
                      <a:r>
                        <a:rPr lang="fr-FR" sz="1200" dirty="0">
                          <a:latin typeface="Corbel" panose="020B0503020204020204" pitchFamily="34" charset="0"/>
                        </a:rPr>
                        <a:t>, à la </a:t>
                      </a:r>
                      <a:r>
                        <a:rPr lang="fr-FR" sz="1200" dirty="0" err="1">
                          <a:latin typeface="Corbel" panose="020B0503020204020204" pitchFamily="34" charset="0"/>
                        </a:rPr>
                        <a:t>demande de ce dernier</a:t>
                      </a:r>
                      <a:r>
                        <a:rPr lang="fr-FR" sz="1200" dirty="0">
                          <a:latin typeface="Corbel" panose="020B0503020204020204" pitchFamily="34" charset="0"/>
                        </a:rPr>
                        <a:t>, à </a:t>
                      </a:r>
                      <a:r>
                        <a:rPr lang="fr-FR" sz="1200" dirty="0" err="1">
                          <a:latin typeface="Corbel" panose="020B0503020204020204" pitchFamily="34" charset="0"/>
                        </a:rPr>
                        <a:t>obtenir tous </a:t>
                      </a:r>
                      <a:r>
                        <a:rPr lang="fr-FR" sz="1200" dirty="0">
                          <a:latin typeface="Corbel" panose="020B0503020204020204" pitchFamily="34" charset="0"/>
                        </a:rPr>
                        <a:t>les documents ou informations </a:t>
                      </a:r>
                      <a:r>
                        <a:rPr lang="fr-FR" sz="1200" dirty="0" err="1">
                          <a:latin typeface="Corbel" panose="020B0503020204020204" pitchFamily="34" charset="0"/>
                        </a:rPr>
                        <a:t>relatifs </a:t>
                      </a:r>
                      <a:r>
                        <a:rPr lang="fr-FR" sz="1200" dirty="0">
                          <a:latin typeface="Corbel" panose="020B0503020204020204" pitchFamily="34" charset="0"/>
                        </a:rPr>
                        <a:t>aux </a:t>
                      </a:r>
                      <a:r>
                        <a:rPr lang="fr-FR" sz="1200" dirty="0" err="1">
                          <a:latin typeface="Corbel" panose="020B0503020204020204" pitchFamily="34" charset="0"/>
                        </a:rPr>
                        <a:t>formalités</a:t>
                      </a:r>
                      <a:r>
                        <a:rPr lang="fr-FR" sz="1200" dirty="0">
                          <a:latin typeface="Corbel" panose="020B0503020204020204" pitchFamily="34" charset="0"/>
                        </a:rPr>
                        <a:t> de dédouanement à l'importation.</a:t>
                      </a:r>
                    </a:p>
                  </a:txBody>
                  <a:tcPr/>
                </a:tc>
                <a:tc>
                  <a:txBody>
                    <a:bodyPr/>
                    <a:lstStyle/>
                    <a:p>
                      <a:r>
                        <a:rPr lang="fr-FR" sz="1200" dirty="0">
                          <a:latin typeface="Corbel" panose="020B0503020204020204" pitchFamily="34" charset="0"/>
                        </a:rPr>
                        <a:t>Exportation : </a:t>
                      </a:r>
                      <a:r>
                        <a:rPr lang="fr-FR" sz="1200" dirty="0" err="1">
                          <a:latin typeface="Corbel" panose="020B0503020204020204" pitchFamily="34" charset="0"/>
                        </a:rPr>
                        <a:t>l'acheteur </a:t>
                      </a:r>
                      <a:r>
                        <a:rPr lang="fr-FR" sz="1200" dirty="0">
                          <a:latin typeface="Corbel" panose="020B0503020204020204" pitchFamily="34" charset="0"/>
                        </a:rPr>
                        <a:t>doit aider le vendeur, à la </a:t>
                      </a:r>
                      <a:r>
                        <a:rPr lang="fr-FR" sz="1200" dirty="0" err="1">
                          <a:latin typeface="Corbel" panose="020B0503020204020204" pitchFamily="34" charset="0"/>
                        </a:rPr>
                        <a:t>demande de ce dernier, </a:t>
                      </a:r>
                      <a:r>
                        <a:rPr lang="fr-FR" sz="1200" dirty="0">
                          <a:latin typeface="Corbel" panose="020B0503020204020204" pitchFamily="34" charset="0"/>
                        </a:rPr>
                        <a:t>à </a:t>
                      </a:r>
                      <a:r>
                        <a:rPr lang="fr-FR" sz="1200" dirty="0" err="1">
                          <a:latin typeface="Corbel" panose="020B0503020204020204" pitchFamily="34" charset="0"/>
                        </a:rPr>
                        <a:t>obtenir tous </a:t>
                      </a:r>
                      <a:r>
                        <a:rPr lang="fr-FR" sz="1200" dirty="0">
                          <a:latin typeface="Corbel" panose="020B0503020204020204" pitchFamily="34" charset="0"/>
                        </a:rPr>
                        <a:t>les documents ou informations </a:t>
                      </a:r>
                      <a:r>
                        <a:rPr lang="fr-FR" sz="1200" dirty="0" err="1">
                          <a:latin typeface="Corbel" panose="020B0503020204020204" pitchFamily="34" charset="0"/>
                        </a:rPr>
                        <a:t>relatifs </a:t>
                      </a:r>
                      <a:r>
                        <a:rPr lang="fr-FR" sz="1200" dirty="0">
                          <a:latin typeface="Corbel" panose="020B0503020204020204" pitchFamily="34" charset="0"/>
                        </a:rPr>
                        <a:t>aux </a:t>
                      </a:r>
                      <a:r>
                        <a:rPr lang="fr-FR" sz="1200" dirty="0" err="1">
                          <a:latin typeface="Corbel" panose="020B0503020204020204" pitchFamily="34" charset="0"/>
                        </a:rPr>
                        <a:t>formalités</a:t>
                      </a:r>
                      <a:r>
                        <a:rPr lang="fr-FR" sz="1200" dirty="0">
                          <a:latin typeface="Corbel" panose="020B0503020204020204" pitchFamily="34" charset="0"/>
                        </a:rPr>
                        <a:t> de dédouanement à l'exportation.</a:t>
                      </a:r>
                    </a:p>
                    <a:p>
                      <a:endParaRPr lang="fr-FR" sz="1200" dirty="0">
                        <a:latin typeface="Corbel" panose="020B0503020204020204" pitchFamily="34" charset="0"/>
                      </a:endParaRPr>
                    </a:p>
                    <a:p>
                      <a:r>
                        <a:rPr lang="fr-FR" sz="1200" dirty="0">
                          <a:latin typeface="Corbel" panose="020B0503020204020204" pitchFamily="34" charset="0"/>
                        </a:rPr>
                        <a:t>Importation : </a:t>
                      </a:r>
                      <a:r>
                        <a:rPr lang="fr-FR" sz="1200" dirty="0" err="1">
                          <a:latin typeface="Corbel" panose="020B0503020204020204" pitchFamily="34" charset="0"/>
                        </a:rPr>
                        <a:t>l'acheteur </a:t>
                      </a:r>
                      <a:r>
                        <a:rPr lang="fr-FR" sz="1200" dirty="0">
                          <a:latin typeface="Corbel" panose="020B0503020204020204" pitchFamily="34" charset="0"/>
                        </a:rPr>
                        <a:t>doit effectuer et </a:t>
                      </a:r>
                      <a:r>
                        <a:rPr lang="fr-FR" sz="1200" dirty="0" err="1">
                          <a:latin typeface="Corbel" panose="020B0503020204020204" pitchFamily="34" charset="0"/>
                        </a:rPr>
                        <a:t>payer </a:t>
                      </a:r>
                      <a:r>
                        <a:rPr lang="fr-FR" sz="1200" dirty="0">
                          <a:latin typeface="Corbel" panose="020B0503020204020204" pitchFamily="34" charset="0"/>
                        </a:rPr>
                        <a:t>toutes </a:t>
                      </a:r>
                      <a:r>
                        <a:rPr lang="fr-FR" sz="1200" dirty="0" err="1">
                          <a:latin typeface="Corbel" panose="020B0503020204020204" pitchFamily="34" charset="0"/>
                        </a:rPr>
                        <a:t>les formalités</a:t>
                      </a:r>
                      <a:r>
                        <a:rPr lang="fr-FR" sz="1200" dirty="0">
                          <a:latin typeface="Corbel" panose="020B0503020204020204" pitchFamily="34" charset="0"/>
                        </a:rPr>
                        <a:t>.</a:t>
                      </a:r>
                    </a:p>
                  </a:txBody>
                  <a:tcPr/>
                </a:tc>
                <a:extLst>
                  <a:ext uri="{0D108BD9-81ED-4DB2-BD59-A6C34878D82A}">
                    <a16:rowId xmlns:a16="http://schemas.microsoft.com/office/drawing/2014/main" val="2654185567"/>
                  </a:ext>
                </a:extLst>
              </a:tr>
              <a:tr h="12681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Corbel" panose="020B0503020204020204" pitchFamily="34" charset="0"/>
                        </a:rPr>
                        <a:t>Contrôle / emballage / </a:t>
                      </a:r>
                      <a:r>
                        <a:rPr lang="fr-FR" sz="1200" dirty="0" err="1">
                          <a:latin typeface="Corbel" panose="020B0503020204020204" pitchFamily="34" charset="0"/>
                        </a:rPr>
                        <a:t>marquage</a:t>
                      </a:r>
                      <a:endParaRPr lang="fr-FR" sz="1200" dirty="0">
                        <a:latin typeface="Corbel" panose="020B0503020204020204" pitchFamily="34" charset="0"/>
                      </a:endParaRPr>
                    </a:p>
                    <a:p>
                      <a:endParaRPr lang="fr-FR" sz="1200" dirty="0">
                        <a:latin typeface="Corbel" panose="020B0503020204020204" pitchFamily="34" charset="0"/>
                      </a:endParaRPr>
                    </a:p>
                  </a:txBody>
                  <a:tcPr/>
                </a:tc>
                <a:tc>
                  <a:txBody>
                    <a:bodyPr/>
                    <a:lstStyle/>
                    <a:p>
                      <a:pPr algn="l"/>
                      <a:r>
                        <a:rPr lang="fr-FR" sz="1200" dirty="0">
                          <a:solidFill>
                            <a:schemeClr val="tx1"/>
                          </a:solidFill>
                          <a:latin typeface="Corbel" panose="020B0503020204020204" pitchFamily="34" charset="0"/>
                        </a:rPr>
                        <a:t>Le vendeur doit :</a:t>
                      </a:r>
                    </a:p>
                    <a:p>
                      <a:pPr marL="171450" indent="-171450" algn="l">
                        <a:buFontTx/>
                        <a:buChar char="-"/>
                      </a:pPr>
                      <a:r>
                        <a:rPr lang="fr-FR" sz="1200" dirty="0" err="1">
                          <a:solidFill>
                            <a:schemeClr val="tx1"/>
                          </a:solidFill>
                          <a:latin typeface="Corbel" panose="020B0503020204020204" pitchFamily="34" charset="0"/>
                        </a:rPr>
                        <a:t>Prendre en charge </a:t>
                      </a:r>
                      <a:r>
                        <a:rPr lang="fr-FR" sz="1200" dirty="0">
                          <a:solidFill>
                            <a:schemeClr val="tx1"/>
                          </a:solidFill>
                          <a:latin typeface="Corbel" panose="020B0503020204020204" pitchFamily="34" charset="0"/>
                        </a:rPr>
                        <a:t>le </a:t>
                      </a:r>
                      <a:r>
                        <a:rPr lang="fr-FR" sz="1200" dirty="0" err="1">
                          <a:solidFill>
                            <a:schemeClr val="tx1"/>
                          </a:solidFill>
                          <a:latin typeface="Corbel" panose="020B0503020204020204" pitchFamily="34" charset="0"/>
                        </a:rPr>
                        <a:t>coût </a:t>
                      </a:r>
                      <a:r>
                        <a:rPr lang="fr-FR" sz="1200" dirty="0">
                          <a:solidFill>
                            <a:schemeClr val="tx1"/>
                          </a:solidFill>
                          <a:latin typeface="Corbel" panose="020B0503020204020204" pitchFamily="34" charset="0"/>
                        </a:rPr>
                        <a:t>de toutes </a:t>
                      </a:r>
                      <a:r>
                        <a:rPr lang="fr-FR" sz="1200" dirty="0" err="1">
                          <a:solidFill>
                            <a:schemeClr val="tx1"/>
                          </a:solidFill>
                          <a:latin typeface="Corbel" panose="020B0503020204020204" pitchFamily="34" charset="0"/>
                        </a:rPr>
                        <a:t>les opérations</a:t>
                      </a:r>
                      <a:r>
                        <a:rPr lang="fr-FR" sz="1200" dirty="0">
                          <a:solidFill>
                            <a:schemeClr val="tx1"/>
                          </a:solidFill>
                          <a:latin typeface="Corbel" panose="020B0503020204020204" pitchFamily="34" charset="0"/>
                        </a:rPr>
                        <a:t> de contrôle (contrôle </a:t>
                      </a:r>
                      <a:r>
                        <a:rPr lang="fr-FR" sz="1200" dirty="0" err="1">
                          <a:solidFill>
                            <a:schemeClr val="tx1"/>
                          </a:solidFill>
                          <a:latin typeface="Corbel" panose="020B0503020204020204" pitchFamily="34" charset="0"/>
                        </a:rPr>
                        <a:t>de la qualité</a:t>
                      </a:r>
                      <a:r>
                        <a:rPr lang="fr-FR" sz="1200" dirty="0">
                          <a:solidFill>
                            <a:schemeClr val="tx1"/>
                          </a:solidFill>
                          <a:latin typeface="Corbel" panose="020B0503020204020204" pitchFamily="34" charset="0"/>
                        </a:rPr>
                        <a:t>, </a:t>
                      </a:r>
                      <a:r>
                        <a:rPr lang="fr-FR" sz="1200" dirty="0" err="1">
                          <a:solidFill>
                            <a:schemeClr val="tx1"/>
                          </a:solidFill>
                          <a:latin typeface="Corbel" panose="020B0503020204020204" pitchFamily="34" charset="0"/>
                        </a:rPr>
                        <a:t>mesure</a:t>
                      </a:r>
                      <a:r>
                        <a:rPr lang="fr-FR" sz="1200" dirty="0">
                          <a:solidFill>
                            <a:schemeClr val="tx1"/>
                          </a:solidFill>
                          <a:latin typeface="Corbel" panose="020B0503020204020204" pitchFamily="34" charset="0"/>
                        </a:rPr>
                        <a:t>, </a:t>
                      </a:r>
                      <a:r>
                        <a:rPr lang="fr-FR" sz="1200" dirty="0" err="1">
                          <a:solidFill>
                            <a:schemeClr val="tx1"/>
                          </a:solidFill>
                          <a:latin typeface="Corbel" panose="020B0503020204020204" pitchFamily="34" charset="0"/>
                        </a:rPr>
                        <a:t>pesée</a:t>
                      </a:r>
                      <a:r>
                        <a:rPr lang="fr-FR" sz="1200" dirty="0">
                          <a:solidFill>
                            <a:schemeClr val="tx1"/>
                          </a:solidFill>
                          <a:latin typeface="Corbel" panose="020B0503020204020204" pitchFamily="34" charset="0"/>
                        </a:rPr>
                        <a:t>, </a:t>
                      </a:r>
                      <a:r>
                        <a:rPr lang="fr-FR" sz="1200" dirty="0" err="1">
                          <a:solidFill>
                            <a:schemeClr val="tx1"/>
                          </a:solidFill>
                          <a:latin typeface="Corbel" panose="020B0503020204020204" pitchFamily="34" charset="0"/>
                        </a:rPr>
                        <a:t>comptage</a:t>
                      </a:r>
                      <a:r>
                        <a:rPr lang="fr-FR" sz="1200" dirty="0">
                          <a:solidFill>
                            <a:schemeClr val="tx1"/>
                          </a:solidFill>
                          <a:latin typeface="Corbel" panose="020B0503020204020204" pitchFamily="34" charset="0"/>
                        </a:rPr>
                        <a:t>)</a:t>
                      </a:r>
                    </a:p>
                    <a:p>
                      <a:pPr marL="171450" indent="-171450" algn="l">
                        <a:buFontTx/>
                        <a:buChar char="-"/>
                      </a:pPr>
                      <a:r>
                        <a:rPr lang="fr-FR" sz="1200" dirty="0">
                          <a:solidFill>
                            <a:schemeClr val="tx1"/>
                          </a:solidFill>
                          <a:latin typeface="Corbel" panose="020B0503020204020204" pitchFamily="34" charset="0"/>
                        </a:rPr>
                        <a:t>Emballer et marquer les </a:t>
                      </a:r>
                      <a:r>
                        <a:rPr lang="fr-FR" sz="1200" dirty="0" err="1">
                          <a:solidFill>
                            <a:schemeClr val="tx1"/>
                          </a:solidFill>
                          <a:latin typeface="Corbel" panose="020B0503020204020204" pitchFamily="34" charset="0"/>
                        </a:rPr>
                        <a:t>marchandises </a:t>
                      </a:r>
                      <a:r>
                        <a:rPr lang="fr-FR" sz="1200" dirty="0">
                          <a:solidFill>
                            <a:schemeClr val="tx1"/>
                          </a:solidFill>
                          <a:latin typeface="Corbel" panose="020B0503020204020204" pitchFamily="34" charset="0"/>
                        </a:rPr>
                        <a:t>de </a:t>
                      </a:r>
                      <a:r>
                        <a:rPr lang="fr-FR" sz="1200" dirty="0" err="1">
                          <a:solidFill>
                            <a:schemeClr val="tx1"/>
                          </a:solidFill>
                          <a:latin typeface="Corbel" panose="020B0503020204020204" pitchFamily="34" charset="0"/>
                        </a:rPr>
                        <a:t>manière appropriée </a:t>
                      </a:r>
                      <a:r>
                        <a:rPr lang="fr-FR" sz="1200" dirty="0">
                          <a:solidFill>
                            <a:schemeClr val="tx1"/>
                          </a:solidFill>
                          <a:latin typeface="Corbel" panose="020B0503020204020204" pitchFamily="34" charset="0"/>
                        </a:rPr>
                        <a:t>pour </a:t>
                      </a:r>
                      <a:r>
                        <a:rPr lang="fr-FR" sz="1200" dirty="0" err="1">
                          <a:solidFill>
                            <a:schemeClr val="tx1"/>
                          </a:solidFill>
                          <a:latin typeface="Corbel" panose="020B0503020204020204" pitchFamily="34" charset="0"/>
                        </a:rPr>
                        <a:t>leur </a:t>
                      </a:r>
                      <a:r>
                        <a:rPr lang="fr-FR" sz="1200" dirty="0">
                          <a:solidFill>
                            <a:schemeClr val="tx1"/>
                          </a:solidFill>
                          <a:latin typeface="Corbel" panose="020B0503020204020204" pitchFamily="34" charset="0"/>
                        </a:rPr>
                        <a:t>transport.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err="1">
                          <a:latin typeface="Corbel" panose="020B0503020204020204" pitchFamily="34" charset="0"/>
                        </a:rPr>
                        <a:t>L'acheteur </a:t>
                      </a:r>
                      <a:r>
                        <a:rPr lang="fr-FR" sz="1200" dirty="0">
                          <a:latin typeface="Corbel" panose="020B0503020204020204" pitchFamily="34" charset="0"/>
                        </a:rPr>
                        <a:t>n'a aucune obligation envers le vendeur.</a:t>
                      </a:r>
                    </a:p>
                    <a:p>
                      <a:endParaRPr lang="fr-FR" sz="1200" dirty="0">
                        <a:latin typeface="Corbel" panose="020B0503020204020204" pitchFamily="34" charset="0"/>
                      </a:endParaRPr>
                    </a:p>
                  </a:txBody>
                  <a:tcPr/>
                </a:tc>
                <a:extLst>
                  <a:ext uri="{0D108BD9-81ED-4DB2-BD59-A6C34878D82A}">
                    <a16:rowId xmlns:a16="http://schemas.microsoft.com/office/drawing/2014/main" val="739215883"/>
                  </a:ext>
                </a:extLst>
              </a:tr>
              <a:tr h="12681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Corbel" panose="020B0503020204020204" pitchFamily="34" charset="0"/>
                        </a:rPr>
                        <a:t>Avis</a:t>
                      </a:r>
                    </a:p>
                    <a:p>
                      <a:endParaRPr lang="fr-FR" sz="1200" dirty="0">
                        <a:latin typeface="Corbel" panose="020B0503020204020204" pitchFamily="34" charset="0"/>
                      </a:endParaRPr>
                    </a:p>
                  </a:txBody>
                  <a:tcPr/>
                </a:tc>
                <a:tc>
                  <a:txBody>
                    <a:bodyPr/>
                    <a:lstStyle/>
                    <a:p>
                      <a:r>
                        <a:rPr lang="fr-FR" sz="1200" dirty="0">
                          <a:latin typeface="Corbel" panose="020B0503020204020204" pitchFamily="34" charset="0"/>
                        </a:rPr>
                        <a:t>Le vendeur doit </a:t>
                      </a:r>
                      <a:r>
                        <a:rPr lang="fr-FR" sz="1200" dirty="0" err="1">
                          <a:latin typeface="Corbel" panose="020B0503020204020204" pitchFamily="34" charset="0"/>
                        </a:rPr>
                        <a:t>donner </a:t>
                      </a:r>
                      <a:r>
                        <a:rPr lang="fr-FR" sz="1200" dirty="0">
                          <a:latin typeface="Corbel" panose="020B0503020204020204" pitchFamily="34" charset="0"/>
                        </a:rPr>
                        <a:t>à </a:t>
                      </a:r>
                      <a:r>
                        <a:rPr lang="fr-FR" sz="1200" dirty="0" err="1">
                          <a:latin typeface="Corbel" panose="020B0503020204020204" pitchFamily="34" charset="0"/>
                        </a:rPr>
                        <a:t>l'acheteur tout </a:t>
                      </a:r>
                      <a:r>
                        <a:rPr lang="fr-FR" sz="1200" dirty="0">
                          <a:latin typeface="Corbel" panose="020B0503020204020204" pitchFamily="34" charset="0"/>
                        </a:rPr>
                        <a:t>préavis </a:t>
                      </a:r>
                      <a:r>
                        <a:rPr lang="fr-FR" sz="1200" dirty="0" err="1">
                          <a:latin typeface="Corbel" panose="020B0503020204020204" pitchFamily="34" charset="0"/>
                        </a:rPr>
                        <a:t>nécessaire </a:t>
                      </a:r>
                      <a:r>
                        <a:rPr lang="fr-FR" sz="1200" dirty="0">
                          <a:latin typeface="Corbel" panose="020B0503020204020204" pitchFamily="34" charset="0"/>
                        </a:rPr>
                        <a:t>pour </a:t>
                      </a:r>
                      <a:r>
                        <a:rPr lang="fr-FR" sz="1200" dirty="0" err="1">
                          <a:latin typeface="Corbel" panose="020B0503020204020204" pitchFamily="34" charset="0"/>
                        </a:rPr>
                        <a:t>lui</a:t>
                      </a:r>
                      <a:r>
                        <a:rPr lang="fr-FR" sz="1200" dirty="0">
                          <a:latin typeface="Corbel" panose="020B0503020204020204" pitchFamily="34" charset="0"/>
                        </a:rPr>
                        <a:t> permettre de </a:t>
                      </a:r>
                      <a:r>
                        <a:rPr lang="fr-FR" sz="1200" dirty="0" err="1">
                          <a:latin typeface="Corbel" panose="020B0503020204020204" pitchFamily="34" charset="0"/>
                        </a:rPr>
                        <a:t>réceptionner </a:t>
                      </a:r>
                      <a:r>
                        <a:rPr lang="fr-FR" sz="1200" dirty="0">
                          <a:latin typeface="Corbel" panose="020B0503020204020204" pitchFamily="34" charset="0"/>
                        </a:rPr>
                        <a:t>les </a:t>
                      </a:r>
                      <a:r>
                        <a:rPr lang="fr-FR" sz="1200" dirty="0" err="1">
                          <a:latin typeface="Corbel" panose="020B0503020204020204" pitchFamily="34" charset="0"/>
                        </a:rPr>
                        <a:t>marchandises</a:t>
                      </a:r>
                      <a:r>
                        <a:rPr lang="fr-FR" sz="1200" dirty="0">
                          <a:latin typeface="Corbel" panose="020B0503020204020204" pitchFamily="34" charset="0"/>
                        </a:rPr>
                        <a:t>.</a:t>
                      </a:r>
                    </a:p>
                    <a:p>
                      <a:endParaRPr lang="fr-FR" sz="1200" dirty="0">
                        <a:latin typeface="Corbel" panose="020B0503020204020204" pitchFamily="34" charset="0"/>
                      </a:endParaRPr>
                    </a:p>
                    <a:p>
                      <a:endParaRPr lang="fr-FR" sz="1200" dirty="0">
                        <a:latin typeface="Corbel" panose="020B0503020204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Corbel" panose="020B0503020204020204" pitchFamily="34" charset="0"/>
                        </a:rPr>
                        <a:t>Si </a:t>
                      </a:r>
                      <a:r>
                        <a:rPr lang="fr-FR" sz="1200" dirty="0" err="1">
                          <a:latin typeface="Corbel" panose="020B0503020204020204" pitchFamily="34" charset="0"/>
                        </a:rPr>
                        <a:t>l'acheteur est en droit </a:t>
                      </a:r>
                      <a:r>
                        <a:rPr lang="fr-FR" sz="1200" dirty="0">
                          <a:latin typeface="Corbel" panose="020B0503020204020204" pitchFamily="34" charset="0"/>
                        </a:rPr>
                        <a:t>de </a:t>
                      </a:r>
                      <a:r>
                        <a:rPr lang="fr-FR" sz="1200" dirty="0" err="1">
                          <a:latin typeface="Corbel" panose="020B0503020204020204" pitchFamily="34" charset="0"/>
                        </a:rPr>
                        <a:t>déterminer </a:t>
                      </a:r>
                      <a:r>
                        <a:rPr lang="fr-FR" sz="1200" dirty="0">
                          <a:latin typeface="Corbel" panose="020B0503020204020204" pitchFamily="34" charset="0"/>
                        </a:rPr>
                        <a:t>le moment de l'expédition des </a:t>
                      </a:r>
                      <a:r>
                        <a:rPr lang="fr-FR" sz="1200" dirty="0" err="1">
                          <a:latin typeface="Corbel" panose="020B0503020204020204" pitchFamily="34" charset="0"/>
                        </a:rPr>
                        <a:t>marchandises </a:t>
                      </a:r>
                      <a:r>
                        <a:rPr lang="fr-FR" sz="1200" dirty="0">
                          <a:latin typeface="Corbel" panose="020B0503020204020204" pitchFamily="34" charset="0"/>
                        </a:rPr>
                        <a:t>et/ou le point de </a:t>
                      </a:r>
                      <a:r>
                        <a:rPr lang="fr-FR" sz="1200" dirty="0" err="1">
                          <a:latin typeface="Corbel" panose="020B0503020204020204" pitchFamily="34" charset="0"/>
                        </a:rPr>
                        <a:t>réception </a:t>
                      </a:r>
                      <a:r>
                        <a:rPr lang="fr-FR" sz="1200" dirty="0">
                          <a:latin typeface="Corbel" panose="020B0503020204020204" pitchFamily="34" charset="0"/>
                        </a:rPr>
                        <a:t>des </a:t>
                      </a:r>
                      <a:r>
                        <a:rPr lang="fr-FR" sz="1200" dirty="0" err="1">
                          <a:latin typeface="Corbel" panose="020B0503020204020204" pitchFamily="34" charset="0"/>
                        </a:rPr>
                        <a:t>marchandises dans </a:t>
                      </a:r>
                      <a:r>
                        <a:rPr lang="fr-FR" sz="1200" dirty="0">
                          <a:latin typeface="Corbel" panose="020B0503020204020204" pitchFamily="34" charset="0"/>
                        </a:rPr>
                        <a:t>le port de destination </a:t>
                      </a:r>
                      <a:r>
                        <a:rPr lang="fr-FR" sz="1200" dirty="0" err="1">
                          <a:latin typeface="Corbel" panose="020B0503020204020204" pitchFamily="34" charset="0"/>
                        </a:rPr>
                        <a:t>désigné</a:t>
                      </a:r>
                      <a:r>
                        <a:rPr lang="fr-FR" sz="1200" dirty="0">
                          <a:latin typeface="Corbel" panose="020B0503020204020204" pitchFamily="34" charset="0"/>
                        </a:rPr>
                        <a:t>, </a:t>
                      </a:r>
                      <a:r>
                        <a:rPr lang="fr-FR" sz="1200" dirty="0" err="1">
                          <a:latin typeface="Corbel" panose="020B0503020204020204" pitchFamily="34" charset="0"/>
                        </a:rPr>
                        <a:t>il </a:t>
                      </a:r>
                      <a:r>
                        <a:rPr lang="fr-FR" sz="1200" dirty="0">
                          <a:latin typeface="Corbel" panose="020B0503020204020204" pitchFamily="34" charset="0"/>
                        </a:rPr>
                        <a:t>doit en informer le vendeur </a:t>
                      </a:r>
                      <a:r>
                        <a:rPr lang="fr-FR" sz="1200" dirty="0" err="1">
                          <a:latin typeface="Corbel" panose="020B0503020204020204" pitchFamily="34" charset="0"/>
                        </a:rPr>
                        <a:t>suffisamment à l'avance</a:t>
                      </a:r>
                      <a:r>
                        <a:rPr lang="fr-FR" sz="1200" dirty="0">
                          <a:latin typeface="Corbel" panose="020B0503020204020204" pitchFamily="34" charset="0"/>
                        </a:rPr>
                        <a:t>.</a:t>
                      </a:r>
                    </a:p>
                    <a:p>
                      <a:endParaRPr lang="fr-FR" sz="1200" dirty="0">
                        <a:latin typeface="Corbel" panose="020B0503020204020204" pitchFamily="34" charset="0"/>
                      </a:endParaRPr>
                    </a:p>
                  </a:txBody>
                  <a:tcPr/>
                </a:tc>
                <a:extLst>
                  <a:ext uri="{0D108BD9-81ED-4DB2-BD59-A6C34878D82A}">
                    <a16:rowId xmlns:a16="http://schemas.microsoft.com/office/drawing/2014/main" val="2288509366"/>
                  </a:ext>
                </a:extLst>
              </a:tr>
            </a:tbl>
          </a:graphicData>
        </a:graphic>
      </p:graphicFrame>
      <p:sp>
        <p:nvSpPr>
          <p:cNvPr id="12" name="Titre 1">
            <a:extLst>
              <a:ext uri="{FF2B5EF4-FFF2-40B4-BE49-F238E27FC236}">
                <a16:creationId xmlns:a16="http://schemas.microsoft.com/office/drawing/2014/main" id="{9C73BF69-1FF6-4E57-A72A-82C547C980B9}"/>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DAP : </a:t>
            </a:r>
            <a:r>
              <a:rPr lang="fr-FR" dirty="0" err="1">
                <a:solidFill>
                  <a:schemeClr val="bg1"/>
                </a:solidFill>
                <a:latin typeface="Franklin Gothic Book" panose="020B0503020102020204" pitchFamily="34" charset="0"/>
              </a:rPr>
              <a:t>Livraison </a:t>
            </a:r>
            <a:r>
              <a:rPr lang="fr-FR" dirty="0">
                <a:solidFill>
                  <a:schemeClr val="bg1"/>
                </a:solidFill>
                <a:latin typeface="Franklin Gothic Book" panose="020B0503020102020204" pitchFamily="34" charset="0"/>
              </a:rPr>
              <a:t>à destination</a:t>
            </a:r>
          </a:p>
        </p:txBody>
      </p:sp>
      <p:sp>
        <p:nvSpPr>
          <p:cNvPr id="8" name="Footer Placeholder 3">
            <a:extLst>
              <a:ext uri="{FF2B5EF4-FFF2-40B4-BE49-F238E27FC236}">
                <a16:creationId xmlns:a16="http://schemas.microsoft.com/office/drawing/2014/main" id="{CAF1CC85-6C33-4D6E-93D9-5804664F6909}"/>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4191824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1" name="Espace réservé du contenu 2">
            <a:extLst>
              <a:ext uri="{FF2B5EF4-FFF2-40B4-BE49-F238E27FC236}">
                <a16:creationId xmlns:a16="http://schemas.microsoft.com/office/drawing/2014/main" id="{30339894-F172-4DAD-94EE-0FDA1DDD147D}"/>
              </a:ext>
            </a:extLst>
          </p:cNvPr>
          <p:cNvSpPr>
            <a:spLocks noGrp="1"/>
          </p:cNvSpPr>
          <p:nvPr>
            <p:ph idx="1"/>
          </p:nvPr>
        </p:nvSpPr>
        <p:spPr>
          <a:xfrm>
            <a:off x="201165" y="4703885"/>
            <a:ext cx="8731820" cy="1263964"/>
          </a:xfrm>
        </p:spPr>
        <p:txBody>
          <a:bodyPr>
            <a:normAutofit fontScale="92500" lnSpcReduction="10000"/>
          </a:bodyPr>
          <a:lstStyle/>
          <a:p>
            <a:pPr marL="0" indent="0">
              <a:buNone/>
            </a:pPr>
            <a:r>
              <a:rPr lang="en-US" sz="1400" b="1" u="sng" dirty="0"/>
              <a:t>Lieu de livraison : </a:t>
            </a:r>
            <a:r>
              <a:rPr lang="en-US" sz="1400" dirty="0"/>
              <a:t>au lieu de destination désigné (terminal ou autre), lorsque les marchandises sont déchargées du moyen de transport et mises à la disposition de l'acheteur au lieu de destination convenu (terminal ou autre).</a:t>
            </a:r>
          </a:p>
          <a:p>
            <a:pPr marL="0" indent="0">
              <a:buNone/>
            </a:pPr>
            <a:r>
              <a:rPr lang="en-US" sz="1400" b="1" u="sng" dirty="0"/>
              <a:t>Obligations du vendeur : </a:t>
            </a:r>
            <a:r>
              <a:rPr lang="en-US" sz="1400" dirty="0"/>
              <a:t>dédouaner les marchandises pour l'exportation + conclure le contrat de transport principal.</a:t>
            </a:r>
          </a:p>
          <a:p>
            <a:pPr marL="0" indent="0">
              <a:buNone/>
            </a:pPr>
            <a:r>
              <a:rPr lang="en-US" sz="1400" dirty="0"/>
              <a:t>Mais : pas de contrat d'assurance.</a:t>
            </a:r>
            <a:endParaRPr lang="en-GB" sz="1400" dirty="0"/>
          </a:p>
        </p:txBody>
      </p:sp>
      <p:sp>
        <p:nvSpPr>
          <p:cNvPr id="12" name="Titre 1">
            <a:extLst>
              <a:ext uri="{FF2B5EF4-FFF2-40B4-BE49-F238E27FC236}">
                <a16:creationId xmlns:a16="http://schemas.microsoft.com/office/drawing/2014/main" id="{5043E480-026A-4F00-947D-678512732390}"/>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DPU : </a:t>
            </a:r>
            <a:r>
              <a:rPr lang="fr-FR" dirty="0" err="1">
                <a:solidFill>
                  <a:schemeClr val="bg1"/>
                </a:solidFill>
                <a:latin typeface="Franklin Gothic Book" panose="020B0503020102020204" pitchFamily="34" charset="0"/>
              </a:rPr>
              <a:t>Livraison </a:t>
            </a:r>
            <a:r>
              <a:rPr lang="fr-FR" dirty="0">
                <a:solidFill>
                  <a:schemeClr val="bg1"/>
                </a:solidFill>
                <a:latin typeface="Franklin Gothic Book" panose="020B0503020102020204" pitchFamily="34" charset="0"/>
              </a:rPr>
              <a:t>au lieu de destination, </a:t>
            </a:r>
            <a:r>
              <a:rPr lang="fr-FR" dirty="0" err="1">
                <a:solidFill>
                  <a:schemeClr val="bg1"/>
                </a:solidFill>
                <a:latin typeface="Franklin Gothic Book" panose="020B0503020102020204" pitchFamily="34" charset="0"/>
              </a:rPr>
              <a:t>déchargé</a:t>
            </a:r>
            <a:endParaRPr lang="fr-FR" dirty="0">
              <a:solidFill>
                <a:schemeClr val="bg1"/>
              </a:solidFill>
              <a:latin typeface="Franklin Gothic Book" panose="020B0503020102020204" pitchFamily="34" charset="0"/>
            </a:endParaRPr>
          </a:p>
        </p:txBody>
      </p:sp>
      <p:sp>
        <p:nvSpPr>
          <p:cNvPr id="8" name="Footer Placeholder 3">
            <a:extLst>
              <a:ext uri="{FF2B5EF4-FFF2-40B4-BE49-F238E27FC236}">
                <a16:creationId xmlns:a16="http://schemas.microsoft.com/office/drawing/2014/main" id="{7A94E691-5656-4510-9E4D-D3C2BB2C530D}"/>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pic>
        <p:nvPicPr>
          <p:cNvPr id="4" name="Image 3" descr="Une image contenant texte&#10;&#10;Description générée automatiquement">
            <a:extLst>
              <a:ext uri="{FF2B5EF4-FFF2-40B4-BE49-F238E27FC236}">
                <a16:creationId xmlns:a16="http://schemas.microsoft.com/office/drawing/2014/main" id="{39D66F27-4711-4C09-8EDB-389E0438FFF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08992" y="1751713"/>
            <a:ext cx="5969977" cy="2864249"/>
          </a:xfrm>
          <a:prstGeom prst="rect">
            <a:avLst/>
          </a:prstGeom>
        </p:spPr>
      </p:pic>
    </p:spTree>
    <p:extLst>
      <p:ext uri="{BB962C8B-B14F-4D97-AF65-F5344CB8AC3E}">
        <p14:creationId xmlns:p14="http://schemas.microsoft.com/office/powerpoint/2010/main" val="1455998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graphicFrame>
        <p:nvGraphicFramePr>
          <p:cNvPr id="2" name="Tableau 2">
            <a:extLst>
              <a:ext uri="{FF2B5EF4-FFF2-40B4-BE49-F238E27FC236}">
                <a16:creationId xmlns:a16="http://schemas.microsoft.com/office/drawing/2014/main" id="{8086B350-E156-4484-BC44-D0A7ACD27601}"/>
              </a:ext>
            </a:extLst>
          </p:cNvPr>
          <p:cNvGraphicFramePr>
            <a:graphicFrameLocks noGrp="1"/>
          </p:cNvGraphicFramePr>
          <p:nvPr>
            <p:ph idx="1"/>
            <p:extLst>
              <p:ext uri="{D42A27DB-BD31-4B8C-83A1-F6EECF244321}">
                <p14:modId xmlns:p14="http://schemas.microsoft.com/office/powerpoint/2010/main" val="1324008543"/>
              </p:ext>
            </p:extLst>
          </p:nvPr>
        </p:nvGraphicFramePr>
        <p:xfrm>
          <a:off x="201165" y="1696915"/>
          <a:ext cx="8723028" cy="4264269"/>
        </p:xfrm>
        <a:graphic>
          <a:graphicData uri="http://schemas.openxmlformats.org/drawingml/2006/table">
            <a:tbl>
              <a:tblPr firstRow="1" bandRow="1">
                <a:tableStyleId>{5C22544A-7EE6-4342-B048-85BDC9FD1C3A}</a:tableStyleId>
              </a:tblPr>
              <a:tblGrid>
                <a:gridCol w="1530920">
                  <a:extLst>
                    <a:ext uri="{9D8B030D-6E8A-4147-A177-3AD203B41FA5}">
                      <a16:colId xmlns:a16="http://schemas.microsoft.com/office/drawing/2014/main" val="1359226003"/>
                    </a:ext>
                  </a:extLst>
                </a:gridCol>
                <a:gridCol w="3543300">
                  <a:extLst>
                    <a:ext uri="{9D8B030D-6E8A-4147-A177-3AD203B41FA5}">
                      <a16:colId xmlns:a16="http://schemas.microsoft.com/office/drawing/2014/main" val="884646099"/>
                    </a:ext>
                  </a:extLst>
                </a:gridCol>
                <a:gridCol w="3648808">
                  <a:extLst>
                    <a:ext uri="{9D8B030D-6E8A-4147-A177-3AD203B41FA5}">
                      <a16:colId xmlns:a16="http://schemas.microsoft.com/office/drawing/2014/main" val="3824779699"/>
                    </a:ext>
                  </a:extLst>
                </a:gridCol>
              </a:tblGrid>
              <a:tr h="588525">
                <a:tc>
                  <a:txBody>
                    <a:bodyPr/>
                    <a:lstStyle/>
                    <a:p>
                      <a:endParaRPr lang="fr-FR" sz="1200">
                        <a:latin typeface="Corbel" panose="020B0503020204020204" pitchFamily="34" charset="0"/>
                      </a:endParaRPr>
                    </a:p>
                  </a:txBody>
                  <a:tcPr/>
                </a:tc>
                <a:tc>
                  <a:txBody>
                    <a:bodyPr/>
                    <a:lstStyle/>
                    <a:p>
                      <a:pPr algn="ctr"/>
                      <a:r>
                        <a:rPr lang="fr-FR" sz="1200" dirty="0">
                          <a:latin typeface="Corbel" panose="020B0503020204020204" pitchFamily="34" charset="0"/>
                        </a:rPr>
                        <a:t>Vendeur</a:t>
                      </a:r>
                    </a:p>
                  </a:txBody>
                  <a:tcPr/>
                </a:tc>
                <a:tc>
                  <a:txBody>
                    <a:bodyPr/>
                    <a:lstStyle/>
                    <a:p>
                      <a:pPr algn="ctr"/>
                      <a:r>
                        <a:rPr lang="fr-FR" sz="1200" dirty="0">
                          <a:latin typeface="Corbel" panose="020B0503020204020204" pitchFamily="34" charset="0"/>
                        </a:rPr>
                        <a:t>Acheteur</a:t>
                      </a:r>
                    </a:p>
                  </a:txBody>
                  <a:tcPr/>
                </a:tc>
                <a:extLst>
                  <a:ext uri="{0D108BD9-81ED-4DB2-BD59-A6C34878D82A}">
                    <a16:rowId xmlns:a16="http://schemas.microsoft.com/office/drawing/2014/main" val="583454519"/>
                  </a:ext>
                </a:extLst>
              </a:tr>
              <a:tr h="12252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Corbel" panose="020B0503020204020204" pitchFamily="34" charset="0"/>
                        </a:rPr>
                        <a:t>Dédouanement à l'exportation/à l'importation</a:t>
                      </a:r>
                    </a:p>
                    <a:p>
                      <a:endParaRPr lang="fr-FR" sz="1200" dirty="0">
                        <a:latin typeface="Corbel" panose="020B0503020204020204" pitchFamily="34" charset="0"/>
                      </a:endParaRPr>
                    </a:p>
                  </a:txBody>
                  <a:tcPr/>
                </a:tc>
                <a:tc>
                  <a:txBody>
                    <a:bodyPr/>
                    <a:lstStyle/>
                    <a:p>
                      <a:r>
                        <a:rPr lang="fr-FR" sz="1200" dirty="0">
                          <a:latin typeface="Corbel" panose="020B0503020204020204" pitchFamily="34" charset="0"/>
                        </a:rPr>
                        <a:t>Exportation : le vendeur doit effectuer et </a:t>
                      </a:r>
                      <a:r>
                        <a:rPr lang="fr-FR" sz="1200" dirty="0" err="1">
                          <a:latin typeface="Corbel" panose="020B0503020204020204" pitchFamily="34" charset="0"/>
                        </a:rPr>
                        <a:t>payer </a:t>
                      </a:r>
                      <a:r>
                        <a:rPr lang="fr-FR" sz="1200" dirty="0">
                          <a:latin typeface="Corbel" panose="020B0503020204020204" pitchFamily="34" charset="0"/>
                        </a:rPr>
                        <a:t>toutes </a:t>
                      </a:r>
                      <a:r>
                        <a:rPr lang="fr-FR" sz="1200" dirty="0" err="1">
                          <a:latin typeface="Corbel" panose="020B0503020204020204" pitchFamily="34" charset="0"/>
                        </a:rPr>
                        <a:t>les formalités</a:t>
                      </a:r>
                      <a:r>
                        <a:rPr lang="fr-FR" sz="1200" dirty="0">
                          <a:latin typeface="Corbel" panose="020B0503020204020204" pitchFamily="34" charset="0"/>
                        </a:rPr>
                        <a:t> de dédouanement à l'exportation.</a:t>
                      </a:r>
                    </a:p>
                    <a:p>
                      <a:endParaRPr lang="fr-FR" sz="1200" dirty="0">
                        <a:latin typeface="Corbel" panose="020B0503020204020204" pitchFamily="34" charset="0"/>
                      </a:endParaRPr>
                    </a:p>
                    <a:p>
                      <a:r>
                        <a:rPr lang="fr-FR" sz="1200" dirty="0">
                          <a:latin typeface="Corbel" panose="020B0503020204020204" pitchFamily="34" charset="0"/>
                        </a:rPr>
                        <a:t>Importation : le vendeur doit aider </a:t>
                      </a:r>
                      <a:r>
                        <a:rPr lang="fr-FR" sz="1200" dirty="0" err="1">
                          <a:latin typeface="Corbel" panose="020B0503020204020204" pitchFamily="34" charset="0"/>
                        </a:rPr>
                        <a:t>l'acheteur</a:t>
                      </a:r>
                      <a:r>
                        <a:rPr lang="fr-FR" sz="1200" dirty="0">
                          <a:latin typeface="Corbel" panose="020B0503020204020204" pitchFamily="34" charset="0"/>
                        </a:rPr>
                        <a:t>, à la </a:t>
                      </a:r>
                      <a:r>
                        <a:rPr lang="fr-FR" sz="1200" dirty="0" err="1">
                          <a:latin typeface="Corbel" panose="020B0503020204020204" pitchFamily="34" charset="0"/>
                        </a:rPr>
                        <a:t>demande de ce dernier</a:t>
                      </a:r>
                      <a:r>
                        <a:rPr lang="fr-FR" sz="1200" dirty="0">
                          <a:latin typeface="Corbel" panose="020B0503020204020204" pitchFamily="34" charset="0"/>
                        </a:rPr>
                        <a:t>, à </a:t>
                      </a:r>
                      <a:r>
                        <a:rPr lang="fr-FR" sz="1200" dirty="0" err="1">
                          <a:latin typeface="Corbel" panose="020B0503020204020204" pitchFamily="34" charset="0"/>
                        </a:rPr>
                        <a:t>obtenir tous </a:t>
                      </a:r>
                      <a:r>
                        <a:rPr lang="fr-FR" sz="1200" dirty="0">
                          <a:latin typeface="Corbel" panose="020B0503020204020204" pitchFamily="34" charset="0"/>
                        </a:rPr>
                        <a:t>les documents ou informations </a:t>
                      </a:r>
                      <a:r>
                        <a:rPr lang="fr-FR" sz="1200" dirty="0" err="1">
                          <a:latin typeface="Corbel" panose="020B0503020204020204" pitchFamily="34" charset="0"/>
                        </a:rPr>
                        <a:t>relatifs </a:t>
                      </a:r>
                      <a:r>
                        <a:rPr lang="fr-FR" sz="1200" dirty="0">
                          <a:latin typeface="Corbel" panose="020B0503020204020204" pitchFamily="34" charset="0"/>
                        </a:rPr>
                        <a:t>aux </a:t>
                      </a:r>
                      <a:r>
                        <a:rPr lang="fr-FR" sz="1200" dirty="0" err="1">
                          <a:latin typeface="Corbel" panose="020B0503020204020204" pitchFamily="34" charset="0"/>
                        </a:rPr>
                        <a:t>formalités</a:t>
                      </a:r>
                      <a:r>
                        <a:rPr lang="fr-FR" sz="1200" dirty="0">
                          <a:latin typeface="Corbel" panose="020B0503020204020204" pitchFamily="34" charset="0"/>
                        </a:rPr>
                        <a:t> de dédouanement à l'importation.</a:t>
                      </a:r>
                    </a:p>
                  </a:txBody>
                  <a:tcPr/>
                </a:tc>
                <a:tc>
                  <a:txBody>
                    <a:bodyPr/>
                    <a:lstStyle/>
                    <a:p>
                      <a:r>
                        <a:rPr lang="fr-FR" sz="1200" dirty="0">
                          <a:latin typeface="Corbel" panose="020B0503020204020204" pitchFamily="34" charset="0"/>
                        </a:rPr>
                        <a:t>Exportation : </a:t>
                      </a:r>
                      <a:r>
                        <a:rPr lang="fr-FR" sz="1200" dirty="0" err="1">
                          <a:latin typeface="Corbel" panose="020B0503020204020204" pitchFamily="34" charset="0"/>
                        </a:rPr>
                        <a:t>l'acheteur </a:t>
                      </a:r>
                      <a:r>
                        <a:rPr lang="fr-FR" sz="1200" dirty="0">
                          <a:latin typeface="Corbel" panose="020B0503020204020204" pitchFamily="34" charset="0"/>
                        </a:rPr>
                        <a:t>doit aider le vendeur, à la </a:t>
                      </a:r>
                      <a:r>
                        <a:rPr lang="fr-FR" sz="1200" dirty="0" err="1">
                          <a:latin typeface="Corbel" panose="020B0503020204020204" pitchFamily="34" charset="0"/>
                        </a:rPr>
                        <a:t>demande de ce dernier, </a:t>
                      </a:r>
                      <a:r>
                        <a:rPr lang="fr-FR" sz="1200" dirty="0">
                          <a:latin typeface="Corbel" panose="020B0503020204020204" pitchFamily="34" charset="0"/>
                        </a:rPr>
                        <a:t>à </a:t>
                      </a:r>
                      <a:r>
                        <a:rPr lang="fr-FR" sz="1200" dirty="0" err="1">
                          <a:latin typeface="Corbel" panose="020B0503020204020204" pitchFamily="34" charset="0"/>
                        </a:rPr>
                        <a:t>obtenir tous </a:t>
                      </a:r>
                      <a:r>
                        <a:rPr lang="fr-FR" sz="1200" dirty="0">
                          <a:latin typeface="Corbel" panose="020B0503020204020204" pitchFamily="34" charset="0"/>
                        </a:rPr>
                        <a:t>les documents ou informations </a:t>
                      </a:r>
                      <a:r>
                        <a:rPr lang="fr-FR" sz="1200" dirty="0" err="1">
                          <a:latin typeface="Corbel" panose="020B0503020204020204" pitchFamily="34" charset="0"/>
                        </a:rPr>
                        <a:t>relatifs </a:t>
                      </a:r>
                      <a:r>
                        <a:rPr lang="fr-FR" sz="1200" dirty="0">
                          <a:latin typeface="Corbel" panose="020B0503020204020204" pitchFamily="34" charset="0"/>
                        </a:rPr>
                        <a:t>aux </a:t>
                      </a:r>
                      <a:r>
                        <a:rPr lang="fr-FR" sz="1200" dirty="0" err="1">
                          <a:latin typeface="Corbel" panose="020B0503020204020204" pitchFamily="34" charset="0"/>
                        </a:rPr>
                        <a:t>formalités</a:t>
                      </a:r>
                      <a:r>
                        <a:rPr lang="fr-FR" sz="1200" dirty="0">
                          <a:latin typeface="Corbel" panose="020B0503020204020204" pitchFamily="34" charset="0"/>
                        </a:rPr>
                        <a:t> de dédouanement à l'exportation.</a:t>
                      </a:r>
                    </a:p>
                    <a:p>
                      <a:endParaRPr lang="fr-FR" sz="1200" dirty="0">
                        <a:latin typeface="Corbel" panose="020B0503020204020204" pitchFamily="34" charset="0"/>
                      </a:endParaRPr>
                    </a:p>
                    <a:p>
                      <a:r>
                        <a:rPr lang="fr-FR" sz="1200" dirty="0">
                          <a:latin typeface="Corbel" panose="020B0503020204020204" pitchFamily="34" charset="0"/>
                        </a:rPr>
                        <a:t>Importation : </a:t>
                      </a:r>
                      <a:r>
                        <a:rPr lang="fr-FR" sz="1200" dirty="0" err="1">
                          <a:latin typeface="Corbel" panose="020B0503020204020204" pitchFamily="34" charset="0"/>
                        </a:rPr>
                        <a:t>l'acheteur </a:t>
                      </a:r>
                      <a:r>
                        <a:rPr lang="fr-FR" sz="1200" dirty="0">
                          <a:latin typeface="Corbel" panose="020B0503020204020204" pitchFamily="34" charset="0"/>
                        </a:rPr>
                        <a:t>doit effectuer et </a:t>
                      </a:r>
                      <a:r>
                        <a:rPr lang="fr-FR" sz="1200" dirty="0" err="1">
                          <a:latin typeface="Corbel" panose="020B0503020204020204" pitchFamily="34" charset="0"/>
                        </a:rPr>
                        <a:t>payer </a:t>
                      </a:r>
                      <a:r>
                        <a:rPr lang="fr-FR" sz="1200" dirty="0">
                          <a:latin typeface="Corbel" panose="020B0503020204020204" pitchFamily="34" charset="0"/>
                        </a:rPr>
                        <a:t>toutes </a:t>
                      </a:r>
                      <a:r>
                        <a:rPr lang="fr-FR" sz="1200" dirty="0" err="1">
                          <a:latin typeface="Corbel" panose="020B0503020204020204" pitchFamily="34" charset="0"/>
                        </a:rPr>
                        <a:t>les formalités</a:t>
                      </a:r>
                      <a:r>
                        <a:rPr lang="fr-FR" sz="1200" dirty="0">
                          <a:latin typeface="Corbel" panose="020B0503020204020204" pitchFamily="34" charset="0"/>
                        </a:rPr>
                        <a:t>.</a:t>
                      </a:r>
                    </a:p>
                  </a:txBody>
                  <a:tcPr/>
                </a:tc>
                <a:extLst>
                  <a:ext uri="{0D108BD9-81ED-4DB2-BD59-A6C34878D82A}">
                    <a16:rowId xmlns:a16="http://schemas.microsoft.com/office/drawing/2014/main" val="1402653638"/>
                  </a:ext>
                </a:extLst>
              </a:tr>
              <a:tr h="12252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Corbel" panose="020B0503020204020204" pitchFamily="34" charset="0"/>
                        </a:rPr>
                        <a:t>Contrôle / emballage / </a:t>
                      </a:r>
                      <a:r>
                        <a:rPr lang="fr-FR" sz="1200" dirty="0" err="1">
                          <a:latin typeface="Corbel" panose="020B0503020204020204" pitchFamily="34" charset="0"/>
                        </a:rPr>
                        <a:t>marquage</a:t>
                      </a:r>
                      <a:endParaRPr lang="fr-FR" sz="1200" dirty="0">
                        <a:latin typeface="Corbel" panose="020B0503020204020204" pitchFamily="34" charset="0"/>
                      </a:endParaRPr>
                    </a:p>
                    <a:p>
                      <a:endParaRPr lang="fr-FR" sz="1200" dirty="0">
                        <a:latin typeface="Corbel" panose="020B0503020204020204" pitchFamily="34" charset="0"/>
                      </a:endParaRPr>
                    </a:p>
                  </a:txBody>
                  <a:tcPr/>
                </a:tc>
                <a:tc>
                  <a:txBody>
                    <a:bodyPr/>
                    <a:lstStyle/>
                    <a:p>
                      <a:pPr algn="l"/>
                      <a:r>
                        <a:rPr lang="fr-FR" sz="1200" dirty="0">
                          <a:solidFill>
                            <a:schemeClr val="tx1"/>
                          </a:solidFill>
                          <a:latin typeface="Corbel" panose="020B0503020204020204" pitchFamily="34" charset="0"/>
                        </a:rPr>
                        <a:t>Le vendeur doit :</a:t>
                      </a:r>
                    </a:p>
                    <a:p>
                      <a:pPr marL="171450" indent="-171450" algn="l">
                        <a:buFontTx/>
                        <a:buChar char="-"/>
                      </a:pPr>
                      <a:r>
                        <a:rPr lang="fr-FR" sz="1200" dirty="0" err="1">
                          <a:solidFill>
                            <a:schemeClr val="tx1"/>
                          </a:solidFill>
                          <a:latin typeface="Corbel" panose="020B0503020204020204" pitchFamily="34" charset="0"/>
                        </a:rPr>
                        <a:t>Prendre en charge </a:t>
                      </a:r>
                      <a:r>
                        <a:rPr lang="fr-FR" sz="1200" dirty="0">
                          <a:solidFill>
                            <a:schemeClr val="tx1"/>
                          </a:solidFill>
                          <a:latin typeface="Corbel" panose="020B0503020204020204" pitchFamily="34" charset="0"/>
                        </a:rPr>
                        <a:t>le </a:t>
                      </a:r>
                      <a:r>
                        <a:rPr lang="fr-FR" sz="1200" dirty="0" err="1">
                          <a:solidFill>
                            <a:schemeClr val="tx1"/>
                          </a:solidFill>
                          <a:latin typeface="Corbel" panose="020B0503020204020204" pitchFamily="34" charset="0"/>
                        </a:rPr>
                        <a:t>coût </a:t>
                      </a:r>
                      <a:r>
                        <a:rPr lang="fr-FR" sz="1200" dirty="0">
                          <a:solidFill>
                            <a:schemeClr val="tx1"/>
                          </a:solidFill>
                          <a:latin typeface="Corbel" panose="020B0503020204020204" pitchFamily="34" charset="0"/>
                        </a:rPr>
                        <a:t>de toutes </a:t>
                      </a:r>
                      <a:r>
                        <a:rPr lang="fr-FR" sz="1200" dirty="0" err="1">
                          <a:solidFill>
                            <a:schemeClr val="tx1"/>
                          </a:solidFill>
                          <a:latin typeface="Corbel" panose="020B0503020204020204" pitchFamily="34" charset="0"/>
                        </a:rPr>
                        <a:t>les opérations</a:t>
                      </a:r>
                      <a:r>
                        <a:rPr lang="fr-FR" sz="1200" dirty="0">
                          <a:solidFill>
                            <a:schemeClr val="tx1"/>
                          </a:solidFill>
                          <a:latin typeface="Corbel" panose="020B0503020204020204" pitchFamily="34" charset="0"/>
                        </a:rPr>
                        <a:t> de contrôle (contrôle </a:t>
                      </a:r>
                      <a:r>
                        <a:rPr lang="fr-FR" sz="1200" dirty="0" err="1">
                          <a:solidFill>
                            <a:schemeClr val="tx1"/>
                          </a:solidFill>
                          <a:latin typeface="Corbel" panose="020B0503020204020204" pitchFamily="34" charset="0"/>
                        </a:rPr>
                        <a:t>de la qualité</a:t>
                      </a:r>
                      <a:r>
                        <a:rPr lang="fr-FR" sz="1200" dirty="0">
                          <a:solidFill>
                            <a:schemeClr val="tx1"/>
                          </a:solidFill>
                          <a:latin typeface="Corbel" panose="020B0503020204020204" pitchFamily="34" charset="0"/>
                        </a:rPr>
                        <a:t>, </a:t>
                      </a:r>
                      <a:r>
                        <a:rPr lang="fr-FR" sz="1200" dirty="0" err="1">
                          <a:solidFill>
                            <a:schemeClr val="tx1"/>
                          </a:solidFill>
                          <a:latin typeface="Corbel" panose="020B0503020204020204" pitchFamily="34" charset="0"/>
                        </a:rPr>
                        <a:t>mesure</a:t>
                      </a:r>
                      <a:r>
                        <a:rPr lang="fr-FR" sz="1200" dirty="0">
                          <a:solidFill>
                            <a:schemeClr val="tx1"/>
                          </a:solidFill>
                          <a:latin typeface="Corbel" panose="020B0503020204020204" pitchFamily="34" charset="0"/>
                        </a:rPr>
                        <a:t>, </a:t>
                      </a:r>
                      <a:r>
                        <a:rPr lang="fr-FR" sz="1200" dirty="0" err="1">
                          <a:solidFill>
                            <a:schemeClr val="tx1"/>
                          </a:solidFill>
                          <a:latin typeface="Corbel" panose="020B0503020204020204" pitchFamily="34" charset="0"/>
                        </a:rPr>
                        <a:t>pesage</a:t>
                      </a:r>
                      <a:r>
                        <a:rPr lang="fr-FR" sz="1200" dirty="0">
                          <a:solidFill>
                            <a:schemeClr val="tx1"/>
                          </a:solidFill>
                          <a:latin typeface="Corbel" panose="020B0503020204020204" pitchFamily="34" charset="0"/>
                        </a:rPr>
                        <a:t>, </a:t>
                      </a:r>
                      <a:r>
                        <a:rPr lang="fr-FR" sz="1200" dirty="0" err="1">
                          <a:solidFill>
                            <a:schemeClr val="tx1"/>
                          </a:solidFill>
                          <a:latin typeface="Corbel" panose="020B0503020204020204" pitchFamily="34" charset="0"/>
                        </a:rPr>
                        <a:t>comptage</a:t>
                      </a:r>
                      <a:r>
                        <a:rPr lang="fr-FR" sz="1200" dirty="0">
                          <a:solidFill>
                            <a:schemeClr val="tx1"/>
                          </a:solidFill>
                          <a:latin typeface="Corbel" panose="020B0503020204020204" pitchFamily="34" charset="0"/>
                        </a:rPr>
                        <a:t>)</a:t>
                      </a:r>
                    </a:p>
                    <a:p>
                      <a:pPr marL="171450" indent="-171450" algn="l">
                        <a:buFontTx/>
                        <a:buChar char="-"/>
                      </a:pPr>
                      <a:r>
                        <a:rPr lang="fr-FR" sz="1200" dirty="0">
                          <a:solidFill>
                            <a:schemeClr val="tx1"/>
                          </a:solidFill>
                          <a:latin typeface="Corbel" panose="020B0503020204020204" pitchFamily="34" charset="0"/>
                        </a:rPr>
                        <a:t>Emballer et marquer les </a:t>
                      </a:r>
                      <a:r>
                        <a:rPr lang="fr-FR" sz="1200" dirty="0" err="1">
                          <a:solidFill>
                            <a:schemeClr val="tx1"/>
                          </a:solidFill>
                          <a:latin typeface="Corbel" panose="020B0503020204020204" pitchFamily="34" charset="0"/>
                        </a:rPr>
                        <a:t>marchandises </a:t>
                      </a:r>
                      <a:r>
                        <a:rPr lang="fr-FR" sz="1200" dirty="0">
                          <a:solidFill>
                            <a:schemeClr val="tx1"/>
                          </a:solidFill>
                          <a:latin typeface="Corbel" panose="020B0503020204020204" pitchFamily="34" charset="0"/>
                        </a:rPr>
                        <a:t>de </a:t>
                      </a:r>
                      <a:r>
                        <a:rPr lang="fr-FR" sz="1200" dirty="0" err="1">
                          <a:solidFill>
                            <a:schemeClr val="tx1"/>
                          </a:solidFill>
                          <a:latin typeface="Corbel" panose="020B0503020204020204" pitchFamily="34" charset="0"/>
                        </a:rPr>
                        <a:t>manière appropriée </a:t>
                      </a:r>
                      <a:r>
                        <a:rPr lang="fr-FR" sz="1200" dirty="0">
                          <a:solidFill>
                            <a:schemeClr val="tx1"/>
                          </a:solidFill>
                          <a:latin typeface="Corbel" panose="020B0503020204020204" pitchFamily="34" charset="0"/>
                        </a:rPr>
                        <a:t>pour </a:t>
                      </a:r>
                      <a:r>
                        <a:rPr lang="fr-FR" sz="1200" dirty="0" err="1">
                          <a:solidFill>
                            <a:schemeClr val="tx1"/>
                          </a:solidFill>
                          <a:latin typeface="Corbel" panose="020B0503020204020204" pitchFamily="34" charset="0"/>
                        </a:rPr>
                        <a:t>leur </a:t>
                      </a:r>
                      <a:r>
                        <a:rPr lang="fr-FR" sz="1200" dirty="0">
                          <a:solidFill>
                            <a:schemeClr val="tx1"/>
                          </a:solidFill>
                          <a:latin typeface="Corbel" panose="020B0503020204020204" pitchFamily="34" charset="0"/>
                        </a:rPr>
                        <a:t>transport.</a:t>
                      </a:r>
                    </a:p>
                    <a:p>
                      <a:endParaRPr lang="fr-FR" sz="1200" dirty="0">
                        <a:latin typeface="Corbel" panose="020B0503020204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err="1">
                          <a:latin typeface="Corbel" panose="020B0503020204020204" pitchFamily="34" charset="0"/>
                        </a:rPr>
                        <a:t>L'acheteur </a:t>
                      </a:r>
                      <a:r>
                        <a:rPr lang="fr-FR" sz="1200" dirty="0">
                          <a:latin typeface="Corbel" panose="020B0503020204020204" pitchFamily="34" charset="0"/>
                        </a:rPr>
                        <a:t>n'a aucune obligation envers le vendeur.</a:t>
                      </a:r>
                    </a:p>
                    <a:p>
                      <a:endParaRPr lang="fr-FR" sz="1200" dirty="0">
                        <a:latin typeface="Corbel" panose="020B0503020204020204" pitchFamily="34" charset="0"/>
                      </a:endParaRPr>
                    </a:p>
                  </a:txBody>
                  <a:tcPr/>
                </a:tc>
                <a:extLst>
                  <a:ext uri="{0D108BD9-81ED-4DB2-BD59-A6C34878D82A}">
                    <a16:rowId xmlns:a16="http://schemas.microsoft.com/office/drawing/2014/main" val="3551879135"/>
                  </a:ext>
                </a:extLst>
              </a:tr>
              <a:tr h="12252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Corbel" panose="020B0503020204020204" pitchFamily="34" charset="0"/>
                        </a:rPr>
                        <a:t>Avis</a:t>
                      </a:r>
                    </a:p>
                    <a:p>
                      <a:endParaRPr lang="fr-FR" sz="1200" dirty="0">
                        <a:latin typeface="Corbel" panose="020B0503020204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Corbel" panose="020B0503020204020204" pitchFamily="34" charset="0"/>
                        </a:rPr>
                        <a:t>Le vendeur doit </a:t>
                      </a:r>
                      <a:r>
                        <a:rPr lang="fr-FR" sz="1200" dirty="0" err="1">
                          <a:latin typeface="Corbel" panose="020B0503020204020204" pitchFamily="34" charset="0"/>
                        </a:rPr>
                        <a:t>donner </a:t>
                      </a:r>
                      <a:r>
                        <a:rPr lang="fr-FR" sz="1200" dirty="0">
                          <a:latin typeface="Corbel" panose="020B0503020204020204" pitchFamily="34" charset="0"/>
                        </a:rPr>
                        <a:t>à </a:t>
                      </a:r>
                      <a:r>
                        <a:rPr lang="fr-FR" sz="1200" dirty="0" err="1">
                          <a:latin typeface="Corbel" panose="020B0503020204020204" pitchFamily="34" charset="0"/>
                        </a:rPr>
                        <a:t>l'acheteur tout </a:t>
                      </a:r>
                      <a:r>
                        <a:rPr lang="fr-FR" sz="1200" dirty="0">
                          <a:latin typeface="Corbel" panose="020B0503020204020204" pitchFamily="34" charset="0"/>
                        </a:rPr>
                        <a:t>préavis </a:t>
                      </a:r>
                      <a:r>
                        <a:rPr lang="fr-FR" sz="1200" dirty="0" err="1">
                          <a:latin typeface="Corbel" panose="020B0503020204020204" pitchFamily="34" charset="0"/>
                        </a:rPr>
                        <a:t>nécessaire </a:t>
                      </a:r>
                      <a:r>
                        <a:rPr lang="fr-FR" sz="1200" dirty="0">
                          <a:latin typeface="Corbel" panose="020B0503020204020204" pitchFamily="34" charset="0"/>
                        </a:rPr>
                        <a:t>pour </a:t>
                      </a:r>
                      <a:r>
                        <a:rPr lang="fr-FR" sz="1200" dirty="0" err="1">
                          <a:latin typeface="Corbel" panose="020B0503020204020204" pitchFamily="34" charset="0"/>
                        </a:rPr>
                        <a:t>lui</a:t>
                      </a:r>
                      <a:r>
                        <a:rPr lang="fr-FR" sz="1200" dirty="0">
                          <a:latin typeface="Corbel" panose="020B0503020204020204" pitchFamily="34" charset="0"/>
                        </a:rPr>
                        <a:t> permettre de </a:t>
                      </a:r>
                      <a:r>
                        <a:rPr lang="fr-FR" sz="1200" dirty="0" err="1">
                          <a:latin typeface="Corbel" panose="020B0503020204020204" pitchFamily="34" charset="0"/>
                        </a:rPr>
                        <a:t>réceptionner </a:t>
                      </a:r>
                      <a:r>
                        <a:rPr lang="fr-FR" sz="1200" dirty="0">
                          <a:latin typeface="Corbel" panose="020B0503020204020204" pitchFamily="34" charset="0"/>
                        </a:rPr>
                        <a:t>les </a:t>
                      </a:r>
                      <a:r>
                        <a:rPr lang="fr-FR" sz="1200" dirty="0" err="1">
                          <a:latin typeface="Corbel" panose="020B0503020204020204" pitchFamily="34" charset="0"/>
                        </a:rPr>
                        <a:t>marchandises</a:t>
                      </a:r>
                      <a:r>
                        <a:rPr lang="fr-FR" sz="1200" dirty="0">
                          <a:latin typeface="Corbel" panose="020B0503020204020204" pitchFamily="34" charset="0"/>
                        </a:rPr>
                        <a:t>.</a:t>
                      </a:r>
                    </a:p>
                    <a:p>
                      <a:endParaRPr lang="fr-FR" sz="1200" dirty="0">
                        <a:latin typeface="Corbel" panose="020B0503020204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Corbel" panose="020B0503020204020204" pitchFamily="34" charset="0"/>
                        </a:rPr>
                        <a:t>Si </a:t>
                      </a:r>
                      <a:r>
                        <a:rPr lang="fr-FR" sz="1200" dirty="0" err="1">
                          <a:latin typeface="Corbel" panose="020B0503020204020204" pitchFamily="34" charset="0"/>
                        </a:rPr>
                        <a:t>l'acheteur est en droit </a:t>
                      </a:r>
                      <a:r>
                        <a:rPr lang="fr-FR" sz="1200" dirty="0">
                          <a:latin typeface="Corbel" panose="020B0503020204020204" pitchFamily="34" charset="0"/>
                        </a:rPr>
                        <a:t>de </a:t>
                      </a:r>
                      <a:r>
                        <a:rPr lang="fr-FR" sz="1200" dirty="0" err="1">
                          <a:latin typeface="Corbel" panose="020B0503020204020204" pitchFamily="34" charset="0"/>
                        </a:rPr>
                        <a:t>déterminer </a:t>
                      </a:r>
                      <a:r>
                        <a:rPr lang="fr-FR" sz="1200" dirty="0">
                          <a:latin typeface="Corbel" panose="020B0503020204020204" pitchFamily="34" charset="0"/>
                        </a:rPr>
                        <a:t>le moment de l'expédition des </a:t>
                      </a:r>
                      <a:r>
                        <a:rPr lang="fr-FR" sz="1200" dirty="0" err="1">
                          <a:latin typeface="Corbel" panose="020B0503020204020204" pitchFamily="34" charset="0"/>
                        </a:rPr>
                        <a:t>marchandises </a:t>
                      </a:r>
                      <a:r>
                        <a:rPr lang="fr-FR" sz="1200" dirty="0">
                          <a:latin typeface="Corbel" panose="020B0503020204020204" pitchFamily="34" charset="0"/>
                        </a:rPr>
                        <a:t>et/ou le point de </a:t>
                      </a:r>
                      <a:r>
                        <a:rPr lang="fr-FR" sz="1200" dirty="0" err="1">
                          <a:latin typeface="Corbel" panose="020B0503020204020204" pitchFamily="34" charset="0"/>
                        </a:rPr>
                        <a:t>réception </a:t>
                      </a:r>
                      <a:r>
                        <a:rPr lang="fr-FR" sz="1200" dirty="0">
                          <a:latin typeface="Corbel" panose="020B0503020204020204" pitchFamily="34" charset="0"/>
                        </a:rPr>
                        <a:t>des </a:t>
                      </a:r>
                      <a:r>
                        <a:rPr lang="fr-FR" sz="1200" dirty="0" err="1">
                          <a:latin typeface="Corbel" panose="020B0503020204020204" pitchFamily="34" charset="0"/>
                        </a:rPr>
                        <a:t>marchandises dans </a:t>
                      </a:r>
                      <a:r>
                        <a:rPr lang="fr-FR" sz="1200" dirty="0">
                          <a:latin typeface="Corbel" panose="020B0503020204020204" pitchFamily="34" charset="0"/>
                        </a:rPr>
                        <a:t>le port de destination </a:t>
                      </a:r>
                      <a:r>
                        <a:rPr lang="fr-FR" sz="1200" dirty="0" err="1">
                          <a:latin typeface="Corbel" panose="020B0503020204020204" pitchFamily="34" charset="0"/>
                        </a:rPr>
                        <a:t>désigné</a:t>
                      </a:r>
                      <a:r>
                        <a:rPr lang="fr-FR" sz="1200" dirty="0">
                          <a:latin typeface="Corbel" panose="020B0503020204020204" pitchFamily="34" charset="0"/>
                        </a:rPr>
                        <a:t>, </a:t>
                      </a:r>
                      <a:r>
                        <a:rPr lang="fr-FR" sz="1200" dirty="0" err="1">
                          <a:latin typeface="Corbel" panose="020B0503020204020204" pitchFamily="34" charset="0"/>
                        </a:rPr>
                        <a:t>il </a:t>
                      </a:r>
                      <a:r>
                        <a:rPr lang="fr-FR" sz="1200" dirty="0">
                          <a:latin typeface="Corbel" panose="020B0503020204020204" pitchFamily="34" charset="0"/>
                        </a:rPr>
                        <a:t>doit en informer le vendeur </a:t>
                      </a:r>
                      <a:r>
                        <a:rPr lang="fr-FR" sz="1200" dirty="0" err="1">
                          <a:latin typeface="Corbel" panose="020B0503020204020204" pitchFamily="34" charset="0"/>
                        </a:rPr>
                        <a:t>suffisamment à l'avance</a:t>
                      </a:r>
                      <a:r>
                        <a:rPr lang="fr-FR" sz="1200" dirty="0">
                          <a:latin typeface="Corbel" panose="020B0503020204020204" pitchFamily="34" charset="0"/>
                        </a:rPr>
                        <a:t>.</a:t>
                      </a:r>
                    </a:p>
                    <a:p>
                      <a:endParaRPr lang="fr-FR" sz="1200" dirty="0">
                        <a:latin typeface="Corbel" panose="020B0503020204020204" pitchFamily="34" charset="0"/>
                      </a:endParaRPr>
                    </a:p>
                  </a:txBody>
                  <a:tcPr/>
                </a:tc>
                <a:extLst>
                  <a:ext uri="{0D108BD9-81ED-4DB2-BD59-A6C34878D82A}">
                    <a16:rowId xmlns:a16="http://schemas.microsoft.com/office/drawing/2014/main" val="2260198045"/>
                  </a:ext>
                </a:extLst>
              </a:tr>
            </a:tbl>
          </a:graphicData>
        </a:graphic>
      </p:graphicFrame>
      <p:sp>
        <p:nvSpPr>
          <p:cNvPr id="12" name="Titre 1">
            <a:extLst>
              <a:ext uri="{FF2B5EF4-FFF2-40B4-BE49-F238E27FC236}">
                <a16:creationId xmlns:a16="http://schemas.microsoft.com/office/drawing/2014/main" id="{5043E480-026A-4F00-947D-678512732390}"/>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DPU : </a:t>
            </a:r>
            <a:r>
              <a:rPr lang="fr-FR" dirty="0" err="1">
                <a:solidFill>
                  <a:schemeClr val="bg1"/>
                </a:solidFill>
                <a:latin typeface="Franklin Gothic Book" panose="020B0503020102020204" pitchFamily="34" charset="0"/>
              </a:rPr>
              <a:t>Livraison </a:t>
            </a:r>
            <a:r>
              <a:rPr lang="fr-FR" dirty="0">
                <a:solidFill>
                  <a:schemeClr val="bg1"/>
                </a:solidFill>
                <a:latin typeface="Franklin Gothic Book" panose="020B0503020102020204" pitchFamily="34" charset="0"/>
              </a:rPr>
              <a:t>à destination, </a:t>
            </a:r>
            <a:r>
              <a:rPr lang="fr-FR" dirty="0" err="1">
                <a:solidFill>
                  <a:schemeClr val="bg1"/>
                </a:solidFill>
                <a:latin typeface="Franklin Gothic Book" panose="020B0503020102020204" pitchFamily="34" charset="0"/>
              </a:rPr>
              <a:t>déchargé</a:t>
            </a:r>
            <a:endParaRPr lang="fr-FR" dirty="0">
              <a:solidFill>
                <a:schemeClr val="bg1"/>
              </a:solidFill>
              <a:latin typeface="Franklin Gothic Book" panose="020B0503020102020204" pitchFamily="34" charset="0"/>
            </a:endParaRPr>
          </a:p>
        </p:txBody>
      </p:sp>
      <p:sp>
        <p:nvSpPr>
          <p:cNvPr id="8" name="Footer Placeholder 3">
            <a:extLst>
              <a:ext uri="{FF2B5EF4-FFF2-40B4-BE49-F238E27FC236}">
                <a16:creationId xmlns:a16="http://schemas.microsoft.com/office/drawing/2014/main" id="{7A94E691-5656-4510-9E4D-D3C2BB2C530D}"/>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2519838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1" name="Espace réservé du contenu 2">
            <a:extLst>
              <a:ext uri="{FF2B5EF4-FFF2-40B4-BE49-F238E27FC236}">
                <a16:creationId xmlns:a16="http://schemas.microsoft.com/office/drawing/2014/main" id="{30339894-F172-4DAD-94EE-0FDA1DDD147D}"/>
              </a:ext>
            </a:extLst>
          </p:cNvPr>
          <p:cNvSpPr>
            <a:spLocks noGrp="1"/>
          </p:cNvSpPr>
          <p:nvPr>
            <p:ph idx="1"/>
          </p:nvPr>
        </p:nvSpPr>
        <p:spPr>
          <a:xfrm>
            <a:off x="201165" y="4717493"/>
            <a:ext cx="8818684" cy="1278447"/>
          </a:xfrm>
        </p:spPr>
        <p:txBody>
          <a:bodyPr>
            <a:noAutofit/>
          </a:bodyPr>
          <a:lstStyle/>
          <a:p>
            <a:pPr marL="0" indent="0">
              <a:buNone/>
            </a:pPr>
            <a:r>
              <a:rPr lang="en-US" sz="1400" b="1" u="sng" dirty="0"/>
              <a:t>Lieu de livraison : </a:t>
            </a:r>
            <a:r>
              <a:rPr lang="en-US" sz="1400" dirty="0"/>
              <a:t>lieu de destination désigné.</a:t>
            </a:r>
          </a:p>
          <a:p>
            <a:pPr marL="0" indent="0">
              <a:buNone/>
            </a:pPr>
            <a:r>
              <a:rPr lang="en-US" sz="1400" b="1" u="sng" dirty="0"/>
              <a:t>Obligations du vendeur : </a:t>
            </a:r>
            <a:r>
              <a:rPr lang="en-US" sz="1400" dirty="0"/>
              <a:t>dédouaner les marchandises pour l'exportation + conclure le contrat de transport principal + conclure le contrat d'assurance + dédouaner les marchandises pour l'importation.</a:t>
            </a:r>
          </a:p>
          <a:p>
            <a:pPr marL="0" indent="0">
              <a:buNone/>
            </a:pPr>
            <a:r>
              <a:rPr lang="en-US" sz="1400" dirty="0"/>
              <a:t>Mais : aucune obligation de conclure un contrat d'assurance + aucun déchargement final.</a:t>
            </a:r>
            <a:endParaRPr lang="en-GB" sz="1400" dirty="0"/>
          </a:p>
        </p:txBody>
      </p:sp>
      <p:sp>
        <p:nvSpPr>
          <p:cNvPr id="12" name="Titre 1">
            <a:extLst>
              <a:ext uri="{FF2B5EF4-FFF2-40B4-BE49-F238E27FC236}">
                <a16:creationId xmlns:a16="http://schemas.microsoft.com/office/drawing/2014/main" id="{5043E480-026A-4F00-947D-678512732390}"/>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DDP : </a:t>
            </a:r>
            <a:r>
              <a:rPr lang="fr-FR" dirty="0" err="1">
                <a:solidFill>
                  <a:schemeClr val="bg1"/>
                </a:solidFill>
                <a:latin typeface="Franklin Gothic Book" panose="020B0503020102020204" pitchFamily="34" charset="0"/>
              </a:rPr>
              <a:t>Rendu </a:t>
            </a:r>
            <a:r>
              <a:rPr lang="fr-FR" dirty="0">
                <a:solidFill>
                  <a:schemeClr val="bg1"/>
                </a:solidFill>
                <a:latin typeface="Franklin Gothic Book" panose="020B0503020102020204" pitchFamily="34" charset="0"/>
              </a:rPr>
              <a:t>droits </a:t>
            </a:r>
            <a:r>
              <a:rPr lang="fr-FR" dirty="0" err="1">
                <a:solidFill>
                  <a:schemeClr val="bg1"/>
                </a:solidFill>
                <a:latin typeface="Franklin Gothic Book" panose="020B0503020102020204" pitchFamily="34" charset="0"/>
              </a:rPr>
              <a:t>acquittés</a:t>
            </a:r>
            <a:endParaRPr lang="fr-FR"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0867BEAB-A7BB-49A5-B0D7-FEEDF37862A0}"/>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pic>
        <p:nvPicPr>
          <p:cNvPr id="4" name="Image 3" descr="Une image contenant texte, clipart, capture d’écran&#10;&#10;Description générée automatiquement">
            <a:extLst>
              <a:ext uri="{FF2B5EF4-FFF2-40B4-BE49-F238E27FC236}">
                <a16:creationId xmlns:a16="http://schemas.microsoft.com/office/drawing/2014/main" id="{4A694E9C-EA15-4B55-9A2B-0A323E944DC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47446" y="1746275"/>
            <a:ext cx="5969977" cy="2868386"/>
          </a:xfrm>
          <a:prstGeom prst="rect">
            <a:avLst/>
          </a:prstGeom>
        </p:spPr>
      </p:pic>
      <mc:AlternateContent xmlns:mc="http://schemas.openxmlformats.org/markup-compatibility/2006" xmlns:p14="http://schemas.microsoft.com/office/powerpoint/2010/main">
        <mc:Choice Requires="p14">
          <p:contentPart p14:bwMode="auto" r:id="rId6">
            <p14:nvContentPartPr>
              <p14:cNvPr id="2" name="Encre 1">
                <a:extLst>
                  <a:ext uri="{FF2B5EF4-FFF2-40B4-BE49-F238E27FC236}">
                    <a16:creationId xmlns:a16="http://schemas.microsoft.com/office/drawing/2014/main" id="{7A06A9AB-984A-4412-BDDF-DE64EB0A1859}"/>
                  </a:ext>
                </a:extLst>
              </p14:cNvPr>
              <p14:cNvContentPartPr/>
              <p14:nvPr/>
            </p14:nvContentPartPr>
            <p14:xfrm>
              <a:off x="6515640" y="3035160"/>
              <a:ext cx="360" cy="360"/>
            </p14:xfrm>
          </p:contentPart>
        </mc:Choice>
        <mc:Fallback xmlns="" xmlns:a16="http://schemas.microsoft.com/office/drawing/2014/main" xmlns:a14="http://schemas.microsoft.com/office/drawing/2010/main">
          <p:pic>
            <p:nvPicPr>
              <p:cNvPr id="2" name="Encre 1">
                <a:extLst>
                  <a:ext uri="{FF2B5EF4-FFF2-40B4-BE49-F238E27FC236}">
                    <a16:creationId xmlns:a16="http://schemas.microsoft.com/office/drawing/2014/main" id="{7A06A9AB-984A-4412-BDDF-DE64EB0A1859}"/>
                  </a:ext>
                </a:extLst>
              </p:cNvPr>
              <p:cNvPicPr/>
              <p:nvPr/>
            </p:nvPicPr>
            <p:blipFill>
              <a:blip r:embed="rId7"/>
              <a:stretch>
                <a:fillRect/>
              </a:stretch>
            </p:blipFill>
            <p:spPr>
              <a:xfrm>
                <a:off x="6506280" y="3025800"/>
                <a:ext cx="19080" cy="19080"/>
              </a:xfrm>
              <a:prstGeom prst="rect">
                <a:avLst/>
              </a:prstGeom>
            </p:spPr>
          </p:pic>
        </mc:Fallback>
      </mc:AlternateContent>
    </p:spTree>
    <p:extLst>
      <p:ext uri="{BB962C8B-B14F-4D97-AF65-F5344CB8AC3E}">
        <p14:creationId xmlns:p14="http://schemas.microsoft.com/office/powerpoint/2010/main" val="2900464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graphicFrame>
        <p:nvGraphicFramePr>
          <p:cNvPr id="2" name="Tableau 2">
            <a:extLst>
              <a:ext uri="{FF2B5EF4-FFF2-40B4-BE49-F238E27FC236}">
                <a16:creationId xmlns:a16="http://schemas.microsoft.com/office/drawing/2014/main" id="{C5FBA4EA-6D7A-405A-B944-D3A5D355FBA8}"/>
              </a:ext>
            </a:extLst>
          </p:cNvPr>
          <p:cNvGraphicFramePr>
            <a:graphicFrameLocks noGrp="1"/>
          </p:cNvGraphicFramePr>
          <p:nvPr>
            <p:ph idx="1"/>
            <p:extLst>
              <p:ext uri="{D42A27DB-BD31-4B8C-83A1-F6EECF244321}">
                <p14:modId xmlns:p14="http://schemas.microsoft.com/office/powerpoint/2010/main" val="569871192"/>
              </p:ext>
            </p:extLst>
          </p:nvPr>
        </p:nvGraphicFramePr>
        <p:xfrm>
          <a:off x="201165" y="1679331"/>
          <a:ext cx="8749404" cy="4290646"/>
        </p:xfrm>
        <a:graphic>
          <a:graphicData uri="http://schemas.openxmlformats.org/drawingml/2006/table">
            <a:tbl>
              <a:tblPr firstRow="1" bandRow="1">
                <a:tableStyleId>{5C22544A-7EE6-4342-B048-85BDC9FD1C3A}</a:tableStyleId>
              </a:tblPr>
              <a:tblGrid>
                <a:gridCol w="1460581">
                  <a:extLst>
                    <a:ext uri="{9D8B030D-6E8A-4147-A177-3AD203B41FA5}">
                      <a16:colId xmlns:a16="http://schemas.microsoft.com/office/drawing/2014/main" val="1895056423"/>
                    </a:ext>
                  </a:extLst>
                </a:gridCol>
                <a:gridCol w="3596054">
                  <a:extLst>
                    <a:ext uri="{9D8B030D-6E8A-4147-A177-3AD203B41FA5}">
                      <a16:colId xmlns:a16="http://schemas.microsoft.com/office/drawing/2014/main" val="1462439970"/>
                    </a:ext>
                  </a:extLst>
                </a:gridCol>
                <a:gridCol w="3692769">
                  <a:extLst>
                    <a:ext uri="{9D8B030D-6E8A-4147-A177-3AD203B41FA5}">
                      <a16:colId xmlns:a16="http://schemas.microsoft.com/office/drawing/2014/main" val="3993599112"/>
                    </a:ext>
                  </a:extLst>
                </a:gridCol>
              </a:tblGrid>
              <a:tr h="585892">
                <a:tc>
                  <a:txBody>
                    <a:bodyPr/>
                    <a:lstStyle/>
                    <a:p>
                      <a:endParaRPr lang="fr-FR" sz="1200">
                        <a:latin typeface="Corbel" panose="020B0503020204020204" pitchFamily="34" charset="0"/>
                      </a:endParaRPr>
                    </a:p>
                  </a:txBody>
                  <a:tcPr/>
                </a:tc>
                <a:tc>
                  <a:txBody>
                    <a:bodyPr/>
                    <a:lstStyle/>
                    <a:p>
                      <a:pPr algn="ctr"/>
                      <a:r>
                        <a:rPr lang="fr-FR" sz="1200" dirty="0">
                          <a:latin typeface="Corbel" panose="020B0503020204020204" pitchFamily="34" charset="0"/>
                        </a:rPr>
                        <a:t>Vendeur</a:t>
                      </a:r>
                    </a:p>
                  </a:txBody>
                  <a:tcPr/>
                </a:tc>
                <a:tc>
                  <a:txBody>
                    <a:bodyPr/>
                    <a:lstStyle/>
                    <a:p>
                      <a:pPr algn="ctr"/>
                      <a:r>
                        <a:rPr lang="fr-FR" sz="1200" dirty="0">
                          <a:latin typeface="Corbel" panose="020B0503020204020204" pitchFamily="34" charset="0"/>
                        </a:rPr>
                        <a:t>Acheteur</a:t>
                      </a:r>
                    </a:p>
                  </a:txBody>
                  <a:tcPr/>
                </a:tc>
                <a:extLst>
                  <a:ext uri="{0D108BD9-81ED-4DB2-BD59-A6C34878D82A}">
                    <a16:rowId xmlns:a16="http://schemas.microsoft.com/office/drawing/2014/main" val="1170545806"/>
                  </a:ext>
                </a:extLst>
              </a:tr>
              <a:tr h="12349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Corbel" panose="020B0503020204020204" pitchFamily="34" charset="0"/>
                        </a:rPr>
                        <a:t>Dédouanement à l'exportation/à l'importation</a:t>
                      </a:r>
                    </a:p>
                    <a:p>
                      <a:endParaRPr lang="fr-FR" sz="1200" dirty="0">
                        <a:latin typeface="Corbel" panose="020B0503020204020204" pitchFamily="34" charset="0"/>
                      </a:endParaRPr>
                    </a:p>
                  </a:txBody>
                  <a:tcPr/>
                </a:tc>
                <a:tc>
                  <a:txBody>
                    <a:bodyPr/>
                    <a:lstStyle/>
                    <a:p>
                      <a:r>
                        <a:rPr lang="fr-FR" sz="1200" u="sng" dirty="0">
                          <a:latin typeface="Corbel" panose="020B0503020204020204" pitchFamily="34" charset="0"/>
                        </a:rPr>
                        <a:t>Exportation et importation : </a:t>
                      </a:r>
                      <a:r>
                        <a:rPr lang="fr-FR" sz="1200" dirty="0">
                          <a:latin typeface="Corbel" panose="020B0503020204020204" pitchFamily="34" charset="0"/>
                        </a:rPr>
                        <a:t>le vendeur doit effectuer et </a:t>
                      </a:r>
                      <a:r>
                        <a:rPr lang="fr-FR" sz="1200" dirty="0" err="1">
                          <a:latin typeface="Corbel" panose="020B0503020204020204" pitchFamily="34" charset="0"/>
                        </a:rPr>
                        <a:t>prendre </a:t>
                      </a:r>
                      <a:r>
                        <a:rPr lang="fr-FR" sz="1200" dirty="0">
                          <a:latin typeface="Corbel" panose="020B0503020204020204" pitchFamily="34" charset="0"/>
                        </a:rPr>
                        <a:t>en charge toutes </a:t>
                      </a:r>
                      <a:r>
                        <a:rPr lang="fr-FR" sz="1200" dirty="0" err="1">
                          <a:latin typeface="Corbel" panose="020B0503020204020204" pitchFamily="34" charset="0"/>
                        </a:rPr>
                        <a:t>les formalités</a:t>
                      </a:r>
                      <a:r>
                        <a:rPr lang="fr-FR" sz="1200" dirty="0">
                          <a:latin typeface="Corbel" panose="020B0503020204020204" pitchFamily="34" charset="0"/>
                        </a:rPr>
                        <a:t> de dédouanement à l'exportation et à l'importation </a:t>
                      </a:r>
                      <a:r>
                        <a:rPr lang="fr-FR" sz="1200" dirty="0" err="1">
                          <a:latin typeface="Corbel" panose="020B0503020204020204" pitchFamily="34" charset="0"/>
                        </a:rPr>
                        <a:t>requises </a:t>
                      </a:r>
                      <a:r>
                        <a:rPr lang="fr-FR" sz="1200" dirty="0">
                          <a:latin typeface="Corbel" panose="020B0503020204020204" pitchFamily="34" charset="0"/>
                        </a:rPr>
                        <a:t>par les pays d'exportation et d'importation.</a:t>
                      </a:r>
                    </a:p>
                  </a:txBody>
                  <a:tcPr/>
                </a:tc>
                <a:tc>
                  <a:txBody>
                    <a:bodyPr/>
                    <a:lstStyle/>
                    <a:p>
                      <a:r>
                        <a:rPr lang="fr-FR" sz="1200" u="sng" dirty="0">
                          <a:latin typeface="Corbel" panose="020B0503020204020204" pitchFamily="34" charset="0"/>
                        </a:rPr>
                        <a:t>Exportation et importation : </a:t>
                      </a:r>
                      <a:r>
                        <a:rPr lang="fr-FR" sz="1200" dirty="0" err="1">
                          <a:latin typeface="Corbel" panose="020B0503020204020204" pitchFamily="34" charset="0"/>
                        </a:rPr>
                        <a:t>l'acheteur </a:t>
                      </a:r>
                      <a:r>
                        <a:rPr lang="fr-FR" sz="1200" dirty="0">
                          <a:latin typeface="Corbel" panose="020B0503020204020204" pitchFamily="34" charset="0"/>
                        </a:rPr>
                        <a:t>doit aider le vendeur, à la </a:t>
                      </a:r>
                      <a:r>
                        <a:rPr lang="fr-FR" sz="1200" dirty="0" err="1">
                          <a:latin typeface="Corbel" panose="020B0503020204020204" pitchFamily="34" charset="0"/>
                        </a:rPr>
                        <a:t>demande</a:t>
                      </a:r>
                      <a:r>
                        <a:rPr lang="fr-FR" sz="1200" dirty="0">
                          <a:latin typeface="Corbel" panose="020B0503020204020204" pitchFamily="34" charset="0"/>
                        </a:rPr>
                        <a:t>, </a:t>
                      </a:r>
                      <a:r>
                        <a:rPr lang="fr-FR" sz="1200" dirty="0" err="1">
                          <a:latin typeface="Corbel" panose="020B0503020204020204" pitchFamily="34" charset="0"/>
                        </a:rPr>
                        <a:t>aux risques </a:t>
                      </a:r>
                      <a:r>
                        <a:rPr lang="fr-FR" sz="1200" dirty="0">
                          <a:latin typeface="Corbel" panose="020B0503020204020204" pitchFamily="34" charset="0"/>
                        </a:rPr>
                        <a:t>et </a:t>
                      </a:r>
                      <a:r>
                        <a:rPr lang="fr-FR" sz="1200" dirty="0" err="1">
                          <a:latin typeface="Corbel" panose="020B0503020204020204" pitchFamily="34" charset="0"/>
                        </a:rPr>
                        <a:t>aux frais de ce dernier</a:t>
                      </a:r>
                      <a:r>
                        <a:rPr lang="fr-FR" sz="1200" dirty="0">
                          <a:latin typeface="Corbel" panose="020B0503020204020204" pitchFamily="34" charset="0"/>
                        </a:rPr>
                        <a:t>, à </a:t>
                      </a:r>
                      <a:r>
                        <a:rPr lang="fr-FR" sz="1200" dirty="0" err="1">
                          <a:latin typeface="Corbel" panose="020B0503020204020204" pitchFamily="34" charset="0"/>
                        </a:rPr>
                        <a:t>obtenir tous </a:t>
                      </a:r>
                      <a:r>
                        <a:rPr lang="fr-FR" sz="1200" dirty="0">
                          <a:latin typeface="Corbel" panose="020B0503020204020204" pitchFamily="34" charset="0"/>
                        </a:rPr>
                        <a:t>les documents ou informations </a:t>
                      </a:r>
                      <a:r>
                        <a:rPr lang="fr-FR" sz="1200" dirty="0" err="1">
                          <a:latin typeface="Corbel" panose="020B0503020204020204" pitchFamily="34" charset="0"/>
                        </a:rPr>
                        <a:t>relatifs </a:t>
                      </a:r>
                      <a:r>
                        <a:rPr lang="fr-FR" sz="1200" dirty="0">
                          <a:latin typeface="Corbel" panose="020B0503020204020204" pitchFamily="34" charset="0"/>
                        </a:rPr>
                        <a:t>aux </a:t>
                      </a:r>
                      <a:r>
                        <a:rPr lang="fr-FR" sz="1200" dirty="0" err="1">
                          <a:latin typeface="Corbel" panose="020B0503020204020204" pitchFamily="34" charset="0"/>
                        </a:rPr>
                        <a:t>formalités</a:t>
                      </a:r>
                      <a:r>
                        <a:rPr lang="fr-FR" sz="1200" dirty="0">
                          <a:latin typeface="Corbel" panose="020B0503020204020204" pitchFamily="34" charset="0"/>
                        </a:rPr>
                        <a:t> de dédouanement à l'exportation.</a:t>
                      </a:r>
                    </a:p>
                  </a:txBody>
                  <a:tcPr/>
                </a:tc>
                <a:extLst>
                  <a:ext uri="{0D108BD9-81ED-4DB2-BD59-A6C34878D82A}">
                    <a16:rowId xmlns:a16="http://schemas.microsoft.com/office/drawing/2014/main" val="37418885"/>
                  </a:ext>
                </a:extLst>
              </a:tr>
              <a:tr h="12349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Corbel" panose="020B0503020204020204" pitchFamily="34" charset="0"/>
                        </a:rPr>
                        <a:t>Contrôle / emballage / </a:t>
                      </a:r>
                      <a:r>
                        <a:rPr lang="fr-FR" sz="1200" dirty="0" err="1">
                          <a:latin typeface="Corbel" panose="020B0503020204020204" pitchFamily="34" charset="0"/>
                        </a:rPr>
                        <a:t>marquage</a:t>
                      </a:r>
                      <a:endParaRPr lang="fr-FR" sz="1200" dirty="0">
                        <a:latin typeface="Corbel" panose="020B0503020204020204" pitchFamily="34" charset="0"/>
                      </a:endParaRPr>
                    </a:p>
                    <a:p>
                      <a:endParaRPr lang="fr-FR" sz="1200" dirty="0">
                        <a:latin typeface="Corbel" panose="020B0503020204020204" pitchFamily="34" charset="0"/>
                      </a:endParaRPr>
                    </a:p>
                  </a:txBody>
                  <a:tcPr/>
                </a:tc>
                <a:tc>
                  <a:txBody>
                    <a:bodyPr/>
                    <a:lstStyle/>
                    <a:p>
                      <a:pPr algn="l"/>
                      <a:r>
                        <a:rPr lang="fr-FR" sz="1200" dirty="0">
                          <a:solidFill>
                            <a:schemeClr val="tx1"/>
                          </a:solidFill>
                          <a:latin typeface="Corbel" panose="020B0503020204020204" pitchFamily="34" charset="0"/>
                        </a:rPr>
                        <a:t>Le vendeur doit :</a:t>
                      </a:r>
                    </a:p>
                    <a:p>
                      <a:pPr marL="171450" indent="-171450" algn="l">
                        <a:buFontTx/>
                        <a:buChar char="-"/>
                      </a:pPr>
                      <a:r>
                        <a:rPr lang="fr-FR" sz="1200" dirty="0" err="1">
                          <a:solidFill>
                            <a:schemeClr val="tx1"/>
                          </a:solidFill>
                          <a:latin typeface="Corbel" panose="020B0503020204020204" pitchFamily="34" charset="0"/>
                        </a:rPr>
                        <a:t>Prendre en charge </a:t>
                      </a:r>
                      <a:r>
                        <a:rPr lang="fr-FR" sz="1200" dirty="0">
                          <a:solidFill>
                            <a:schemeClr val="tx1"/>
                          </a:solidFill>
                          <a:latin typeface="Corbel" panose="020B0503020204020204" pitchFamily="34" charset="0"/>
                        </a:rPr>
                        <a:t>le </a:t>
                      </a:r>
                      <a:r>
                        <a:rPr lang="fr-FR" sz="1200" dirty="0" err="1">
                          <a:solidFill>
                            <a:schemeClr val="tx1"/>
                          </a:solidFill>
                          <a:latin typeface="Corbel" panose="020B0503020204020204" pitchFamily="34" charset="0"/>
                        </a:rPr>
                        <a:t>coût </a:t>
                      </a:r>
                      <a:r>
                        <a:rPr lang="fr-FR" sz="1200" dirty="0">
                          <a:solidFill>
                            <a:schemeClr val="tx1"/>
                          </a:solidFill>
                          <a:latin typeface="Corbel" panose="020B0503020204020204" pitchFamily="34" charset="0"/>
                        </a:rPr>
                        <a:t>de toutes </a:t>
                      </a:r>
                      <a:r>
                        <a:rPr lang="fr-FR" sz="1200" dirty="0" err="1">
                          <a:solidFill>
                            <a:schemeClr val="tx1"/>
                          </a:solidFill>
                          <a:latin typeface="Corbel" panose="020B0503020204020204" pitchFamily="34" charset="0"/>
                        </a:rPr>
                        <a:t>les opérations</a:t>
                      </a:r>
                      <a:r>
                        <a:rPr lang="fr-FR" sz="1200" dirty="0">
                          <a:solidFill>
                            <a:schemeClr val="tx1"/>
                          </a:solidFill>
                          <a:latin typeface="Corbel" panose="020B0503020204020204" pitchFamily="34" charset="0"/>
                        </a:rPr>
                        <a:t> de contrôle (contrôle </a:t>
                      </a:r>
                      <a:r>
                        <a:rPr lang="fr-FR" sz="1200" dirty="0" err="1">
                          <a:solidFill>
                            <a:schemeClr val="tx1"/>
                          </a:solidFill>
                          <a:latin typeface="Corbel" panose="020B0503020204020204" pitchFamily="34" charset="0"/>
                        </a:rPr>
                        <a:t>de la qualité</a:t>
                      </a:r>
                      <a:r>
                        <a:rPr lang="fr-FR" sz="1200" dirty="0">
                          <a:solidFill>
                            <a:schemeClr val="tx1"/>
                          </a:solidFill>
                          <a:latin typeface="Corbel" panose="020B0503020204020204" pitchFamily="34" charset="0"/>
                        </a:rPr>
                        <a:t>, </a:t>
                      </a:r>
                      <a:r>
                        <a:rPr lang="fr-FR" sz="1200" dirty="0" err="1">
                          <a:solidFill>
                            <a:schemeClr val="tx1"/>
                          </a:solidFill>
                          <a:latin typeface="Corbel" panose="020B0503020204020204" pitchFamily="34" charset="0"/>
                        </a:rPr>
                        <a:t>mesure</a:t>
                      </a:r>
                      <a:r>
                        <a:rPr lang="fr-FR" sz="1200" dirty="0">
                          <a:solidFill>
                            <a:schemeClr val="tx1"/>
                          </a:solidFill>
                          <a:latin typeface="Corbel" panose="020B0503020204020204" pitchFamily="34" charset="0"/>
                        </a:rPr>
                        <a:t>, </a:t>
                      </a:r>
                      <a:r>
                        <a:rPr lang="fr-FR" sz="1200" dirty="0" err="1">
                          <a:solidFill>
                            <a:schemeClr val="tx1"/>
                          </a:solidFill>
                          <a:latin typeface="Corbel" panose="020B0503020204020204" pitchFamily="34" charset="0"/>
                        </a:rPr>
                        <a:t>pesage</a:t>
                      </a:r>
                      <a:r>
                        <a:rPr lang="fr-FR" sz="1200" dirty="0">
                          <a:solidFill>
                            <a:schemeClr val="tx1"/>
                          </a:solidFill>
                          <a:latin typeface="Corbel" panose="020B0503020204020204" pitchFamily="34" charset="0"/>
                        </a:rPr>
                        <a:t>, </a:t>
                      </a:r>
                      <a:r>
                        <a:rPr lang="fr-FR" sz="1200" dirty="0" err="1">
                          <a:solidFill>
                            <a:schemeClr val="tx1"/>
                          </a:solidFill>
                          <a:latin typeface="Corbel" panose="020B0503020204020204" pitchFamily="34" charset="0"/>
                        </a:rPr>
                        <a:t>comptage</a:t>
                      </a:r>
                      <a:r>
                        <a:rPr lang="fr-FR" sz="1200" dirty="0">
                          <a:solidFill>
                            <a:schemeClr val="tx1"/>
                          </a:solidFill>
                          <a:latin typeface="Corbel" panose="020B0503020204020204" pitchFamily="34" charset="0"/>
                        </a:rPr>
                        <a:t>)</a:t>
                      </a:r>
                    </a:p>
                    <a:p>
                      <a:pPr marL="171450" indent="-171450" algn="l">
                        <a:buFontTx/>
                        <a:buChar char="-"/>
                      </a:pPr>
                      <a:r>
                        <a:rPr lang="fr-FR" sz="1200" dirty="0">
                          <a:solidFill>
                            <a:schemeClr val="tx1"/>
                          </a:solidFill>
                          <a:latin typeface="Corbel" panose="020B0503020204020204" pitchFamily="34" charset="0"/>
                        </a:rPr>
                        <a:t>Emballer et marquer les </a:t>
                      </a:r>
                      <a:r>
                        <a:rPr lang="fr-FR" sz="1200" dirty="0" err="1">
                          <a:solidFill>
                            <a:schemeClr val="tx1"/>
                          </a:solidFill>
                          <a:latin typeface="Corbel" panose="020B0503020204020204" pitchFamily="34" charset="0"/>
                        </a:rPr>
                        <a:t>marchandises </a:t>
                      </a:r>
                      <a:r>
                        <a:rPr lang="fr-FR" sz="1200" dirty="0">
                          <a:solidFill>
                            <a:schemeClr val="tx1"/>
                          </a:solidFill>
                          <a:latin typeface="Corbel" panose="020B0503020204020204" pitchFamily="34" charset="0"/>
                        </a:rPr>
                        <a:t>de </a:t>
                      </a:r>
                      <a:r>
                        <a:rPr lang="fr-FR" sz="1200" dirty="0" err="1">
                          <a:solidFill>
                            <a:schemeClr val="tx1"/>
                          </a:solidFill>
                          <a:latin typeface="Corbel" panose="020B0503020204020204" pitchFamily="34" charset="0"/>
                        </a:rPr>
                        <a:t>manière appropriée </a:t>
                      </a:r>
                      <a:r>
                        <a:rPr lang="fr-FR" sz="1200" dirty="0">
                          <a:solidFill>
                            <a:schemeClr val="tx1"/>
                          </a:solidFill>
                          <a:latin typeface="Corbel" panose="020B0503020204020204" pitchFamily="34" charset="0"/>
                        </a:rPr>
                        <a:t>pour </a:t>
                      </a:r>
                      <a:r>
                        <a:rPr lang="fr-FR" sz="1200" dirty="0" err="1">
                          <a:solidFill>
                            <a:schemeClr val="tx1"/>
                          </a:solidFill>
                          <a:latin typeface="Corbel" panose="020B0503020204020204" pitchFamily="34" charset="0"/>
                        </a:rPr>
                        <a:t>leur </a:t>
                      </a:r>
                      <a:r>
                        <a:rPr lang="fr-FR" sz="1200" dirty="0">
                          <a:solidFill>
                            <a:schemeClr val="tx1"/>
                          </a:solidFill>
                          <a:latin typeface="Corbel" panose="020B0503020204020204" pitchFamily="34" charset="0"/>
                        </a:rPr>
                        <a:t>transport.</a:t>
                      </a:r>
                    </a:p>
                    <a:p>
                      <a:endParaRPr lang="fr-FR" sz="1200" dirty="0">
                        <a:latin typeface="Corbel" panose="020B0503020204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err="1">
                          <a:latin typeface="Corbel" panose="020B0503020204020204" pitchFamily="34" charset="0"/>
                        </a:rPr>
                        <a:t>L'acheteur </a:t>
                      </a:r>
                      <a:r>
                        <a:rPr lang="fr-FR" sz="1200" dirty="0">
                          <a:latin typeface="Corbel" panose="020B0503020204020204" pitchFamily="34" charset="0"/>
                        </a:rPr>
                        <a:t>n'a aucune obligation envers le vendeur.</a:t>
                      </a:r>
                    </a:p>
                    <a:p>
                      <a:endParaRPr lang="fr-FR" sz="1200" dirty="0">
                        <a:latin typeface="Corbel" panose="020B0503020204020204" pitchFamily="34" charset="0"/>
                      </a:endParaRPr>
                    </a:p>
                  </a:txBody>
                  <a:tcPr/>
                </a:tc>
                <a:extLst>
                  <a:ext uri="{0D108BD9-81ED-4DB2-BD59-A6C34878D82A}">
                    <a16:rowId xmlns:a16="http://schemas.microsoft.com/office/drawing/2014/main" val="2533737466"/>
                  </a:ext>
                </a:extLst>
              </a:tr>
              <a:tr h="12349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Corbel" panose="020B0503020204020204" pitchFamily="34" charset="0"/>
                        </a:rPr>
                        <a:t>Avis</a:t>
                      </a:r>
                    </a:p>
                    <a:p>
                      <a:endParaRPr lang="fr-FR" sz="1200" dirty="0">
                        <a:latin typeface="Corbel" panose="020B0503020204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Corbel" panose="020B0503020204020204" pitchFamily="34" charset="0"/>
                        </a:rPr>
                        <a:t>Le vendeur doit </a:t>
                      </a:r>
                      <a:r>
                        <a:rPr lang="fr-FR" sz="1200" dirty="0" err="1">
                          <a:latin typeface="Corbel" panose="020B0503020204020204" pitchFamily="34" charset="0"/>
                        </a:rPr>
                        <a:t>donner </a:t>
                      </a:r>
                      <a:r>
                        <a:rPr lang="fr-FR" sz="1200" dirty="0">
                          <a:latin typeface="Corbel" panose="020B0503020204020204" pitchFamily="34" charset="0"/>
                        </a:rPr>
                        <a:t>à </a:t>
                      </a:r>
                      <a:r>
                        <a:rPr lang="fr-FR" sz="1200" dirty="0" err="1">
                          <a:latin typeface="Corbel" panose="020B0503020204020204" pitchFamily="34" charset="0"/>
                        </a:rPr>
                        <a:t>l'acheteur toute </a:t>
                      </a:r>
                      <a:r>
                        <a:rPr lang="fr-FR" sz="1200" dirty="0">
                          <a:latin typeface="Corbel" panose="020B0503020204020204" pitchFamily="34" charset="0"/>
                        </a:rPr>
                        <a:t>notification </a:t>
                      </a:r>
                      <a:r>
                        <a:rPr lang="fr-FR" sz="1200" dirty="0" err="1">
                          <a:latin typeface="Corbel" panose="020B0503020204020204" pitchFamily="34" charset="0"/>
                        </a:rPr>
                        <a:t>nécessaire </a:t>
                      </a:r>
                      <a:r>
                        <a:rPr lang="fr-FR" sz="1200" dirty="0">
                          <a:latin typeface="Corbel" panose="020B0503020204020204" pitchFamily="34" charset="0"/>
                        </a:rPr>
                        <a:t>pour </a:t>
                      </a:r>
                      <a:r>
                        <a:rPr lang="fr-FR" sz="1200" dirty="0" err="1">
                          <a:latin typeface="Corbel" panose="020B0503020204020204" pitchFamily="34" charset="0"/>
                        </a:rPr>
                        <a:t>lui</a:t>
                      </a:r>
                      <a:r>
                        <a:rPr lang="fr-FR" sz="1200" dirty="0">
                          <a:latin typeface="Corbel" panose="020B0503020204020204" pitchFamily="34" charset="0"/>
                        </a:rPr>
                        <a:t> permettre de </a:t>
                      </a:r>
                      <a:r>
                        <a:rPr lang="fr-FR" sz="1200" dirty="0" err="1">
                          <a:latin typeface="Corbel" panose="020B0503020204020204" pitchFamily="34" charset="0"/>
                        </a:rPr>
                        <a:t>recevoir </a:t>
                      </a:r>
                      <a:r>
                        <a:rPr lang="fr-FR" sz="1200" dirty="0">
                          <a:latin typeface="Corbel" panose="020B0503020204020204" pitchFamily="34" charset="0"/>
                        </a:rPr>
                        <a:t>les </a:t>
                      </a:r>
                      <a:r>
                        <a:rPr lang="fr-FR" sz="1200" dirty="0" err="1">
                          <a:latin typeface="Corbel" panose="020B0503020204020204" pitchFamily="34" charset="0"/>
                        </a:rPr>
                        <a:t>marchandises</a:t>
                      </a:r>
                      <a:r>
                        <a:rPr lang="fr-FR" sz="1200" dirty="0">
                          <a:latin typeface="Corbel" panose="020B0503020204020204" pitchFamily="34" charset="0"/>
                        </a:rPr>
                        <a:t>.</a:t>
                      </a:r>
                    </a:p>
                    <a:p>
                      <a:endParaRPr lang="fr-FR" sz="1200" dirty="0">
                        <a:latin typeface="Corbel" panose="020B0503020204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Corbel" panose="020B0503020204020204" pitchFamily="34" charset="0"/>
                        </a:rPr>
                        <a:t>Si </a:t>
                      </a:r>
                      <a:r>
                        <a:rPr lang="fr-FR" sz="1200" dirty="0" err="1">
                          <a:latin typeface="Corbel" panose="020B0503020204020204" pitchFamily="34" charset="0"/>
                        </a:rPr>
                        <a:t>l'acheteur est en droit </a:t>
                      </a:r>
                      <a:r>
                        <a:rPr lang="fr-FR" sz="1200" dirty="0">
                          <a:latin typeface="Corbel" panose="020B0503020204020204" pitchFamily="34" charset="0"/>
                        </a:rPr>
                        <a:t>de </a:t>
                      </a:r>
                      <a:r>
                        <a:rPr lang="fr-FR" sz="1200" dirty="0" err="1">
                          <a:latin typeface="Corbel" panose="020B0503020204020204" pitchFamily="34" charset="0"/>
                        </a:rPr>
                        <a:t>déterminer </a:t>
                      </a:r>
                      <a:r>
                        <a:rPr lang="fr-FR" sz="1200" dirty="0">
                          <a:latin typeface="Corbel" panose="020B0503020204020204" pitchFamily="34" charset="0"/>
                        </a:rPr>
                        <a:t>le moment de l'expédition des </a:t>
                      </a:r>
                      <a:r>
                        <a:rPr lang="fr-FR" sz="1200" dirty="0" err="1">
                          <a:latin typeface="Corbel" panose="020B0503020204020204" pitchFamily="34" charset="0"/>
                        </a:rPr>
                        <a:t>marchandises </a:t>
                      </a:r>
                      <a:r>
                        <a:rPr lang="fr-FR" sz="1200" dirty="0">
                          <a:latin typeface="Corbel" panose="020B0503020204020204" pitchFamily="34" charset="0"/>
                        </a:rPr>
                        <a:t>et/ou le point de </a:t>
                      </a:r>
                      <a:r>
                        <a:rPr lang="fr-FR" sz="1200" dirty="0" err="1">
                          <a:latin typeface="Corbel" panose="020B0503020204020204" pitchFamily="34" charset="0"/>
                        </a:rPr>
                        <a:t>réception </a:t>
                      </a:r>
                      <a:r>
                        <a:rPr lang="fr-FR" sz="1200" dirty="0">
                          <a:latin typeface="Corbel" panose="020B0503020204020204" pitchFamily="34" charset="0"/>
                        </a:rPr>
                        <a:t>des </a:t>
                      </a:r>
                      <a:r>
                        <a:rPr lang="fr-FR" sz="1200" dirty="0" err="1">
                          <a:latin typeface="Corbel" panose="020B0503020204020204" pitchFamily="34" charset="0"/>
                        </a:rPr>
                        <a:t>marchandises dans </a:t>
                      </a:r>
                      <a:r>
                        <a:rPr lang="fr-FR" sz="1200" dirty="0">
                          <a:latin typeface="Corbel" panose="020B0503020204020204" pitchFamily="34" charset="0"/>
                        </a:rPr>
                        <a:t>le port de destination </a:t>
                      </a:r>
                      <a:r>
                        <a:rPr lang="fr-FR" sz="1200" dirty="0" err="1">
                          <a:latin typeface="Corbel" panose="020B0503020204020204" pitchFamily="34" charset="0"/>
                        </a:rPr>
                        <a:t>désigné</a:t>
                      </a:r>
                      <a:r>
                        <a:rPr lang="fr-FR" sz="1200" dirty="0">
                          <a:latin typeface="Corbel" panose="020B0503020204020204" pitchFamily="34" charset="0"/>
                        </a:rPr>
                        <a:t>, </a:t>
                      </a:r>
                      <a:r>
                        <a:rPr lang="fr-FR" sz="1200" dirty="0" err="1">
                          <a:latin typeface="Corbel" panose="020B0503020204020204" pitchFamily="34" charset="0"/>
                        </a:rPr>
                        <a:t>il </a:t>
                      </a:r>
                      <a:r>
                        <a:rPr lang="fr-FR" sz="1200" dirty="0">
                          <a:latin typeface="Corbel" panose="020B0503020204020204" pitchFamily="34" charset="0"/>
                        </a:rPr>
                        <a:t>doit en informer le vendeur </a:t>
                      </a:r>
                      <a:r>
                        <a:rPr lang="fr-FR" sz="1200" dirty="0" err="1">
                          <a:latin typeface="Corbel" panose="020B0503020204020204" pitchFamily="34" charset="0"/>
                        </a:rPr>
                        <a:t>suffisamment à l'avance</a:t>
                      </a:r>
                      <a:r>
                        <a:rPr lang="fr-FR" sz="1200" dirty="0">
                          <a:latin typeface="Corbel" panose="020B0503020204020204" pitchFamily="34" charset="0"/>
                        </a:rPr>
                        <a:t>.</a:t>
                      </a:r>
                    </a:p>
                    <a:p>
                      <a:endParaRPr lang="fr-FR" sz="1200" dirty="0">
                        <a:latin typeface="Corbel" panose="020B0503020204020204" pitchFamily="34" charset="0"/>
                      </a:endParaRPr>
                    </a:p>
                  </a:txBody>
                  <a:tcPr/>
                </a:tc>
                <a:extLst>
                  <a:ext uri="{0D108BD9-81ED-4DB2-BD59-A6C34878D82A}">
                    <a16:rowId xmlns:a16="http://schemas.microsoft.com/office/drawing/2014/main" val="534282941"/>
                  </a:ext>
                </a:extLst>
              </a:tr>
            </a:tbl>
          </a:graphicData>
        </a:graphic>
      </p:graphicFrame>
      <p:sp>
        <p:nvSpPr>
          <p:cNvPr id="12" name="Titre 1">
            <a:extLst>
              <a:ext uri="{FF2B5EF4-FFF2-40B4-BE49-F238E27FC236}">
                <a16:creationId xmlns:a16="http://schemas.microsoft.com/office/drawing/2014/main" id="{5043E480-026A-4F00-947D-678512732390}"/>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DDP : </a:t>
            </a:r>
            <a:r>
              <a:rPr lang="fr-FR" dirty="0" err="1">
                <a:solidFill>
                  <a:schemeClr val="bg1"/>
                </a:solidFill>
                <a:latin typeface="Franklin Gothic Book" panose="020B0503020102020204" pitchFamily="34" charset="0"/>
              </a:rPr>
              <a:t>Rendu </a:t>
            </a:r>
            <a:r>
              <a:rPr lang="fr-FR" dirty="0">
                <a:solidFill>
                  <a:schemeClr val="bg1"/>
                </a:solidFill>
                <a:latin typeface="Franklin Gothic Book" panose="020B0503020102020204" pitchFamily="34" charset="0"/>
              </a:rPr>
              <a:t>droits </a:t>
            </a:r>
            <a:r>
              <a:rPr lang="fr-FR" dirty="0" err="1">
                <a:solidFill>
                  <a:schemeClr val="bg1"/>
                </a:solidFill>
                <a:latin typeface="Franklin Gothic Book" panose="020B0503020102020204" pitchFamily="34" charset="0"/>
              </a:rPr>
              <a:t>acquittés</a:t>
            </a:r>
            <a:endParaRPr lang="fr-FR"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0867BEAB-A7BB-49A5-B0D7-FEEDF37862A0}"/>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2443001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graphicFrame>
        <p:nvGraphicFramePr>
          <p:cNvPr id="2" name="Tableau 2">
            <a:extLst>
              <a:ext uri="{FF2B5EF4-FFF2-40B4-BE49-F238E27FC236}">
                <a16:creationId xmlns:a16="http://schemas.microsoft.com/office/drawing/2014/main" id="{C5FBA4EA-6D7A-405A-B944-D3A5D355FBA8}"/>
              </a:ext>
            </a:extLst>
          </p:cNvPr>
          <p:cNvGraphicFramePr>
            <a:graphicFrameLocks noGrp="1"/>
          </p:cNvGraphicFramePr>
          <p:nvPr>
            <p:ph idx="1"/>
            <p:extLst>
              <p:ext uri="{D42A27DB-BD31-4B8C-83A1-F6EECF244321}">
                <p14:modId xmlns:p14="http://schemas.microsoft.com/office/powerpoint/2010/main" val="890851737"/>
              </p:ext>
            </p:extLst>
          </p:nvPr>
        </p:nvGraphicFramePr>
        <p:xfrm>
          <a:off x="201165" y="1679331"/>
          <a:ext cx="8749404" cy="4290646"/>
        </p:xfrm>
        <a:graphic>
          <a:graphicData uri="http://schemas.openxmlformats.org/drawingml/2006/table">
            <a:tbl>
              <a:tblPr firstRow="1" bandRow="1">
                <a:tableStyleId>{5C22544A-7EE6-4342-B048-85BDC9FD1C3A}</a:tableStyleId>
              </a:tblPr>
              <a:tblGrid>
                <a:gridCol w="1460581">
                  <a:extLst>
                    <a:ext uri="{9D8B030D-6E8A-4147-A177-3AD203B41FA5}">
                      <a16:colId xmlns:a16="http://schemas.microsoft.com/office/drawing/2014/main" val="1895056423"/>
                    </a:ext>
                  </a:extLst>
                </a:gridCol>
                <a:gridCol w="3596054">
                  <a:extLst>
                    <a:ext uri="{9D8B030D-6E8A-4147-A177-3AD203B41FA5}">
                      <a16:colId xmlns:a16="http://schemas.microsoft.com/office/drawing/2014/main" val="1462439970"/>
                    </a:ext>
                  </a:extLst>
                </a:gridCol>
                <a:gridCol w="3692769">
                  <a:extLst>
                    <a:ext uri="{9D8B030D-6E8A-4147-A177-3AD203B41FA5}">
                      <a16:colId xmlns:a16="http://schemas.microsoft.com/office/drawing/2014/main" val="3993599112"/>
                    </a:ext>
                  </a:extLst>
                </a:gridCol>
              </a:tblGrid>
              <a:tr h="585892">
                <a:tc>
                  <a:txBody>
                    <a:bodyPr/>
                    <a:lstStyle/>
                    <a:p>
                      <a:endParaRPr lang="fr-FR" sz="1200" dirty="0">
                        <a:latin typeface="Corbel" panose="020B0503020204020204" pitchFamily="34" charset="0"/>
                      </a:endParaRPr>
                    </a:p>
                  </a:txBody>
                  <a:tcPr/>
                </a:tc>
                <a:tc>
                  <a:txBody>
                    <a:bodyPr/>
                    <a:lstStyle/>
                    <a:p>
                      <a:pPr algn="ctr"/>
                      <a:endParaRPr lang="fr-FR" sz="1200" dirty="0">
                        <a:latin typeface="Corbel" panose="020B0503020204020204" pitchFamily="34" charset="0"/>
                      </a:endParaRPr>
                    </a:p>
                  </a:txBody>
                  <a:tcPr/>
                </a:tc>
                <a:tc>
                  <a:txBody>
                    <a:bodyPr/>
                    <a:lstStyle/>
                    <a:p>
                      <a:pPr algn="ctr"/>
                      <a:endParaRPr lang="fr-FR" sz="1200" dirty="0">
                        <a:latin typeface="Corbel" panose="020B0503020204020204" pitchFamily="34" charset="0"/>
                      </a:endParaRPr>
                    </a:p>
                  </a:txBody>
                  <a:tcPr/>
                </a:tc>
                <a:extLst>
                  <a:ext uri="{0D108BD9-81ED-4DB2-BD59-A6C34878D82A}">
                    <a16:rowId xmlns:a16="http://schemas.microsoft.com/office/drawing/2014/main" val="1170545806"/>
                  </a:ext>
                </a:extLst>
              </a:tr>
              <a:tr h="1234918">
                <a:tc>
                  <a:txBody>
                    <a:bodyPr/>
                    <a:lstStyle/>
                    <a:p>
                      <a:endParaRPr lang="fr-FR" sz="1200" dirty="0">
                        <a:latin typeface="Corbel" panose="020B0503020204020204" pitchFamily="34" charset="0"/>
                      </a:endParaRPr>
                    </a:p>
                  </a:txBody>
                  <a:tcPr/>
                </a:tc>
                <a:tc>
                  <a:txBody>
                    <a:bodyPr/>
                    <a:lstStyle/>
                    <a:p>
                      <a:endParaRPr lang="fr-FR" sz="1200" dirty="0">
                        <a:latin typeface="Corbel" panose="020B0503020204020204" pitchFamily="34" charset="0"/>
                      </a:endParaRPr>
                    </a:p>
                  </a:txBody>
                  <a:tcPr/>
                </a:tc>
                <a:tc>
                  <a:txBody>
                    <a:bodyPr/>
                    <a:lstStyle/>
                    <a:p>
                      <a:endParaRPr lang="fr-FR" sz="1200" dirty="0">
                        <a:latin typeface="Corbel" panose="020B0503020204020204" pitchFamily="34" charset="0"/>
                      </a:endParaRPr>
                    </a:p>
                  </a:txBody>
                  <a:tcPr/>
                </a:tc>
                <a:extLst>
                  <a:ext uri="{0D108BD9-81ED-4DB2-BD59-A6C34878D82A}">
                    <a16:rowId xmlns:a16="http://schemas.microsoft.com/office/drawing/2014/main" val="37418885"/>
                  </a:ext>
                </a:extLst>
              </a:tr>
              <a:tr h="1234918">
                <a:tc>
                  <a:txBody>
                    <a:bodyPr/>
                    <a:lstStyle/>
                    <a:p>
                      <a:endParaRPr lang="fr-FR" sz="1200" dirty="0">
                        <a:latin typeface="Corbel" panose="020B0503020204020204" pitchFamily="34" charset="0"/>
                      </a:endParaRPr>
                    </a:p>
                  </a:txBody>
                  <a:tcPr/>
                </a:tc>
                <a:tc>
                  <a:txBody>
                    <a:bodyPr/>
                    <a:lstStyle/>
                    <a:p>
                      <a:endParaRPr lang="fr-FR" sz="1200" dirty="0">
                        <a:latin typeface="Corbel" panose="020B0503020204020204" pitchFamily="34" charset="0"/>
                      </a:endParaRPr>
                    </a:p>
                  </a:txBody>
                  <a:tcPr/>
                </a:tc>
                <a:tc>
                  <a:txBody>
                    <a:bodyPr/>
                    <a:lstStyle/>
                    <a:p>
                      <a:endParaRPr lang="fr-FR" sz="1200" dirty="0">
                        <a:latin typeface="Corbel" panose="020B0503020204020204" pitchFamily="34" charset="0"/>
                      </a:endParaRPr>
                    </a:p>
                  </a:txBody>
                  <a:tcPr/>
                </a:tc>
                <a:extLst>
                  <a:ext uri="{0D108BD9-81ED-4DB2-BD59-A6C34878D82A}">
                    <a16:rowId xmlns:a16="http://schemas.microsoft.com/office/drawing/2014/main" val="2533737466"/>
                  </a:ext>
                </a:extLst>
              </a:tr>
              <a:tr h="1234918">
                <a:tc>
                  <a:txBody>
                    <a:bodyPr/>
                    <a:lstStyle/>
                    <a:p>
                      <a:endParaRPr lang="fr-FR" sz="1200" dirty="0">
                        <a:latin typeface="Corbel" panose="020B0503020204020204" pitchFamily="34" charset="0"/>
                      </a:endParaRPr>
                    </a:p>
                  </a:txBody>
                  <a:tcPr/>
                </a:tc>
                <a:tc>
                  <a:txBody>
                    <a:bodyPr/>
                    <a:lstStyle/>
                    <a:p>
                      <a:endParaRPr lang="fr-FR" sz="1200" dirty="0">
                        <a:latin typeface="Corbel" panose="020B0503020204020204" pitchFamily="34" charset="0"/>
                      </a:endParaRPr>
                    </a:p>
                  </a:txBody>
                  <a:tcPr/>
                </a:tc>
                <a:tc>
                  <a:txBody>
                    <a:bodyPr/>
                    <a:lstStyle/>
                    <a:p>
                      <a:endParaRPr lang="fr-FR" sz="1200" dirty="0">
                        <a:latin typeface="Corbel" panose="020B0503020204020204" pitchFamily="34" charset="0"/>
                      </a:endParaRPr>
                    </a:p>
                  </a:txBody>
                  <a:tcPr/>
                </a:tc>
                <a:extLst>
                  <a:ext uri="{0D108BD9-81ED-4DB2-BD59-A6C34878D82A}">
                    <a16:rowId xmlns:a16="http://schemas.microsoft.com/office/drawing/2014/main" val="534282941"/>
                  </a:ext>
                </a:extLst>
              </a:tr>
            </a:tbl>
          </a:graphicData>
        </a:graphic>
      </p:graphicFrame>
      <p:sp>
        <p:nvSpPr>
          <p:cNvPr id="12" name="Titre 1">
            <a:extLst>
              <a:ext uri="{FF2B5EF4-FFF2-40B4-BE49-F238E27FC236}">
                <a16:creationId xmlns:a16="http://schemas.microsoft.com/office/drawing/2014/main" id="{5043E480-026A-4F00-947D-678512732390}"/>
              </a:ext>
            </a:extLst>
          </p:cNvPr>
          <p:cNvSpPr>
            <a:spLocks noGrp="1"/>
          </p:cNvSpPr>
          <p:nvPr>
            <p:ph type="title"/>
          </p:nvPr>
        </p:nvSpPr>
        <p:spPr>
          <a:xfrm>
            <a:off x="381000" y="355847"/>
            <a:ext cx="8381260" cy="1054394"/>
          </a:xfrm>
        </p:spPr>
        <p:txBody>
          <a:bodyPr>
            <a:normAutofit/>
          </a:bodyPr>
          <a:lstStyle/>
          <a:p>
            <a:r>
              <a:rPr lang="fr-FR" dirty="0" err="1">
                <a:solidFill>
                  <a:schemeClr val="bg1"/>
                </a:solidFill>
                <a:latin typeface="Franklin Gothic Book" panose="020B0503020102020204" pitchFamily="34" charset="0"/>
              </a:rPr>
              <a:t>Résumé</a:t>
            </a:r>
            <a:endParaRPr lang="fr-FR"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0867BEAB-A7BB-49A5-B0D7-FEEDF37862A0}"/>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pic>
        <p:nvPicPr>
          <p:cNvPr id="4" name="Image 3">
            <a:extLst>
              <a:ext uri="{FF2B5EF4-FFF2-40B4-BE49-F238E27FC236}">
                <a16:creationId xmlns:a16="http://schemas.microsoft.com/office/drawing/2014/main" id="{82D192FE-1114-4DDB-9D0E-1EA85F949D5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3431" y="1531386"/>
            <a:ext cx="8919038" cy="4570382"/>
          </a:xfrm>
          <a:prstGeom prst="rect">
            <a:avLst/>
          </a:prstGeom>
        </p:spPr>
      </p:pic>
    </p:spTree>
    <p:extLst>
      <p:ext uri="{BB962C8B-B14F-4D97-AF65-F5344CB8AC3E}">
        <p14:creationId xmlns:p14="http://schemas.microsoft.com/office/powerpoint/2010/main" val="3133197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graphicFrame>
        <p:nvGraphicFramePr>
          <p:cNvPr id="2" name="Tableau 2">
            <a:extLst>
              <a:ext uri="{FF2B5EF4-FFF2-40B4-BE49-F238E27FC236}">
                <a16:creationId xmlns:a16="http://schemas.microsoft.com/office/drawing/2014/main" id="{C5FBA4EA-6D7A-405A-B944-D3A5D355FBA8}"/>
              </a:ext>
            </a:extLst>
          </p:cNvPr>
          <p:cNvGraphicFramePr>
            <a:graphicFrameLocks noGrp="1"/>
          </p:cNvGraphicFramePr>
          <p:nvPr>
            <p:ph idx="1"/>
            <p:extLst>
              <p:ext uri="{D42A27DB-BD31-4B8C-83A1-F6EECF244321}">
                <p14:modId xmlns:p14="http://schemas.microsoft.com/office/powerpoint/2010/main" val="581228525"/>
              </p:ext>
            </p:extLst>
          </p:nvPr>
        </p:nvGraphicFramePr>
        <p:xfrm>
          <a:off x="201165" y="1679331"/>
          <a:ext cx="8749404" cy="4290646"/>
        </p:xfrm>
        <a:graphic>
          <a:graphicData uri="http://schemas.openxmlformats.org/drawingml/2006/table">
            <a:tbl>
              <a:tblPr firstRow="1" bandRow="1">
                <a:tableStyleId>{5C22544A-7EE6-4342-B048-85BDC9FD1C3A}</a:tableStyleId>
              </a:tblPr>
              <a:tblGrid>
                <a:gridCol w="1460581">
                  <a:extLst>
                    <a:ext uri="{9D8B030D-6E8A-4147-A177-3AD203B41FA5}">
                      <a16:colId xmlns:a16="http://schemas.microsoft.com/office/drawing/2014/main" val="1895056423"/>
                    </a:ext>
                  </a:extLst>
                </a:gridCol>
                <a:gridCol w="3596054">
                  <a:extLst>
                    <a:ext uri="{9D8B030D-6E8A-4147-A177-3AD203B41FA5}">
                      <a16:colId xmlns:a16="http://schemas.microsoft.com/office/drawing/2014/main" val="1462439970"/>
                    </a:ext>
                  </a:extLst>
                </a:gridCol>
                <a:gridCol w="3692769">
                  <a:extLst>
                    <a:ext uri="{9D8B030D-6E8A-4147-A177-3AD203B41FA5}">
                      <a16:colId xmlns:a16="http://schemas.microsoft.com/office/drawing/2014/main" val="3993599112"/>
                    </a:ext>
                  </a:extLst>
                </a:gridCol>
              </a:tblGrid>
              <a:tr h="585892">
                <a:tc>
                  <a:txBody>
                    <a:bodyPr/>
                    <a:lstStyle/>
                    <a:p>
                      <a:endParaRPr lang="fr-FR" sz="1200" dirty="0">
                        <a:latin typeface="Corbel" panose="020B0503020204020204" pitchFamily="34" charset="0"/>
                      </a:endParaRPr>
                    </a:p>
                  </a:txBody>
                  <a:tcPr/>
                </a:tc>
                <a:tc>
                  <a:txBody>
                    <a:bodyPr/>
                    <a:lstStyle/>
                    <a:p>
                      <a:pPr algn="ctr"/>
                      <a:endParaRPr lang="fr-FR" sz="1200" dirty="0">
                        <a:latin typeface="Corbel" panose="020B0503020204020204" pitchFamily="34" charset="0"/>
                      </a:endParaRPr>
                    </a:p>
                  </a:txBody>
                  <a:tcPr/>
                </a:tc>
                <a:tc>
                  <a:txBody>
                    <a:bodyPr/>
                    <a:lstStyle/>
                    <a:p>
                      <a:pPr algn="ctr"/>
                      <a:endParaRPr lang="fr-FR" sz="1200" dirty="0">
                        <a:latin typeface="Corbel" panose="020B0503020204020204" pitchFamily="34" charset="0"/>
                      </a:endParaRPr>
                    </a:p>
                  </a:txBody>
                  <a:tcPr/>
                </a:tc>
                <a:extLst>
                  <a:ext uri="{0D108BD9-81ED-4DB2-BD59-A6C34878D82A}">
                    <a16:rowId xmlns:a16="http://schemas.microsoft.com/office/drawing/2014/main" val="1170545806"/>
                  </a:ext>
                </a:extLst>
              </a:tr>
              <a:tr h="1234918">
                <a:tc>
                  <a:txBody>
                    <a:bodyPr/>
                    <a:lstStyle/>
                    <a:p>
                      <a:endParaRPr lang="fr-FR" sz="1200" dirty="0">
                        <a:latin typeface="Corbel" panose="020B0503020204020204" pitchFamily="34" charset="0"/>
                      </a:endParaRPr>
                    </a:p>
                  </a:txBody>
                  <a:tcPr/>
                </a:tc>
                <a:tc>
                  <a:txBody>
                    <a:bodyPr/>
                    <a:lstStyle/>
                    <a:p>
                      <a:endParaRPr lang="fr-FR" sz="1200" dirty="0">
                        <a:latin typeface="Corbel" panose="020B0503020204020204" pitchFamily="34" charset="0"/>
                      </a:endParaRPr>
                    </a:p>
                  </a:txBody>
                  <a:tcPr/>
                </a:tc>
                <a:tc>
                  <a:txBody>
                    <a:bodyPr/>
                    <a:lstStyle/>
                    <a:p>
                      <a:endParaRPr lang="fr-FR" sz="1200" dirty="0">
                        <a:latin typeface="Corbel" panose="020B0503020204020204" pitchFamily="34" charset="0"/>
                      </a:endParaRPr>
                    </a:p>
                  </a:txBody>
                  <a:tcPr/>
                </a:tc>
                <a:extLst>
                  <a:ext uri="{0D108BD9-81ED-4DB2-BD59-A6C34878D82A}">
                    <a16:rowId xmlns:a16="http://schemas.microsoft.com/office/drawing/2014/main" val="37418885"/>
                  </a:ext>
                </a:extLst>
              </a:tr>
              <a:tr h="1234918">
                <a:tc>
                  <a:txBody>
                    <a:bodyPr/>
                    <a:lstStyle/>
                    <a:p>
                      <a:endParaRPr lang="fr-FR" sz="1200" dirty="0">
                        <a:latin typeface="Corbel" panose="020B0503020204020204" pitchFamily="34" charset="0"/>
                      </a:endParaRPr>
                    </a:p>
                  </a:txBody>
                  <a:tcPr/>
                </a:tc>
                <a:tc>
                  <a:txBody>
                    <a:bodyPr/>
                    <a:lstStyle/>
                    <a:p>
                      <a:endParaRPr lang="fr-FR" sz="1200" dirty="0">
                        <a:latin typeface="Corbel" panose="020B0503020204020204" pitchFamily="34" charset="0"/>
                      </a:endParaRPr>
                    </a:p>
                  </a:txBody>
                  <a:tcPr/>
                </a:tc>
                <a:tc>
                  <a:txBody>
                    <a:bodyPr/>
                    <a:lstStyle/>
                    <a:p>
                      <a:endParaRPr lang="fr-FR" sz="1200" dirty="0">
                        <a:latin typeface="Corbel" panose="020B0503020204020204" pitchFamily="34" charset="0"/>
                      </a:endParaRPr>
                    </a:p>
                  </a:txBody>
                  <a:tcPr/>
                </a:tc>
                <a:extLst>
                  <a:ext uri="{0D108BD9-81ED-4DB2-BD59-A6C34878D82A}">
                    <a16:rowId xmlns:a16="http://schemas.microsoft.com/office/drawing/2014/main" val="2533737466"/>
                  </a:ext>
                </a:extLst>
              </a:tr>
              <a:tr h="1234918">
                <a:tc>
                  <a:txBody>
                    <a:bodyPr/>
                    <a:lstStyle/>
                    <a:p>
                      <a:endParaRPr lang="fr-FR" sz="1200" dirty="0">
                        <a:latin typeface="Corbel" panose="020B0503020204020204" pitchFamily="34" charset="0"/>
                      </a:endParaRPr>
                    </a:p>
                  </a:txBody>
                  <a:tcPr/>
                </a:tc>
                <a:tc>
                  <a:txBody>
                    <a:bodyPr/>
                    <a:lstStyle/>
                    <a:p>
                      <a:endParaRPr lang="fr-FR" sz="1200" dirty="0">
                        <a:latin typeface="Corbel" panose="020B0503020204020204" pitchFamily="34" charset="0"/>
                      </a:endParaRPr>
                    </a:p>
                  </a:txBody>
                  <a:tcPr/>
                </a:tc>
                <a:tc>
                  <a:txBody>
                    <a:bodyPr/>
                    <a:lstStyle/>
                    <a:p>
                      <a:endParaRPr lang="fr-FR" sz="1200" dirty="0">
                        <a:latin typeface="Corbel" panose="020B0503020204020204" pitchFamily="34" charset="0"/>
                      </a:endParaRPr>
                    </a:p>
                  </a:txBody>
                  <a:tcPr/>
                </a:tc>
                <a:extLst>
                  <a:ext uri="{0D108BD9-81ED-4DB2-BD59-A6C34878D82A}">
                    <a16:rowId xmlns:a16="http://schemas.microsoft.com/office/drawing/2014/main" val="534282941"/>
                  </a:ext>
                </a:extLst>
              </a:tr>
            </a:tbl>
          </a:graphicData>
        </a:graphic>
      </p:graphicFrame>
      <p:sp>
        <p:nvSpPr>
          <p:cNvPr id="12" name="Titre 1">
            <a:extLst>
              <a:ext uri="{FF2B5EF4-FFF2-40B4-BE49-F238E27FC236}">
                <a16:creationId xmlns:a16="http://schemas.microsoft.com/office/drawing/2014/main" id="{5043E480-026A-4F00-947D-678512732390}"/>
              </a:ext>
            </a:extLst>
          </p:cNvPr>
          <p:cNvSpPr>
            <a:spLocks noGrp="1"/>
          </p:cNvSpPr>
          <p:nvPr>
            <p:ph type="title"/>
          </p:nvPr>
        </p:nvSpPr>
        <p:spPr>
          <a:xfrm>
            <a:off x="381000" y="355847"/>
            <a:ext cx="8381260" cy="1054394"/>
          </a:xfrm>
        </p:spPr>
        <p:txBody>
          <a:bodyPr>
            <a:normAutofit/>
          </a:bodyPr>
          <a:lstStyle/>
          <a:p>
            <a:r>
              <a:rPr lang="fr-FR" dirty="0" err="1">
                <a:solidFill>
                  <a:schemeClr val="bg1"/>
                </a:solidFill>
                <a:latin typeface="Franklin Gothic Book" panose="020B0503020102020204" pitchFamily="34" charset="0"/>
              </a:rPr>
              <a:t>Résumé</a:t>
            </a:r>
            <a:endParaRPr lang="fr-FR"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0867BEAB-A7BB-49A5-B0D7-FEEDF37862A0}"/>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pic>
        <p:nvPicPr>
          <p:cNvPr id="6" name="Image 5">
            <a:extLst>
              <a:ext uri="{FF2B5EF4-FFF2-40B4-BE49-F238E27FC236}">
                <a16:creationId xmlns:a16="http://schemas.microsoft.com/office/drawing/2014/main" id="{13261EC3-701A-474C-9BB9-B2CC62C60DB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5133" y="1308643"/>
            <a:ext cx="8873734" cy="4831006"/>
          </a:xfrm>
          <a:prstGeom prst="rect">
            <a:avLst/>
          </a:prstGeom>
        </p:spPr>
      </p:pic>
    </p:spTree>
    <p:extLst>
      <p:ext uri="{BB962C8B-B14F-4D97-AF65-F5344CB8AC3E}">
        <p14:creationId xmlns:p14="http://schemas.microsoft.com/office/powerpoint/2010/main" val="2722293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1" name="Espace réservé du contenu 2">
            <a:extLst>
              <a:ext uri="{FF2B5EF4-FFF2-40B4-BE49-F238E27FC236}">
                <a16:creationId xmlns:a16="http://schemas.microsoft.com/office/drawing/2014/main" id="{30339894-F172-4DAD-94EE-0FDA1DDD147D}"/>
              </a:ext>
            </a:extLst>
          </p:cNvPr>
          <p:cNvSpPr>
            <a:spLocks noGrp="1"/>
          </p:cNvSpPr>
          <p:nvPr>
            <p:ph idx="1"/>
          </p:nvPr>
        </p:nvSpPr>
        <p:spPr>
          <a:xfrm>
            <a:off x="201165" y="1635369"/>
            <a:ext cx="8818684" cy="4285416"/>
          </a:xfrm>
        </p:spPr>
        <p:txBody>
          <a:bodyPr>
            <a:noAutofit/>
          </a:bodyPr>
          <a:lstStyle/>
          <a:p>
            <a:pPr marL="0" indent="0" algn="ctr">
              <a:buNone/>
            </a:pPr>
            <a:r>
              <a:rPr lang="en-GB" sz="4000" u="sng" dirty="0"/>
              <a:t>B – Incoterms et négociation</a:t>
            </a:r>
          </a:p>
          <a:p>
            <a:pPr marL="0" indent="0" algn="ctr">
              <a:buNone/>
            </a:pPr>
            <a:endParaRPr lang="en-GB" sz="4000" dirty="0"/>
          </a:p>
          <a:p>
            <a:pPr marL="0" indent="0" algn="ctr">
              <a:buNone/>
            </a:pPr>
            <a:r>
              <a:rPr lang="en-GB" dirty="0"/>
              <a:t>Quelques conseils à garder à l'esprit lors de </a:t>
            </a:r>
            <a:r>
              <a:rPr lang="en-GB" dirty="0" err="1"/>
              <a:t>l'utilisation/la négociation </a:t>
            </a:r>
            <a:r>
              <a:rPr lang="en-GB" dirty="0"/>
              <a:t>des incoterms</a:t>
            </a:r>
          </a:p>
        </p:txBody>
      </p:sp>
      <p:sp>
        <p:nvSpPr>
          <p:cNvPr id="12" name="Titre 1">
            <a:extLst>
              <a:ext uri="{FF2B5EF4-FFF2-40B4-BE49-F238E27FC236}">
                <a16:creationId xmlns:a16="http://schemas.microsoft.com/office/drawing/2014/main" id="{5043E480-026A-4F00-947D-678512732390}"/>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I - Incoterms</a:t>
            </a:r>
          </a:p>
        </p:txBody>
      </p:sp>
      <p:sp>
        <p:nvSpPr>
          <p:cNvPr id="9" name="Footer Placeholder 3">
            <a:extLst>
              <a:ext uri="{FF2B5EF4-FFF2-40B4-BE49-F238E27FC236}">
                <a16:creationId xmlns:a16="http://schemas.microsoft.com/office/drawing/2014/main" id="{0867BEAB-A7BB-49A5-B0D7-FEEDF37862A0}"/>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3566545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4A119B17-09F7-458A-9DC4-8CA73FE8B26D}"/>
              </a:ext>
            </a:extLst>
          </p:cNvPr>
          <p:cNvSpPr>
            <a:spLocks noGrp="1"/>
          </p:cNvSpPr>
          <p:nvPr>
            <p:ph idx="1"/>
          </p:nvPr>
        </p:nvSpPr>
        <p:spPr>
          <a:xfrm>
            <a:off x="201165" y="1719071"/>
            <a:ext cx="8741670" cy="4407408"/>
          </a:xfrm>
        </p:spPr>
        <p:txBody>
          <a:bodyPr>
            <a:normAutofit/>
          </a:bodyPr>
          <a:lstStyle/>
          <a:p>
            <a:pPr marL="514350" indent="-514350" algn="ctr">
              <a:buFontTx/>
              <a:buAutoNum type="arabicParenR"/>
            </a:pPr>
            <a:r>
              <a:rPr lang="en-GB" dirty="0"/>
              <a:t>Comment connaître l'incoterm choisi ?</a:t>
            </a:r>
          </a:p>
          <a:p>
            <a:pPr marL="514350" indent="-514350" algn="ctr">
              <a:buFontTx/>
              <a:buAutoNum type="arabicParenR"/>
            </a:pPr>
            <a:r>
              <a:rPr lang="en-GB" dirty="0"/>
              <a:t>Incoterms et contrat de vente</a:t>
            </a:r>
          </a:p>
          <a:p>
            <a:pPr marL="514350" indent="-514350" algn="ctr">
              <a:buFontTx/>
              <a:buAutoNum type="arabicParenR"/>
            </a:pPr>
            <a:r>
              <a:rPr lang="en-GB" dirty="0"/>
              <a:t>Incoterms et assurance</a:t>
            </a:r>
          </a:p>
          <a:p>
            <a:pPr marL="514350" indent="-514350" algn="ctr">
              <a:buFontTx/>
              <a:buAutoNum type="arabicParenR"/>
            </a:pPr>
            <a:r>
              <a:rPr lang="en-GB" dirty="0"/>
              <a:t>Incoterms et TVA</a:t>
            </a:r>
          </a:p>
          <a:p>
            <a:pPr marL="514350" indent="-514350" algn="ctr">
              <a:buFontTx/>
              <a:buAutoNum type="arabicParenR"/>
            </a:pPr>
            <a:r>
              <a:rPr lang="en-GB" dirty="0"/>
              <a:t>Incoterms et douanes</a:t>
            </a:r>
          </a:p>
        </p:txBody>
      </p:sp>
      <p:sp>
        <p:nvSpPr>
          <p:cNvPr id="6" name="Titre 1">
            <a:extLst>
              <a:ext uri="{FF2B5EF4-FFF2-40B4-BE49-F238E27FC236}">
                <a16:creationId xmlns:a16="http://schemas.microsoft.com/office/drawing/2014/main" id="{3B955F69-7ED5-4CE7-A780-4B628C295366}"/>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B – Incoterms et négociation </a:t>
            </a:r>
          </a:p>
        </p:txBody>
      </p:sp>
      <p:sp>
        <p:nvSpPr>
          <p:cNvPr id="9" name="Footer Placeholder 3">
            <a:extLst>
              <a:ext uri="{FF2B5EF4-FFF2-40B4-BE49-F238E27FC236}">
                <a16:creationId xmlns:a16="http://schemas.microsoft.com/office/drawing/2014/main" id="{8B4FC596-B768-4CD1-B721-F29840E1A79F}"/>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579046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4A119B17-09F7-458A-9DC4-8CA73FE8B26D}"/>
              </a:ext>
            </a:extLst>
          </p:cNvPr>
          <p:cNvSpPr>
            <a:spLocks noGrp="1"/>
          </p:cNvSpPr>
          <p:nvPr>
            <p:ph idx="1"/>
          </p:nvPr>
        </p:nvSpPr>
        <p:spPr>
          <a:xfrm>
            <a:off x="201165" y="1719071"/>
            <a:ext cx="8741670" cy="4407408"/>
          </a:xfrm>
        </p:spPr>
        <p:txBody>
          <a:bodyPr>
            <a:normAutofit/>
          </a:bodyPr>
          <a:lstStyle/>
          <a:p>
            <a:pPr marL="0" indent="0" algn="ctr">
              <a:buNone/>
            </a:pPr>
            <a:r>
              <a:rPr lang="en-GB" sz="2400" dirty="0"/>
              <a:t>Vous achetez des marchandises. La vente est conclue sans contrat écrit, mais vous souhaitez connaître l'incoterm choisi.</a:t>
            </a:r>
          </a:p>
        </p:txBody>
      </p:sp>
      <p:sp>
        <p:nvSpPr>
          <p:cNvPr id="6" name="Titre 1">
            <a:extLst>
              <a:ext uri="{FF2B5EF4-FFF2-40B4-BE49-F238E27FC236}">
                <a16:creationId xmlns:a16="http://schemas.microsoft.com/office/drawing/2014/main" id="{3B955F69-7ED5-4CE7-A780-4B628C295366}"/>
              </a:ext>
            </a:extLst>
          </p:cNvPr>
          <p:cNvSpPr>
            <a:spLocks noGrp="1"/>
          </p:cNvSpPr>
          <p:nvPr>
            <p:ph type="title"/>
          </p:nvPr>
        </p:nvSpPr>
        <p:spPr>
          <a:xfrm>
            <a:off x="381000" y="355847"/>
            <a:ext cx="8381260" cy="1054394"/>
          </a:xfrm>
        </p:spPr>
        <p:txBody>
          <a:bodyPr>
            <a:normAutofit fontScale="90000"/>
          </a:bodyPr>
          <a:lstStyle/>
          <a:p>
            <a:r>
              <a:rPr lang="fr-FR" dirty="0">
                <a:solidFill>
                  <a:schemeClr val="bg1"/>
                </a:solidFill>
                <a:latin typeface="Franklin Gothic Book" panose="020B0503020102020204" pitchFamily="34" charset="0"/>
              </a:rPr>
              <a:t>1) Comment connaître l'incoterm </a:t>
            </a:r>
            <a:r>
              <a:rPr lang="fr-FR" dirty="0" err="1">
                <a:solidFill>
                  <a:schemeClr val="bg1"/>
                </a:solidFill>
                <a:latin typeface="Franklin Gothic Book" panose="020B0503020102020204" pitchFamily="34" charset="0"/>
              </a:rPr>
              <a:t>choisi </a:t>
            </a:r>
            <a:r>
              <a:rPr lang="fr-FR" dirty="0">
                <a:solidFill>
                  <a:schemeClr val="bg1"/>
                </a:solidFill>
                <a:latin typeface="Franklin Gothic Book" panose="020B0503020102020204" pitchFamily="34" charset="0"/>
              </a:rPr>
              <a:t>?</a:t>
            </a:r>
          </a:p>
        </p:txBody>
      </p:sp>
      <p:sp>
        <p:nvSpPr>
          <p:cNvPr id="9" name="Footer Placeholder 3">
            <a:extLst>
              <a:ext uri="{FF2B5EF4-FFF2-40B4-BE49-F238E27FC236}">
                <a16:creationId xmlns:a16="http://schemas.microsoft.com/office/drawing/2014/main" id="{8B4FC596-B768-4CD1-B721-F29840E1A79F}"/>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3168236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093AF0A9-C3F3-4A78-B1A1-FE5B2FDEB417}"/>
              </a:ext>
            </a:extLst>
          </p:cNvPr>
          <p:cNvSpPr>
            <a:spLocks noGrp="1"/>
          </p:cNvSpPr>
          <p:nvPr>
            <p:ph idx="1"/>
          </p:nvPr>
        </p:nvSpPr>
        <p:spPr>
          <a:xfrm>
            <a:off x="300038" y="1728336"/>
            <a:ext cx="8550275" cy="4197679"/>
          </a:xfrm>
        </p:spPr>
        <p:txBody>
          <a:bodyPr>
            <a:normAutofit/>
          </a:bodyPr>
          <a:lstStyle/>
          <a:p>
            <a:pPr marL="0" indent="0">
              <a:buNone/>
            </a:pPr>
            <a:r>
              <a:rPr lang="en-GB" dirty="0"/>
              <a:t>Vous devez lire la </a:t>
            </a:r>
            <a:r>
              <a:rPr lang="en-GB" b="1" u="sng" dirty="0"/>
              <a:t>facture commerciale</a:t>
            </a:r>
            <a:r>
              <a:rPr lang="en-GB" dirty="0"/>
              <a:t>. La facture commerciale est un document contraignant. Elle contient de nombreuses informations sur la vente, y compris l'incoterm choisi.</a:t>
            </a:r>
          </a:p>
        </p:txBody>
      </p:sp>
      <p:sp>
        <p:nvSpPr>
          <p:cNvPr id="8" name="Titre 1">
            <a:extLst>
              <a:ext uri="{FF2B5EF4-FFF2-40B4-BE49-F238E27FC236}">
                <a16:creationId xmlns:a16="http://schemas.microsoft.com/office/drawing/2014/main" id="{3617A8E7-1833-4AEF-A807-308E50AE193A}"/>
              </a:ext>
            </a:extLst>
          </p:cNvPr>
          <p:cNvSpPr>
            <a:spLocks noGrp="1"/>
          </p:cNvSpPr>
          <p:nvPr>
            <p:ph type="title"/>
          </p:nvPr>
        </p:nvSpPr>
        <p:spPr>
          <a:xfrm>
            <a:off x="381000" y="355847"/>
            <a:ext cx="8381260" cy="1054394"/>
          </a:xfrm>
        </p:spPr>
        <p:txBody>
          <a:bodyPr>
            <a:normAutofit fontScale="90000"/>
          </a:bodyPr>
          <a:lstStyle/>
          <a:p>
            <a:pPr algn="ctr"/>
            <a:r>
              <a:rPr lang="fr-FR" dirty="0">
                <a:solidFill>
                  <a:schemeClr val="bg1"/>
                </a:solidFill>
                <a:latin typeface="Franklin Gothic Book" panose="020B0503020102020204" pitchFamily="34" charset="0"/>
              </a:rPr>
              <a:t>1) Comment connaître l'incoterm </a:t>
            </a:r>
            <a:r>
              <a:rPr lang="fr-FR" dirty="0" err="1">
                <a:solidFill>
                  <a:schemeClr val="bg1"/>
                </a:solidFill>
                <a:latin typeface="Franklin Gothic Book" panose="020B0503020102020204" pitchFamily="34" charset="0"/>
              </a:rPr>
              <a:t>choisi </a:t>
            </a:r>
            <a:r>
              <a:rPr lang="fr-FR" dirty="0">
                <a:solidFill>
                  <a:schemeClr val="bg1"/>
                </a:solidFill>
                <a:latin typeface="Franklin Gothic Book" panose="020B0503020102020204" pitchFamily="34" charset="0"/>
              </a:rPr>
              <a:t>?</a:t>
            </a:r>
          </a:p>
        </p:txBody>
      </p:sp>
      <p:sp>
        <p:nvSpPr>
          <p:cNvPr id="10" name="Footer Placeholder 3">
            <a:extLst>
              <a:ext uri="{FF2B5EF4-FFF2-40B4-BE49-F238E27FC236}">
                <a16:creationId xmlns:a16="http://schemas.microsoft.com/office/drawing/2014/main" id="{AB0649D1-E8C8-4C3C-AF87-486B7B6FFD27}"/>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198948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1">
            <a:extLst>
              <a:ext uri="{FF2B5EF4-FFF2-40B4-BE49-F238E27FC236}">
                <a16:creationId xmlns:a16="http://schemas.microsoft.com/office/drawing/2014/main" id="{F9C342BB-6C79-4623-ACC8-0AE81B5FCEF1}"/>
              </a:ext>
            </a:extLst>
          </p:cNvPr>
          <p:cNvSpPr>
            <a:spLocks noGrp="1"/>
          </p:cNvSpPr>
          <p:nvPr>
            <p:ph idx="1"/>
          </p:nvPr>
        </p:nvSpPr>
        <p:spPr>
          <a:xfrm>
            <a:off x="380999" y="1719071"/>
            <a:ext cx="8407893" cy="4407408"/>
          </a:xfrm>
        </p:spPr>
        <p:txBody>
          <a:bodyPr>
            <a:normAutofit fontScale="70000" lnSpcReduction="20000"/>
          </a:bodyPr>
          <a:lstStyle/>
          <a:p>
            <a:pPr marL="0" indent="0">
              <a:buNone/>
            </a:pPr>
            <a:r>
              <a:rPr lang="en-US" dirty="0"/>
              <a:t>Les Incoterms ne déterminent pas toutes les conditions de la vente. Les Incoterms ne concernent que deux aspects : le moment du transfert des risques (à la livraison) et la répartition des frais de transport.</a:t>
            </a:r>
          </a:p>
          <a:p>
            <a:pPr marL="0" indent="0">
              <a:buNone/>
            </a:pPr>
            <a:r>
              <a:rPr lang="en-US" dirty="0"/>
              <a:t>Par conséquent, n'oubliez pas de convenir des autres conditions de la vente :</a:t>
            </a:r>
          </a:p>
          <a:p>
            <a:pPr>
              <a:buFontTx/>
              <a:buChar char="-"/>
            </a:pPr>
            <a:r>
              <a:rPr lang="en-US" dirty="0"/>
              <a:t>clause de juridiction</a:t>
            </a:r>
          </a:p>
          <a:p>
            <a:pPr>
              <a:buFontTx/>
              <a:buChar char="-"/>
            </a:pPr>
            <a:r>
              <a:rPr lang="en-US" dirty="0"/>
              <a:t>loi applicable</a:t>
            </a:r>
          </a:p>
          <a:p>
            <a:pPr>
              <a:buFontTx/>
              <a:buChar char="-"/>
            </a:pPr>
            <a:r>
              <a:rPr lang="en-US" dirty="0"/>
              <a:t>les conditions de paiement</a:t>
            </a:r>
          </a:p>
          <a:p>
            <a:pPr>
              <a:buFontTx/>
              <a:buChar char="-"/>
            </a:pPr>
            <a:r>
              <a:rPr lang="en-US" dirty="0"/>
              <a:t>sanctions en cas d'inexécution du contrat.</a:t>
            </a:r>
          </a:p>
          <a:p>
            <a:pPr marL="0" indent="0">
              <a:buNone/>
            </a:pPr>
            <a:r>
              <a:rPr lang="en-US" dirty="0"/>
              <a:t>Si ces aspects de la vente ne sont pas déterminés par les parties, il sera nécessaire de se référer aux règles du droit international privé en cas de litige.</a:t>
            </a:r>
            <a:endParaRPr lang="fr-FR" dirty="0"/>
          </a:p>
        </p:txBody>
      </p:sp>
      <p:sp>
        <p:nvSpPr>
          <p:cNvPr id="6" name="Titre 1">
            <a:extLst>
              <a:ext uri="{FF2B5EF4-FFF2-40B4-BE49-F238E27FC236}">
                <a16:creationId xmlns:a16="http://schemas.microsoft.com/office/drawing/2014/main" id="{ACCD9B6C-2BF8-42C8-B38C-CA984C24DA08}"/>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2) Incoterms et </a:t>
            </a:r>
            <a:r>
              <a:rPr lang="fr-FR" dirty="0" err="1">
                <a:solidFill>
                  <a:schemeClr val="bg1"/>
                </a:solidFill>
                <a:latin typeface="Franklin Gothic Book" panose="020B0503020102020204" pitchFamily="34" charset="0"/>
              </a:rPr>
              <a:t>contrat </a:t>
            </a:r>
            <a:r>
              <a:rPr lang="fr-FR" dirty="0">
                <a:solidFill>
                  <a:schemeClr val="bg1"/>
                </a:solidFill>
                <a:latin typeface="Franklin Gothic Book" panose="020B0503020102020204" pitchFamily="34" charset="0"/>
              </a:rPr>
              <a:t>de vente</a:t>
            </a:r>
          </a:p>
        </p:txBody>
      </p:sp>
      <p:sp>
        <p:nvSpPr>
          <p:cNvPr id="9" name="Footer Placeholder 3">
            <a:extLst>
              <a:ext uri="{FF2B5EF4-FFF2-40B4-BE49-F238E27FC236}">
                <a16:creationId xmlns:a16="http://schemas.microsoft.com/office/drawing/2014/main" id="{A5DE82D0-8CDE-43D3-9743-B68209932963}"/>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mc:AlternateContent xmlns:mc="http://schemas.openxmlformats.org/markup-compatibility/2006" xmlns:p14="http://schemas.microsoft.com/office/powerpoint/2010/main">
        <mc:Choice Requires="p14">
          <p:contentPart p14:bwMode="auto" r:id="rId5">
            <p14:nvContentPartPr>
              <p14:cNvPr id="2" name="Encre 1">
                <a:extLst>
                  <a:ext uri="{FF2B5EF4-FFF2-40B4-BE49-F238E27FC236}">
                    <a16:creationId xmlns:a16="http://schemas.microsoft.com/office/drawing/2014/main" id="{DA8DE270-B9FF-42A8-9661-3E0FEA962776}"/>
                  </a:ext>
                </a:extLst>
              </p14:cNvPr>
              <p14:cNvContentPartPr/>
              <p14:nvPr/>
            </p14:nvContentPartPr>
            <p14:xfrm>
              <a:off x="3838320" y="4601880"/>
              <a:ext cx="360" cy="360"/>
            </p14:xfrm>
          </p:contentPart>
        </mc:Choice>
        <mc:Fallback xmlns="" xmlns:a16="http://schemas.microsoft.com/office/drawing/2014/main" xmlns:a14="http://schemas.microsoft.com/office/drawing/2010/main">
          <p:pic>
            <p:nvPicPr>
              <p:cNvPr id="2" name="Encre 1">
                <a:extLst>
                  <a:ext uri="{FF2B5EF4-FFF2-40B4-BE49-F238E27FC236}">
                    <a16:creationId xmlns:a16="http://schemas.microsoft.com/office/drawing/2014/main" id="{DA8DE270-B9FF-42A8-9661-3E0FEA962776}"/>
                  </a:ext>
                </a:extLst>
              </p:cNvPr>
              <p:cNvPicPr/>
              <p:nvPr/>
            </p:nvPicPr>
            <p:blipFill>
              <a:blip r:embed="rId6"/>
              <a:stretch>
                <a:fillRect/>
              </a:stretch>
            </p:blipFill>
            <p:spPr>
              <a:xfrm>
                <a:off x="3828960" y="4592520"/>
                <a:ext cx="19080" cy="19080"/>
              </a:xfrm>
              <a:prstGeom prst="rect">
                <a:avLst/>
              </a:prstGeom>
            </p:spPr>
          </p:pic>
        </mc:Fallback>
      </mc:AlternateContent>
    </p:spTree>
    <p:extLst>
      <p:ext uri="{BB962C8B-B14F-4D97-AF65-F5344CB8AC3E}">
        <p14:creationId xmlns:p14="http://schemas.microsoft.com/office/powerpoint/2010/main" val="2310674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52C6FE6C-AE56-4B16-BD2F-62D1C7833194}"/>
              </a:ext>
            </a:extLst>
          </p:cNvPr>
          <p:cNvSpPr>
            <a:spLocks noGrp="1"/>
          </p:cNvSpPr>
          <p:nvPr>
            <p:ph idx="1"/>
          </p:nvPr>
        </p:nvSpPr>
        <p:spPr>
          <a:xfrm>
            <a:off x="380999" y="1719071"/>
            <a:ext cx="8407893" cy="4407408"/>
          </a:xfrm>
        </p:spPr>
        <p:txBody>
          <a:bodyPr>
            <a:normAutofit/>
          </a:bodyPr>
          <a:lstStyle/>
          <a:p>
            <a:pPr marL="0" indent="0" algn="ctr">
              <a:buNone/>
              <a:defRPr/>
            </a:pPr>
            <a:r>
              <a:rPr lang="en-US" sz="4200" dirty="0"/>
              <a:t>La question de l'assurance est-elle toujours traitée par les incoterms ?</a:t>
            </a:r>
          </a:p>
        </p:txBody>
      </p:sp>
      <p:sp>
        <p:nvSpPr>
          <p:cNvPr id="6" name="Titre 1">
            <a:extLst>
              <a:ext uri="{FF2B5EF4-FFF2-40B4-BE49-F238E27FC236}">
                <a16:creationId xmlns:a16="http://schemas.microsoft.com/office/drawing/2014/main" id="{047CE283-72B9-40D4-9FD7-161210B7A38A}"/>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3) Incoterms et </a:t>
            </a:r>
            <a:r>
              <a:rPr lang="fr-FR" dirty="0" err="1">
                <a:solidFill>
                  <a:schemeClr val="bg1"/>
                </a:solidFill>
                <a:latin typeface="Franklin Gothic Book" panose="020B0503020102020204" pitchFamily="34" charset="0"/>
              </a:rPr>
              <a:t>assurance</a:t>
            </a:r>
            <a:endParaRPr lang="fr-FR"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C6412DF4-3126-4F47-A650-A53AC542E252}"/>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3472848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364F56CB-3E11-4A7E-96AD-3111E6D8BEBC}"/>
              </a:ext>
            </a:extLst>
          </p:cNvPr>
          <p:cNvSpPr>
            <a:spLocks noGrp="1"/>
          </p:cNvSpPr>
          <p:nvPr>
            <p:ph idx="1"/>
          </p:nvPr>
        </p:nvSpPr>
        <p:spPr>
          <a:xfrm>
            <a:off x="128015" y="1655063"/>
            <a:ext cx="8866515" cy="4361689"/>
          </a:xfrm>
        </p:spPr>
        <p:txBody>
          <a:bodyPr>
            <a:normAutofit/>
          </a:bodyPr>
          <a:lstStyle/>
          <a:p>
            <a:pPr>
              <a:buFontTx/>
              <a:buNone/>
              <a:defRPr/>
            </a:pPr>
            <a:r>
              <a:rPr lang="en-US" dirty="0"/>
              <a:t>Seuls deux incoterms mentionnent la question de l'assurance : CIP et CIF.    Les autres incoterms ne prévoient aucune obligation d'assurance. Ils ne prévoient que le moment du transfert des risques (livraison), la partie qui conclut le contrat principal de transport et les questions de dédouanement.</a:t>
            </a:r>
            <a:endParaRPr lang="en-GB" dirty="0"/>
          </a:p>
        </p:txBody>
      </p:sp>
      <p:sp>
        <p:nvSpPr>
          <p:cNvPr id="8" name="Titre 1">
            <a:extLst>
              <a:ext uri="{FF2B5EF4-FFF2-40B4-BE49-F238E27FC236}">
                <a16:creationId xmlns:a16="http://schemas.microsoft.com/office/drawing/2014/main" id="{446857F1-B632-42DD-94A5-DFC5A0066711}"/>
              </a:ext>
            </a:extLst>
          </p:cNvPr>
          <p:cNvSpPr>
            <a:spLocks noGrp="1"/>
          </p:cNvSpPr>
          <p:nvPr>
            <p:ph type="title"/>
          </p:nvPr>
        </p:nvSpPr>
        <p:spPr>
          <a:xfrm>
            <a:off x="381370" y="289467"/>
            <a:ext cx="8381260" cy="1054394"/>
          </a:xfrm>
        </p:spPr>
        <p:txBody>
          <a:bodyPr>
            <a:normAutofit/>
          </a:bodyPr>
          <a:lstStyle/>
          <a:p>
            <a:r>
              <a:rPr lang="fr-FR" dirty="0">
                <a:solidFill>
                  <a:schemeClr val="bg1"/>
                </a:solidFill>
                <a:latin typeface="Franklin Gothic Book" panose="020B0503020102020204" pitchFamily="34" charset="0"/>
              </a:rPr>
              <a:t>3) Incoterms et </a:t>
            </a:r>
            <a:r>
              <a:rPr lang="fr-FR" dirty="0" err="1">
                <a:solidFill>
                  <a:schemeClr val="bg1"/>
                </a:solidFill>
                <a:latin typeface="Franklin Gothic Book" panose="020B0503020102020204" pitchFamily="34" charset="0"/>
              </a:rPr>
              <a:t>assurance</a:t>
            </a:r>
            <a:endParaRPr lang="fr-FR"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2878A32C-B12F-468F-8FC9-ED0DBC3EA765}"/>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2167396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75461EB5-9A98-45CD-ABC5-7139B2E16D74}"/>
              </a:ext>
            </a:extLst>
          </p:cNvPr>
          <p:cNvSpPr>
            <a:spLocks noGrp="1"/>
          </p:cNvSpPr>
          <p:nvPr>
            <p:ph idx="1"/>
          </p:nvPr>
        </p:nvSpPr>
        <p:spPr>
          <a:xfrm>
            <a:off x="380999" y="1719071"/>
            <a:ext cx="8407893" cy="4407408"/>
          </a:xfrm>
        </p:spPr>
        <p:txBody>
          <a:bodyPr>
            <a:normAutofit/>
          </a:bodyPr>
          <a:lstStyle/>
          <a:p>
            <a:pPr marL="0" indent="0">
              <a:buNone/>
              <a:defRPr/>
            </a:pPr>
            <a:r>
              <a:rPr lang="en-GB" dirty="0"/>
              <a:t>Vous ne devez jamais penser qu'une fois l'incoterm choisi, tous les problèmes sont résolus. La conclusion d'un contrat d'assurance n'est pas obligatoire, mais elle peut s'avérer très utile.</a:t>
            </a:r>
          </a:p>
          <a:p>
            <a:pPr marL="0" indent="0">
              <a:buNone/>
              <a:defRPr/>
            </a:pPr>
            <a:r>
              <a:rPr lang="en-US" sz="2800" dirty="0"/>
              <a:t>Lorsque vous vendez ou achetez une cargaison particulièrement importante, demandez conseil à un souscripteur de votre compagnie d'assurance transport ou à votre courtier spécialisé.</a:t>
            </a:r>
            <a:endParaRPr lang="en-GB" sz="2800" dirty="0"/>
          </a:p>
        </p:txBody>
      </p:sp>
      <p:sp>
        <p:nvSpPr>
          <p:cNvPr id="6" name="Titre 1">
            <a:extLst>
              <a:ext uri="{FF2B5EF4-FFF2-40B4-BE49-F238E27FC236}">
                <a16:creationId xmlns:a16="http://schemas.microsoft.com/office/drawing/2014/main" id="{4D314686-DA2C-4463-836D-C60FD7ECB74C}"/>
              </a:ext>
            </a:extLst>
          </p:cNvPr>
          <p:cNvSpPr>
            <a:spLocks noGrp="1"/>
          </p:cNvSpPr>
          <p:nvPr>
            <p:ph type="title"/>
          </p:nvPr>
        </p:nvSpPr>
        <p:spPr>
          <a:xfrm>
            <a:off x="381000" y="355847"/>
            <a:ext cx="8381260" cy="1054394"/>
          </a:xfrm>
        </p:spPr>
        <p:txBody>
          <a:bodyPr>
            <a:normAutofit/>
          </a:bodyPr>
          <a:lstStyle/>
          <a:p>
            <a:pPr algn="ctr"/>
            <a:r>
              <a:rPr lang="fr-FR" dirty="0">
                <a:solidFill>
                  <a:schemeClr val="bg1"/>
                </a:solidFill>
                <a:latin typeface="Franklin Gothic Book" panose="020B0503020102020204" pitchFamily="34" charset="0"/>
              </a:rPr>
              <a:t>3) Incoterms et </a:t>
            </a:r>
            <a:r>
              <a:rPr lang="fr-FR" dirty="0" err="1">
                <a:solidFill>
                  <a:schemeClr val="bg1"/>
                </a:solidFill>
                <a:latin typeface="Franklin Gothic Book" panose="020B0503020102020204" pitchFamily="34" charset="0"/>
              </a:rPr>
              <a:t>assurance</a:t>
            </a:r>
            <a:endParaRPr lang="fr-FR"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09F92BC8-7E01-474A-9ED7-707AE20B1AB0}"/>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101422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D31719C1-B851-4262-878F-B0B0126E82E8}"/>
              </a:ext>
            </a:extLst>
          </p:cNvPr>
          <p:cNvSpPr>
            <a:spLocks noGrp="1"/>
          </p:cNvSpPr>
          <p:nvPr>
            <p:ph idx="1"/>
          </p:nvPr>
        </p:nvSpPr>
        <p:spPr>
          <a:xfrm>
            <a:off x="300038" y="2162175"/>
            <a:ext cx="8550275" cy="3857625"/>
          </a:xfrm>
        </p:spPr>
        <p:txBody>
          <a:bodyPr>
            <a:normAutofit/>
          </a:bodyPr>
          <a:lstStyle/>
          <a:p>
            <a:pPr marL="0" indent="0" algn="ctr">
              <a:buNone/>
              <a:defRPr/>
            </a:pPr>
            <a:r>
              <a:rPr lang="en-GB" sz="2400" dirty="0"/>
              <a:t>Qu'est-ce que la TVA ?</a:t>
            </a:r>
          </a:p>
        </p:txBody>
      </p:sp>
      <p:sp>
        <p:nvSpPr>
          <p:cNvPr id="8" name="Titre 1">
            <a:extLst>
              <a:ext uri="{FF2B5EF4-FFF2-40B4-BE49-F238E27FC236}">
                <a16:creationId xmlns:a16="http://schemas.microsoft.com/office/drawing/2014/main" id="{0118E8E9-C264-469B-81A5-8B4C91390BB4}"/>
              </a:ext>
            </a:extLst>
          </p:cNvPr>
          <p:cNvSpPr>
            <a:spLocks noGrp="1"/>
          </p:cNvSpPr>
          <p:nvPr>
            <p:ph type="title"/>
          </p:nvPr>
        </p:nvSpPr>
        <p:spPr>
          <a:xfrm>
            <a:off x="381000" y="355847"/>
            <a:ext cx="8381260" cy="1054394"/>
          </a:xfrm>
        </p:spPr>
        <p:txBody>
          <a:bodyPr>
            <a:normAutofit/>
          </a:bodyPr>
          <a:lstStyle/>
          <a:p>
            <a:pPr algn="ctr"/>
            <a:r>
              <a:rPr lang="fr-FR" dirty="0">
                <a:solidFill>
                  <a:schemeClr val="bg1"/>
                </a:solidFill>
                <a:latin typeface="Franklin Gothic Book" panose="020B0503020102020204" pitchFamily="34" charset="0"/>
              </a:rPr>
              <a:t>4) Incoterms et TVA</a:t>
            </a:r>
          </a:p>
        </p:txBody>
      </p:sp>
      <p:sp>
        <p:nvSpPr>
          <p:cNvPr id="10" name="Footer Placeholder 3">
            <a:extLst>
              <a:ext uri="{FF2B5EF4-FFF2-40B4-BE49-F238E27FC236}">
                <a16:creationId xmlns:a16="http://schemas.microsoft.com/office/drawing/2014/main" id="{19426297-240E-4972-BE8C-1D1D98228EF0}"/>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2160327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50771A50-64DC-46B1-A52C-7833CB279A06}"/>
              </a:ext>
            </a:extLst>
          </p:cNvPr>
          <p:cNvSpPr>
            <a:spLocks noGrp="1"/>
          </p:cNvSpPr>
          <p:nvPr>
            <p:ph idx="1"/>
          </p:nvPr>
        </p:nvSpPr>
        <p:spPr>
          <a:xfrm>
            <a:off x="380999" y="1719071"/>
            <a:ext cx="8407893" cy="4407408"/>
          </a:xfrm>
        </p:spPr>
        <p:txBody>
          <a:bodyPr>
            <a:normAutofit/>
          </a:bodyPr>
          <a:lstStyle/>
          <a:p>
            <a:pPr marL="0" indent="0">
              <a:buNone/>
              <a:defRPr/>
            </a:pPr>
            <a:r>
              <a:rPr lang="en-US" sz="2000" i="1" dirty="0"/>
              <a:t>« La taxe sur la valeur ajoutée, ou TVA, dans l'Union européenne est une </a:t>
            </a:r>
            <a:r>
              <a:rPr lang="en-US" sz="2100" b="1" i="1" dirty="0"/>
              <a:t>taxe </a:t>
            </a:r>
            <a:r>
              <a:rPr lang="en-US" sz="2000" i="1" dirty="0"/>
              <a:t>générale sur</a:t>
            </a:r>
            <a:r>
              <a:rPr lang="en-US" sz="2100" b="1" i="1" dirty="0"/>
              <a:t> la consommation</a:t>
            </a:r>
            <a:r>
              <a:rPr lang="en-US" sz="2000" i="1" dirty="0"/>
              <a:t>, à large assiette, qui frappe la valeur ajoutée aux biens et services. Elle s'applique plus ou moins à tous les biens et services </a:t>
            </a:r>
            <a:r>
              <a:rPr lang="en-US" sz="2100" b="1" i="1" dirty="0"/>
              <a:t>achetés et vendus </a:t>
            </a:r>
            <a:r>
              <a:rPr lang="en-US" sz="2000" i="1" dirty="0"/>
              <a:t>pour être utilisés ou consommés </a:t>
            </a:r>
            <a:r>
              <a:rPr lang="en-US" sz="2100" b="1" i="1" dirty="0"/>
              <a:t>dans l'Union européenne</a:t>
            </a:r>
            <a:r>
              <a:rPr lang="en-US" sz="2000" i="1" dirty="0"/>
              <a:t>. Ainsi, </a:t>
            </a:r>
            <a:r>
              <a:rPr lang="en-US" sz="2000" i="1" u="sng" dirty="0"/>
              <a:t>les biens vendus à l'exportation </a:t>
            </a:r>
            <a:r>
              <a:rPr lang="en-US" sz="2000" i="1" dirty="0"/>
              <a:t>ou les services vendus à des clients étrangers </a:t>
            </a:r>
            <a:r>
              <a:rPr lang="en-US" sz="2000" i="1" u="sng" dirty="0"/>
              <a:t>ne</a:t>
            </a:r>
            <a:r>
              <a:rPr lang="en-US" sz="2000" i="1" dirty="0"/>
              <a:t> sont normalement </a:t>
            </a:r>
            <a:r>
              <a:rPr lang="en-US" sz="2000" i="1" u="sng" dirty="0"/>
              <a:t>pas soumis à la TVA</a:t>
            </a:r>
            <a:r>
              <a:rPr lang="en-US" sz="2000" i="1" dirty="0"/>
              <a:t>. À l'inverse, </a:t>
            </a:r>
            <a:r>
              <a:rPr lang="en-US" sz="2000" i="1" u="sng" dirty="0"/>
              <a:t>les importations sont taxées </a:t>
            </a:r>
            <a:r>
              <a:rPr lang="en-US" sz="2000" i="1" dirty="0"/>
              <a:t>afin de garantir l'équité du système pour les producteurs de l'UE, qui peuvent ainsi concurrencer à armes égales sur le marché européen les fournisseurs situés en dehors de l'Union</a:t>
            </a:r>
            <a:r>
              <a:rPr lang="en-US" sz="2000" dirty="0"/>
              <a:t>. »</a:t>
            </a:r>
          </a:p>
          <a:p>
            <a:pPr marL="0" indent="0" algn="r">
              <a:buNone/>
              <a:defRPr/>
            </a:pPr>
            <a:r>
              <a:rPr lang="en-US" sz="2000" dirty="0"/>
              <a:t>Commission européenne (ec.europa.eu)</a:t>
            </a:r>
            <a:endParaRPr lang="en-GB" sz="2000" dirty="0"/>
          </a:p>
        </p:txBody>
      </p:sp>
      <p:sp>
        <p:nvSpPr>
          <p:cNvPr id="6" name="Titre 1">
            <a:extLst>
              <a:ext uri="{FF2B5EF4-FFF2-40B4-BE49-F238E27FC236}">
                <a16:creationId xmlns:a16="http://schemas.microsoft.com/office/drawing/2014/main" id="{57F5F3BE-69C0-4052-A35B-7F42B78F7DB9}"/>
              </a:ext>
            </a:extLst>
          </p:cNvPr>
          <p:cNvSpPr>
            <a:spLocks noGrp="1"/>
          </p:cNvSpPr>
          <p:nvPr>
            <p:ph type="title"/>
          </p:nvPr>
        </p:nvSpPr>
        <p:spPr>
          <a:xfrm>
            <a:off x="381000" y="355847"/>
            <a:ext cx="8381260" cy="1054394"/>
          </a:xfrm>
        </p:spPr>
        <p:txBody>
          <a:bodyPr>
            <a:normAutofit/>
          </a:bodyPr>
          <a:lstStyle/>
          <a:p>
            <a:pPr algn="ctr"/>
            <a:r>
              <a:rPr lang="fr-FR" dirty="0">
                <a:solidFill>
                  <a:schemeClr val="bg1"/>
                </a:solidFill>
                <a:latin typeface="Franklin Gothic Book" panose="020B0503020102020204" pitchFamily="34" charset="0"/>
              </a:rPr>
              <a:t>4) Incoterms et TVA</a:t>
            </a:r>
          </a:p>
        </p:txBody>
      </p:sp>
      <p:sp>
        <p:nvSpPr>
          <p:cNvPr id="9" name="Footer Placeholder 3">
            <a:extLst>
              <a:ext uri="{FF2B5EF4-FFF2-40B4-BE49-F238E27FC236}">
                <a16:creationId xmlns:a16="http://schemas.microsoft.com/office/drawing/2014/main" id="{F781A317-5391-42A5-A748-0ECCFDED339F}"/>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269368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A6D9467C-B58E-4AFB-BDDA-3ADC60B07317}"/>
              </a:ext>
            </a:extLst>
          </p:cNvPr>
          <p:cNvSpPr>
            <a:spLocks noGrp="1"/>
          </p:cNvSpPr>
          <p:nvPr>
            <p:ph idx="1"/>
          </p:nvPr>
        </p:nvSpPr>
        <p:spPr>
          <a:xfrm>
            <a:off x="380999" y="1719071"/>
            <a:ext cx="8407893" cy="4288537"/>
          </a:xfrm>
        </p:spPr>
        <p:txBody>
          <a:bodyPr>
            <a:normAutofit/>
          </a:bodyPr>
          <a:lstStyle/>
          <a:p>
            <a:pPr marL="0" indent="0">
              <a:buNone/>
              <a:defRPr/>
            </a:pPr>
            <a:r>
              <a:rPr lang="en-US" sz="2000" dirty="0"/>
              <a:t>Les opérations soumises à la TVA sont les « livraisons » de biens. Le lieu de livraison détermine le pays qui taxe la vente. La livraison des biens est définie juridiquement comme « </a:t>
            </a:r>
            <a:r>
              <a:rPr lang="en-US" sz="2000" i="1" dirty="0"/>
              <a:t>le transfert du pouvoir de disposer d'un bien corporel en tant que propriétaire </a:t>
            </a:r>
            <a:r>
              <a:rPr lang="en-US" sz="2000" dirty="0"/>
              <a:t>». Dans le cadre d'une vente internationale, ce transfert a lieu au moment de la livraison des biens au sens des incoterms.</a:t>
            </a:r>
            <a:endParaRPr lang="fr-FR" sz="2000" dirty="0"/>
          </a:p>
        </p:txBody>
      </p:sp>
      <p:sp>
        <p:nvSpPr>
          <p:cNvPr id="6" name="Titre 1">
            <a:extLst>
              <a:ext uri="{FF2B5EF4-FFF2-40B4-BE49-F238E27FC236}">
                <a16:creationId xmlns:a16="http://schemas.microsoft.com/office/drawing/2014/main" id="{DCC1A3F2-6FEC-4EB9-AB71-96E93A2B5AD9}"/>
              </a:ext>
            </a:extLst>
          </p:cNvPr>
          <p:cNvSpPr>
            <a:spLocks noGrp="1"/>
          </p:cNvSpPr>
          <p:nvPr>
            <p:ph type="title"/>
          </p:nvPr>
        </p:nvSpPr>
        <p:spPr>
          <a:xfrm>
            <a:off x="381000" y="355847"/>
            <a:ext cx="8381260" cy="1054394"/>
          </a:xfrm>
        </p:spPr>
        <p:txBody>
          <a:bodyPr>
            <a:normAutofit/>
          </a:bodyPr>
          <a:lstStyle/>
          <a:p>
            <a:pPr algn="ctr"/>
            <a:r>
              <a:rPr lang="fr-FR" dirty="0">
                <a:solidFill>
                  <a:schemeClr val="bg1"/>
                </a:solidFill>
                <a:latin typeface="Franklin Gothic Book" panose="020B0503020102020204" pitchFamily="34" charset="0"/>
              </a:rPr>
              <a:t>4) Incoterms et TVA</a:t>
            </a:r>
          </a:p>
        </p:txBody>
      </p:sp>
      <p:sp>
        <p:nvSpPr>
          <p:cNvPr id="9" name="Footer Placeholder 3">
            <a:extLst>
              <a:ext uri="{FF2B5EF4-FFF2-40B4-BE49-F238E27FC236}">
                <a16:creationId xmlns:a16="http://schemas.microsoft.com/office/drawing/2014/main" id="{9D862080-C3BA-40D2-963F-D8067DE17098}"/>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21777608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F43983AB-7A12-4A4F-A37C-E694200D19F3}"/>
              </a:ext>
            </a:extLst>
          </p:cNvPr>
          <p:cNvSpPr>
            <a:spLocks noGrp="1"/>
          </p:cNvSpPr>
          <p:nvPr>
            <p:ph idx="1"/>
          </p:nvPr>
        </p:nvSpPr>
        <p:spPr>
          <a:xfrm>
            <a:off x="380999" y="1719071"/>
            <a:ext cx="8407893" cy="4407408"/>
          </a:xfrm>
        </p:spPr>
        <p:txBody>
          <a:bodyPr>
            <a:normAutofit/>
          </a:bodyPr>
          <a:lstStyle/>
          <a:p>
            <a:pPr marL="0" indent="0">
              <a:buNone/>
              <a:defRPr/>
            </a:pPr>
            <a:r>
              <a:rPr lang="en-US" dirty="0"/>
              <a:t>Exercice : Je travaille pour le parfumeur français Guerlain. Je vends pour 100 000 dollars de marchandises à une entreprise chinoise. Nous choisissons l'incoterm EXW. Que dois-je faire concernant la TVA ?</a:t>
            </a:r>
            <a:endParaRPr lang="en-GB" dirty="0"/>
          </a:p>
        </p:txBody>
      </p:sp>
      <p:sp>
        <p:nvSpPr>
          <p:cNvPr id="6" name="Titre 1">
            <a:extLst>
              <a:ext uri="{FF2B5EF4-FFF2-40B4-BE49-F238E27FC236}">
                <a16:creationId xmlns:a16="http://schemas.microsoft.com/office/drawing/2014/main" id="{F60AA0BE-3F84-49B8-AFFA-43D79249034A}"/>
              </a:ext>
            </a:extLst>
          </p:cNvPr>
          <p:cNvSpPr>
            <a:spLocks noGrp="1"/>
          </p:cNvSpPr>
          <p:nvPr>
            <p:ph type="title"/>
          </p:nvPr>
        </p:nvSpPr>
        <p:spPr>
          <a:xfrm>
            <a:off x="381000" y="355847"/>
            <a:ext cx="8381260" cy="1054394"/>
          </a:xfrm>
        </p:spPr>
        <p:txBody>
          <a:bodyPr>
            <a:normAutofit/>
          </a:bodyPr>
          <a:lstStyle/>
          <a:p>
            <a:pPr algn="ctr"/>
            <a:r>
              <a:rPr lang="fr-FR" dirty="0">
                <a:solidFill>
                  <a:schemeClr val="bg1"/>
                </a:solidFill>
                <a:latin typeface="Franklin Gothic Book" panose="020B0503020102020204" pitchFamily="34" charset="0"/>
              </a:rPr>
              <a:t>4) Incoterms et TVA</a:t>
            </a:r>
          </a:p>
        </p:txBody>
      </p:sp>
      <p:sp>
        <p:nvSpPr>
          <p:cNvPr id="9" name="Footer Placeholder 3">
            <a:extLst>
              <a:ext uri="{FF2B5EF4-FFF2-40B4-BE49-F238E27FC236}">
                <a16:creationId xmlns:a16="http://schemas.microsoft.com/office/drawing/2014/main" id="{ADF1EB36-1461-4BBD-9F92-965F68BADB2C}"/>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1487835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1A90DE5C-F2C7-4EDF-89DD-D41FE2D4C77F}"/>
              </a:ext>
            </a:extLst>
          </p:cNvPr>
          <p:cNvSpPr>
            <a:spLocks noGrp="1"/>
          </p:cNvSpPr>
          <p:nvPr>
            <p:ph idx="1"/>
          </p:nvPr>
        </p:nvSpPr>
        <p:spPr>
          <a:xfrm>
            <a:off x="380999" y="1719071"/>
            <a:ext cx="8407893" cy="4407408"/>
          </a:xfrm>
        </p:spPr>
        <p:txBody>
          <a:bodyPr>
            <a:normAutofit/>
          </a:bodyPr>
          <a:lstStyle/>
          <a:p>
            <a:pPr marL="0" indent="0">
              <a:buNone/>
              <a:defRPr/>
            </a:pPr>
            <a:r>
              <a:rPr lang="en-US" sz="2000" dirty="0"/>
              <a:t>Selon le terme EXW, la livraison a légalement lieu à la sortie de l'usine du vendeur. Dans ce cas, la vente imposable a lieu en France. Je devrais donc être soumis à la TVA française de 20 %. Cependant, l'Union européenne ne taxe que les importations, elle ne taxe pas les exportations. Je ne suis donc pas soumis à la TVA.</a:t>
            </a:r>
          </a:p>
          <a:p>
            <a:pPr marL="0" indent="0">
              <a:buNone/>
              <a:defRPr/>
            </a:pPr>
            <a:endParaRPr lang="en-US" sz="2000" dirty="0"/>
          </a:p>
          <a:p>
            <a:pPr marL="0" indent="0">
              <a:buNone/>
              <a:defRPr/>
            </a:pPr>
            <a:r>
              <a:rPr lang="en-US" sz="2000" dirty="0"/>
              <a:t>Je dois toutefois prouver à l'administration douanière (</a:t>
            </a:r>
            <a:r>
              <a:rPr lang="en-US" sz="2000" i="1" dirty="0"/>
              <a:t>Direction </a:t>
            </a:r>
            <a:r>
              <a:rPr lang="en-US" sz="2000" i="1" dirty="0" err="1"/>
              <a:t>générale </a:t>
            </a:r>
            <a:r>
              <a:rPr lang="en-US" sz="2000" i="1" dirty="0"/>
              <a:t>des douanes et des droits </a:t>
            </a:r>
            <a:r>
              <a:rPr lang="en-US" sz="2000" i="1" dirty="0" err="1"/>
              <a:t>indirects</a:t>
            </a:r>
            <a:r>
              <a:rPr lang="en-US" sz="2000" dirty="0"/>
              <a:t>) que j'ai exporté les marchandises. Comment puis-je le faire, puisque je ne suis pas chargé de conclure le contrat de transport dans le cadre de l'incoterm EXW ?</a:t>
            </a:r>
            <a:endParaRPr lang="en-GB" sz="2000" dirty="0"/>
          </a:p>
        </p:txBody>
      </p:sp>
      <p:sp>
        <p:nvSpPr>
          <p:cNvPr id="6" name="Titre 1">
            <a:extLst>
              <a:ext uri="{FF2B5EF4-FFF2-40B4-BE49-F238E27FC236}">
                <a16:creationId xmlns:a16="http://schemas.microsoft.com/office/drawing/2014/main" id="{8D4655C3-9A47-4B4B-A7F5-A4153140E11F}"/>
              </a:ext>
            </a:extLst>
          </p:cNvPr>
          <p:cNvSpPr>
            <a:spLocks noGrp="1"/>
          </p:cNvSpPr>
          <p:nvPr>
            <p:ph type="title"/>
          </p:nvPr>
        </p:nvSpPr>
        <p:spPr>
          <a:xfrm>
            <a:off x="381000" y="355847"/>
            <a:ext cx="8381260" cy="1054394"/>
          </a:xfrm>
        </p:spPr>
        <p:txBody>
          <a:bodyPr>
            <a:normAutofit/>
          </a:bodyPr>
          <a:lstStyle/>
          <a:p>
            <a:pPr algn="ctr"/>
            <a:r>
              <a:rPr lang="fr-FR" dirty="0">
                <a:solidFill>
                  <a:schemeClr val="bg1"/>
                </a:solidFill>
                <a:latin typeface="Franklin Gothic Book" panose="020B0503020102020204" pitchFamily="34" charset="0"/>
              </a:rPr>
              <a:t>4) Incoterms et TVA</a:t>
            </a:r>
          </a:p>
        </p:txBody>
      </p:sp>
      <p:sp>
        <p:nvSpPr>
          <p:cNvPr id="9" name="Footer Placeholder 3">
            <a:extLst>
              <a:ext uri="{FF2B5EF4-FFF2-40B4-BE49-F238E27FC236}">
                <a16:creationId xmlns:a16="http://schemas.microsoft.com/office/drawing/2014/main" id="{BB47E974-BB00-4D01-8799-08865C21F546}"/>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1459399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831AD1CA-B2DD-4ABD-B51E-AF0C45284273}"/>
              </a:ext>
            </a:extLst>
          </p:cNvPr>
          <p:cNvSpPr>
            <a:spLocks noGrp="1"/>
          </p:cNvSpPr>
          <p:nvPr>
            <p:ph idx="1"/>
          </p:nvPr>
        </p:nvSpPr>
        <p:spPr>
          <a:xfrm>
            <a:off x="380999" y="1719071"/>
            <a:ext cx="8407893" cy="4407408"/>
          </a:xfrm>
        </p:spPr>
        <p:txBody>
          <a:bodyPr>
            <a:normAutofit/>
          </a:bodyPr>
          <a:lstStyle/>
          <a:p>
            <a:pPr marL="0" indent="0">
              <a:buNone/>
              <a:defRPr/>
            </a:pPr>
            <a:r>
              <a:rPr lang="en-US" sz="2000" dirty="0"/>
              <a:t>Pour prouver que les marchandises ont bien été exportées hors de l'UE, je dois produire des certificats de sortie (« Document </a:t>
            </a:r>
            <a:r>
              <a:rPr lang="en-US" sz="2000" dirty="0" err="1"/>
              <a:t>Administratif </a:t>
            </a:r>
            <a:r>
              <a:rPr lang="en-US" sz="2000" dirty="0"/>
              <a:t>Unique, DAU ») ou d'autres preuves alternatives. Cette preuve est difficile à fournir dans le cadre de ventes EXW, car je ne maîtrise ni la chaîne logistique ni le dédouanement à l'exportation. Je dois donc m'assurer que l'acheteur m'envoie les documents de sortie.</a:t>
            </a:r>
          </a:p>
          <a:p>
            <a:pPr marL="0" indent="0">
              <a:buNone/>
              <a:defRPr/>
            </a:pPr>
            <a:r>
              <a:rPr lang="en-US" sz="2000" dirty="0"/>
              <a:t>Conclusion : lorsque j'exporte vers un pays tiers, je dois toujours choisir un incoterm dans lequel je suis responsable du dédouanement, afin de pouvoir facilement démontrer à l'administration que ma vente est exonérée de TVA.</a:t>
            </a:r>
          </a:p>
        </p:txBody>
      </p:sp>
      <p:sp>
        <p:nvSpPr>
          <p:cNvPr id="6" name="Titre 1">
            <a:extLst>
              <a:ext uri="{FF2B5EF4-FFF2-40B4-BE49-F238E27FC236}">
                <a16:creationId xmlns:a16="http://schemas.microsoft.com/office/drawing/2014/main" id="{A0711DFB-62F7-4FEC-B52C-AE696C26BCF5}"/>
              </a:ext>
            </a:extLst>
          </p:cNvPr>
          <p:cNvSpPr>
            <a:spLocks noGrp="1"/>
          </p:cNvSpPr>
          <p:nvPr>
            <p:ph type="title"/>
          </p:nvPr>
        </p:nvSpPr>
        <p:spPr>
          <a:xfrm>
            <a:off x="381000" y="355847"/>
            <a:ext cx="8381260" cy="1054394"/>
          </a:xfrm>
        </p:spPr>
        <p:txBody>
          <a:bodyPr>
            <a:normAutofit/>
          </a:bodyPr>
          <a:lstStyle/>
          <a:p>
            <a:pPr algn="ctr"/>
            <a:r>
              <a:rPr lang="fr-FR" dirty="0">
                <a:solidFill>
                  <a:schemeClr val="bg1"/>
                </a:solidFill>
                <a:latin typeface="Franklin Gothic Book" panose="020B0503020102020204" pitchFamily="34" charset="0"/>
              </a:rPr>
              <a:t>4) Incoterms et TVA</a:t>
            </a:r>
          </a:p>
        </p:txBody>
      </p:sp>
      <p:sp>
        <p:nvSpPr>
          <p:cNvPr id="9" name="Footer Placeholder 3">
            <a:extLst>
              <a:ext uri="{FF2B5EF4-FFF2-40B4-BE49-F238E27FC236}">
                <a16:creationId xmlns:a16="http://schemas.microsoft.com/office/drawing/2014/main" id="{6EDB3854-C003-481B-BBFB-196BDED18777}"/>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576546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6" name="Titre 1">
            <a:extLst>
              <a:ext uri="{FF2B5EF4-FFF2-40B4-BE49-F238E27FC236}">
                <a16:creationId xmlns:a16="http://schemas.microsoft.com/office/drawing/2014/main" id="{D5F7E2D8-5436-4000-8AFE-5E534C758BE7}"/>
              </a:ext>
            </a:extLst>
          </p:cNvPr>
          <p:cNvSpPr>
            <a:spLocks noGrp="1"/>
          </p:cNvSpPr>
          <p:nvPr>
            <p:ph type="title"/>
          </p:nvPr>
        </p:nvSpPr>
        <p:spPr>
          <a:xfrm>
            <a:off x="381000" y="355847"/>
            <a:ext cx="8381260" cy="1054394"/>
          </a:xfrm>
        </p:spPr>
        <p:txBody>
          <a:bodyPr>
            <a:normAutofit/>
          </a:bodyPr>
          <a:lstStyle/>
          <a:p>
            <a:pPr algn="ctr"/>
            <a:r>
              <a:rPr lang="fr-FR" dirty="0">
                <a:solidFill>
                  <a:schemeClr val="bg1"/>
                </a:solidFill>
                <a:latin typeface="Franklin Gothic Book" panose="020B0503020102020204" pitchFamily="34" charset="0"/>
              </a:rPr>
              <a:t>5) Incoterms et douanes</a:t>
            </a:r>
          </a:p>
        </p:txBody>
      </p:sp>
      <p:sp>
        <p:nvSpPr>
          <p:cNvPr id="3" name="Espace réservé du contenu 2">
            <a:extLst>
              <a:ext uri="{FF2B5EF4-FFF2-40B4-BE49-F238E27FC236}">
                <a16:creationId xmlns:a16="http://schemas.microsoft.com/office/drawing/2014/main" id="{6BAD1DAE-0433-437C-AFB5-2A1C61156515}"/>
              </a:ext>
            </a:extLst>
          </p:cNvPr>
          <p:cNvSpPr>
            <a:spLocks noGrp="1"/>
          </p:cNvSpPr>
          <p:nvPr>
            <p:ph idx="1"/>
          </p:nvPr>
        </p:nvSpPr>
        <p:spPr>
          <a:xfrm>
            <a:off x="381000" y="1825625"/>
            <a:ext cx="8381260" cy="4351338"/>
          </a:xfrm>
        </p:spPr>
        <p:txBody>
          <a:bodyPr/>
          <a:lstStyle/>
          <a:p>
            <a:pPr marL="0" indent="0">
              <a:buNone/>
            </a:pPr>
            <a:r>
              <a:rPr lang="en-US" dirty="0"/>
              <a:t>Droits de douane = pourcentage de la valeur en douane.</a:t>
            </a:r>
          </a:p>
          <a:p>
            <a:pPr marL="0" indent="0">
              <a:buNone/>
            </a:pPr>
            <a:endParaRPr lang="en-US" dirty="0"/>
          </a:p>
          <a:p>
            <a:pPr marL="0" indent="0">
              <a:buNone/>
            </a:pPr>
            <a:r>
              <a:rPr lang="en-US" dirty="0"/>
              <a:t>TVA = pourcentage de la somme de la valeur en douane et des droits de douane.</a:t>
            </a:r>
            <a:endParaRPr lang="fr-FR" dirty="0"/>
          </a:p>
        </p:txBody>
      </p:sp>
      <p:sp>
        <p:nvSpPr>
          <p:cNvPr id="9" name="Footer Placeholder 3">
            <a:extLst>
              <a:ext uri="{FF2B5EF4-FFF2-40B4-BE49-F238E27FC236}">
                <a16:creationId xmlns:a16="http://schemas.microsoft.com/office/drawing/2014/main" id="{F9D77303-8A4C-41C7-B061-BCDD90250A97}"/>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603692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773AD4AC-3AFE-4CC4-B942-EF0D14BBFF10}"/>
              </a:ext>
            </a:extLst>
          </p:cNvPr>
          <p:cNvSpPr>
            <a:spLocks noGrp="1"/>
          </p:cNvSpPr>
          <p:nvPr>
            <p:ph idx="1"/>
          </p:nvPr>
        </p:nvSpPr>
        <p:spPr>
          <a:xfrm>
            <a:off x="380999" y="1719071"/>
            <a:ext cx="8407893" cy="4407408"/>
          </a:xfrm>
        </p:spPr>
        <p:txBody>
          <a:bodyPr>
            <a:normAutofit/>
          </a:bodyPr>
          <a:lstStyle/>
          <a:p>
            <a:pPr>
              <a:buFontTx/>
              <a:buNone/>
            </a:pPr>
            <a:r>
              <a:rPr lang="en-US" sz="2000" dirty="0"/>
              <a:t>Valeur en douane : prix de vente + frais de transport et d'assurance + frais de manutention.</a:t>
            </a:r>
          </a:p>
          <a:p>
            <a:pPr>
              <a:buFontTx/>
              <a:buNone/>
            </a:pPr>
            <a:r>
              <a:rPr lang="en-US" sz="2000" dirty="0"/>
              <a:t>Le lieu de livraison mentionné dans l'incoterm est essentiel pour calculer la valeur en douane, car il identifie le lieu à partir duquel les frais de transport sont à la charge de l'acheteur. Ces frais de transport sont pris en compte dans le calcul de la valeur en douane.</a:t>
            </a:r>
          </a:p>
        </p:txBody>
      </p:sp>
      <p:sp>
        <p:nvSpPr>
          <p:cNvPr id="6" name="Titre 1">
            <a:extLst>
              <a:ext uri="{FF2B5EF4-FFF2-40B4-BE49-F238E27FC236}">
                <a16:creationId xmlns:a16="http://schemas.microsoft.com/office/drawing/2014/main" id="{4AAF046F-7F1B-4E67-A317-D213F815257E}"/>
              </a:ext>
            </a:extLst>
          </p:cNvPr>
          <p:cNvSpPr>
            <a:spLocks noGrp="1"/>
          </p:cNvSpPr>
          <p:nvPr>
            <p:ph type="title"/>
          </p:nvPr>
        </p:nvSpPr>
        <p:spPr>
          <a:xfrm>
            <a:off x="381000" y="355847"/>
            <a:ext cx="8381260" cy="1054394"/>
          </a:xfrm>
        </p:spPr>
        <p:txBody>
          <a:bodyPr>
            <a:normAutofit/>
          </a:bodyPr>
          <a:lstStyle/>
          <a:p>
            <a:pPr algn="ctr"/>
            <a:r>
              <a:rPr lang="fr-FR" dirty="0">
                <a:solidFill>
                  <a:schemeClr val="bg1"/>
                </a:solidFill>
                <a:latin typeface="Franklin Gothic Book" panose="020B0503020102020204" pitchFamily="34" charset="0"/>
              </a:rPr>
              <a:t>5) Incoterms et douanes</a:t>
            </a:r>
          </a:p>
        </p:txBody>
      </p:sp>
      <p:sp>
        <p:nvSpPr>
          <p:cNvPr id="9" name="Footer Placeholder 3">
            <a:extLst>
              <a:ext uri="{FF2B5EF4-FFF2-40B4-BE49-F238E27FC236}">
                <a16:creationId xmlns:a16="http://schemas.microsoft.com/office/drawing/2014/main" id="{6D9EBF56-8499-4DB6-B4CA-6D1B7A0BDC47}"/>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3697312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67CBB15F-D22D-4F37-AD6F-B0F61C9CE4C3}"/>
              </a:ext>
            </a:extLst>
          </p:cNvPr>
          <p:cNvSpPr>
            <a:spLocks noGrp="1"/>
          </p:cNvSpPr>
          <p:nvPr>
            <p:ph idx="1"/>
          </p:nvPr>
        </p:nvSpPr>
        <p:spPr>
          <a:xfrm>
            <a:off x="380999" y="1719071"/>
            <a:ext cx="8407893" cy="4407408"/>
          </a:xfrm>
        </p:spPr>
        <p:txBody>
          <a:bodyPr>
            <a:normAutofit/>
          </a:bodyPr>
          <a:lstStyle/>
          <a:p>
            <a:pPr marL="0" indent="0">
              <a:buNone/>
            </a:pPr>
            <a:r>
              <a:rPr lang="en-US" sz="2400" dirty="0"/>
              <a:t>Selon l'Incoterm choisi, l'assurance relative au transport des marchandises n'est pas toujours incluse dans le prix facturé. Lorsque l'assurance n'est pas incluse dans le prix de vente, seule l'assurance relative au transport principal doit être ajoutée au prix payé pour le calcul de la valeur en douane. Toutefois, si le vendeur inclut l'assurance transport intracommunautaire dans le prix facturé des marchandises, ces frais d'assurance ne peuvent être déduits du prix facturé.</a:t>
            </a:r>
          </a:p>
        </p:txBody>
      </p:sp>
      <p:sp>
        <p:nvSpPr>
          <p:cNvPr id="6" name="Titre 1">
            <a:extLst>
              <a:ext uri="{FF2B5EF4-FFF2-40B4-BE49-F238E27FC236}">
                <a16:creationId xmlns:a16="http://schemas.microsoft.com/office/drawing/2014/main" id="{E97A2BFE-8917-454F-8DEC-AB68C5D3B2AF}"/>
              </a:ext>
            </a:extLst>
          </p:cNvPr>
          <p:cNvSpPr>
            <a:spLocks noGrp="1"/>
          </p:cNvSpPr>
          <p:nvPr>
            <p:ph type="title"/>
          </p:nvPr>
        </p:nvSpPr>
        <p:spPr>
          <a:xfrm>
            <a:off x="381000" y="355847"/>
            <a:ext cx="8381260" cy="1054394"/>
          </a:xfrm>
        </p:spPr>
        <p:txBody>
          <a:bodyPr>
            <a:normAutofit/>
          </a:bodyPr>
          <a:lstStyle/>
          <a:p>
            <a:pPr algn="ctr"/>
            <a:r>
              <a:rPr lang="fr-FR" dirty="0">
                <a:solidFill>
                  <a:schemeClr val="bg1"/>
                </a:solidFill>
                <a:latin typeface="Franklin Gothic Book" panose="020B0503020102020204" pitchFamily="34" charset="0"/>
              </a:rPr>
              <a:t>5) Incoterms et douanes</a:t>
            </a:r>
          </a:p>
        </p:txBody>
      </p:sp>
      <p:sp>
        <p:nvSpPr>
          <p:cNvPr id="9" name="Footer Placeholder 3">
            <a:extLst>
              <a:ext uri="{FF2B5EF4-FFF2-40B4-BE49-F238E27FC236}">
                <a16:creationId xmlns:a16="http://schemas.microsoft.com/office/drawing/2014/main" id="{AA70C8DF-3A61-45AB-8163-4E55C2A55241}"/>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180748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67CBB15F-D22D-4F37-AD6F-B0F61C9CE4C3}"/>
              </a:ext>
            </a:extLst>
          </p:cNvPr>
          <p:cNvSpPr>
            <a:spLocks noGrp="1"/>
          </p:cNvSpPr>
          <p:nvPr>
            <p:ph idx="1"/>
          </p:nvPr>
        </p:nvSpPr>
        <p:spPr>
          <a:xfrm>
            <a:off x="380999" y="1719071"/>
            <a:ext cx="8407893" cy="4407408"/>
          </a:xfrm>
        </p:spPr>
        <p:txBody>
          <a:bodyPr>
            <a:normAutofit/>
          </a:bodyPr>
          <a:lstStyle/>
          <a:p>
            <a:pPr>
              <a:buFont typeface="Wingdings" panose="05000000000000000000" pitchFamily="2" charset="2"/>
              <a:buChar char="Ø"/>
            </a:pPr>
            <a:r>
              <a:rPr lang="en-US" sz="2000" dirty="0"/>
              <a:t> Les grandes entreprises qui utilisent les Incoterms pour acheter des marchandises ont souvent un service achats.</a:t>
            </a:r>
          </a:p>
          <a:p>
            <a:pPr marL="0" indent="0">
              <a:buNone/>
            </a:pPr>
            <a:endParaRPr lang="en-US" sz="2000" dirty="0"/>
          </a:p>
          <a:p>
            <a:pPr>
              <a:buFont typeface="Wingdings" panose="05000000000000000000" pitchFamily="2" charset="2"/>
              <a:buChar char="Ø"/>
            </a:pPr>
            <a:r>
              <a:rPr lang="en-US" sz="2000" dirty="0"/>
              <a:t> Les acheteurs de ce service ont une connaissance approfondie des Incoterms.</a:t>
            </a:r>
          </a:p>
          <a:p>
            <a:pPr marL="0" indent="0">
              <a:buNone/>
            </a:pPr>
            <a:endParaRPr lang="en-US" sz="2000" dirty="0"/>
          </a:p>
          <a:p>
            <a:pPr>
              <a:buFont typeface="Wingdings" panose="05000000000000000000" pitchFamily="2" charset="2"/>
              <a:buChar char="Ø"/>
            </a:pPr>
            <a:r>
              <a:rPr lang="en-US" sz="2000" dirty="0"/>
              <a:t>Si vous souhaitez travailler dans un tel service, vous devez garder les Incoterms à l'esprit.</a:t>
            </a:r>
          </a:p>
        </p:txBody>
      </p:sp>
      <p:sp>
        <p:nvSpPr>
          <p:cNvPr id="6" name="Titre 1">
            <a:extLst>
              <a:ext uri="{FF2B5EF4-FFF2-40B4-BE49-F238E27FC236}">
                <a16:creationId xmlns:a16="http://schemas.microsoft.com/office/drawing/2014/main" id="{E97A2BFE-8917-454F-8DEC-AB68C5D3B2AF}"/>
              </a:ext>
            </a:extLst>
          </p:cNvPr>
          <p:cNvSpPr>
            <a:spLocks noGrp="1"/>
          </p:cNvSpPr>
          <p:nvPr>
            <p:ph type="title"/>
          </p:nvPr>
        </p:nvSpPr>
        <p:spPr>
          <a:xfrm>
            <a:off x="381000" y="355847"/>
            <a:ext cx="8381260" cy="1054394"/>
          </a:xfrm>
        </p:spPr>
        <p:txBody>
          <a:bodyPr>
            <a:normAutofit fontScale="90000"/>
          </a:bodyPr>
          <a:lstStyle/>
          <a:p>
            <a:pPr algn="ctr"/>
            <a:r>
              <a:rPr lang="fr-FR" dirty="0">
                <a:solidFill>
                  <a:schemeClr val="bg1"/>
                </a:solidFill>
                <a:latin typeface="Franklin Gothic Book" panose="020B0503020102020204" pitchFamily="34" charset="0"/>
              </a:rPr>
              <a:t>5) Incoterms et </a:t>
            </a:r>
            <a:r>
              <a:rPr lang="fr-FR" dirty="0" err="1">
                <a:solidFill>
                  <a:schemeClr val="bg1"/>
                </a:solidFill>
                <a:latin typeface="Franklin Gothic Book" panose="020B0503020102020204" pitchFamily="34" charset="0"/>
              </a:rPr>
              <a:t>service achats</a:t>
            </a:r>
            <a:endParaRPr lang="fr-FR"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AA70C8DF-3A61-45AB-8163-4E55C2A55241}"/>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115932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5837BB5C-7D98-4A65-A370-22A70CEEBAA8}"/>
              </a:ext>
            </a:extLst>
          </p:cNvPr>
          <p:cNvSpPr>
            <a:spLocks noGrp="1"/>
          </p:cNvSpPr>
          <p:nvPr>
            <p:ph idx="1"/>
          </p:nvPr>
        </p:nvSpPr>
        <p:spPr>
          <a:xfrm>
            <a:off x="380999" y="1719071"/>
            <a:ext cx="8407893" cy="1876983"/>
          </a:xfrm>
        </p:spPr>
        <p:txBody>
          <a:bodyPr>
            <a:normAutofit fontScale="92500" lnSpcReduction="20000"/>
          </a:bodyPr>
          <a:lstStyle/>
          <a:p>
            <a:pPr algn="just">
              <a:buFontTx/>
              <a:buNone/>
            </a:pPr>
            <a:r>
              <a:rPr lang="en-US" sz="1900" u="sng" dirty="0"/>
              <a:t>Exercice 1</a:t>
            </a:r>
            <a:r>
              <a:rPr lang="en-US" sz="1900" u="sng" baseline="30000" dirty="0"/>
              <a:t>st</a:t>
            </a:r>
            <a:r>
              <a:rPr lang="en-US" sz="1900" u="sng" dirty="0"/>
              <a:t> - Instructions</a:t>
            </a:r>
          </a:p>
          <a:p>
            <a:pPr algn="just">
              <a:buFontTx/>
              <a:buNone/>
            </a:pPr>
            <a:r>
              <a:rPr lang="en-US" sz="1900" dirty="0"/>
              <a:t>Je suis responsable de la logistique chez Citroën. Les Citroën C5 sont fabriquées en Chine. Nous les commercialisons principalement dans les pays de l'UE et affrétons généralement des navires rouliers. Nous apprécions travailler avec le transporteur maritime HÖEGH AUTOLINER. Récemment, un concessionnaire automobile au Mexique, qui développe son activité, m'a contacté car il souhaite que nous lui vendions plusieurs dizaines de Citroën C5. Quels critères dois-je prendre en compte pour choisir l'incoterm ?</a:t>
            </a:r>
          </a:p>
        </p:txBody>
      </p:sp>
      <p:sp>
        <p:nvSpPr>
          <p:cNvPr id="6" name="Titre 1">
            <a:extLst>
              <a:ext uri="{FF2B5EF4-FFF2-40B4-BE49-F238E27FC236}">
                <a16:creationId xmlns:a16="http://schemas.microsoft.com/office/drawing/2014/main" id="{1AAA0B0E-4D5F-48B4-A3B1-5F9D234B3530}"/>
              </a:ext>
            </a:extLst>
          </p:cNvPr>
          <p:cNvSpPr>
            <a:spLocks noGrp="1"/>
          </p:cNvSpPr>
          <p:nvPr>
            <p:ph type="title"/>
          </p:nvPr>
        </p:nvSpPr>
        <p:spPr>
          <a:xfrm>
            <a:off x="381000" y="355847"/>
            <a:ext cx="8381260" cy="1054394"/>
          </a:xfrm>
        </p:spPr>
        <p:txBody>
          <a:bodyPr>
            <a:normAutofit/>
          </a:bodyPr>
          <a:lstStyle/>
          <a:p>
            <a:pPr algn="ctr"/>
            <a:r>
              <a:rPr lang="fr-FR" dirty="0">
                <a:solidFill>
                  <a:schemeClr val="bg1"/>
                </a:solidFill>
                <a:latin typeface="Franklin Gothic Book" panose="020B0503020102020204" pitchFamily="34" charset="0"/>
              </a:rPr>
              <a:t>C – Les incoterms dans la pratique</a:t>
            </a:r>
          </a:p>
        </p:txBody>
      </p:sp>
      <p:sp>
        <p:nvSpPr>
          <p:cNvPr id="9" name="Footer Placeholder 3">
            <a:extLst>
              <a:ext uri="{FF2B5EF4-FFF2-40B4-BE49-F238E27FC236}">
                <a16:creationId xmlns:a16="http://schemas.microsoft.com/office/drawing/2014/main" id="{4F4184F2-00C1-4A39-ACD2-E11D005A47FC}"/>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pic>
        <p:nvPicPr>
          <p:cNvPr id="3" name="Image 2" descr="Une image contenant voiture, extérieur, toit&#10;&#10;Description générée automatiquement">
            <a:extLst>
              <a:ext uri="{FF2B5EF4-FFF2-40B4-BE49-F238E27FC236}">
                <a16:creationId xmlns:a16="http://schemas.microsoft.com/office/drawing/2014/main" id="{D27CFFF3-7543-4C9B-9737-D47B000FC06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2292" y="3632424"/>
            <a:ext cx="3674731" cy="2135330"/>
          </a:xfrm>
          <a:prstGeom prst="rect">
            <a:avLst/>
          </a:prstGeom>
        </p:spPr>
      </p:pic>
      <p:pic>
        <p:nvPicPr>
          <p:cNvPr id="10" name="Image 9" descr="Une image contenant bateau, eau, extérieur, navire&#10;&#10;Description générée automatiquement">
            <a:extLst>
              <a:ext uri="{FF2B5EF4-FFF2-40B4-BE49-F238E27FC236}">
                <a16:creationId xmlns:a16="http://schemas.microsoft.com/office/drawing/2014/main" id="{55EE2F6E-103C-40D2-8EBA-9EE4A76524B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14901" y="3596054"/>
            <a:ext cx="3586808" cy="2171700"/>
          </a:xfrm>
          <a:prstGeom prst="rect">
            <a:avLst/>
          </a:prstGeom>
        </p:spPr>
      </p:pic>
    </p:spTree>
    <p:extLst>
      <p:ext uri="{BB962C8B-B14F-4D97-AF65-F5344CB8AC3E}">
        <p14:creationId xmlns:p14="http://schemas.microsoft.com/office/powerpoint/2010/main" val="2662508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26166B86-14D9-435D-A34E-76479D1B6283}"/>
              </a:ext>
            </a:extLst>
          </p:cNvPr>
          <p:cNvSpPr>
            <a:spLocks noGrp="1"/>
          </p:cNvSpPr>
          <p:nvPr>
            <p:ph idx="1"/>
          </p:nvPr>
        </p:nvSpPr>
        <p:spPr>
          <a:xfrm>
            <a:off x="338148" y="1649437"/>
            <a:ext cx="8407893" cy="3559125"/>
          </a:xfrm>
        </p:spPr>
        <p:txBody>
          <a:bodyPr>
            <a:normAutofit/>
          </a:bodyPr>
          <a:lstStyle/>
          <a:p>
            <a:pPr marL="0" indent="0">
              <a:buNone/>
            </a:pPr>
            <a:r>
              <a:rPr lang="en-US" sz="2000" u="sng" dirty="0"/>
              <a:t>1 Exercice «</a:t>
            </a:r>
            <a:r>
              <a:rPr lang="en-US" sz="2000" u="sng" baseline="30000" dirty="0"/>
              <a:t>st</a:t>
            </a:r>
            <a:r>
              <a:rPr lang="en-US" sz="2000" u="sng" dirty="0"/>
              <a:t> » - Directives</a:t>
            </a:r>
          </a:p>
          <a:p>
            <a:pPr marL="0" indent="0">
              <a:buNone/>
            </a:pPr>
            <a:r>
              <a:rPr lang="en-US" sz="2000" dirty="0"/>
              <a:t>Critères :</a:t>
            </a:r>
          </a:p>
          <a:p>
            <a:pPr>
              <a:buFontTx/>
              <a:buChar char="-"/>
            </a:pPr>
            <a:r>
              <a:rPr lang="en-US" sz="2000" dirty="0"/>
              <a:t>Incoterm lié au domaine maritime</a:t>
            </a:r>
          </a:p>
          <a:p>
            <a:pPr>
              <a:buFontTx/>
              <a:buChar char="-"/>
            </a:pPr>
            <a:r>
              <a:rPr lang="en-US" sz="2000" dirty="0"/>
              <a:t>J'ai déjà une relation commerciale avec un transporteur maritime avec lequel je peux facilement négocier.</a:t>
            </a:r>
          </a:p>
          <a:p>
            <a:pPr>
              <a:buFontTx/>
              <a:buChar char="-"/>
            </a:pPr>
            <a:r>
              <a:rPr lang="en-US" sz="2000" dirty="0"/>
              <a:t>Je n'ai jamais vendu de voiture au Mexique. Je n'ai aucune idée du fonctionnement de l'administration de ce pays. Il me serait difficile de dédouaner les marchandises à l'importation au Mexique.</a:t>
            </a:r>
          </a:p>
        </p:txBody>
      </p:sp>
      <p:sp>
        <p:nvSpPr>
          <p:cNvPr id="6" name="Titre 1">
            <a:extLst>
              <a:ext uri="{FF2B5EF4-FFF2-40B4-BE49-F238E27FC236}">
                <a16:creationId xmlns:a16="http://schemas.microsoft.com/office/drawing/2014/main" id="{5D0D9482-D5A8-4D7A-9887-AEA22C3F61F1}"/>
              </a:ext>
            </a:extLst>
          </p:cNvPr>
          <p:cNvSpPr>
            <a:spLocks noGrp="1"/>
          </p:cNvSpPr>
          <p:nvPr>
            <p:ph type="title"/>
          </p:nvPr>
        </p:nvSpPr>
        <p:spPr>
          <a:xfrm>
            <a:off x="381000" y="355847"/>
            <a:ext cx="8381260" cy="1054394"/>
          </a:xfrm>
        </p:spPr>
        <p:txBody>
          <a:bodyPr>
            <a:normAutofit/>
          </a:bodyPr>
          <a:lstStyle/>
          <a:p>
            <a:pPr algn="ctr"/>
            <a:r>
              <a:rPr lang="fr-FR" dirty="0">
                <a:solidFill>
                  <a:schemeClr val="bg1"/>
                </a:solidFill>
                <a:latin typeface="Franklin Gothic Book" panose="020B0503020102020204" pitchFamily="34" charset="0"/>
              </a:rPr>
              <a:t>C – Les Incoterms en pratique</a:t>
            </a:r>
          </a:p>
        </p:txBody>
      </p:sp>
      <p:sp>
        <p:nvSpPr>
          <p:cNvPr id="9" name="Footer Placeholder 3">
            <a:extLst>
              <a:ext uri="{FF2B5EF4-FFF2-40B4-BE49-F238E27FC236}">
                <a16:creationId xmlns:a16="http://schemas.microsoft.com/office/drawing/2014/main" id="{7E57AF3C-3C7C-4B3A-9B3B-3F49FE8E434F}"/>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2325664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B1FF5546-7A8E-4EB6-AAAE-F4EF25F79166}"/>
              </a:ext>
            </a:extLst>
          </p:cNvPr>
          <p:cNvSpPr>
            <a:spLocks noGrp="1"/>
          </p:cNvSpPr>
          <p:nvPr>
            <p:ph idx="1"/>
          </p:nvPr>
        </p:nvSpPr>
        <p:spPr>
          <a:xfrm>
            <a:off x="381000" y="1656076"/>
            <a:ext cx="8407893" cy="4407408"/>
          </a:xfrm>
        </p:spPr>
        <p:txBody>
          <a:bodyPr>
            <a:normAutofit/>
          </a:bodyPr>
          <a:lstStyle/>
          <a:p>
            <a:pPr marL="0" indent="0">
              <a:buNone/>
            </a:pPr>
            <a:r>
              <a:rPr lang="en-US" sz="2000" u="sng" dirty="0"/>
              <a:t>Exercice 1</a:t>
            </a:r>
            <a:r>
              <a:rPr lang="en-US" sz="2000" u="sng" baseline="30000" dirty="0"/>
              <a:t>st</a:t>
            </a:r>
            <a:r>
              <a:rPr lang="en-US" sz="2000" u="sng" dirty="0"/>
              <a:t> e - Réponse</a:t>
            </a:r>
          </a:p>
          <a:p>
            <a:pPr marL="0" indent="0">
              <a:buNone/>
            </a:pPr>
            <a:r>
              <a:rPr lang="en-US" sz="2000" dirty="0"/>
              <a:t>CIF (Coût, assurance et fret) :</a:t>
            </a:r>
          </a:p>
          <a:p>
            <a:pPr>
              <a:buFontTx/>
              <a:buChar char="-"/>
            </a:pPr>
            <a:r>
              <a:rPr lang="en-US" sz="2000" dirty="0"/>
              <a:t>Cet incoterm est conçu pour le transport maritime.</a:t>
            </a:r>
          </a:p>
          <a:p>
            <a:pPr>
              <a:buFontTx/>
              <a:buChar char="-"/>
            </a:pPr>
            <a:r>
              <a:rPr lang="en-US" sz="2000" dirty="0"/>
              <a:t>C'est un avantage pour moi d'avoir l'obligation de conclure le contrat de transport et le contrat d'assurance pour le transport principal. Je travaille habituellement avec le transporteur HÖEGH AUTOLINER. Je suis donc en mesure de négocier des tarifs bas et de négocier rapidement. Cela facilitera et fluidifiera la vente au concessionnaire mexicain.</a:t>
            </a:r>
          </a:p>
          <a:p>
            <a:pPr>
              <a:buFontTx/>
              <a:buChar char="-"/>
            </a:pPr>
            <a:r>
              <a:rPr lang="en-US" sz="2000" dirty="0"/>
              <a:t>Dans une vente CIF, le vendeur n'est pas tenu de dédouaner les marchandises à l'importation dans le pays du vendeur. C'est un soulagement pour moi, car je ne connais pas les douanes mexicaines.</a:t>
            </a:r>
            <a:endParaRPr lang="en-US" dirty="0"/>
          </a:p>
        </p:txBody>
      </p:sp>
      <p:sp>
        <p:nvSpPr>
          <p:cNvPr id="6" name="Titre 1">
            <a:extLst>
              <a:ext uri="{FF2B5EF4-FFF2-40B4-BE49-F238E27FC236}">
                <a16:creationId xmlns:a16="http://schemas.microsoft.com/office/drawing/2014/main" id="{A0BF9A6B-61EF-4221-954E-D2560F6CF130}"/>
              </a:ext>
            </a:extLst>
          </p:cNvPr>
          <p:cNvSpPr>
            <a:spLocks noGrp="1"/>
          </p:cNvSpPr>
          <p:nvPr>
            <p:ph type="title"/>
          </p:nvPr>
        </p:nvSpPr>
        <p:spPr>
          <a:xfrm>
            <a:off x="381000" y="355847"/>
            <a:ext cx="8381260" cy="1054394"/>
          </a:xfrm>
        </p:spPr>
        <p:txBody>
          <a:bodyPr>
            <a:normAutofit/>
          </a:bodyPr>
          <a:lstStyle/>
          <a:p>
            <a:pPr algn="ctr"/>
            <a:r>
              <a:rPr lang="fr-FR" dirty="0">
                <a:solidFill>
                  <a:schemeClr val="bg1"/>
                </a:solidFill>
                <a:latin typeface="Franklin Gothic Book" panose="020B0503020102020204" pitchFamily="34" charset="0"/>
              </a:rPr>
              <a:t>C – Les Incoterms dans la pratique</a:t>
            </a:r>
          </a:p>
        </p:txBody>
      </p:sp>
      <p:sp>
        <p:nvSpPr>
          <p:cNvPr id="9" name="Footer Placeholder 3">
            <a:extLst>
              <a:ext uri="{FF2B5EF4-FFF2-40B4-BE49-F238E27FC236}">
                <a16:creationId xmlns:a16="http://schemas.microsoft.com/office/drawing/2014/main" id="{EEB4D197-B87B-467E-B3BF-B66A3FB64222}"/>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457108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4D0833C2-8FCD-4D2C-9407-70A26D275D26}"/>
              </a:ext>
            </a:extLst>
          </p:cNvPr>
          <p:cNvSpPr>
            <a:spLocks noGrp="1"/>
          </p:cNvSpPr>
          <p:nvPr>
            <p:ph idx="1"/>
          </p:nvPr>
        </p:nvSpPr>
        <p:spPr>
          <a:xfrm>
            <a:off x="380999" y="1719071"/>
            <a:ext cx="8407893" cy="1595629"/>
          </a:xfrm>
        </p:spPr>
        <p:txBody>
          <a:bodyPr>
            <a:normAutofit fontScale="92500"/>
          </a:bodyPr>
          <a:lstStyle/>
          <a:p>
            <a:pPr marL="0" indent="0">
              <a:buNone/>
            </a:pPr>
            <a:r>
              <a:rPr lang="en-US" sz="1800" u="sng" dirty="0"/>
              <a:t>Exercice 2 «</a:t>
            </a:r>
            <a:r>
              <a:rPr lang="en-US" sz="1800" u="sng" baseline="30000" dirty="0"/>
              <a:t>nd</a:t>
            </a:r>
            <a:r>
              <a:rPr lang="en-US" sz="1800" u="sng" dirty="0"/>
              <a:t> » – Instructions</a:t>
            </a:r>
          </a:p>
          <a:p>
            <a:pPr marL="0" indent="0">
              <a:buNone/>
            </a:pPr>
            <a:r>
              <a:rPr lang="en-US" sz="1800" dirty="0"/>
              <a:t>Je participe à la création d'une entreprise de commerce électronique. Je suis responsable de la logistique. Nous souhaitons vendre nos produits dans le monde entier. Je réfléchis avec l'avocat de l'entreprise à nos conditions générales de vente. Nous aimerions choisir l'incoterm le plus adapté à notre activité et l'insérer dans nos conditions générales de vente. Quels critères devons-nous prendre en compte ?</a:t>
            </a:r>
          </a:p>
        </p:txBody>
      </p:sp>
      <p:sp>
        <p:nvSpPr>
          <p:cNvPr id="6" name="Titre 1">
            <a:extLst>
              <a:ext uri="{FF2B5EF4-FFF2-40B4-BE49-F238E27FC236}">
                <a16:creationId xmlns:a16="http://schemas.microsoft.com/office/drawing/2014/main" id="{AD20282C-0D3D-4599-9C7B-0AAC31D48EF0}"/>
              </a:ext>
            </a:extLst>
          </p:cNvPr>
          <p:cNvSpPr>
            <a:spLocks noGrp="1"/>
          </p:cNvSpPr>
          <p:nvPr>
            <p:ph type="title"/>
          </p:nvPr>
        </p:nvSpPr>
        <p:spPr>
          <a:xfrm>
            <a:off x="381000" y="355847"/>
            <a:ext cx="8381260" cy="1054394"/>
          </a:xfrm>
        </p:spPr>
        <p:txBody>
          <a:bodyPr>
            <a:normAutofit/>
          </a:bodyPr>
          <a:lstStyle/>
          <a:p>
            <a:pPr algn="ctr"/>
            <a:r>
              <a:rPr lang="fr-FR" dirty="0">
                <a:solidFill>
                  <a:schemeClr val="bg1"/>
                </a:solidFill>
                <a:latin typeface="Franklin Gothic Book" panose="020B0503020102020204" pitchFamily="34" charset="0"/>
              </a:rPr>
              <a:t>C – Les incoterms dans la pratique</a:t>
            </a:r>
          </a:p>
        </p:txBody>
      </p:sp>
      <p:sp>
        <p:nvSpPr>
          <p:cNvPr id="9" name="Footer Placeholder 3">
            <a:extLst>
              <a:ext uri="{FF2B5EF4-FFF2-40B4-BE49-F238E27FC236}">
                <a16:creationId xmlns:a16="http://schemas.microsoft.com/office/drawing/2014/main" id="{5B677FA1-ADEE-4607-A248-14917D98BAF3}"/>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pic>
        <p:nvPicPr>
          <p:cNvPr id="3" name="Image 2" descr="Une image contenant texte, journal&#10;&#10;Description générée automatiquement">
            <a:extLst>
              <a:ext uri="{FF2B5EF4-FFF2-40B4-BE49-F238E27FC236}">
                <a16:creationId xmlns:a16="http://schemas.microsoft.com/office/drawing/2014/main" id="{6CCD1D9F-85DC-4820-9889-34C3731C273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28545" y="3314700"/>
            <a:ext cx="1966347" cy="2544985"/>
          </a:xfrm>
          <a:prstGeom prst="rect">
            <a:avLst/>
          </a:prstGeom>
        </p:spPr>
      </p:pic>
      <p:pic>
        <p:nvPicPr>
          <p:cNvPr id="10" name="Image 9" descr="Une image contenant texte, bibliothèque, scène, entrepôt&#10;&#10;Description générée automatiquement">
            <a:extLst>
              <a:ext uri="{FF2B5EF4-FFF2-40B4-BE49-F238E27FC236}">
                <a16:creationId xmlns:a16="http://schemas.microsoft.com/office/drawing/2014/main" id="{93A68E2F-1869-430E-B2D1-250855DFC92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911234" y="3543301"/>
            <a:ext cx="4351704" cy="1945298"/>
          </a:xfrm>
          <a:prstGeom prst="rect">
            <a:avLst/>
          </a:prstGeom>
        </p:spPr>
      </p:pic>
    </p:spTree>
    <p:extLst>
      <p:ext uri="{BB962C8B-B14F-4D97-AF65-F5344CB8AC3E}">
        <p14:creationId xmlns:p14="http://schemas.microsoft.com/office/powerpoint/2010/main" val="1885155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80D709CE-5392-4271-B5B4-CCE2945523A4}"/>
              </a:ext>
            </a:extLst>
          </p:cNvPr>
          <p:cNvSpPr>
            <a:spLocks noGrp="1"/>
          </p:cNvSpPr>
          <p:nvPr>
            <p:ph idx="1"/>
          </p:nvPr>
        </p:nvSpPr>
        <p:spPr>
          <a:xfrm>
            <a:off x="380999" y="1719071"/>
            <a:ext cx="8407893" cy="4215737"/>
          </a:xfrm>
        </p:spPr>
        <p:txBody>
          <a:bodyPr/>
          <a:lstStyle/>
          <a:p>
            <a:pPr marL="0" indent="0">
              <a:buNone/>
            </a:pPr>
            <a:r>
              <a:rPr lang="en-US" sz="2000" u="sng" dirty="0"/>
              <a:t>Exercice « 2</a:t>
            </a:r>
            <a:r>
              <a:rPr lang="en-US" sz="2000" u="sng" baseline="30000" dirty="0"/>
              <a:t>nd</a:t>
            </a:r>
            <a:r>
              <a:rPr lang="en-US" sz="2000" u="sng" dirty="0"/>
              <a:t> » – Directives</a:t>
            </a:r>
          </a:p>
          <a:p>
            <a:pPr marL="0" indent="0">
              <a:buNone/>
            </a:pPr>
            <a:r>
              <a:rPr lang="en-US" sz="2000" dirty="0"/>
              <a:t>Critères :</a:t>
            </a:r>
          </a:p>
          <a:p>
            <a:pPr>
              <a:buFontTx/>
              <a:buChar char="-"/>
            </a:pPr>
            <a:r>
              <a:rPr lang="en-US" sz="2000" dirty="0"/>
              <a:t>Nos clients sont des particuliers et n'ont donc aucune connaissance particulière du commerce international.</a:t>
            </a:r>
          </a:p>
          <a:p>
            <a:pPr>
              <a:buFontTx/>
              <a:buChar char="-"/>
            </a:pPr>
            <a:r>
              <a:rPr lang="en-US" sz="2000" dirty="0"/>
              <a:t>Nous voulons offrir à nos clients un service aussi simple que possible.</a:t>
            </a:r>
          </a:p>
          <a:p>
            <a:pPr>
              <a:buFontTx/>
              <a:buChar char="-"/>
            </a:pPr>
            <a:r>
              <a:rPr lang="en-US" sz="2000" dirty="0"/>
              <a:t>Avec la pratique, nous apprendrons à connaître les formalités douanières et les obligations de nombreux pays.</a:t>
            </a:r>
          </a:p>
          <a:p>
            <a:pPr marL="0" indent="0">
              <a:buNone/>
            </a:pPr>
            <a:endParaRPr lang="en-US" dirty="0"/>
          </a:p>
        </p:txBody>
      </p:sp>
      <p:sp>
        <p:nvSpPr>
          <p:cNvPr id="6" name="Titre 1">
            <a:extLst>
              <a:ext uri="{FF2B5EF4-FFF2-40B4-BE49-F238E27FC236}">
                <a16:creationId xmlns:a16="http://schemas.microsoft.com/office/drawing/2014/main" id="{749720C4-A832-44E0-BC82-3145CA11C878}"/>
              </a:ext>
            </a:extLst>
          </p:cNvPr>
          <p:cNvSpPr>
            <a:spLocks noGrp="1"/>
          </p:cNvSpPr>
          <p:nvPr>
            <p:ph type="title"/>
          </p:nvPr>
        </p:nvSpPr>
        <p:spPr>
          <a:xfrm>
            <a:off x="381000" y="355847"/>
            <a:ext cx="8381260" cy="1054394"/>
          </a:xfrm>
        </p:spPr>
        <p:txBody>
          <a:bodyPr>
            <a:normAutofit/>
          </a:bodyPr>
          <a:lstStyle/>
          <a:p>
            <a:pPr algn="ctr"/>
            <a:r>
              <a:rPr lang="fr-FR" dirty="0">
                <a:solidFill>
                  <a:schemeClr val="bg1"/>
                </a:solidFill>
                <a:latin typeface="Franklin Gothic Book" panose="020B0503020102020204" pitchFamily="34" charset="0"/>
              </a:rPr>
              <a:t>C – Les Incoterms dans la pratique</a:t>
            </a:r>
          </a:p>
        </p:txBody>
      </p:sp>
      <p:sp>
        <p:nvSpPr>
          <p:cNvPr id="9" name="Footer Placeholder 3">
            <a:extLst>
              <a:ext uri="{FF2B5EF4-FFF2-40B4-BE49-F238E27FC236}">
                <a16:creationId xmlns:a16="http://schemas.microsoft.com/office/drawing/2014/main" id="{60614769-9493-4FC6-90BE-C837E142257B}"/>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2023736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216FCEED-5D3A-4C4C-B528-EB7E95A8E876}"/>
              </a:ext>
            </a:extLst>
          </p:cNvPr>
          <p:cNvSpPr>
            <a:spLocks noGrp="1"/>
          </p:cNvSpPr>
          <p:nvPr>
            <p:ph idx="1"/>
          </p:nvPr>
        </p:nvSpPr>
        <p:spPr>
          <a:xfrm>
            <a:off x="380999" y="1719071"/>
            <a:ext cx="8407893" cy="4407408"/>
          </a:xfrm>
        </p:spPr>
        <p:txBody>
          <a:bodyPr>
            <a:normAutofit/>
          </a:bodyPr>
          <a:lstStyle/>
          <a:p>
            <a:pPr marL="0" indent="0">
              <a:buNone/>
            </a:pPr>
            <a:r>
              <a:rPr lang="en-US" sz="2000" u="sng" dirty="0"/>
              <a:t>Exercice 2</a:t>
            </a:r>
            <a:r>
              <a:rPr lang="en-US" sz="2000" u="sng" baseline="30000" dirty="0"/>
              <a:t>nd</a:t>
            </a:r>
            <a:r>
              <a:rPr lang="en-US" sz="2000" u="sng" dirty="0"/>
              <a:t> e – Réponse</a:t>
            </a:r>
          </a:p>
          <a:p>
            <a:pPr marL="0" indent="0">
              <a:buNone/>
            </a:pPr>
            <a:r>
              <a:rPr lang="en-US" sz="2000" dirty="0"/>
              <a:t>DDP (Delivered Duty Paid) :</a:t>
            </a:r>
          </a:p>
          <a:p>
            <a:pPr>
              <a:buFontTx/>
              <a:buChar char="-"/>
            </a:pPr>
            <a:r>
              <a:rPr lang="en-US" sz="2000" dirty="0"/>
              <a:t>Nous nous occupons de tous les contrats de transport. Les clients n'ont pas besoin de comprendre la chaîne logistique.</a:t>
            </a:r>
          </a:p>
          <a:p>
            <a:pPr>
              <a:buFontTx/>
              <a:buChar char="-"/>
            </a:pPr>
            <a:r>
              <a:rPr lang="en-US" sz="2000" dirty="0"/>
              <a:t>Les clients n'ont rien d'autre à faire que de payer. C'est la solution la plus simple pour eux.</a:t>
            </a:r>
          </a:p>
          <a:p>
            <a:pPr>
              <a:buFontTx/>
              <a:buChar char="-"/>
            </a:pPr>
            <a:r>
              <a:rPr lang="en-US" sz="2000" dirty="0"/>
              <a:t>Nous nous occupons du dédouanement à l'importation dans les pays des clients. Nous sommes des professionnels du commerce et espérons être reconnus et agréés par les différentes administrations douanières.</a:t>
            </a:r>
          </a:p>
        </p:txBody>
      </p:sp>
      <p:sp>
        <p:nvSpPr>
          <p:cNvPr id="6" name="Titre 1">
            <a:extLst>
              <a:ext uri="{FF2B5EF4-FFF2-40B4-BE49-F238E27FC236}">
                <a16:creationId xmlns:a16="http://schemas.microsoft.com/office/drawing/2014/main" id="{58B413C8-215A-4E92-A8CA-B299F63B87C0}"/>
              </a:ext>
            </a:extLst>
          </p:cNvPr>
          <p:cNvSpPr>
            <a:spLocks noGrp="1"/>
          </p:cNvSpPr>
          <p:nvPr>
            <p:ph type="title"/>
          </p:nvPr>
        </p:nvSpPr>
        <p:spPr>
          <a:xfrm>
            <a:off x="381000" y="355847"/>
            <a:ext cx="8381260" cy="1054394"/>
          </a:xfrm>
        </p:spPr>
        <p:txBody>
          <a:bodyPr>
            <a:normAutofit/>
          </a:bodyPr>
          <a:lstStyle/>
          <a:p>
            <a:pPr algn="ctr"/>
            <a:r>
              <a:rPr lang="fr-FR" dirty="0">
                <a:solidFill>
                  <a:schemeClr val="bg1"/>
                </a:solidFill>
                <a:latin typeface="Franklin Gothic Book" panose="020B0503020102020204" pitchFamily="34" charset="0"/>
              </a:rPr>
              <a:t>C – Les Incoterms en pratique</a:t>
            </a:r>
          </a:p>
        </p:txBody>
      </p:sp>
      <p:sp>
        <p:nvSpPr>
          <p:cNvPr id="9" name="Footer Placeholder 3">
            <a:extLst>
              <a:ext uri="{FF2B5EF4-FFF2-40B4-BE49-F238E27FC236}">
                <a16:creationId xmlns:a16="http://schemas.microsoft.com/office/drawing/2014/main" id="{D9030681-5542-4422-9E6D-37630EBB2768}"/>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924514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216FCEED-5D3A-4C4C-B528-EB7E95A8E876}"/>
              </a:ext>
            </a:extLst>
          </p:cNvPr>
          <p:cNvSpPr>
            <a:spLocks noGrp="1"/>
          </p:cNvSpPr>
          <p:nvPr>
            <p:ph idx="1"/>
          </p:nvPr>
        </p:nvSpPr>
        <p:spPr>
          <a:xfrm>
            <a:off x="380999" y="1719071"/>
            <a:ext cx="8407893" cy="4407408"/>
          </a:xfrm>
        </p:spPr>
        <p:txBody>
          <a:bodyPr>
            <a:normAutofit/>
          </a:bodyPr>
          <a:lstStyle/>
          <a:p>
            <a:pPr marL="0" indent="0">
              <a:buNone/>
            </a:pPr>
            <a:r>
              <a:rPr lang="en-US" sz="2000" u="sng" baseline="30000" dirty="0"/>
              <a:t>rd</a:t>
            </a:r>
            <a:r>
              <a:rPr lang="en-US" sz="2000" u="sng" dirty="0"/>
              <a:t>Exercice sur les 3 incoterms – Instructions</a:t>
            </a:r>
          </a:p>
          <a:p>
            <a:pPr marL="0" indent="0">
              <a:buNone/>
            </a:pPr>
            <a:endParaRPr lang="en-US" sz="2000" dirty="0"/>
          </a:p>
          <a:p>
            <a:pPr marL="0" indent="0">
              <a:buNone/>
            </a:pPr>
            <a:r>
              <a:rPr lang="en-US" sz="2000" dirty="0"/>
              <a:t>Je dirige un chantier naval français. Nous construisons et vendons des yachts et des voiliers. Je négocie avec un client américain qui dirige une entreprise. Cette entreprise américaine exploite commercialement des bateaux sur le territoire américain. Quel incoterm devons-nous choisir ?</a:t>
            </a:r>
          </a:p>
        </p:txBody>
      </p:sp>
      <p:sp>
        <p:nvSpPr>
          <p:cNvPr id="6" name="Titre 1">
            <a:extLst>
              <a:ext uri="{FF2B5EF4-FFF2-40B4-BE49-F238E27FC236}">
                <a16:creationId xmlns:a16="http://schemas.microsoft.com/office/drawing/2014/main" id="{58B413C8-215A-4E92-A8CA-B299F63B87C0}"/>
              </a:ext>
            </a:extLst>
          </p:cNvPr>
          <p:cNvSpPr>
            <a:spLocks noGrp="1"/>
          </p:cNvSpPr>
          <p:nvPr>
            <p:ph type="title"/>
          </p:nvPr>
        </p:nvSpPr>
        <p:spPr>
          <a:xfrm>
            <a:off x="381000" y="355847"/>
            <a:ext cx="8381260" cy="1054394"/>
          </a:xfrm>
        </p:spPr>
        <p:txBody>
          <a:bodyPr>
            <a:normAutofit/>
          </a:bodyPr>
          <a:lstStyle/>
          <a:p>
            <a:pPr algn="ctr"/>
            <a:r>
              <a:rPr lang="fr-FR" dirty="0">
                <a:solidFill>
                  <a:schemeClr val="bg1"/>
                </a:solidFill>
                <a:latin typeface="Franklin Gothic Book" panose="020B0503020102020204" pitchFamily="34" charset="0"/>
              </a:rPr>
              <a:t>C – Les incoterms dans la pratique</a:t>
            </a:r>
          </a:p>
        </p:txBody>
      </p:sp>
      <p:sp>
        <p:nvSpPr>
          <p:cNvPr id="9" name="Footer Placeholder 3">
            <a:extLst>
              <a:ext uri="{FF2B5EF4-FFF2-40B4-BE49-F238E27FC236}">
                <a16:creationId xmlns:a16="http://schemas.microsoft.com/office/drawing/2014/main" id="{D9030681-5542-4422-9E6D-37630EBB2768}"/>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2264527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216FCEED-5D3A-4C4C-B528-EB7E95A8E876}"/>
              </a:ext>
            </a:extLst>
          </p:cNvPr>
          <p:cNvSpPr>
            <a:spLocks noGrp="1"/>
          </p:cNvSpPr>
          <p:nvPr>
            <p:ph idx="1"/>
          </p:nvPr>
        </p:nvSpPr>
        <p:spPr>
          <a:xfrm>
            <a:off x="380999" y="1719071"/>
            <a:ext cx="8407893" cy="4407408"/>
          </a:xfrm>
        </p:spPr>
        <p:txBody>
          <a:bodyPr>
            <a:normAutofit/>
          </a:bodyPr>
          <a:lstStyle/>
          <a:p>
            <a:pPr marL="0" indent="0">
              <a:buNone/>
            </a:pPr>
            <a:r>
              <a:rPr lang="en-US" sz="2000" u="sng" dirty="0"/>
              <a:t>Exercice « 3</a:t>
            </a:r>
            <a:r>
              <a:rPr lang="en-US" sz="2000" u="sng" baseline="30000" dirty="0"/>
              <a:t>rd</a:t>
            </a:r>
            <a:r>
              <a:rPr lang="en-US" sz="2000" u="sng" dirty="0"/>
              <a:t> » – Directives</a:t>
            </a:r>
          </a:p>
          <a:p>
            <a:pPr marL="0" indent="0">
              <a:buNone/>
            </a:pPr>
            <a:r>
              <a:rPr lang="en-US" sz="2000" dirty="0"/>
              <a:t>Critères :</a:t>
            </a:r>
          </a:p>
          <a:p>
            <a:pPr>
              <a:buFontTx/>
              <a:buChar char="-"/>
            </a:pPr>
            <a:r>
              <a:rPr lang="en-US" sz="2000" dirty="0"/>
              <a:t>Mon client a l'habitude de faire transporter des bateaux de petite et moyenne taille sur des navires plus grands. Il connaît bien un transporteur spécialisé dans ce domaine.</a:t>
            </a:r>
          </a:p>
          <a:p>
            <a:pPr>
              <a:buFontTx/>
              <a:buChar char="-"/>
            </a:pPr>
            <a:r>
              <a:rPr lang="en-US" sz="2000" dirty="0"/>
              <a:t>Je dois être en mesure de présenter à l'administration douanière française la preuve que j'ai bien exporté le voilier afin d'être exonéré de la TVA.</a:t>
            </a:r>
          </a:p>
          <a:p>
            <a:pPr>
              <a:buFontTx/>
              <a:buChar char="-"/>
            </a:pPr>
            <a:r>
              <a:rPr lang="en-US" sz="2000" dirty="0"/>
              <a:t>Le transport ne peut être effectué que par voie maritime.</a:t>
            </a:r>
          </a:p>
        </p:txBody>
      </p:sp>
      <p:sp>
        <p:nvSpPr>
          <p:cNvPr id="6" name="Titre 1">
            <a:extLst>
              <a:ext uri="{FF2B5EF4-FFF2-40B4-BE49-F238E27FC236}">
                <a16:creationId xmlns:a16="http://schemas.microsoft.com/office/drawing/2014/main" id="{58B413C8-215A-4E92-A8CA-B299F63B87C0}"/>
              </a:ext>
            </a:extLst>
          </p:cNvPr>
          <p:cNvSpPr>
            <a:spLocks noGrp="1"/>
          </p:cNvSpPr>
          <p:nvPr>
            <p:ph type="title"/>
          </p:nvPr>
        </p:nvSpPr>
        <p:spPr>
          <a:xfrm>
            <a:off x="381000" y="355847"/>
            <a:ext cx="8381260" cy="1054394"/>
          </a:xfrm>
        </p:spPr>
        <p:txBody>
          <a:bodyPr>
            <a:normAutofit/>
          </a:bodyPr>
          <a:lstStyle/>
          <a:p>
            <a:pPr algn="ctr"/>
            <a:r>
              <a:rPr lang="fr-FR" dirty="0">
                <a:solidFill>
                  <a:schemeClr val="bg1"/>
                </a:solidFill>
                <a:latin typeface="Franklin Gothic Book" panose="020B0503020102020204" pitchFamily="34" charset="0"/>
              </a:rPr>
              <a:t>C – Les Incoterms en pratique</a:t>
            </a:r>
          </a:p>
        </p:txBody>
      </p:sp>
      <p:sp>
        <p:nvSpPr>
          <p:cNvPr id="9" name="Footer Placeholder 3">
            <a:extLst>
              <a:ext uri="{FF2B5EF4-FFF2-40B4-BE49-F238E27FC236}">
                <a16:creationId xmlns:a16="http://schemas.microsoft.com/office/drawing/2014/main" id="{D9030681-5542-4422-9E6D-37630EBB2768}"/>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1805561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216FCEED-5D3A-4C4C-B528-EB7E95A8E876}"/>
              </a:ext>
            </a:extLst>
          </p:cNvPr>
          <p:cNvSpPr>
            <a:spLocks noGrp="1"/>
          </p:cNvSpPr>
          <p:nvPr>
            <p:ph idx="1"/>
          </p:nvPr>
        </p:nvSpPr>
        <p:spPr>
          <a:xfrm>
            <a:off x="380999" y="1719071"/>
            <a:ext cx="8407893" cy="4407408"/>
          </a:xfrm>
        </p:spPr>
        <p:txBody>
          <a:bodyPr>
            <a:normAutofit/>
          </a:bodyPr>
          <a:lstStyle/>
          <a:p>
            <a:pPr marL="0" indent="0">
              <a:buNone/>
            </a:pPr>
            <a:r>
              <a:rPr lang="en-US" sz="2000" u="sng" dirty="0"/>
              <a:t>Exercice « 3</a:t>
            </a:r>
            <a:r>
              <a:rPr lang="en-US" sz="2000" u="sng" baseline="30000" dirty="0"/>
              <a:t>rd</a:t>
            </a:r>
            <a:r>
              <a:rPr lang="en-US" sz="2000" u="sng" dirty="0"/>
              <a:t> » – Proposition</a:t>
            </a:r>
          </a:p>
          <a:p>
            <a:pPr marL="0" indent="0">
              <a:buNone/>
            </a:pPr>
            <a:r>
              <a:rPr lang="en-US" sz="2000" dirty="0"/>
              <a:t>FAS (franco le long du navire) :</a:t>
            </a:r>
          </a:p>
          <a:p>
            <a:pPr>
              <a:buFontTx/>
              <a:buChar char="-"/>
            </a:pPr>
            <a:r>
              <a:rPr lang="en-US" sz="2000" dirty="0"/>
              <a:t>Je n'ai pas besoin de conclure un contrat de transport maritime. Je laisse mon client faire affaire avec son partenaire commercial habituel.</a:t>
            </a:r>
          </a:p>
          <a:p>
            <a:pPr>
              <a:buFontTx/>
              <a:buChar char="-"/>
            </a:pPr>
            <a:r>
              <a:rPr lang="en-US" sz="2000" dirty="0"/>
              <a:t>Cet incoterm est adapté au transport maritime.</a:t>
            </a:r>
          </a:p>
          <a:p>
            <a:pPr>
              <a:buFontTx/>
              <a:buChar char="-"/>
            </a:pPr>
            <a:r>
              <a:rPr lang="en-US" sz="2000" dirty="0"/>
              <a:t>Avec l'incoterm FAS, en tant que vendeur, je dois dédouaner le navire pour l'exportation. L'accomplissement de ces formalités me garantit d'avoir la preuve que j'ai exporté le yacht, afin d'être exonéré de la TVA.</a:t>
            </a:r>
          </a:p>
          <a:p>
            <a:pPr marL="0" indent="0">
              <a:buNone/>
            </a:pPr>
            <a:r>
              <a:rPr lang="en-US" sz="2000" u="sng" dirty="0"/>
              <a:t>Possibilité : </a:t>
            </a:r>
            <a:r>
              <a:rPr lang="en-US" sz="2000" dirty="0"/>
              <a:t>FCA. Le risque est </a:t>
            </a:r>
            <a:r>
              <a:rPr lang="en-US" sz="2000" dirty="0" err="1"/>
              <a:t>transféré </a:t>
            </a:r>
            <a:r>
              <a:rPr lang="en-US" sz="2000" dirty="0"/>
              <a:t>plus tôt.</a:t>
            </a:r>
          </a:p>
        </p:txBody>
      </p:sp>
      <p:sp>
        <p:nvSpPr>
          <p:cNvPr id="6" name="Titre 1">
            <a:extLst>
              <a:ext uri="{FF2B5EF4-FFF2-40B4-BE49-F238E27FC236}">
                <a16:creationId xmlns:a16="http://schemas.microsoft.com/office/drawing/2014/main" id="{58B413C8-215A-4E92-A8CA-B299F63B87C0}"/>
              </a:ext>
            </a:extLst>
          </p:cNvPr>
          <p:cNvSpPr>
            <a:spLocks noGrp="1"/>
          </p:cNvSpPr>
          <p:nvPr>
            <p:ph type="title"/>
          </p:nvPr>
        </p:nvSpPr>
        <p:spPr>
          <a:xfrm>
            <a:off x="381000" y="355847"/>
            <a:ext cx="8381260" cy="1054394"/>
          </a:xfrm>
        </p:spPr>
        <p:txBody>
          <a:bodyPr>
            <a:normAutofit/>
          </a:bodyPr>
          <a:lstStyle/>
          <a:p>
            <a:pPr algn="ctr"/>
            <a:r>
              <a:rPr lang="fr-FR" dirty="0">
                <a:solidFill>
                  <a:schemeClr val="bg1"/>
                </a:solidFill>
                <a:latin typeface="Franklin Gothic Book" panose="020B0503020102020204" pitchFamily="34" charset="0"/>
              </a:rPr>
              <a:t>C – Les Incoterms en pratique</a:t>
            </a:r>
          </a:p>
        </p:txBody>
      </p:sp>
      <p:sp>
        <p:nvSpPr>
          <p:cNvPr id="9" name="Footer Placeholder 3">
            <a:extLst>
              <a:ext uri="{FF2B5EF4-FFF2-40B4-BE49-F238E27FC236}">
                <a16:creationId xmlns:a16="http://schemas.microsoft.com/office/drawing/2014/main" id="{D9030681-5542-4422-9E6D-37630EBB2768}"/>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1720554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216FCEED-5D3A-4C4C-B528-EB7E95A8E876}"/>
              </a:ext>
            </a:extLst>
          </p:cNvPr>
          <p:cNvSpPr>
            <a:spLocks noGrp="1"/>
          </p:cNvSpPr>
          <p:nvPr>
            <p:ph idx="1"/>
          </p:nvPr>
        </p:nvSpPr>
        <p:spPr>
          <a:xfrm>
            <a:off x="380999" y="1719071"/>
            <a:ext cx="8407893" cy="4407408"/>
          </a:xfrm>
        </p:spPr>
        <p:txBody>
          <a:bodyPr>
            <a:normAutofit/>
          </a:bodyPr>
          <a:lstStyle/>
          <a:p>
            <a:pPr marL="0" indent="0" algn="ctr">
              <a:buNone/>
            </a:pPr>
            <a:r>
              <a:rPr lang="en-US" sz="2600" dirty="0"/>
              <a:t>Que sont les incoterms maritimes ?</a:t>
            </a:r>
          </a:p>
        </p:txBody>
      </p:sp>
      <p:sp>
        <p:nvSpPr>
          <p:cNvPr id="6" name="Titre 1">
            <a:extLst>
              <a:ext uri="{FF2B5EF4-FFF2-40B4-BE49-F238E27FC236}">
                <a16:creationId xmlns:a16="http://schemas.microsoft.com/office/drawing/2014/main" id="{58B413C8-215A-4E92-A8CA-B299F63B87C0}"/>
              </a:ext>
            </a:extLst>
          </p:cNvPr>
          <p:cNvSpPr>
            <a:spLocks noGrp="1"/>
          </p:cNvSpPr>
          <p:nvPr>
            <p:ph type="title"/>
          </p:nvPr>
        </p:nvSpPr>
        <p:spPr>
          <a:xfrm>
            <a:off x="381000" y="355847"/>
            <a:ext cx="8381260" cy="1054394"/>
          </a:xfrm>
        </p:spPr>
        <p:txBody>
          <a:bodyPr>
            <a:normAutofit/>
          </a:bodyPr>
          <a:lstStyle/>
          <a:p>
            <a:pPr algn="ctr"/>
            <a:r>
              <a:rPr lang="fr-FR" dirty="0">
                <a:solidFill>
                  <a:schemeClr val="bg1"/>
                </a:solidFill>
                <a:latin typeface="Franklin Gothic Book" panose="020B0503020102020204" pitchFamily="34" charset="0"/>
              </a:rPr>
              <a:t>C – Questions (1)</a:t>
            </a:r>
          </a:p>
        </p:txBody>
      </p:sp>
      <p:sp>
        <p:nvSpPr>
          <p:cNvPr id="9" name="Footer Placeholder 3">
            <a:extLst>
              <a:ext uri="{FF2B5EF4-FFF2-40B4-BE49-F238E27FC236}">
                <a16:creationId xmlns:a16="http://schemas.microsoft.com/office/drawing/2014/main" id="{D9030681-5542-4422-9E6D-37630EBB2768}"/>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712684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216FCEED-5D3A-4C4C-B528-EB7E95A8E876}"/>
              </a:ext>
            </a:extLst>
          </p:cNvPr>
          <p:cNvSpPr>
            <a:spLocks noGrp="1"/>
          </p:cNvSpPr>
          <p:nvPr>
            <p:ph idx="1"/>
          </p:nvPr>
        </p:nvSpPr>
        <p:spPr>
          <a:xfrm>
            <a:off x="380999" y="1719071"/>
            <a:ext cx="8407893" cy="4407408"/>
          </a:xfrm>
        </p:spPr>
        <p:txBody>
          <a:bodyPr>
            <a:normAutofit/>
          </a:bodyPr>
          <a:lstStyle/>
          <a:p>
            <a:pPr marL="0" indent="0" algn="ctr">
              <a:buNone/>
            </a:pPr>
            <a:r>
              <a:rPr lang="en-US" sz="2600" dirty="0"/>
              <a:t>FAS, FOB, CFR, CIF</a:t>
            </a:r>
          </a:p>
        </p:txBody>
      </p:sp>
      <p:sp>
        <p:nvSpPr>
          <p:cNvPr id="6" name="Titre 1">
            <a:extLst>
              <a:ext uri="{FF2B5EF4-FFF2-40B4-BE49-F238E27FC236}">
                <a16:creationId xmlns:a16="http://schemas.microsoft.com/office/drawing/2014/main" id="{58B413C8-215A-4E92-A8CA-B299F63B87C0}"/>
              </a:ext>
            </a:extLst>
          </p:cNvPr>
          <p:cNvSpPr>
            <a:spLocks noGrp="1"/>
          </p:cNvSpPr>
          <p:nvPr>
            <p:ph type="title"/>
          </p:nvPr>
        </p:nvSpPr>
        <p:spPr>
          <a:xfrm>
            <a:off x="381000" y="355847"/>
            <a:ext cx="8381260" cy="1054394"/>
          </a:xfrm>
        </p:spPr>
        <p:txBody>
          <a:bodyPr>
            <a:normAutofit/>
          </a:bodyPr>
          <a:lstStyle/>
          <a:p>
            <a:pPr algn="ctr"/>
            <a:r>
              <a:rPr lang="fr-FR" dirty="0">
                <a:solidFill>
                  <a:schemeClr val="bg1"/>
                </a:solidFill>
                <a:latin typeface="Franklin Gothic Book" panose="020B0503020102020204" pitchFamily="34" charset="0"/>
              </a:rPr>
              <a:t>C – Questions (1)</a:t>
            </a:r>
          </a:p>
        </p:txBody>
      </p:sp>
      <p:sp>
        <p:nvSpPr>
          <p:cNvPr id="9" name="Footer Placeholder 3">
            <a:extLst>
              <a:ext uri="{FF2B5EF4-FFF2-40B4-BE49-F238E27FC236}">
                <a16:creationId xmlns:a16="http://schemas.microsoft.com/office/drawing/2014/main" id="{D9030681-5542-4422-9E6D-37630EBB2768}"/>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57613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216FCEED-5D3A-4C4C-B528-EB7E95A8E876}"/>
              </a:ext>
            </a:extLst>
          </p:cNvPr>
          <p:cNvSpPr>
            <a:spLocks noGrp="1"/>
          </p:cNvSpPr>
          <p:nvPr>
            <p:ph idx="1"/>
          </p:nvPr>
        </p:nvSpPr>
        <p:spPr>
          <a:xfrm>
            <a:off x="380999" y="1719071"/>
            <a:ext cx="8407893" cy="4407408"/>
          </a:xfrm>
        </p:spPr>
        <p:txBody>
          <a:bodyPr>
            <a:normAutofit/>
          </a:bodyPr>
          <a:lstStyle/>
          <a:p>
            <a:pPr marL="0" indent="0" algn="ctr">
              <a:buNone/>
            </a:pPr>
            <a:r>
              <a:rPr lang="en-US" sz="2600" dirty="0"/>
              <a:t>Quels sont les incoterms qui s'appliquent aux ventes à l'arrivée ?</a:t>
            </a:r>
          </a:p>
        </p:txBody>
      </p:sp>
      <p:sp>
        <p:nvSpPr>
          <p:cNvPr id="6" name="Titre 1">
            <a:extLst>
              <a:ext uri="{FF2B5EF4-FFF2-40B4-BE49-F238E27FC236}">
                <a16:creationId xmlns:a16="http://schemas.microsoft.com/office/drawing/2014/main" id="{58B413C8-215A-4E92-A8CA-B299F63B87C0}"/>
              </a:ext>
            </a:extLst>
          </p:cNvPr>
          <p:cNvSpPr>
            <a:spLocks noGrp="1"/>
          </p:cNvSpPr>
          <p:nvPr>
            <p:ph type="title"/>
          </p:nvPr>
        </p:nvSpPr>
        <p:spPr>
          <a:xfrm>
            <a:off x="381000" y="355847"/>
            <a:ext cx="8381260" cy="1054394"/>
          </a:xfrm>
        </p:spPr>
        <p:txBody>
          <a:bodyPr>
            <a:normAutofit/>
          </a:bodyPr>
          <a:lstStyle/>
          <a:p>
            <a:pPr algn="ctr"/>
            <a:r>
              <a:rPr lang="fr-FR" dirty="0">
                <a:solidFill>
                  <a:schemeClr val="bg1"/>
                </a:solidFill>
                <a:latin typeface="Franklin Gothic Book" panose="020B0503020102020204" pitchFamily="34" charset="0"/>
              </a:rPr>
              <a:t>C – Questions (2)</a:t>
            </a:r>
          </a:p>
        </p:txBody>
      </p:sp>
      <p:sp>
        <p:nvSpPr>
          <p:cNvPr id="9" name="Footer Placeholder 3">
            <a:extLst>
              <a:ext uri="{FF2B5EF4-FFF2-40B4-BE49-F238E27FC236}">
                <a16:creationId xmlns:a16="http://schemas.microsoft.com/office/drawing/2014/main" id="{D9030681-5542-4422-9E6D-37630EBB2768}"/>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3113920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216FCEED-5D3A-4C4C-B528-EB7E95A8E876}"/>
              </a:ext>
            </a:extLst>
          </p:cNvPr>
          <p:cNvSpPr>
            <a:spLocks noGrp="1"/>
          </p:cNvSpPr>
          <p:nvPr>
            <p:ph idx="1"/>
          </p:nvPr>
        </p:nvSpPr>
        <p:spPr>
          <a:xfrm>
            <a:off x="380999" y="1719071"/>
            <a:ext cx="8407893" cy="4407408"/>
          </a:xfrm>
        </p:spPr>
        <p:txBody>
          <a:bodyPr>
            <a:normAutofit/>
          </a:bodyPr>
          <a:lstStyle/>
          <a:p>
            <a:pPr marL="0" indent="0" algn="ctr">
              <a:buNone/>
            </a:pPr>
            <a:r>
              <a:rPr lang="en-US" sz="2600" dirty="0"/>
              <a:t>DAP, DPU, DDP</a:t>
            </a:r>
          </a:p>
        </p:txBody>
      </p:sp>
      <p:sp>
        <p:nvSpPr>
          <p:cNvPr id="6" name="Titre 1">
            <a:extLst>
              <a:ext uri="{FF2B5EF4-FFF2-40B4-BE49-F238E27FC236}">
                <a16:creationId xmlns:a16="http://schemas.microsoft.com/office/drawing/2014/main" id="{58B413C8-215A-4E92-A8CA-B299F63B87C0}"/>
              </a:ext>
            </a:extLst>
          </p:cNvPr>
          <p:cNvSpPr>
            <a:spLocks noGrp="1"/>
          </p:cNvSpPr>
          <p:nvPr>
            <p:ph type="title"/>
          </p:nvPr>
        </p:nvSpPr>
        <p:spPr>
          <a:xfrm>
            <a:off x="381000" y="355847"/>
            <a:ext cx="8381260" cy="1054394"/>
          </a:xfrm>
        </p:spPr>
        <p:txBody>
          <a:bodyPr>
            <a:normAutofit/>
          </a:bodyPr>
          <a:lstStyle/>
          <a:p>
            <a:pPr algn="ctr"/>
            <a:r>
              <a:rPr lang="fr-FR" dirty="0">
                <a:solidFill>
                  <a:schemeClr val="bg1"/>
                </a:solidFill>
                <a:latin typeface="Franklin Gothic Book" panose="020B0503020102020204" pitchFamily="34" charset="0"/>
              </a:rPr>
              <a:t>C – Questions (2)</a:t>
            </a:r>
          </a:p>
        </p:txBody>
      </p:sp>
      <p:sp>
        <p:nvSpPr>
          <p:cNvPr id="9" name="Footer Placeholder 3">
            <a:extLst>
              <a:ext uri="{FF2B5EF4-FFF2-40B4-BE49-F238E27FC236}">
                <a16:creationId xmlns:a16="http://schemas.microsoft.com/office/drawing/2014/main" id="{D9030681-5542-4422-9E6D-37630EBB2768}"/>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1096566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6" name="Titre 1">
            <a:extLst>
              <a:ext uri="{FF2B5EF4-FFF2-40B4-BE49-F238E27FC236}">
                <a16:creationId xmlns:a16="http://schemas.microsoft.com/office/drawing/2014/main" id="{58B413C8-215A-4E92-A8CA-B299F63B87C0}"/>
              </a:ext>
            </a:extLst>
          </p:cNvPr>
          <p:cNvSpPr>
            <a:spLocks noGrp="1"/>
          </p:cNvSpPr>
          <p:nvPr>
            <p:ph type="title"/>
          </p:nvPr>
        </p:nvSpPr>
        <p:spPr>
          <a:xfrm>
            <a:off x="381000" y="355847"/>
            <a:ext cx="8381260" cy="1054394"/>
          </a:xfrm>
        </p:spPr>
        <p:txBody>
          <a:bodyPr>
            <a:normAutofit/>
          </a:bodyPr>
          <a:lstStyle/>
          <a:p>
            <a:pPr algn="ctr"/>
            <a:r>
              <a:rPr lang="fr-FR" dirty="0">
                <a:solidFill>
                  <a:schemeClr val="bg1"/>
                </a:solidFill>
                <a:latin typeface="Franklin Gothic Book" panose="020B0503020102020204" pitchFamily="34" charset="0"/>
              </a:rPr>
              <a:t>C – Questions (3)</a:t>
            </a:r>
          </a:p>
        </p:txBody>
      </p:sp>
      <p:sp>
        <p:nvSpPr>
          <p:cNvPr id="9" name="Footer Placeholder 3">
            <a:extLst>
              <a:ext uri="{FF2B5EF4-FFF2-40B4-BE49-F238E27FC236}">
                <a16:creationId xmlns:a16="http://schemas.microsoft.com/office/drawing/2014/main" id="{D9030681-5542-4422-9E6D-37630EBB2768}"/>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pic>
        <p:nvPicPr>
          <p:cNvPr id="8" name="Espace réservé du contenu 7" descr="Une image contenant texte, tableau blanc&#10;&#10;Description générée automatiquement">
            <a:extLst>
              <a:ext uri="{FF2B5EF4-FFF2-40B4-BE49-F238E27FC236}">
                <a16:creationId xmlns:a16="http://schemas.microsoft.com/office/drawing/2014/main" id="{248E5D17-01A2-4BE5-A76C-D675838B650B}"/>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838958" y="1808582"/>
            <a:ext cx="5421086" cy="2944586"/>
          </a:xfrm>
          <a:prstGeom prst="rect">
            <a:avLst/>
          </a:prstGeom>
        </p:spPr>
      </p:pic>
      <p:sp>
        <p:nvSpPr>
          <p:cNvPr id="2" name="ZoneTexte 1">
            <a:extLst>
              <a:ext uri="{FF2B5EF4-FFF2-40B4-BE49-F238E27FC236}">
                <a16:creationId xmlns:a16="http://schemas.microsoft.com/office/drawing/2014/main" id="{9538259B-9B19-42C5-88EF-0131A411214B}"/>
              </a:ext>
            </a:extLst>
          </p:cNvPr>
          <p:cNvSpPr txBox="1"/>
          <p:nvPr/>
        </p:nvSpPr>
        <p:spPr>
          <a:xfrm>
            <a:off x="1542680" y="5058136"/>
            <a:ext cx="6203343" cy="461665"/>
          </a:xfrm>
          <a:prstGeom prst="rect">
            <a:avLst/>
          </a:prstGeom>
          <a:noFill/>
        </p:spPr>
        <p:txBody>
          <a:bodyPr wrap="square" rtlCol="0">
            <a:spAutoFit/>
          </a:bodyPr>
          <a:lstStyle/>
          <a:p>
            <a:pPr algn="ctr"/>
            <a:r>
              <a:rPr lang="fr-FR" sz="2400" dirty="0">
                <a:solidFill>
                  <a:srgbClr val="002060"/>
                </a:solidFill>
                <a:latin typeface="Corbel" panose="020B0503020204020204" pitchFamily="34" charset="0"/>
              </a:rPr>
              <a:t>Pouvez</a:t>
            </a:r>
            <a:r>
              <a:rPr lang="fr-FR" sz="2400" dirty="0" err="1">
                <a:solidFill>
                  <a:srgbClr val="002060"/>
                </a:solidFill>
                <a:latin typeface="Corbel" panose="020B0503020204020204" pitchFamily="34" charset="0"/>
              </a:rPr>
              <a:t>-vous nommer cet </a:t>
            </a:r>
            <a:r>
              <a:rPr lang="fr-FR" sz="2400" dirty="0">
                <a:solidFill>
                  <a:srgbClr val="002060"/>
                </a:solidFill>
                <a:latin typeface="Corbel" panose="020B0503020204020204" pitchFamily="34" charset="0"/>
              </a:rPr>
              <a:t>incoterm ?</a:t>
            </a:r>
          </a:p>
        </p:txBody>
      </p:sp>
    </p:spTree>
    <p:extLst>
      <p:ext uri="{BB962C8B-B14F-4D97-AF65-F5344CB8AC3E}">
        <p14:creationId xmlns:p14="http://schemas.microsoft.com/office/powerpoint/2010/main" val="3001681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6" name="Titre 1">
            <a:extLst>
              <a:ext uri="{FF2B5EF4-FFF2-40B4-BE49-F238E27FC236}">
                <a16:creationId xmlns:a16="http://schemas.microsoft.com/office/drawing/2014/main" id="{58B413C8-215A-4E92-A8CA-B299F63B87C0}"/>
              </a:ext>
            </a:extLst>
          </p:cNvPr>
          <p:cNvSpPr>
            <a:spLocks noGrp="1"/>
          </p:cNvSpPr>
          <p:nvPr>
            <p:ph type="title"/>
          </p:nvPr>
        </p:nvSpPr>
        <p:spPr>
          <a:xfrm>
            <a:off x="381000" y="355847"/>
            <a:ext cx="8381260" cy="1054394"/>
          </a:xfrm>
        </p:spPr>
        <p:txBody>
          <a:bodyPr>
            <a:normAutofit/>
          </a:bodyPr>
          <a:lstStyle/>
          <a:p>
            <a:pPr algn="ctr"/>
            <a:r>
              <a:rPr lang="fr-FR" dirty="0">
                <a:solidFill>
                  <a:schemeClr val="bg1"/>
                </a:solidFill>
                <a:latin typeface="Franklin Gothic Book" panose="020B0503020102020204" pitchFamily="34" charset="0"/>
              </a:rPr>
              <a:t>C – Questions (3)</a:t>
            </a:r>
          </a:p>
        </p:txBody>
      </p:sp>
      <p:sp>
        <p:nvSpPr>
          <p:cNvPr id="9" name="Footer Placeholder 3">
            <a:extLst>
              <a:ext uri="{FF2B5EF4-FFF2-40B4-BE49-F238E27FC236}">
                <a16:creationId xmlns:a16="http://schemas.microsoft.com/office/drawing/2014/main" id="{D9030681-5542-4422-9E6D-37630EBB2768}"/>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pic>
        <p:nvPicPr>
          <p:cNvPr id="8" name="Espace réservé du contenu 7" descr="Une image contenant texte, tableau blanc&#10;&#10;Description générée automatiquement">
            <a:extLst>
              <a:ext uri="{FF2B5EF4-FFF2-40B4-BE49-F238E27FC236}">
                <a16:creationId xmlns:a16="http://schemas.microsoft.com/office/drawing/2014/main" id="{248E5D17-01A2-4BE5-A76C-D675838B650B}"/>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838958" y="1808582"/>
            <a:ext cx="5421086" cy="2944586"/>
          </a:xfrm>
          <a:prstGeom prst="rect">
            <a:avLst/>
          </a:prstGeom>
        </p:spPr>
      </p:pic>
      <p:sp>
        <p:nvSpPr>
          <p:cNvPr id="2" name="ZoneTexte 1">
            <a:extLst>
              <a:ext uri="{FF2B5EF4-FFF2-40B4-BE49-F238E27FC236}">
                <a16:creationId xmlns:a16="http://schemas.microsoft.com/office/drawing/2014/main" id="{9538259B-9B19-42C5-88EF-0131A411214B}"/>
              </a:ext>
            </a:extLst>
          </p:cNvPr>
          <p:cNvSpPr txBox="1"/>
          <p:nvPr/>
        </p:nvSpPr>
        <p:spPr>
          <a:xfrm>
            <a:off x="1542680" y="5058136"/>
            <a:ext cx="6203343" cy="461665"/>
          </a:xfrm>
          <a:prstGeom prst="rect">
            <a:avLst/>
          </a:prstGeom>
          <a:noFill/>
        </p:spPr>
        <p:txBody>
          <a:bodyPr wrap="square" rtlCol="0">
            <a:spAutoFit/>
          </a:bodyPr>
          <a:lstStyle/>
          <a:p>
            <a:pPr algn="ctr"/>
            <a:r>
              <a:rPr lang="fr-FR" sz="2400" dirty="0">
                <a:solidFill>
                  <a:srgbClr val="002060"/>
                </a:solidFill>
                <a:latin typeface="Corbel" panose="020B0503020204020204" pitchFamily="34" charset="0"/>
              </a:rPr>
              <a:t>Franco </a:t>
            </a:r>
            <a:r>
              <a:rPr lang="fr-FR" sz="2400" dirty="0" err="1">
                <a:solidFill>
                  <a:srgbClr val="002060"/>
                </a:solidFill>
                <a:latin typeface="Corbel" panose="020B0503020204020204" pitchFamily="34" charset="0"/>
              </a:rPr>
              <a:t>le long du navire </a:t>
            </a:r>
            <a:r>
              <a:rPr lang="fr-FR" sz="2400" dirty="0">
                <a:solidFill>
                  <a:srgbClr val="002060"/>
                </a:solidFill>
                <a:latin typeface="Corbel" panose="020B0503020204020204" pitchFamily="34" charset="0"/>
              </a:rPr>
              <a:t>(FAS)</a:t>
            </a:r>
          </a:p>
        </p:txBody>
      </p:sp>
    </p:spTree>
    <p:extLst>
      <p:ext uri="{BB962C8B-B14F-4D97-AF65-F5344CB8AC3E}">
        <p14:creationId xmlns:p14="http://schemas.microsoft.com/office/powerpoint/2010/main" val="1885731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6" name="Titre 1">
            <a:extLst>
              <a:ext uri="{FF2B5EF4-FFF2-40B4-BE49-F238E27FC236}">
                <a16:creationId xmlns:a16="http://schemas.microsoft.com/office/drawing/2014/main" id="{58B413C8-215A-4E92-A8CA-B299F63B87C0}"/>
              </a:ext>
            </a:extLst>
          </p:cNvPr>
          <p:cNvSpPr>
            <a:spLocks noGrp="1"/>
          </p:cNvSpPr>
          <p:nvPr>
            <p:ph type="title"/>
          </p:nvPr>
        </p:nvSpPr>
        <p:spPr>
          <a:xfrm>
            <a:off x="381000" y="355847"/>
            <a:ext cx="8381260" cy="1054394"/>
          </a:xfrm>
        </p:spPr>
        <p:txBody>
          <a:bodyPr>
            <a:normAutofit/>
          </a:bodyPr>
          <a:lstStyle/>
          <a:p>
            <a:pPr algn="ctr"/>
            <a:r>
              <a:rPr lang="fr-FR" dirty="0">
                <a:solidFill>
                  <a:schemeClr val="bg1"/>
                </a:solidFill>
                <a:latin typeface="Franklin Gothic Book" panose="020B0503020102020204" pitchFamily="34" charset="0"/>
              </a:rPr>
              <a:t>C – Questions (3)</a:t>
            </a:r>
          </a:p>
        </p:txBody>
      </p:sp>
      <p:sp>
        <p:nvSpPr>
          <p:cNvPr id="9" name="Footer Placeholder 3">
            <a:extLst>
              <a:ext uri="{FF2B5EF4-FFF2-40B4-BE49-F238E27FC236}">
                <a16:creationId xmlns:a16="http://schemas.microsoft.com/office/drawing/2014/main" id="{D9030681-5542-4422-9E6D-37630EBB2768}"/>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
        <p:nvSpPr>
          <p:cNvPr id="2" name="ZoneTexte 1">
            <a:extLst>
              <a:ext uri="{FF2B5EF4-FFF2-40B4-BE49-F238E27FC236}">
                <a16:creationId xmlns:a16="http://schemas.microsoft.com/office/drawing/2014/main" id="{9538259B-9B19-42C5-88EF-0131A411214B}"/>
              </a:ext>
            </a:extLst>
          </p:cNvPr>
          <p:cNvSpPr txBox="1"/>
          <p:nvPr/>
        </p:nvSpPr>
        <p:spPr>
          <a:xfrm>
            <a:off x="1542680" y="5058136"/>
            <a:ext cx="6203343" cy="461665"/>
          </a:xfrm>
          <a:prstGeom prst="rect">
            <a:avLst/>
          </a:prstGeom>
          <a:noFill/>
        </p:spPr>
        <p:txBody>
          <a:bodyPr wrap="square" rtlCol="0">
            <a:spAutoFit/>
          </a:bodyPr>
          <a:lstStyle/>
          <a:p>
            <a:pPr algn="ctr"/>
            <a:r>
              <a:rPr lang="fr-FR" sz="2400" dirty="0">
                <a:solidFill>
                  <a:srgbClr val="002060"/>
                </a:solidFill>
                <a:latin typeface="Corbel" panose="020B0503020204020204" pitchFamily="34" charset="0"/>
              </a:rPr>
              <a:t>Pouvez</a:t>
            </a:r>
            <a:r>
              <a:rPr lang="fr-FR" sz="2400" dirty="0" err="1">
                <a:solidFill>
                  <a:srgbClr val="002060"/>
                </a:solidFill>
                <a:latin typeface="Corbel" panose="020B0503020204020204" pitchFamily="34" charset="0"/>
              </a:rPr>
              <a:t>-vous nommer cet </a:t>
            </a:r>
            <a:r>
              <a:rPr lang="fr-FR" sz="2400" dirty="0">
                <a:solidFill>
                  <a:srgbClr val="002060"/>
                </a:solidFill>
                <a:latin typeface="Corbel" panose="020B0503020204020204" pitchFamily="34" charset="0"/>
              </a:rPr>
              <a:t>incoterm ?</a:t>
            </a:r>
          </a:p>
        </p:txBody>
      </p:sp>
      <p:pic>
        <p:nvPicPr>
          <p:cNvPr id="10" name="Espace réservé du contenu 9">
            <a:extLst>
              <a:ext uri="{FF2B5EF4-FFF2-40B4-BE49-F238E27FC236}">
                <a16:creationId xmlns:a16="http://schemas.microsoft.com/office/drawing/2014/main" id="{4ADA5B01-62A8-440B-AC4A-9CC54BFEB18D}"/>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893744" y="2009840"/>
            <a:ext cx="5355771" cy="2852057"/>
          </a:xfrm>
          <a:prstGeom prst="rect">
            <a:avLst/>
          </a:prstGeom>
        </p:spPr>
      </p:pic>
    </p:spTree>
    <p:extLst>
      <p:ext uri="{BB962C8B-B14F-4D97-AF65-F5344CB8AC3E}">
        <p14:creationId xmlns:p14="http://schemas.microsoft.com/office/powerpoint/2010/main" val="3601039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6" name="Titre 1">
            <a:extLst>
              <a:ext uri="{FF2B5EF4-FFF2-40B4-BE49-F238E27FC236}">
                <a16:creationId xmlns:a16="http://schemas.microsoft.com/office/drawing/2014/main" id="{58B413C8-215A-4E92-A8CA-B299F63B87C0}"/>
              </a:ext>
            </a:extLst>
          </p:cNvPr>
          <p:cNvSpPr>
            <a:spLocks noGrp="1"/>
          </p:cNvSpPr>
          <p:nvPr>
            <p:ph type="title"/>
          </p:nvPr>
        </p:nvSpPr>
        <p:spPr>
          <a:xfrm>
            <a:off x="381000" y="355847"/>
            <a:ext cx="8381260" cy="1054394"/>
          </a:xfrm>
        </p:spPr>
        <p:txBody>
          <a:bodyPr>
            <a:normAutofit/>
          </a:bodyPr>
          <a:lstStyle/>
          <a:p>
            <a:pPr algn="ctr"/>
            <a:r>
              <a:rPr lang="fr-FR" dirty="0">
                <a:solidFill>
                  <a:schemeClr val="bg1"/>
                </a:solidFill>
                <a:latin typeface="Franklin Gothic Book" panose="020B0503020102020204" pitchFamily="34" charset="0"/>
              </a:rPr>
              <a:t>C – Questions (3)</a:t>
            </a:r>
          </a:p>
        </p:txBody>
      </p:sp>
      <p:sp>
        <p:nvSpPr>
          <p:cNvPr id="9" name="Footer Placeholder 3">
            <a:extLst>
              <a:ext uri="{FF2B5EF4-FFF2-40B4-BE49-F238E27FC236}">
                <a16:creationId xmlns:a16="http://schemas.microsoft.com/office/drawing/2014/main" id="{D9030681-5542-4422-9E6D-37630EBB2768}"/>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
        <p:nvSpPr>
          <p:cNvPr id="2" name="ZoneTexte 1">
            <a:extLst>
              <a:ext uri="{FF2B5EF4-FFF2-40B4-BE49-F238E27FC236}">
                <a16:creationId xmlns:a16="http://schemas.microsoft.com/office/drawing/2014/main" id="{9538259B-9B19-42C5-88EF-0131A411214B}"/>
              </a:ext>
            </a:extLst>
          </p:cNvPr>
          <p:cNvSpPr txBox="1"/>
          <p:nvPr/>
        </p:nvSpPr>
        <p:spPr>
          <a:xfrm>
            <a:off x="1542680" y="5058136"/>
            <a:ext cx="6203343" cy="461665"/>
          </a:xfrm>
          <a:prstGeom prst="rect">
            <a:avLst/>
          </a:prstGeom>
          <a:noFill/>
        </p:spPr>
        <p:txBody>
          <a:bodyPr wrap="square" rtlCol="0">
            <a:spAutoFit/>
          </a:bodyPr>
          <a:lstStyle/>
          <a:p>
            <a:pPr algn="ctr"/>
            <a:r>
              <a:rPr lang="fr-FR" sz="2400" dirty="0" err="1">
                <a:solidFill>
                  <a:srgbClr val="002060"/>
                </a:solidFill>
                <a:latin typeface="Corbel" panose="020B0503020204020204" pitchFamily="34" charset="0"/>
              </a:rPr>
              <a:t>Coût </a:t>
            </a:r>
            <a:r>
              <a:rPr lang="fr-FR" sz="2400" dirty="0">
                <a:solidFill>
                  <a:srgbClr val="002060"/>
                </a:solidFill>
                <a:latin typeface="Corbel" panose="020B0503020204020204" pitchFamily="34" charset="0"/>
              </a:rPr>
              <a:t>et </a:t>
            </a:r>
            <a:r>
              <a:rPr lang="fr-FR" sz="2400" dirty="0" err="1">
                <a:solidFill>
                  <a:srgbClr val="002060"/>
                </a:solidFill>
                <a:latin typeface="Corbel" panose="020B0503020204020204" pitchFamily="34" charset="0"/>
              </a:rPr>
              <a:t>assurance payés </a:t>
            </a:r>
            <a:r>
              <a:rPr lang="fr-FR" sz="2400" dirty="0">
                <a:solidFill>
                  <a:srgbClr val="002060"/>
                </a:solidFill>
                <a:latin typeface="Corbel" panose="020B0503020204020204" pitchFamily="34" charset="0"/>
              </a:rPr>
              <a:t>jusqu'à (CIP)</a:t>
            </a:r>
          </a:p>
        </p:txBody>
      </p:sp>
      <p:pic>
        <p:nvPicPr>
          <p:cNvPr id="10" name="Espace réservé du contenu 9">
            <a:extLst>
              <a:ext uri="{FF2B5EF4-FFF2-40B4-BE49-F238E27FC236}">
                <a16:creationId xmlns:a16="http://schemas.microsoft.com/office/drawing/2014/main" id="{4ADA5B01-62A8-440B-AC4A-9CC54BFEB18D}"/>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893744" y="2009840"/>
            <a:ext cx="5355771" cy="2852057"/>
          </a:xfrm>
          <a:prstGeom prst="rect">
            <a:avLst/>
          </a:prstGeom>
        </p:spPr>
      </p:pic>
    </p:spTree>
    <p:extLst>
      <p:ext uri="{BB962C8B-B14F-4D97-AF65-F5344CB8AC3E}">
        <p14:creationId xmlns:p14="http://schemas.microsoft.com/office/powerpoint/2010/main" val="3852431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219BB09F-36B3-42A9-A494-324D0B9D2EF0}"/>
              </a:ext>
            </a:extLst>
          </p:cNvPr>
          <p:cNvSpPr>
            <a:spLocks noGrp="1"/>
          </p:cNvSpPr>
          <p:nvPr>
            <p:ph idx="1"/>
          </p:nvPr>
        </p:nvSpPr>
        <p:spPr>
          <a:xfrm>
            <a:off x="380999" y="1719071"/>
            <a:ext cx="8407893" cy="4407408"/>
          </a:xfrm>
        </p:spPr>
        <p:txBody>
          <a:bodyPr>
            <a:normAutofit/>
          </a:bodyPr>
          <a:lstStyle/>
          <a:p>
            <a:pPr marL="0" indent="0">
              <a:buNone/>
            </a:pPr>
            <a:r>
              <a:rPr lang="en-US" dirty="0"/>
              <a:t>A – Obligation de facturation</a:t>
            </a:r>
          </a:p>
          <a:p>
            <a:pPr marL="0" indent="0">
              <a:buNone/>
            </a:pPr>
            <a:r>
              <a:rPr lang="en-US" dirty="0"/>
              <a:t>B – Liberté de fixer les conditions de paiement</a:t>
            </a:r>
          </a:p>
          <a:p>
            <a:pPr marL="0" indent="0">
              <a:buNone/>
            </a:pPr>
            <a:r>
              <a:rPr lang="en-US" dirty="0"/>
              <a:t>C – Crédit documentaire</a:t>
            </a:r>
          </a:p>
        </p:txBody>
      </p:sp>
      <p:sp>
        <p:nvSpPr>
          <p:cNvPr id="6" name="Titre 1">
            <a:extLst>
              <a:ext uri="{FF2B5EF4-FFF2-40B4-BE49-F238E27FC236}">
                <a16:creationId xmlns:a16="http://schemas.microsoft.com/office/drawing/2014/main" id="{ACAEE69E-5B0E-4BE2-8B4B-5C24F82D78BB}"/>
              </a:ext>
            </a:extLst>
          </p:cNvPr>
          <p:cNvSpPr>
            <a:spLocks noGrp="1"/>
          </p:cNvSpPr>
          <p:nvPr>
            <p:ph type="title"/>
          </p:nvPr>
        </p:nvSpPr>
        <p:spPr>
          <a:xfrm>
            <a:off x="381000" y="355847"/>
            <a:ext cx="8381260" cy="1054394"/>
          </a:xfrm>
        </p:spPr>
        <p:txBody>
          <a:bodyPr>
            <a:normAutofit/>
          </a:bodyPr>
          <a:lstStyle/>
          <a:p>
            <a:pPr algn="ctr"/>
            <a:r>
              <a:rPr lang="fr-FR" dirty="0">
                <a:solidFill>
                  <a:schemeClr val="bg1"/>
                </a:solidFill>
                <a:latin typeface="Franklin Gothic Book" panose="020B0503020102020204" pitchFamily="34" charset="0"/>
              </a:rPr>
              <a:t>II – Modes de </a:t>
            </a:r>
            <a:r>
              <a:rPr lang="fr-FR" dirty="0" err="1">
                <a:solidFill>
                  <a:schemeClr val="bg1"/>
                </a:solidFill>
                <a:latin typeface="Franklin Gothic Book" panose="020B0503020102020204" pitchFamily="34" charset="0"/>
              </a:rPr>
              <a:t>paiement</a:t>
            </a:r>
            <a:endParaRPr lang="fr-FR"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ABD8FEB0-BAB1-4CCD-BDC7-14EBC78B0FF5}"/>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2482204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219BB09F-36B3-42A9-A494-324D0B9D2EF0}"/>
              </a:ext>
            </a:extLst>
          </p:cNvPr>
          <p:cNvSpPr>
            <a:spLocks noGrp="1"/>
          </p:cNvSpPr>
          <p:nvPr>
            <p:ph idx="1"/>
          </p:nvPr>
        </p:nvSpPr>
        <p:spPr>
          <a:xfrm>
            <a:off x="380999" y="1719071"/>
            <a:ext cx="8407893" cy="4407408"/>
          </a:xfrm>
        </p:spPr>
        <p:txBody>
          <a:bodyPr>
            <a:normAutofit/>
          </a:bodyPr>
          <a:lstStyle/>
          <a:p>
            <a:pPr marL="0" indent="0">
              <a:buNone/>
            </a:pPr>
            <a:r>
              <a:rPr lang="en-US" sz="2200" dirty="0"/>
              <a:t>En droit français, le Code de commerce impose l'obligation d'émettre une facture (article L.441-9).</a:t>
            </a:r>
          </a:p>
          <a:p>
            <a:pPr marL="0" indent="0">
              <a:buNone/>
            </a:pPr>
            <a:r>
              <a:rPr lang="en-US" sz="2200" dirty="0"/>
              <a:t>En cas de vente de biens ou de services à titre professionnel, le vendeur doit établir une facture commerciale. Il est tenu d'envoyer cette facture à l'acheteur au moment de la livraison ou de la prestation, et l'acheteur doit la réclamer.</a:t>
            </a:r>
          </a:p>
          <a:p>
            <a:pPr marL="0" indent="0">
              <a:buNone/>
            </a:pPr>
            <a:r>
              <a:rPr lang="en-US" sz="2200" dirty="0"/>
              <a:t>La facture doit être établie en double exemplaire lorsqu'elle est émise sur support papier. Le vendeur et l'acheteur doivent chacun en conserver un exemplaire.</a:t>
            </a:r>
          </a:p>
        </p:txBody>
      </p:sp>
      <p:sp>
        <p:nvSpPr>
          <p:cNvPr id="6" name="Titre 1">
            <a:extLst>
              <a:ext uri="{FF2B5EF4-FFF2-40B4-BE49-F238E27FC236}">
                <a16:creationId xmlns:a16="http://schemas.microsoft.com/office/drawing/2014/main" id="{ACAEE69E-5B0E-4BE2-8B4B-5C24F82D78BB}"/>
              </a:ext>
            </a:extLst>
          </p:cNvPr>
          <p:cNvSpPr>
            <a:spLocks noGrp="1"/>
          </p:cNvSpPr>
          <p:nvPr>
            <p:ph type="title"/>
          </p:nvPr>
        </p:nvSpPr>
        <p:spPr>
          <a:xfrm>
            <a:off x="381000" y="355847"/>
            <a:ext cx="8381260" cy="1054394"/>
          </a:xfrm>
        </p:spPr>
        <p:txBody>
          <a:bodyPr>
            <a:normAutofit/>
          </a:bodyPr>
          <a:lstStyle/>
          <a:p>
            <a:pPr algn="ctr"/>
            <a:r>
              <a:rPr lang="fr-FR" dirty="0">
                <a:solidFill>
                  <a:schemeClr val="bg1"/>
                </a:solidFill>
                <a:latin typeface="Franklin Gothic Book" panose="020B0503020102020204" pitchFamily="34" charset="0"/>
              </a:rPr>
              <a:t>A – Obligation </a:t>
            </a:r>
            <a:r>
              <a:rPr lang="fr-FR" dirty="0" err="1">
                <a:solidFill>
                  <a:schemeClr val="bg1"/>
                </a:solidFill>
                <a:latin typeface="Franklin Gothic Book" panose="020B0503020102020204" pitchFamily="34" charset="0"/>
              </a:rPr>
              <a:t>de facturation</a:t>
            </a:r>
          </a:p>
        </p:txBody>
      </p:sp>
      <p:sp>
        <p:nvSpPr>
          <p:cNvPr id="9" name="Footer Placeholder 3">
            <a:extLst>
              <a:ext uri="{FF2B5EF4-FFF2-40B4-BE49-F238E27FC236}">
                <a16:creationId xmlns:a16="http://schemas.microsoft.com/office/drawing/2014/main" id="{ABD8FEB0-BAB1-4CCD-BDC7-14EBC78B0FF5}"/>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212697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591629E4-EB29-46FB-8E8B-ECB3A001667D}"/>
              </a:ext>
            </a:extLst>
          </p:cNvPr>
          <p:cNvSpPr>
            <a:spLocks noGrp="1"/>
          </p:cNvSpPr>
          <p:nvPr>
            <p:ph idx="1"/>
          </p:nvPr>
        </p:nvSpPr>
        <p:spPr>
          <a:xfrm>
            <a:off x="380999" y="1719071"/>
            <a:ext cx="8407893" cy="4407408"/>
          </a:xfrm>
        </p:spPr>
        <p:txBody>
          <a:bodyPr>
            <a:normAutofit/>
          </a:bodyPr>
          <a:lstStyle/>
          <a:p>
            <a:pPr marL="0" indent="0">
              <a:buNone/>
            </a:pPr>
            <a:r>
              <a:rPr lang="en-US" sz="2400" dirty="0"/>
              <a:t>Ventes internationales : les parties sont libres de choisir les modalités de paiement. Cette liberté comporte également un risque : les parties doivent communiquer clairement et ne rien oublier !</a:t>
            </a:r>
          </a:p>
          <a:p>
            <a:pPr marL="0" indent="0">
              <a:buNone/>
            </a:pPr>
            <a:endParaRPr lang="en-US" sz="2400" dirty="0"/>
          </a:p>
          <a:p>
            <a:pPr marL="0" indent="0">
              <a:buNone/>
            </a:pPr>
            <a:r>
              <a:rPr lang="en-US" sz="2400" dirty="0"/>
              <a:t>Quels aspects du paiement les parties doivent-elles convenir ?</a:t>
            </a:r>
          </a:p>
        </p:txBody>
      </p:sp>
      <p:sp>
        <p:nvSpPr>
          <p:cNvPr id="6" name="Titre 1">
            <a:extLst>
              <a:ext uri="{FF2B5EF4-FFF2-40B4-BE49-F238E27FC236}">
                <a16:creationId xmlns:a16="http://schemas.microsoft.com/office/drawing/2014/main" id="{816768DE-7738-4CCA-A2B2-31D5B70547D9}"/>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B – Liberté de fixer </a:t>
            </a:r>
            <a:r>
              <a:rPr lang="fr-FR" dirty="0" err="1">
                <a:solidFill>
                  <a:schemeClr val="bg1"/>
                </a:solidFill>
                <a:latin typeface="Franklin Gothic Book" panose="020B0503020102020204" pitchFamily="34" charset="0"/>
              </a:rPr>
              <a:t>les conditions de paiement</a:t>
            </a:r>
            <a:endParaRPr lang="fr-FR"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82FCC57D-281E-466D-A2E5-A5A477182CF1}"/>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2219556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9F33923A-15C2-4771-93A9-6D0014A97CF7}"/>
              </a:ext>
            </a:extLst>
          </p:cNvPr>
          <p:cNvSpPr>
            <a:spLocks noGrp="1"/>
          </p:cNvSpPr>
          <p:nvPr>
            <p:ph idx="1"/>
          </p:nvPr>
        </p:nvSpPr>
        <p:spPr>
          <a:xfrm>
            <a:off x="380999" y="1719071"/>
            <a:ext cx="8407893" cy="4407408"/>
          </a:xfrm>
        </p:spPr>
        <p:txBody>
          <a:bodyPr>
            <a:normAutofit/>
          </a:bodyPr>
          <a:lstStyle/>
          <a:p>
            <a:pPr>
              <a:buFontTx/>
              <a:buNone/>
            </a:pPr>
            <a:endParaRPr lang="fr-FR" dirty="0"/>
          </a:p>
          <a:p>
            <a:pPr>
              <a:buFontTx/>
              <a:buNone/>
            </a:pPr>
            <a:endParaRPr lang="fr-FR" dirty="0"/>
          </a:p>
        </p:txBody>
      </p:sp>
      <p:sp>
        <p:nvSpPr>
          <p:cNvPr id="6" name="Titre 1">
            <a:extLst>
              <a:ext uri="{FF2B5EF4-FFF2-40B4-BE49-F238E27FC236}">
                <a16:creationId xmlns:a16="http://schemas.microsoft.com/office/drawing/2014/main" id="{A2CC4CBB-153B-4D63-A526-F7EE24C15695}"/>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B – Liberté de fixer </a:t>
            </a:r>
            <a:r>
              <a:rPr lang="fr-FR" dirty="0" err="1">
                <a:solidFill>
                  <a:schemeClr val="bg1"/>
                </a:solidFill>
                <a:latin typeface="Franklin Gothic Book" panose="020B0503020102020204" pitchFamily="34" charset="0"/>
              </a:rPr>
              <a:t>les conditions de paiement</a:t>
            </a:r>
            <a:endParaRPr lang="fr-FR"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62E6FF94-34C3-4C6F-8717-D8C069134DE3}"/>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
        <p:nvSpPr>
          <p:cNvPr id="2" name="ZoneTexte 1">
            <a:extLst>
              <a:ext uri="{FF2B5EF4-FFF2-40B4-BE49-F238E27FC236}">
                <a16:creationId xmlns:a16="http://schemas.microsoft.com/office/drawing/2014/main" id="{2FE51130-16B6-4A83-869D-E75E161569D3}"/>
              </a:ext>
            </a:extLst>
          </p:cNvPr>
          <p:cNvSpPr txBox="1"/>
          <p:nvPr/>
        </p:nvSpPr>
        <p:spPr>
          <a:xfrm>
            <a:off x="201165" y="1626577"/>
            <a:ext cx="8775781" cy="3970318"/>
          </a:xfrm>
          <a:prstGeom prst="rect">
            <a:avLst/>
          </a:prstGeom>
          <a:noFill/>
        </p:spPr>
        <p:txBody>
          <a:bodyPr wrap="square" rtlCol="0">
            <a:spAutoFit/>
          </a:bodyPr>
          <a:lstStyle/>
          <a:p>
            <a:pPr algn="just"/>
            <a:r>
              <a:rPr lang="en-US" dirty="0">
                <a:solidFill>
                  <a:srgbClr val="002060"/>
                </a:solidFill>
                <a:latin typeface="Corbel" panose="020B0503020204020204" pitchFamily="34" charset="0"/>
              </a:rPr>
              <a:t>Conditions de paiement à déterminer :</a:t>
            </a:r>
          </a:p>
          <a:p>
            <a:pPr algn="just"/>
            <a:endParaRPr lang="en-US" dirty="0">
              <a:solidFill>
                <a:srgbClr val="002060"/>
              </a:solidFill>
              <a:latin typeface="Corbel" panose="020B0503020204020204" pitchFamily="34" charset="0"/>
            </a:endParaRPr>
          </a:p>
          <a:p>
            <a:pPr marL="342900" indent="-342900" algn="just">
              <a:buFontTx/>
              <a:buChar char="-"/>
            </a:pPr>
            <a:r>
              <a:rPr lang="en-US" dirty="0">
                <a:solidFill>
                  <a:srgbClr val="002060"/>
                </a:solidFill>
                <a:latin typeface="Corbel" panose="020B0503020204020204" pitchFamily="34" charset="0"/>
              </a:rPr>
              <a:t>la </a:t>
            </a:r>
            <a:r>
              <a:rPr lang="en-US" b="1" u="sng" dirty="0">
                <a:solidFill>
                  <a:srgbClr val="002060"/>
                </a:solidFill>
                <a:latin typeface="Corbel" panose="020B0503020204020204" pitchFamily="34" charset="0"/>
              </a:rPr>
              <a:t>devise </a:t>
            </a:r>
            <a:r>
              <a:rPr lang="en-US" dirty="0">
                <a:solidFill>
                  <a:srgbClr val="002060"/>
                </a:solidFill>
                <a:latin typeface="Corbel" panose="020B0503020204020204" pitchFamily="34" charset="0"/>
              </a:rPr>
              <a:t>du contrat</a:t>
            </a:r>
          </a:p>
          <a:p>
            <a:pPr marL="342900" indent="-342900" algn="just">
              <a:buFontTx/>
              <a:buChar char="-"/>
            </a:pPr>
            <a:r>
              <a:rPr lang="en-US" dirty="0">
                <a:solidFill>
                  <a:srgbClr val="002060"/>
                </a:solidFill>
                <a:latin typeface="Corbel" panose="020B0503020204020204" pitchFamily="34" charset="0"/>
              </a:rPr>
              <a:t>le </a:t>
            </a:r>
            <a:r>
              <a:rPr lang="en-US" b="1" u="sng" dirty="0">
                <a:solidFill>
                  <a:srgbClr val="002060"/>
                </a:solidFill>
                <a:latin typeface="Corbel" panose="020B0503020204020204" pitchFamily="34" charset="0"/>
              </a:rPr>
              <a:t>lieu </a:t>
            </a:r>
            <a:r>
              <a:rPr lang="en-US" dirty="0">
                <a:solidFill>
                  <a:srgbClr val="002060"/>
                </a:solidFill>
                <a:latin typeface="Corbel" panose="020B0503020204020204" pitchFamily="34" charset="0"/>
              </a:rPr>
              <a:t>de paiement. En France, le lieu de paiement est normalement le pays de la banque du vendeur, mais il est courant que ce lieu soit situé à l'étranger (c'est notamment le cas pour les crédits documentaires qui peuvent être effectués à la caisse de la banque émettrice ou à la caisse d'une banque notificatrice située à l'étranger</a:t>
            </a:r>
          </a:p>
          <a:p>
            <a:pPr marL="342900" indent="-342900" algn="just">
              <a:buFontTx/>
              <a:buChar char="-"/>
            </a:pPr>
            <a:r>
              <a:rPr lang="en-US" dirty="0">
                <a:solidFill>
                  <a:srgbClr val="002060"/>
                </a:solidFill>
                <a:latin typeface="Corbel" panose="020B0503020204020204" pitchFamily="34" charset="0"/>
              </a:rPr>
              <a:t>la </a:t>
            </a:r>
            <a:r>
              <a:rPr lang="en-US" b="1" u="sng" dirty="0">
                <a:solidFill>
                  <a:srgbClr val="002060"/>
                </a:solidFill>
                <a:latin typeface="Corbel" panose="020B0503020204020204" pitchFamily="34" charset="0"/>
              </a:rPr>
              <a:t>date </a:t>
            </a:r>
            <a:r>
              <a:rPr lang="en-US" dirty="0">
                <a:solidFill>
                  <a:srgbClr val="002060"/>
                </a:solidFill>
                <a:latin typeface="Corbel" panose="020B0503020204020204" pitchFamily="34" charset="0"/>
              </a:rPr>
              <a:t>de paiement</a:t>
            </a:r>
          </a:p>
          <a:p>
            <a:pPr marL="285750" indent="-285750" algn="just">
              <a:buFontTx/>
              <a:buChar char="-"/>
            </a:pPr>
            <a:r>
              <a:rPr lang="en-US" dirty="0">
                <a:solidFill>
                  <a:srgbClr val="002060"/>
                </a:solidFill>
                <a:latin typeface="Corbel" panose="020B0503020204020204" pitchFamily="34" charset="0"/>
              </a:rPr>
              <a:t>le </a:t>
            </a:r>
            <a:r>
              <a:rPr lang="en-US" b="1" u="sng" dirty="0">
                <a:solidFill>
                  <a:srgbClr val="002060"/>
                </a:solidFill>
                <a:latin typeface="Corbel" panose="020B0503020204020204" pitchFamily="34" charset="0"/>
              </a:rPr>
              <a:t>mode </a:t>
            </a:r>
            <a:r>
              <a:rPr lang="en-US" dirty="0">
                <a:solidFill>
                  <a:srgbClr val="002060"/>
                </a:solidFill>
                <a:latin typeface="Corbel" panose="020B0503020204020204" pitchFamily="34" charset="0"/>
              </a:rPr>
              <a:t>de paiement : l'envoi d'une simple facture peut suffire à garantir le paiement à la date convenue, si les parties se connaissent bien et se font confiance.</a:t>
            </a:r>
          </a:p>
          <a:p>
            <a:pPr algn="just"/>
            <a:endParaRPr lang="en-US" dirty="0">
              <a:solidFill>
                <a:srgbClr val="002060"/>
              </a:solidFill>
              <a:latin typeface="Corbel" panose="020B0503020204020204" pitchFamily="34" charset="0"/>
            </a:endParaRPr>
          </a:p>
          <a:p>
            <a:pPr algn="just"/>
            <a:endParaRPr lang="en-US" dirty="0">
              <a:solidFill>
                <a:srgbClr val="002060"/>
              </a:solidFill>
              <a:latin typeface="Corbel" panose="020B0503020204020204" pitchFamily="34" charset="0"/>
            </a:endParaRPr>
          </a:p>
          <a:p>
            <a:pPr marL="285750" indent="-285750" algn="just">
              <a:buFontTx/>
              <a:buChar char="-"/>
            </a:pPr>
            <a:r>
              <a:rPr lang="en-US" dirty="0">
                <a:solidFill>
                  <a:srgbClr val="002060"/>
                </a:solidFill>
                <a:latin typeface="Corbel" panose="020B0503020204020204" pitchFamily="34" charset="0"/>
              </a:rPr>
              <a:t>Soyez vigilant dans les pays où des sanctions sont appliquées.</a:t>
            </a:r>
            <a:endParaRPr lang="fr-FR" dirty="0">
              <a:solidFill>
                <a:srgbClr val="002060"/>
              </a:solidFill>
              <a:latin typeface="Corbel" panose="020B0503020204020204" pitchFamily="34" charset="0"/>
            </a:endParaRPr>
          </a:p>
        </p:txBody>
      </p:sp>
    </p:spTree>
    <p:extLst>
      <p:ext uri="{BB962C8B-B14F-4D97-AF65-F5344CB8AC3E}">
        <p14:creationId xmlns:p14="http://schemas.microsoft.com/office/powerpoint/2010/main" val="1246283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BAA8B9D9-BF23-4F00-A57B-2BA873F72ED8}"/>
              </a:ext>
            </a:extLst>
          </p:cNvPr>
          <p:cNvSpPr>
            <a:spLocks noGrp="1"/>
          </p:cNvSpPr>
          <p:nvPr>
            <p:ph idx="1"/>
          </p:nvPr>
        </p:nvSpPr>
        <p:spPr>
          <a:xfrm>
            <a:off x="380999" y="1719071"/>
            <a:ext cx="8407893" cy="4407408"/>
          </a:xfrm>
        </p:spPr>
        <p:txBody>
          <a:bodyPr>
            <a:normAutofit/>
          </a:bodyPr>
          <a:lstStyle/>
          <a:p>
            <a:pPr>
              <a:buFontTx/>
              <a:buNone/>
              <a:defRPr/>
            </a:pPr>
            <a:r>
              <a:rPr lang="en-US" sz="2400" dirty="0"/>
              <a:t>Toutefois, si l'exportateur a besoin d'une garantie de paiement, les parties peuvent recourir à un crédit documentaire.</a:t>
            </a:r>
            <a:endParaRPr lang="fr-FR" sz="2400" dirty="0"/>
          </a:p>
        </p:txBody>
      </p:sp>
      <p:sp>
        <p:nvSpPr>
          <p:cNvPr id="6" name="Titre 1">
            <a:extLst>
              <a:ext uri="{FF2B5EF4-FFF2-40B4-BE49-F238E27FC236}">
                <a16:creationId xmlns:a16="http://schemas.microsoft.com/office/drawing/2014/main" id="{0774B071-07E4-41C5-810E-94A0E560B7BC}"/>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B – Liberté de fixer </a:t>
            </a:r>
            <a:r>
              <a:rPr lang="fr-FR" dirty="0" err="1">
                <a:solidFill>
                  <a:schemeClr val="bg1"/>
                </a:solidFill>
                <a:latin typeface="Franklin Gothic Book" panose="020B0503020102020204" pitchFamily="34" charset="0"/>
              </a:rPr>
              <a:t>les conditions de paiement</a:t>
            </a:r>
            <a:endParaRPr lang="fr-FR"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97D6BD7E-9470-4667-8B38-59B9E58373FE}"/>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2600721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BAA8B9D9-BF23-4F00-A57B-2BA873F72ED8}"/>
              </a:ext>
            </a:extLst>
          </p:cNvPr>
          <p:cNvSpPr>
            <a:spLocks noGrp="1"/>
          </p:cNvSpPr>
          <p:nvPr>
            <p:ph idx="1"/>
          </p:nvPr>
        </p:nvSpPr>
        <p:spPr>
          <a:xfrm>
            <a:off x="380999" y="1719071"/>
            <a:ext cx="8407893" cy="4407408"/>
          </a:xfrm>
        </p:spPr>
        <p:txBody>
          <a:bodyPr>
            <a:normAutofit/>
          </a:bodyPr>
          <a:lstStyle/>
          <a:p>
            <a:pPr algn="ctr">
              <a:buFontTx/>
              <a:buNone/>
              <a:defRPr/>
            </a:pPr>
            <a:r>
              <a:rPr lang="fr-FR" dirty="0" err="1"/>
              <a:t>Qu'est-ce </a:t>
            </a:r>
            <a:r>
              <a:rPr lang="fr-FR" dirty="0"/>
              <a:t>qu'un </a:t>
            </a:r>
            <a:r>
              <a:rPr lang="fr-FR" dirty="0" err="1"/>
              <a:t>crédit documentaire </a:t>
            </a:r>
            <a:r>
              <a:rPr lang="fr-FR" dirty="0"/>
              <a:t>?</a:t>
            </a:r>
          </a:p>
        </p:txBody>
      </p:sp>
      <p:sp>
        <p:nvSpPr>
          <p:cNvPr id="6" name="Titre 1">
            <a:extLst>
              <a:ext uri="{FF2B5EF4-FFF2-40B4-BE49-F238E27FC236}">
                <a16:creationId xmlns:a16="http://schemas.microsoft.com/office/drawing/2014/main" id="{0774B071-07E4-41C5-810E-94A0E560B7BC}"/>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C – </a:t>
            </a:r>
            <a:r>
              <a:rPr lang="fr-FR" dirty="0" err="1">
                <a:solidFill>
                  <a:schemeClr val="bg1"/>
                </a:solidFill>
                <a:latin typeface="Franklin Gothic Book" panose="020B0503020102020204" pitchFamily="34" charset="0"/>
              </a:rPr>
              <a:t>Crédit documentaire</a:t>
            </a:r>
            <a:endParaRPr lang="fr-FR"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97D6BD7E-9470-4667-8B38-59B9E58373FE}"/>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1924114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BAA8B9D9-BF23-4F00-A57B-2BA873F72ED8}"/>
              </a:ext>
            </a:extLst>
          </p:cNvPr>
          <p:cNvSpPr>
            <a:spLocks noGrp="1"/>
          </p:cNvSpPr>
          <p:nvPr>
            <p:ph idx="1"/>
          </p:nvPr>
        </p:nvSpPr>
        <p:spPr>
          <a:xfrm>
            <a:off x="380999" y="1719071"/>
            <a:ext cx="8407893" cy="4407408"/>
          </a:xfrm>
        </p:spPr>
        <p:txBody>
          <a:bodyPr>
            <a:normAutofit/>
          </a:bodyPr>
          <a:lstStyle/>
          <a:p>
            <a:pPr>
              <a:buFontTx/>
              <a:buNone/>
              <a:defRPr/>
            </a:pPr>
            <a:r>
              <a:rPr lang="en-US" sz="2200" b="1" u="sng" dirty="0"/>
              <a:t>Crédit documentaire :</a:t>
            </a:r>
          </a:p>
          <a:p>
            <a:pPr>
              <a:buFontTx/>
              <a:buNone/>
              <a:defRPr/>
            </a:pPr>
            <a:r>
              <a:rPr lang="en-US" sz="2200" dirty="0"/>
              <a:t>« </a:t>
            </a:r>
            <a:r>
              <a:rPr lang="en-US" sz="2200" i="1" dirty="0"/>
              <a:t>Dans le commerce international, accord par lequel une banque d'un pays importateur s'engage à payer les marchandises exportées lorsqu'elle reçoit les documents attestant que celles-ci ont été expédiées</a:t>
            </a:r>
            <a:r>
              <a:rPr lang="en-US" sz="2200" dirty="0"/>
              <a:t>. »</a:t>
            </a:r>
          </a:p>
          <a:p>
            <a:pPr algn="r">
              <a:buFontTx/>
              <a:buNone/>
              <a:defRPr/>
            </a:pPr>
            <a:r>
              <a:rPr lang="en-US" sz="2200" dirty="0"/>
              <a:t>Dictionnaire Cambridge</a:t>
            </a:r>
          </a:p>
        </p:txBody>
      </p:sp>
      <p:sp>
        <p:nvSpPr>
          <p:cNvPr id="6" name="Titre 1">
            <a:extLst>
              <a:ext uri="{FF2B5EF4-FFF2-40B4-BE49-F238E27FC236}">
                <a16:creationId xmlns:a16="http://schemas.microsoft.com/office/drawing/2014/main" id="{0774B071-07E4-41C5-810E-94A0E560B7BC}"/>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C – </a:t>
            </a:r>
            <a:r>
              <a:rPr lang="fr-FR" dirty="0" err="1">
                <a:solidFill>
                  <a:schemeClr val="bg1"/>
                </a:solidFill>
                <a:latin typeface="Franklin Gothic Book" panose="020B0503020102020204" pitchFamily="34" charset="0"/>
              </a:rPr>
              <a:t>Crédit documentaire</a:t>
            </a:r>
            <a:endParaRPr lang="fr-FR"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97D6BD7E-9470-4667-8B38-59B9E58373FE}"/>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1414406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BAA8B9D9-BF23-4F00-A57B-2BA873F72ED8}"/>
              </a:ext>
            </a:extLst>
          </p:cNvPr>
          <p:cNvSpPr>
            <a:spLocks noGrp="1"/>
          </p:cNvSpPr>
          <p:nvPr>
            <p:ph idx="1"/>
          </p:nvPr>
        </p:nvSpPr>
        <p:spPr>
          <a:xfrm>
            <a:off x="380999" y="1719071"/>
            <a:ext cx="8407893" cy="4407408"/>
          </a:xfrm>
        </p:spPr>
        <p:txBody>
          <a:bodyPr>
            <a:normAutofit/>
          </a:bodyPr>
          <a:lstStyle/>
          <a:p>
            <a:pPr>
              <a:buFontTx/>
              <a:buNone/>
              <a:defRPr/>
            </a:pPr>
            <a:r>
              <a:rPr lang="fr-FR" i="1" dirty="0"/>
              <a:t>« Crédit »</a:t>
            </a:r>
            <a:endParaRPr lang="fr-FR" dirty="0"/>
          </a:p>
          <a:p>
            <a:pPr>
              <a:buFontTx/>
              <a:buNone/>
              <a:defRPr/>
            </a:pPr>
            <a:r>
              <a:rPr lang="en-US" sz="2200" dirty="0"/>
              <a:t>À la demande de l'acheteur, la banque de l'acheteur s'engage à payer le vendeur. La banque de l'acheteur accorde ainsi un crédit à l'acheteur...</a:t>
            </a:r>
          </a:p>
          <a:p>
            <a:pPr>
              <a:buFontTx/>
              <a:buNone/>
              <a:defRPr/>
            </a:pPr>
            <a:r>
              <a:rPr lang="fr-FR" i="1" dirty="0"/>
              <a:t>« Documentaire »</a:t>
            </a:r>
          </a:p>
          <a:p>
            <a:pPr>
              <a:buFontTx/>
              <a:buNone/>
              <a:defRPr/>
            </a:pPr>
            <a:r>
              <a:rPr lang="fr-FR" sz="2200" i="1" dirty="0"/>
              <a:t>... </a:t>
            </a:r>
            <a:r>
              <a:rPr lang="en-US" sz="2200" i="1" dirty="0"/>
              <a:t>mais la banque de l'acheteur ne paiera le vendeur que si celui-ci présente des documents conformes aux stipulations de l'ouverture du crédit.</a:t>
            </a:r>
            <a:endParaRPr lang="fr-FR" sz="2200" dirty="0"/>
          </a:p>
        </p:txBody>
      </p:sp>
      <p:sp>
        <p:nvSpPr>
          <p:cNvPr id="6" name="Titre 1">
            <a:extLst>
              <a:ext uri="{FF2B5EF4-FFF2-40B4-BE49-F238E27FC236}">
                <a16:creationId xmlns:a16="http://schemas.microsoft.com/office/drawing/2014/main" id="{0774B071-07E4-41C5-810E-94A0E560B7BC}"/>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C – </a:t>
            </a:r>
            <a:r>
              <a:rPr lang="fr-FR" dirty="0" err="1">
                <a:solidFill>
                  <a:schemeClr val="bg1"/>
                </a:solidFill>
                <a:latin typeface="Franklin Gothic Book" panose="020B0503020102020204" pitchFamily="34" charset="0"/>
              </a:rPr>
              <a:t>Crédit documentaire</a:t>
            </a:r>
            <a:endParaRPr lang="fr-FR"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97D6BD7E-9470-4667-8B38-59B9E58373FE}"/>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1418695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BAA8B9D9-BF23-4F00-A57B-2BA873F72ED8}"/>
              </a:ext>
            </a:extLst>
          </p:cNvPr>
          <p:cNvSpPr>
            <a:spLocks noGrp="1"/>
          </p:cNvSpPr>
          <p:nvPr>
            <p:ph idx="1"/>
          </p:nvPr>
        </p:nvSpPr>
        <p:spPr>
          <a:xfrm>
            <a:off x="380999" y="1719071"/>
            <a:ext cx="8407893" cy="4407408"/>
          </a:xfrm>
        </p:spPr>
        <p:txBody>
          <a:bodyPr>
            <a:normAutofit/>
          </a:bodyPr>
          <a:lstStyle/>
          <a:p>
            <a:pPr algn="ctr">
              <a:buFontTx/>
              <a:buNone/>
              <a:defRPr/>
            </a:pPr>
            <a:r>
              <a:rPr lang="en-US" dirty="0"/>
              <a:t>Qui sont les acteurs d'un crédit documentaire ?</a:t>
            </a:r>
            <a:endParaRPr lang="fr-FR" dirty="0"/>
          </a:p>
        </p:txBody>
      </p:sp>
      <p:sp>
        <p:nvSpPr>
          <p:cNvPr id="6" name="Titre 1">
            <a:extLst>
              <a:ext uri="{FF2B5EF4-FFF2-40B4-BE49-F238E27FC236}">
                <a16:creationId xmlns:a16="http://schemas.microsoft.com/office/drawing/2014/main" id="{0774B071-07E4-41C5-810E-94A0E560B7BC}"/>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C – </a:t>
            </a:r>
            <a:r>
              <a:rPr lang="fr-FR" dirty="0" err="1">
                <a:solidFill>
                  <a:schemeClr val="bg1"/>
                </a:solidFill>
                <a:latin typeface="Franklin Gothic Book" panose="020B0503020102020204" pitchFamily="34" charset="0"/>
              </a:rPr>
              <a:t>Crédit documentaire</a:t>
            </a:r>
            <a:endParaRPr lang="fr-FR"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97D6BD7E-9470-4667-8B38-59B9E58373FE}"/>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2619122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BAA8B9D9-BF23-4F00-A57B-2BA873F72ED8}"/>
              </a:ext>
            </a:extLst>
          </p:cNvPr>
          <p:cNvSpPr>
            <a:spLocks noGrp="1"/>
          </p:cNvSpPr>
          <p:nvPr>
            <p:ph idx="1"/>
          </p:nvPr>
        </p:nvSpPr>
        <p:spPr>
          <a:xfrm>
            <a:off x="380999" y="1719071"/>
            <a:ext cx="8407893" cy="4407408"/>
          </a:xfrm>
        </p:spPr>
        <p:txBody>
          <a:bodyPr>
            <a:normAutofit/>
          </a:bodyPr>
          <a:lstStyle/>
          <a:p>
            <a:pPr>
              <a:buFontTx/>
              <a:buNone/>
              <a:defRPr/>
            </a:pPr>
            <a:r>
              <a:rPr lang="en-US" dirty="0"/>
              <a:t>- Le demandeur (l'acheteur)</a:t>
            </a:r>
          </a:p>
          <a:p>
            <a:pPr>
              <a:buFontTx/>
              <a:buNone/>
              <a:defRPr/>
            </a:pPr>
            <a:r>
              <a:rPr lang="en-US" dirty="0"/>
              <a:t>- La banque émettrice (la banque de l'acheteur)</a:t>
            </a:r>
          </a:p>
          <a:p>
            <a:pPr>
              <a:buFontTx/>
              <a:buNone/>
              <a:defRPr/>
            </a:pPr>
            <a:r>
              <a:rPr lang="en-US" dirty="0"/>
              <a:t>- Le bénéficiaire (le vendeur)</a:t>
            </a:r>
          </a:p>
          <a:p>
            <a:pPr>
              <a:buFontTx/>
              <a:buNone/>
              <a:defRPr/>
            </a:pPr>
            <a:r>
              <a:rPr lang="en-US" dirty="0"/>
              <a:t>- La banque notificatrice (la banque du vendeur)</a:t>
            </a:r>
            <a:endParaRPr lang="fr-FR" dirty="0"/>
          </a:p>
        </p:txBody>
      </p:sp>
      <p:sp>
        <p:nvSpPr>
          <p:cNvPr id="6" name="Titre 1">
            <a:extLst>
              <a:ext uri="{FF2B5EF4-FFF2-40B4-BE49-F238E27FC236}">
                <a16:creationId xmlns:a16="http://schemas.microsoft.com/office/drawing/2014/main" id="{0774B071-07E4-41C5-810E-94A0E560B7BC}"/>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C – </a:t>
            </a:r>
            <a:r>
              <a:rPr lang="fr-FR" dirty="0" err="1">
                <a:solidFill>
                  <a:schemeClr val="bg1"/>
                </a:solidFill>
                <a:latin typeface="Franklin Gothic Book" panose="020B0503020102020204" pitchFamily="34" charset="0"/>
              </a:rPr>
              <a:t>Crédit documentaire</a:t>
            </a:r>
            <a:endParaRPr lang="fr-FR"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97D6BD7E-9470-4667-8B38-59B9E58373FE}"/>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2882516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pic>
        <p:nvPicPr>
          <p:cNvPr id="3" name="Espace réservé du contenu 2">
            <a:extLst>
              <a:ext uri="{FF2B5EF4-FFF2-40B4-BE49-F238E27FC236}">
                <a16:creationId xmlns:a16="http://schemas.microsoft.com/office/drawing/2014/main" id="{74212FAE-30CE-43B8-B0C9-11B86219AAB0}"/>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492369" y="1648515"/>
            <a:ext cx="7104186" cy="4422531"/>
          </a:xfrm>
        </p:spPr>
      </p:pic>
      <p:sp>
        <p:nvSpPr>
          <p:cNvPr id="6" name="Titre 1">
            <a:extLst>
              <a:ext uri="{FF2B5EF4-FFF2-40B4-BE49-F238E27FC236}">
                <a16:creationId xmlns:a16="http://schemas.microsoft.com/office/drawing/2014/main" id="{0774B071-07E4-41C5-810E-94A0E560B7BC}"/>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C – </a:t>
            </a:r>
            <a:r>
              <a:rPr lang="fr-FR" dirty="0" err="1">
                <a:solidFill>
                  <a:schemeClr val="bg1"/>
                </a:solidFill>
                <a:latin typeface="Franklin Gothic Book" panose="020B0503020102020204" pitchFamily="34" charset="0"/>
              </a:rPr>
              <a:t>Crédit documentaire</a:t>
            </a:r>
            <a:endParaRPr lang="fr-FR"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97D6BD7E-9470-4667-8B38-59B9E58373FE}"/>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
        <p:nvSpPr>
          <p:cNvPr id="8" name="ZoneTexte 7">
            <a:extLst>
              <a:ext uri="{FF2B5EF4-FFF2-40B4-BE49-F238E27FC236}">
                <a16:creationId xmlns:a16="http://schemas.microsoft.com/office/drawing/2014/main" id="{D08274D9-EBDA-48A6-A445-F26791311097}"/>
              </a:ext>
            </a:extLst>
          </p:cNvPr>
          <p:cNvSpPr txBox="1"/>
          <p:nvPr/>
        </p:nvSpPr>
        <p:spPr>
          <a:xfrm>
            <a:off x="7596555" y="5774685"/>
            <a:ext cx="1644163" cy="276999"/>
          </a:xfrm>
          <a:prstGeom prst="rect">
            <a:avLst/>
          </a:prstGeom>
          <a:noFill/>
        </p:spPr>
        <p:txBody>
          <a:bodyPr wrap="square" rtlCol="0">
            <a:spAutoFit/>
          </a:bodyPr>
          <a:lstStyle/>
          <a:p>
            <a:r>
              <a:rPr lang="fr-FR" sz="1200" i="1" dirty="0"/>
              <a:t>Cultofsea.com</a:t>
            </a:r>
          </a:p>
        </p:txBody>
      </p:sp>
    </p:spTree>
    <p:extLst>
      <p:ext uri="{BB962C8B-B14F-4D97-AF65-F5344CB8AC3E}">
        <p14:creationId xmlns:p14="http://schemas.microsoft.com/office/powerpoint/2010/main" val="1443568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BAA8B9D9-BF23-4F00-A57B-2BA873F72ED8}"/>
              </a:ext>
            </a:extLst>
          </p:cNvPr>
          <p:cNvSpPr>
            <a:spLocks noGrp="1"/>
          </p:cNvSpPr>
          <p:nvPr>
            <p:ph idx="1"/>
          </p:nvPr>
        </p:nvSpPr>
        <p:spPr>
          <a:xfrm>
            <a:off x="380999" y="1719071"/>
            <a:ext cx="8407893" cy="4407408"/>
          </a:xfrm>
        </p:spPr>
        <p:txBody>
          <a:bodyPr>
            <a:normAutofit/>
          </a:bodyPr>
          <a:lstStyle/>
          <a:p>
            <a:pPr algn="ctr">
              <a:buFontTx/>
              <a:buNone/>
              <a:defRPr/>
            </a:pPr>
            <a:r>
              <a:rPr lang="fr-FR" dirty="0" err="1"/>
              <a:t>Pourquoi </a:t>
            </a:r>
            <a:r>
              <a:rPr lang="fr-FR" dirty="0"/>
              <a:t>utilisons</a:t>
            </a:r>
            <a:r>
              <a:rPr lang="fr-FR" dirty="0" err="1"/>
              <a:t>-nous le crédit documentaire </a:t>
            </a:r>
            <a:r>
              <a:rPr lang="fr-FR" dirty="0"/>
              <a:t>?</a:t>
            </a:r>
          </a:p>
        </p:txBody>
      </p:sp>
      <p:sp>
        <p:nvSpPr>
          <p:cNvPr id="6" name="Titre 1">
            <a:extLst>
              <a:ext uri="{FF2B5EF4-FFF2-40B4-BE49-F238E27FC236}">
                <a16:creationId xmlns:a16="http://schemas.microsoft.com/office/drawing/2014/main" id="{0774B071-07E4-41C5-810E-94A0E560B7BC}"/>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C – </a:t>
            </a:r>
            <a:r>
              <a:rPr lang="fr-FR" dirty="0" err="1">
                <a:solidFill>
                  <a:schemeClr val="bg1"/>
                </a:solidFill>
                <a:latin typeface="Franklin Gothic Book" panose="020B0503020102020204" pitchFamily="34" charset="0"/>
              </a:rPr>
              <a:t>Crédit documentaire</a:t>
            </a:r>
            <a:endParaRPr lang="fr-FR"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97D6BD7E-9470-4667-8B38-59B9E58373FE}"/>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697951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BAA8B9D9-BF23-4F00-A57B-2BA873F72ED8}"/>
              </a:ext>
            </a:extLst>
          </p:cNvPr>
          <p:cNvSpPr>
            <a:spLocks noGrp="1"/>
          </p:cNvSpPr>
          <p:nvPr>
            <p:ph idx="1"/>
          </p:nvPr>
        </p:nvSpPr>
        <p:spPr>
          <a:xfrm>
            <a:off x="380999" y="1719071"/>
            <a:ext cx="8407893" cy="4407408"/>
          </a:xfrm>
        </p:spPr>
        <p:txBody>
          <a:bodyPr>
            <a:normAutofit/>
          </a:bodyPr>
          <a:lstStyle/>
          <a:p>
            <a:pPr algn="l">
              <a:buFontTx/>
              <a:buNone/>
              <a:defRPr/>
            </a:pPr>
            <a:r>
              <a:rPr lang="en-US" sz="2200" dirty="0"/>
              <a:t>Le crédit documentaire a été conçu pour sécuriser les transactions commerciales internationales :</a:t>
            </a:r>
          </a:p>
          <a:p>
            <a:pPr algn="l">
              <a:buFontTx/>
              <a:buChar char="-"/>
              <a:defRPr/>
            </a:pPr>
            <a:r>
              <a:rPr lang="en-US" sz="2200" dirty="0"/>
              <a:t>L'importateur a la garantie que le paiement ne sera effectué qu'à condition que le vendeur respecte ses obligations contractuelles.</a:t>
            </a:r>
          </a:p>
          <a:p>
            <a:pPr algn="l">
              <a:buFontTx/>
              <a:buChar char="-"/>
              <a:defRPr/>
            </a:pPr>
            <a:r>
              <a:rPr lang="en-US" sz="2200" dirty="0"/>
              <a:t>L'exportateur est assuré d'être payé dans les délais.</a:t>
            </a:r>
          </a:p>
          <a:p>
            <a:pPr marL="0" indent="0" algn="l">
              <a:buNone/>
              <a:defRPr/>
            </a:pPr>
            <a:endParaRPr lang="en-US" sz="2200" dirty="0"/>
          </a:p>
          <a:p>
            <a:pPr marL="0" indent="0" algn="l">
              <a:buNone/>
              <a:defRPr/>
            </a:pPr>
            <a:r>
              <a:rPr lang="en-US" sz="2200" dirty="0"/>
              <a:t>Le crédit documentaire est utile pour les entreprises qui effectuent des transactions commerciales avec des pays à risque ou avec de nouveaux clients.</a:t>
            </a:r>
            <a:endParaRPr lang="fr-FR" sz="2200" dirty="0"/>
          </a:p>
        </p:txBody>
      </p:sp>
      <p:sp>
        <p:nvSpPr>
          <p:cNvPr id="6" name="Titre 1">
            <a:extLst>
              <a:ext uri="{FF2B5EF4-FFF2-40B4-BE49-F238E27FC236}">
                <a16:creationId xmlns:a16="http://schemas.microsoft.com/office/drawing/2014/main" id="{0774B071-07E4-41C5-810E-94A0E560B7BC}"/>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C – </a:t>
            </a:r>
            <a:r>
              <a:rPr lang="fr-FR" dirty="0" err="1">
                <a:solidFill>
                  <a:schemeClr val="bg1"/>
                </a:solidFill>
                <a:latin typeface="Franklin Gothic Book" panose="020B0503020102020204" pitchFamily="34" charset="0"/>
              </a:rPr>
              <a:t>Crédit documentaire</a:t>
            </a:r>
            <a:endParaRPr lang="fr-FR"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97D6BD7E-9470-4667-8B38-59B9E58373FE}"/>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1946213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BAA8B9D9-BF23-4F00-A57B-2BA873F72ED8}"/>
              </a:ext>
            </a:extLst>
          </p:cNvPr>
          <p:cNvSpPr>
            <a:spLocks noGrp="1"/>
          </p:cNvSpPr>
          <p:nvPr>
            <p:ph idx="1"/>
          </p:nvPr>
        </p:nvSpPr>
        <p:spPr>
          <a:xfrm>
            <a:off x="380999" y="1719071"/>
            <a:ext cx="8407893" cy="4407408"/>
          </a:xfrm>
        </p:spPr>
        <p:txBody>
          <a:bodyPr>
            <a:normAutofit/>
          </a:bodyPr>
          <a:lstStyle/>
          <a:p>
            <a:pPr algn="ctr">
              <a:buFontTx/>
              <a:buNone/>
              <a:defRPr/>
            </a:pPr>
            <a:r>
              <a:rPr lang="fr-FR" sz="2200" dirty="0"/>
              <a:t>Mais </a:t>
            </a:r>
            <a:r>
              <a:rPr lang="fr-FR" sz="2200" dirty="0" err="1"/>
              <a:t>les crédits documentaires </a:t>
            </a:r>
            <a:r>
              <a:rPr lang="fr-FR" sz="2200" dirty="0"/>
              <a:t>ne sont pas </a:t>
            </a:r>
            <a:r>
              <a:rPr lang="fr-FR" sz="2200" dirty="0" err="1"/>
              <a:t>si faciles </a:t>
            </a:r>
            <a:r>
              <a:rPr lang="fr-FR" sz="2200" dirty="0"/>
              <a:t>à utiliser…</a:t>
            </a:r>
          </a:p>
        </p:txBody>
      </p:sp>
      <p:sp>
        <p:nvSpPr>
          <p:cNvPr id="6" name="Titre 1">
            <a:extLst>
              <a:ext uri="{FF2B5EF4-FFF2-40B4-BE49-F238E27FC236}">
                <a16:creationId xmlns:a16="http://schemas.microsoft.com/office/drawing/2014/main" id="{0774B071-07E4-41C5-810E-94A0E560B7BC}"/>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C – </a:t>
            </a:r>
            <a:r>
              <a:rPr lang="fr-FR" dirty="0" err="1">
                <a:solidFill>
                  <a:schemeClr val="bg1"/>
                </a:solidFill>
                <a:latin typeface="Franklin Gothic Book" panose="020B0503020102020204" pitchFamily="34" charset="0"/>
              </a:rPr>
              <a:t>Crédit documentaire</a:t>
            </a:r>
            <a:endParaRPr lang="fr-FR"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97D6BD7E-9470-4667-8B38-59B9E58373FE}"/>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1213557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BAA8B9D9-BF23-4F00-A57B-2BA873F72ED8}"/>
              </a:ext>
            </a:extLst>
          </p:cNvPr>
          <p:cNvSpPr>
            <a:spLocks noGrp="1"/>
          </p:cNvSpPr>
          <p:nvPr>
            <p:ph idx="1"/>
          </p:nvPr>
        </p:nvSpPr>
        <p:spPr>
          <a:xfrm>
            <a:off x="380999" y="1719071"/>
            <a:ext cx="8407893" cy="4407408"/>
          </a:xfrm>
        </p:spPr>
        <p:txBody>
          <a:bodyPr>
            <a:normAutofit/>
          </a:bodyPr>
          <a:lstStyle/>
          <a:p>
            <a:pPr>
              <a:buFontTx/>
              <a:buNone/>
              <a:defRPr/>
            </a:pPr>
            <a:r>
              <a:rPr lang="en-US" sz="1800" dirty="0"/>
              <a:t>Le crédit documentaire est une technique coûteuse. Il est donc nécessaire de prêter attention à certains aspects.</a:t>
            </a:r>
          </a:p>
          <a:p>
            <a:pPr>
              <a:buFontTx/>
              <a:buNone/>
              <a:defRPr/>
            </a:pPr>
            <a:r>
              <a:rPr lang="en-US" sz="1800" dirty="0"/>
              <a:t>Le vendeur doit respecter </a:t>
            </a:r>
            <a:r>
              <a:rPr lang="en-US" sz="1800" b="1" i="1" u="sng" dirty="0"/>
              <a:t>trois délais principaux </a:t>
            </a:r>
            <a:r>
              <a:rPr lang="en-US" sz="1800" dirty="0"/>
              <a:t>:</a:t>
            </a:r>
          </a:p>
          <a:p>
            <a:pPr>
              <a:buFontTx/>
              <a:buChar char="-"/>
              <a:defRPr/>
            </a:pPr>
            <a:r>
              <a:rPr lang="en-US" sz="1800" u="sng" dirty="0"/>
              <a:t>le délai d'expédition des marchandises </a:t>
            </a:r>
            <a:r>
              <a:rPr lang="en-US" sz="1800" dirty="0"/>
              <a:t>: il est fixé en fonction de la date à laquelle l'acheteur souhaite disposer des marchandises, en tenant compte des délais de transit et de l'incoterm choisi</a:t>
            </a:r>
          </a:p>
          <a:p>
            <a:pPr>
              <a:buFontTx/>
              <a:buChar char="-"/>
              <a:defRPr/>
            </a:pPr>
            <a:r>
              <a:rPr lang="en-US" sz="1800" u="sng" dirty="0"/>
              <a:t>le délai d'envoi des documents </a:t>
            </a:r>
            <a:r>
              <a:rPr lang="en-US" sz="1800" dirty="0"/>
              <a:t>: sauf indication contraire dans l'ouverture du crédit documentaire, le délai de présentation des documents est de 21 jours après la date d'expédition</a:t>
            </a:r>
          </a:p>
          <a:p>
            <a:pPr>
              <a:buFontTx/>
              <a:buChar char="-"/>
              <a:defRPr/>
            </a:pPr>
            <a:r>
              <a:rPr lang="en-US" sz="1800" u="sng" dirty="0"/>
              <a:t>la date de validité du crédit documentaire </a:t>
            </a:r>
            <a:r>
              <a:rPr lang="en-US" sz="1800" dirty="0"/>
              <a:t>: tous les crédits doivent stipuler une date de validité extrême (date limite de l'engagement de la banque émettrice)</a:t>
            </a:r>
            <a:endParaRPr lang="fr-FR" sz="1800" dirty="0"/>
          </a:p>
        </p:txBody>
      </p:sp>
      <p:sp>
        <p:nvSpPr>
          <p:cNvPr id="6" name="Titre 1">
            <a:extLst>
              <a:ext uri="{FF2B5EF4-FFF2-40B4-BE49-F238E27FC236}">
                <a16:creationId xmlns:a16="http://schemas.microsoft.com/office/drawing/2014/main" id="{0774B071-07E4-41C5-810E-94A0E560B7BC}"/>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C – </a:t>
            </a:r>
            <a:r>
              <a:rPr lang="fr-FR" dirty="0" err="1">
                <a:solidFill>
                  <a:schemeClr val="bg1"/>
                </a:solidFill>
                <a:latin typeface="Franklin Gothic Book" panose="020B0503020102020204" pitchFamily="34" charset="0"/>
              </a:rPr>
              <a:t>Crédit documentaire</a:t>
            </a:r>
            <a:endParaRPr lang="fr-FR"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97D6BD7E-9470-4667-8B38-59B9E58373FE}"/>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4081695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BAA8B9D9-BF23-4F00-A57B-2BA873F72ED8}"/>
              </a:ext>
            </a:extLst>
          </p:cNvPr>
          <p:cNvSpPr>
            <a:spLocks noGrp="1"/>
          </p:cNvSpPr>
          <p:nvPr>
            <p:ph idx="1"/>
          </p:nvPr>
        </p:nvSpPr>
        <p:spPr>
          <a:xfrm>
            <a:off x="380999" y="1719071"/>
            <a:ext cx="8407893" cy="4407408"/>
          </a:xfrm>
        </p:spPr>
        <p:txBody>
          <a:bodyPr>
            <a:normAutofit/>
          </a:bodyPr>
          <a:lstStyle/>
          <a:p>
            <a:pPr>
              <a:buFont typeface="Wingdings" panose="05000000000000000000" pitchFamily="2" charset="2"/>
              <a:buChar char="v"/>
              <a:defRPr/>
            </a:pPr>
            <a:r>
              <a:rPr lang="en-US" sz="2000" dirty="0"/>
              <a:t> Un crédit documentaire est un type de lettre de crédit.</a:t>
            </a:r>
          </a:p>
          <a:p>
            <a:pPr>
              <a:buFont typeface="Wingdings" panose="05000000000000000000" pitchFamily="2" charset="2"/>
              <a:buChar char="v"/>
              <a:defRPr/>
            </a:pPr>
            <a:r>
              <a:rPr lang="en-US" sz="2000" dirty="0"/>
              <a:t> Une lettre de crédit peut être utilisée à des fins de compensation ou de paiement, tandis qu'un crédit documentaire ne peut être utilisé qu'à des fins de paiement.</a:t>
            </a:r>
          </a:p>
          <a:p>
            <a:pPr>
              <a:buFont typeface="Wingdings" panose="05000000000000000000" pitchFamily="2" charset="2"/>
              <a:buChar char="v"/>
              <a:defRPr/>
            </a:pPr>
            <a:r>
              <a:rPr lang="en-US" sz="2000" dirty="0"/>
              <a:t> Une lettre de crédit peut être directe (une seule banque) ou indirecte (deux banques), tandis qu'un crédit documentaire est toujours indirect.</a:t>
            </a:r>
          </a:p>
          <a:p>
            <a:pPr>
              <a:buFont typeface="Wingdings" panose="05000000000000000000" pitchFamily="2" charset="2"/>
              <a:buChar char="v"/>
              <a:defRPr/>
            </a:pPr>
            <a:r>
              <a:rPr lang="en-US" sz="2000" dirty="0"/>
              <a:t> La lettre de crédit implique que le transfert d'argent aura lieu après une simple remise de documents, tandis que le crédit documentaire implique que le transfert d'argent aura lieu après une vérification effective du contenu des documents remis.</a:t>
            </a:r>
            <a:endParaRPr lang="fr-FR" sz="2000" dirty="0"/>
          </a:p>
        </p:txBody>
      </p:sp>
      <p:sp>
        <p:nvSpPr>
          <p:cNvPr id="6" name="Titre 1">
            <a:extLst>
              <a:ext uri="{FF2B5EF4-FFF2-40B4-BE49-F238E27FC236}">
                <a16:creationId xmlns:a16="http://schemas.microsoft.com/office/drawing/2014/main" id="{0774B071-07E4-41C5-810E-94A0E560B7BC}"/>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C – </a:t>
            </a:r>
            <a:r>
              <a:rPr lang="fr-FR" dirty="0" err="1">
                <a:solidFill>
                  <a:schemeClr val="bg1"/>
                </a:solidFill>
                <a:latin typeface="Franklin Gothic Book" panose="020B0503020102020204" pitchFamily="34" charset="0"/>
              </a:rPr>
              <a:t>Crédit documentaire</a:t>
            </a:r>
            <a:endParaRPr lang="fr-FR"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97D6BD7E-9470-4667-8B38-59B9E58373FE}"/>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1076722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BAA8B9D9-BF23-4F00-A57B-2BA873F72ED8}"/>
              </a:ext>
            </a:extLst>
          </p:cNvPr>
          <p:cNvSpPr>
            <a:spLocks noGrp="1"/>
          </p:cNvSpPr>
          <p:nvPr>
            <p:ph idx="1"/>
          </p:nvPr>
        </p:nvSpPr>
        <p:spPr>
          <a:xfrm>
            <a:off x="380999" y="1719071"/>
            <a:ext cx="8407893" cy="4407408"/>
          </a:xfrm>
        </p:spPr>
        <p:txBody>
          <a:bodyPr>
            <a:normAutofit/>
          </a:bodyPr>
          <a:lstStyle/>
          <a:p>
            <a:pPr algn="ctr">
              <a:buFontTx/>
              <a:buNone/>
              <a:defRPr/>
            </a:pPr>
            <a:r>
              <a:rPr lang="fr-FR" dirty="0">
                <a:hlinkClick r:id="rId5"/>
              </a:rPr>
              <a:t>https://iccwbo.org/resources-for-business/incoterms-rules/incoterms-2020/</a:t>
            </a:r>
            <a:endParaRPr lang="fr-FR" dirty="0"/>
          </a:p>
          <a:p>
            <a:pPr algn="ctr">
              <a:buFontTx/>
              <a:buNone/>
              <a:defRPr/>
            </a:pPr>
            <a:endParaRPr lang="fr-FR" dirty="0"/>
          </a:p>
          <a:p>
            <a:pPr algn="ctr">
              <a:buFontTx/>
              <a:buNone/>
              <a:defRPr/>
            </a:pPr>
            <a:r>
              <a:rPr lang="fr-FR" dirty="0" err="1"/>
              <a:t>Merci </a:t>
            </a:r>
            <a:r>
              <a:rPr lang="fr-FR" dirty="0"/>
              <a:t>!</a:t>
            </a:r>
          </a:p>
        </p:txBody>
      </p:sp>
      <p:sp>
        <p:nvSpPr>
          <p:cNvPr id="6" name="Titre 1">
            <a:extLst>
              <a:ext uri="{FF2B5EF4-FFF2-40B4-BE49-F238E27FC236}">
                <a16:creationId xmlns:a16="http://schemas.microsoft.com/office/drawing/2014/main" id="{0774B071-07E4-41C5-810E-94A0E560B7BC}"/>
              </a:ext>
            </a:extLst>
          </p:cNvPr>
          <p:cNvSpPr>
            <a:spLocks noGrp="1"/>
          </p:cNvSpPr>
          <p:nvPr>
            <p:ph type="title"/>
          </p:nvPr>
        </p:nvSpPr>
        <p:spPr>
          <a:xfrm>
            <a:off x="381000" y="355847"/>
            <a:ext cx="8381260" cy="1054394"/>
          </a:xfrm>
        </p:spPr>
        <p:txBody>
          <a:bodyPr>
            <a:normAutofit/>
          </a:bodyPr>
          <a:lstStyle/>
          <a:p>
            <a:r>
              <a:rPr lang="fr-FR" dirty="0">
                <a:solidFill>
                  <a:schemeClr val="bg1"/>
                </a:solidFill>
                <a:latin typeface="Franklin Gothic Book" panose="020B0503020102020204" pitchFamily="34" charset="0"/>
              </a:rPr>
              <a:t>Conclusion</a:t>
            </a:r>
          </a:p>
        </p:txBody>
      </p:sp>
      <p:sp>
        <p:nvSpPr>
          <p:cNvPr id="9" name="Footer Placeholder 3">
            <a:extLst>
              <a:ext uri="{FF2B5EF4-FFF2-40B4-BE49-F238E27FC236}">
                <a16:creationId xmlns:a16="http://schemas.microsoft.com/office/drawing/2014/main" id="{97D6BD7E-9470-4667-8B38-59B9E58373FE}"/>
              </a:ext>
            </a:extLst>
          </p:cNvPr>
          <p:cNvSpPr>
            <a:spLocks noGrp="1"/>
          </p:cNvSpPr>
          <p:nvPr>
            <p:ph type="ftr" sz="quarter" idx="11"/>
          </p:nvPr>
        </p:nvSpPr>
        <p:spPr>
          <a:xfrm>
            <a:off x="4788024" y="6309320"/>
            <a:ext cx="3352800" cy="274320"/>
          </a:xfrm>
        </p:spPr>
        <p:txBody>
          <a:bodyPr/>
          <a:lstStyle/>
          <a:p>
            <a:r>
              <a:rPr lang="en-US"/>
              <a:t>Ventes internationales – 2023</a:t>
            </a:r>
            <a:endParaRPr lang="fr-FR" dirty="0"/>
          </a:p>
        </p:txBody>
      </p:sp>
    </p:spTree>
    <p:extLst>
      <p:ext uri="{BB962C8B-B14F-4D97-AF65-F5344CB8AC3E}">
        <p14:creationId xmlns:p14="http://schemas.microsoft.com/office/powerpoint/2010/main" val="992918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6282</TotalTime>
  <Words>7270</Words>
  <Application>Microsoft Office PowerPoint</Application>
  <PresentationFormat>Affichage à l'écran (4:3)</PresentationFormat>
  <Paragraphs>640</Paragraphs>
  <Slides>97</Slides>
  <Notes>0</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97</vt:i4>
      </vt:variant>
    </vt:vector>
  </HeadingPairs>
  <TitlesOfParts>
    <vt:vector size="106" baseType="lpstr">
      <vt:lpstr>Arial</vt:lpstr>
      <vt:lpstr>Calibri</vt:lpstr>
      <vt:lpstr>Corbel</vt:lpstr>
      <vt:lpstr>Franklin Gothic Book</vt:lpstr>
      <vt:lpstr>Lucida Grande</vt:lpstr>
      <vt:lpstr>Trebuchet MS</vt:lpstr>
      <vt:lpstr>Verdana</vt:lpstr>
      <vt:lpstr>Wingdings</vt:lpstr>
      <vt:lpstr>Thème Office</vt:lpstr>
      <vt:lpstr>Présentation PowerPoint</vt:lpstr>
      <vt:lpstr>Ventes internationales : introduction</vt:lpstr>
      <vt:lpstr>Ventes internationales : introduction</vt:lpstr>
      <vt:lpstr>Ventes internationales : introduction</vt:lpstr>
      <vt:lpstr>Ventes internationales : introduction</vt:lpstr>
      <vt:lpstr>Ventes internationales : introduction</vt:lpstr>
      <vt:lpstr>Ventes internationales : introduction</vt:lpstr>
      <vt:lpstr>Ventes internationales : programme</vt:lpstr>
      <vt:lpstr>I. Incoterms</vt:lpstr>
      <vt:lpstr>I - Incoterms : introduction</vt:lpstr>
      <vt:lpstr>I - Incoterms : introduction</vt:lpstr>
      <vt:lpstr>I - Incoterms : introduction</vt:lpstr>
      <vt:lpstr>I - Incoterms : introduction</vt:lpstr>
      <vt:lpstr>I - Incoterms : introduction</vt:lpstr>
      <vt:lpstr>I - Incoterms : introduction</vt:lpstr>
      <vt:lpstr>I - Incoterms</vt:lpstr>
      <vt:lpstr>A – Incoterms 2020 : classification</vt:lpstr>
      <vt:lpstr>A – Incoterms 2020 : classification</vt:lpstr>
      <vt:lpstr>A – Incoterms 2020 : classification</vt:lpstr>
      <vt:lpstr>A – Incoterms 2020 : classification</vt:lpstr>
      <vt:lpstr>EXW : Ex Works</vt:lpstr>
      <vt:lpstr>EXW : Au départ de l'usine</vt:lpstr>
      <vt:lpstr>FCA : Franco transporteur</vt:lpstr>
      <vt:lpstr>FCA : Franco transporteur</vt:lpstr>
      <vt:lpstr>FAS : Franco le long du navire</vt:lpstr>
      <vt:lpstr>FAS : Franco le long du navire</vt:lpstr>
      <vt:lpstr>FOB : Franco à bord</vt:lpstr>
      <vt:lpstr>FOB : Franco à bord</vt:lpstr>
      <vt:lpstr>CFR : Coût et fret</vt:lpstr>
      <vt:lpstr>CFR : Coût et fret</vt:lpstr>
      <vt:lpstr>CIF : Coût, assurance et fret</vt:lpstr>
      <vt:lpstr>CIF : Coût, assurance et fret</vt:lpstr>
      <vt:lpstr>CPT : Transport payé jusqu'à</vt:lpstr>
      <vt:lpstr>CPT : Transport payé jusqu'à</vt:lpstr>
      <vt:lpstr>CIP : Transport et assurance payés jusqu'à (1)</vt:lpstr>
      <vt:lpstr>CIP : Transport et assurance payés jusqu'à (2)</vt:lpstr>
      <vt:lpstr>CIP : Transport et assurance payés jusqu'à (3)</vt:lpstr>
      <vt:lpstr>DAP : Livraison à destination</vt:lpstr>
      <vt:lpstr>DAP : Livraison à destination</vt:lpstr>
      <vt:lpstr>DPU : Livraison au lieu de destination, déchargé</vt:lpstr>
      <vt:lpstr>DPU : Livraison à destination, déchargé</vt:lpstr>
      <vt:lpstr>DDP : Rendu droits acquittés</vt:lpstr>
      <vt:lpstr>DDP : Rendu droits acquittés</vt:lpstr>
      <vt:lpstr>Résumé</vt:lpstr>
      <vt:lpstr>Résumé</vt:lpstr>
      <vt:lpstr>I - Incoterms</vt:lpstr>
      <vt:lpstr>B – Incoterms et négociation </vt:lpstr>
      <vt:lpstr>1) Comment connaître l'incoterm choisi ?</vt:lpstr>
      <vt:lpstr>1) Comment connaître l'incoterm choisi ?</vt:lpstr>
      <vt:lpstr>2) Incoterms et contrat de vente</vt:lpstr>
      <vt:lpstr>3) Incoterms et assurance</vt:lpstr>
      <vt:lpstr>3) Incoterms et assurance</vt:lpstr>
      <vt:lpstr>3) Incoterms et assurance</vt:lpstr>
      <vt:lpstr>4) Incoterms et TVA</vt:lpstr>
      <vt:lpstr>4) Incoterms et TVA</vt:lpstr>
      <vt:lpstr>4) Incoterms et TVA</vt:lpstr>
      <vt:lpstr>4) Incoterms et TVA</vt:lpstr>
      <vt:lpstr>4) Incoterms et TVA</vt:lpstr>
      <vt:lpstr>4) Incoterms et TVA</vt:lpstr>
      <vt:lpstr>5) Incoterms et douanes</vt:lpstr>
      <vt:lpstr>5) Incoterms et douanes</vt:lpstr>
      <vt:lpstr>5) Incoterms et douanes</vt:lpstr>
      <vt:lpstr>5) Incoterms et service achats</vt:lpstr>
      <vt:lpstr>C – Les incoterms dans la pratique</vt:lpstr>
      <vt:lpstr>C – Les Incoterms en pratique</vt:lpstr>
      <vt:lpstr>C – Les Incoterms dans la pratique</vt:lpstr>
      <vt:lpstr>C – Les incoterms dans la pratique</vt:lpstr>
      <vt:lpstr>C – Les Incoterms dans la pratique</vt:lpstr>
      <vt:lpstr>C – Les Incoterms en pratique</vt:lpstr>
      <vt:lpstr>C – Les incoterms dans la pratique</vt:lpstr>
      <vt:lpstr>C – Les Incoterms en pratique</vt:lpstr>
      <vt:lpstr>C – Les Incoterms en pratique</vt:lpstr>
      <vt:lpstr>C – Questions (1)</vt:lpstr>
      <vt:lpstr>C – Questions (1)</vt:lpstr>
      <vt:lpstr>C – Questions (2)</vt:lpstr>
      <vt:lpstr>C – Questions (2)</vt:lpstr>
      <vt:lpstr>C – Questions (3)</vt:lpstr>
      <vt:lpstr>C – Questions (3)</vt:lpstr>
      <vt:lpstr>C – Questions (3)</vt:lpstr>
      <vt:lpstr>C – Questions (3)</vt:lpstr>
      <vt:lpstr>II – Modes de paiement</vt:lpstr>
      <vt:lpstr>A – Obligation de facturation</vt:lpstr>
      <vt:lpstr>B – Liberté de fixer les conditions de paiement</vt:lpstr>
      <vt:lpstr>B – Liberté de fixer les conditions de paiement</vt:lpstr>
      <vt:lpstr>B – Liberté de fixer les conditions de paiement</vt:lpstr>
      <vt:lpstr>C – Crédit documentaire</vt:lpstr>
      <vt:lpstr>C – Crédit documentaire</vt:lpstr>
      <vt:lpstr>C – Crédit documentaire</vt:lpstr>
      <vt:lpstr>C – Crédit documentaire</vt:lpstr>
      <vt:lpstr>C – Crédit documentaire</vt:lpstr>
      <vt:lpstr>C – Crédit documentaire</vt:lpstr>
      <vt:lpstr>C – Crédit documentaire</vt:lpstr>
      <vt:lpstr>C – Crédit documentaire</vt:lpstr>
      <vt:lpstr>C – Crédit documentaire</vt:lpstr>
      <vt:lpstr>C – Crédit documentaire</vt:lpstr>
      <vt:lpstr>C – Crédit documentaire</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Freddy Desplanques</dc:creator>
  <cp:keywords>, docId:5B8E00473BE42A11B4F7FF37A51F95E8</cp:keywords>
  <cp:lastModifiedBy>CORRUBLE Philippe</cp:lastModifiedBy>
  <cp:revision>88</cp:revision>
  <cp:lastPrinted>2020-01-28T10:04:51Z</cp:lastPrinted>
  <dcterms:created xsi:type="dcterms:W3CDTF">2019-12-23T08:45:40Z</dcterms:created>
  <dcterms:modified xsi:type="dcterms:W3CDTF">2025-08-25T16:16:14Z</dcterms:modified>
</cp:coreProperties>
</file>