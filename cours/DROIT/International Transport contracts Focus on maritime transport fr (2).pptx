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80"/>
  </p:notesMasterIdLst>
  <p:handoutMasterIdLst>
    <p:handoutMasterId r:id="rId81"/>
  </p:handoutMasterIdLst>
  <p:sldIdLst>
    <p:sldId id="256" r:id="rId2"/>
    <p:sldId id="257" r:id="rId3"/>
    <p:sldId id="682" r:id="rId4"/>
    <p:sldId id="655" r:id="rId5"/>
    <p:sldId id="656" r:id="rId6"/>
    <p:sldId id="657" r:id="rId7"/>
    <p:sldId id="658" r:id="rId8"/>
    <p:sldId id="659" r:id="rId9"/>
    <p:sldId id="660" r:id="rId10"/>
    <p:sldId id="661" r:id="rId11"/>
    <p:sldId id="664" r:id="rId12"/>
    <p:sldId id="666" r:id="rId13"/>
    <p:sldId id="667" r:id="rId14"/>
    <p:sldId id="662" r:id="rId15"/>
    <p:sldId id="663" r:id="rId16"/>
    <p:sldId id="668" r:id="rId17"/>
    <p:sldId id="620" r:id="rId18"/>
    <p:sldId id="391" r:id="rId19"/>
    <p:sldId id="392" r:id="rId20"/>
    <p:sldId id="393" r:id="rId21"/>
    <p:sldId id="591" r:id="rId22"/>
    <p:sldId id="592" r:id="rId23"/>
    <p:sldId id="597" r:id="rId24"/>
    <p:sldId id="394" r:id="rId25"/>
    <p:sldId id="396" r:id="rId26"/>
    <p:sldId id="397" r:id="rId27"/>
    <p:sldId id="596" r:id="rId28"/>
    <p:sldId id="594" r:id="rId29"/>
    <p:sldId id="398" r:id="rId30"/>
    <p:sldId id="406" r:id="rId31"/>
    <p:sldId id="683" r:id="rId32"/>
    <p:sldId id="407" r:id="rId33"/>
    <p:sldId id="408" r:id="rId34"/>
    <p:sldId id="409" r:id="rId35"/>
    <p:sldId id="410" r:id="rId36"/>
    <p:sldId id="411" r:id="rId37"/>
    <p:sldId id="621" r:id="rId38"/>
    <p:sldId id="622" r:id="rId39"/>
    <p:sldId id="420" r:id="rId40"/>
    <p:sldId id="421" r:id="rId41"/>
    <p:sldId id="422" r:id="rId42"/>
    <p:sldId id="423" r:id="rId43"/>
    <p:sldId id="424" r:id="rId44"/>
    <p:sldId id="425" r:id="rId45"/>
    <p:sldId id="426" r:id="rId46"/>
    <p:sldId id="623" r:id="rId47"/>
    <p:sldId id="434" r:id="rId48"/>
    <p:sldId id="639" r:id="rId49"/>
    <p:sldId id="640" r:id="rId50"/>
    <p:sldId id="641" r:id="rId51"/>
    <p:sldId id="642" r:id="rId52"/>
    <p:sldId id="643" r:id="rId53"/>
    <p:sldId id="644" r:id="rId54"/>
    <p:sldId id="645" r:id="rId55"/>
    <p:sldId id="435" r:id="rId56"/>
    <p:sldId id="436" r:id="rId57"/>
    <p:sldId id="624" r:id="rId58"/>
    <p:sldId id="625" r:id="rId59"/>
    <p:sldId id="578" r:id="rId60"/>
    <p:sldId id="579" r:id="rId61"/>
    <p:sldId id="580" r:id="rId62"/>
    <p:sldId id="581" r:id="rId63"/>
    <p:sldId id="441" r:id="rId64"/>
    <p:sldId id="442" r:id="rId65"/>
    <p:sldId id="443" r:id="rId66"/>
    <p:sldId id="444" r:id="rId67"/>
    <p:sldId id="445" r:id="rId68"/>
    <p:sldId id="446" r:id="rId69"/>
    <p:sldId id="447" r:id="rId70"/>
    <p:sldId id="449" r:id="rId71"/>
    <p:sldId id="450" r:id="rId72"/>
    <p:sldId id="451" r:id="rId73"/>
    <p:sldId id="626" r:id="rId74"/>
    <p:sldId id="458" r:id="rId75"/>
    <p:sldId id="631" r:id="rId76"/>
    <p:sldId id="464" r:id="rId77"/>
    <p:sldId id="632" r:id="rId78"/>
    <p:sldId id="652" r:id="rId79"/>
  </p:sldIdLst>
  <p:sldSz cx="9144000" cy="6858000" type="screen4x3"/>
  <p:notesSz cx="6735763" cy="98663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tion par défaut" id="{71727AAA-487D-4458-9CD5-ADB6C49505B6}">
          <p14:sldIdLst>
            <p14:sldId id="256"/>
            <p14:sldId id="257"/>
            <p14:sldId id="682"/>
            <p14:sldId id="655"/>
            <p14:sldId id="656"/>
            <p14:sldId id="657"/>
            <p14:sldId id="658"/>
            <p14:sldId id="659"/>
            <p14:sldId id="660"/>
            <p14:sldId id="661"/>
            <p14:sldId id="664"/>
            <p14:sldId id="666"/>
            <p14:sldId id="667"/>
            <p14:sldId id="662"/>
            <p14:sldId id="663"/>
            <p14:sldId id="668"/>
            <p14:sldId id="620"/>
            <p14:sldId id="391"/>
            <p14:sldId id="392"/>
            <p14:sldId id="393"/>
            <p14:sldId id="591"/>
            <p14:sldId id="592"/>
            <p14:sldId id="597"/>
            <p14:sldId id="394"/>
            <p14:sldId id="396"/>
            <p14:sldId id="397"/>
            <p14:sldId id="596"/>
            <p14:sldId id="594"/>
            <p14:sldId id="398"/>
            <p14:sldId id="406"/>
            <p14:sldId id="683"/>
            <p14:sldId id="407"/>
            <p14:sldId id="408"/>
            <p14:sldId id="409"/>
            <p14:sldId id="410"/>
            <p14:sldId id="411"/>
            <p14:sldId id="621"/>
            <p14:sldId id="622"/>
            <p14:sldId id="420"/>
            <p14:sldId id="421"/>
            <p14:sldId id="422"/>
            <p14:sldId id="423"/>
            <p14:sldId id="424"/>
            <p14:sldId id="425"/>
            <p14:sldId id="426"/>
            <p14:sldId id="623"/>
            <p14:sldId id="434"/>
            <p14:sldId id="639"/>
            <p14:sldId id="640"/>
            <p14:sldId id="641"/>
            <p14:sldId id="642"/>
            <p14:sldId id="643"/>
            <p14:sldId id="644"/>
            <p14:sldId id="645"/>
            <p14:sldId id="435"/>
            <p14:sldId id="436"/>
            <p14:sldId id="624"/>
            <p14:sldId id="625"/>
            <p14:sldId id="578"/>
            <p14:sldId id="579"/>
            <p14:sldId id="580"/>
            <p14:sldId id="581"/>
            <p14:sldId id="441"/>
            <p14:sldId id="442"/>
            <p14:sldId id="443"/>
            <p14:sldId id="444"/>
            <p14:sldId id="445"/>
            <p14:sldId id="446"/>
            <p14:sldId id="447"/>
            <p14:sldId id="449"/>
            <p14:sldId id="450"/>
            <p14:sldId id="451"/>
            <p14:sldId id="626"/>
            <p14:sldId id="458"/>
            <p14:sldId id="631"/>
            <p14:sldId id="464"/>
            <p14:sldId id="632"/>
            <p14:sldId id="65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854" autoAdjust="0"/>
    <p:restoredTop sz="94660"/>
  </p:normalViewPr>
  <p:slideViewPr>
    <p:cSldViewPr snapToGrid="0">
      <p:cViewPr varScale="1">
        <p:scale>
          <a:sx n="89" d="100"/>
          <a:sy n="89" d="100"/>
        </p:scale>
        <p:origin x="960" y="48"/>
      </p:cViewPr>
      <p:guideLst/>
    </p:cSldViewPr>
  </p:slideViewPr>
  <p:notesTextViewPr>
    <p:cViewPr>
      <p:scale>
        <a:sx n="1" d="1"/>
        <a:sy n="1" d="1"/>
      </p:scale>
      <p:origin x="0" y="0"/>
    </p:cViewPr>
  </p:notesTextViewPr>
  <p:sorterViewPr>
    <p:cViewPr varScale="1">
      <p:scale>
        <a:sx n="1" d="1"/>
        <a:sy n="1" d="1"/>
      </p:scale>
      <p:origin x="0" y="-1448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notesMaster" Target="notesMasters/notesMaster1.xml"/><Relationship Id="rId85"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56D7FC5C-C4CE-4717-8448-D4F750A726DE}"/>
              </a:ext>
            </a:extLst>
          </p:cNvPr>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fr-FR"/>
          </a:p>
        </p:txBody>
      </p:sp>
      <p:sp>
        <p:nvSpPr>
          <p:cNvPr id="3" name="Espace réservé de la date 2">
            <a:extLst>
              <a:ext uri="{FF2B5EF4-FFF2-40B4-BE49-F238E27FC236}">
                <a16:creationId xmlns:a16="http://schemas.microsoft.com/office/drawing/2014/main" id="{084FEB56-40ED-4A34-9BED-C11B6E5FEE79}"/>
              </a:ext>
            </a:extLst>
          </p:cNvPr>
          <p:cNvSpPr>
            <a:spLocks noGrp="1"/>
          </p:cNvSpPr>
          <p:nvPr>
            <p:ph type="dt" sz="quarter" idx="1"/>
          </p:nvPr>
        </p:nvSpPr>
        <p:spPr>
          <a:xfrm>
            <a:off x="3815373" y="0"/>
            <a:ext cx="2918831" cy="495029"/>
          </a:xfrm>
          <a:prstGeom prst="rect">
            <a:avLst/>
          </a:prstGeom>
        </p:spPr>
        <p:txBody>
          <a:bodyPr vert="horz" lIns="91440" tIns="45720" rIns="91440" bIns="45720" rtlCol="0"/>
          <a:lstStyle>
            <a:lvl1pPr algn="r">
              <a:defRPr sz="1200"/>
            </a:lvl1pPr>
          </a:lstStyle>
          <a:p>
            <a:fld id="{AAEAF9F6-9BFE-4452-9E55-961F31B1A444}" type="datetimeFigureOut">
              <a:rPr lang="fr-FR" smtClean="0"/>
              <a:t>25/08/2025</a:t>
            </a:fld>
            <a:endParaRPr lang="fr-FR"/>
          </a:p>
        </p:txBody>
      </p:sp>
      <p:sp>
        <p:nvSpPr>
          <p:cNvPr id="4" name="Espace réservé du pied de page 3">
            <a:extLst>
              <a:ext uri="{FF2B5EF4-FFF2-40B4-BE49-F238E27FC236}">
                <a16:creationId xmlns:a16="http://schemas.microsoft.com/office/drawing/2014/main" id="{6B9FC3E4-25D8-45DA-A5D6-2E68BE4EDDCE}"/>
              </a:ext>
            </a:extLst>
          </p:cNvPr>
          <p:cNvSpPr>
            <a:spLocks noGrp="1"/>
          </p:cNvSpPr>
          <p:nvPr>
            <p:ph type="ftr" sz="quarter" idx="2"/>
          </p:nvPr>
        </p:nvSpPr>
        <p:spPr>
          <a:xfrm>
            <a:off x="0" y="9371286"/>
            <a:ext cx="2918831" cy="495028"/>
          </a:xfrm>
          <a:prstGeom prst="rect">
            <a:avLst/>
          </a:prstGeom>
        </p:spPr>
        <p:txBody>
          <a:bodyPr vert="horz" lIns="91440" tIns="45720" rIns="91440" bIns="45720" rtlCol="0" anchor="b"/>
          <a:lstStyle>
            <a:lvl1pPr algn="l">
              <a:defRPr sz="1200"/>
            </a:lvl1pPr>
          </a:lstStyle>
          <a:p>
            <a:endParaRPr lang="fr-FR"/>
          </a:p>
        </p:txBody>
      </p:sp>
      <p:sp>
        <p:nvSpPr>
          <p:cNvPr id="5" name="Espace réservé du numéro de diapositive 4">
            <a:extLst>
              <a:ext uri="{FF2B5EF4-FFF2-40B4-BE49-F238E27FC236}">
                <a16:creationId xmlns:a16="http://schemas.microsoft.com/office/drawing/2014/main" id="{E8EFAC36-85C0-4361-A59B-6A2DF53C2621}"/>
              </a:ext>
            </a:extLst>
          </p:cNvPr>
          <p:cNvSpPr>
            <a:spLocks noGrp="1"/>
          </p:cNvSpPr>
          <p:nvPr>
            <p:ph type="sldNum" sz="quarter" idx="3"/>
          </p:nvPr>
        </p:nvSpPr>
        <p:spPr>
          <a:xfrm>
            <a:off x="3815373" y="9371286"/>
            <a:ext cx="2918831" cy="495028"/>
          </a:xfrm>
          <a:prstGeom prst="rect">
            <a:avLst/>
          </a:prstGeom>
        </p:spPr>
        <p:txBody>
          <a:bodyPr vert="horz" lIns="91440" tIns="45720" rIns="91440" bIns="45720" rtlCol="0" anchor="b"/>
          <a:lstStyle>
            <a:lvl1pPr algn="r">
              <a:defRPr sz="1200"/>
            </a:lvl1pPr>
          </a:lstStyle>
          <a:p>
            <a:fld id="{94E03806-E76C-4041-935B-F5F02A076C9C}" type="slidenum">
              <a:rPr lang="fr-FR" smtClean="0"/>
              <a:t>‹N°›</a:t>
            </a:fld>
            <a:endParaRPr lang="fr-FR"/>
          </a:p>
        </p:txBody>
      </p:sp>
    </p:spTree>
    <p:extLst>
      <p:ext uri="{BB962C8B-B14F-4D97-AF65-F5344CB8AC3E}">
        <p14:creationId xmlns:p14="http://schemas.microsoft.com/office/powerpoint/2010/main" val="367782264"/>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18831" cy="495029"/>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15373" y="0"/>
            <a:ext cx="2918831" cy="495029"/>
          </a:xfrm>
          <a:prstGeom prst="rect">
            <a:avLst/>
          </a:prstGeom>
        </p:spPr>
        <p:txBody>
          <a:bodyPr vert="horz" lIns="91440" tIns="45720" rIns="91440" bIns="45720" rtlCol="0"/>
          <a:lstStyle>
            <a:lvl1pPr algn="r">
              <a:defRPr sz="1200"/>
            </a:lvl1pPr>
          </a:lstStyle>
          <a:p>
            <a:fld id="{C2198644-FE29-47BE-AE4B-6E8E18F48F42}" type="datetimeFigureOut">
              <a:rPr lang="fr-FR" smtClean="0"/>
              <a:t>25/08/2025</a:t>
            </a:fld>
            <a:endParaRPr lang="fr-FR"/>
          </a:p>
        </p:txBody>
      </p:sp>
      <p:sp>
        <p:nvSpPr>
          <p:cNvPr id="4" name="Espace réservé de l'image des diapositives 3"/>
          <p:cNvSpPr>
            <a:spLocks noGrp="1" noRot="1" noChangeAspect="1"/>
          </p:cNvSpPr>
          <p:nvPr>
            <p:ph type="sldImg" idx="2"/>
          </p:nvPr>
        </p:nvSpPr>
        <p:spPr>
          <a:xfrm>
            <a:off x="1149350" y="1233488"/>
            <a:ext cx="4437063" cy="3328987"/>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73577" y="4748163"/>
            <a:ext cx="5388610" cy="3884861"/>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9371286"/>
            <a:ext cx="2918831" cy="495028"/>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15373" y="9371286"/>
            <a:ext cx="2918831" cy="495028"/>
          </a:xfrm>
          <a:prstGeom prst="rect">
            <a:avLst/>
          </a:prstGeom>
        </p:spPr>
        <p:txBody>
          <a:bodyPr vert="horz" lIns="91440" tIns="45720" rIns="91440" bIns="45720" rtlCol="0" anchor="b"/>
          <a:lstStyle>
            <a:lvl1pPr algn="r">
              <a:defRPr sz="1200"/>
            </a:lvl1pPr>
          </a:lstStyle>
          <a:p>
            <a:fld id="{BFA1AB9F-E17F-4BD4-A2A9-97807F8FD19E}" type="slidenum">
              <a:rPr lang="fr-FR" smtClean="0"/>
              <a:t>‹N°›</a:t>
            </a:fld>
            <a:endParaRPr lang="fr-FR"/>
          </a:p>
        </p:txBody>
      </p:sp>
    </p:spTree>
    <p:extLst>
      <p:ext uri="{BB962C8B-B14F-4D97-AF65-F5344CB8AC3E}">
        <p14:creationId xmlns:p14="http://schemas.microsoft.com/office/powerpoint/2010/main" val="2448228909"/>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sp>
        <p:nvSpPr>
          <p:cNvPr id="4" name="Date Placeholder 3"/>
          <p:cNvSpPr>
            <a:spLocks noGrp="1"/>
          </p:cNvSpPr>
          <p:nvPr>
            <p:ph type="dt" sz="half" idx="10"/>
          </p:nvPr>
        </p:nvSpPr>
        <p:spPr/>
        <p:txBody>
          <a:bodyPr/>
          <a:lstStyle/>
          <a:p>
            <a:fld id="{C848C8E1-DF80-4525-915A-62B7B85339F7}"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625622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lgn="ctr">
              <a:defRPr>
                <a:latin typeface="Corbel" panose="020B0503020204020204" pitchFamily="34" charset="0"/>
              </a:defRPr>
            </a:lvl1pPr>
          </a:lstStyle>
          <a:p>
            <a:r>
              <a:rPr lang="fr-FR" dirty="0"/>
              <a:t>MODIFIEZ LE STYLE DU TITRE</a:t>
            </a:r>
            <a:endParaRPr lang="en-US" dirty="0"/>
          </a:p>
        </p:txBody>
      </p:sp>
      <p:sp>
        <p:nvSpPr>
          <p:cNvPr id="3" name="Content Placeholder 2"/>
          <p:cNvSpPr>
            <a:spLocks noGrp="1"/>
          </p:cNvSpPr>
          <p:nvPr>
            <p:ph idx="1"/>
          </p:nvPr>
        </p:nvSpPr>
        <p:spPr/>
        <p:txBody>
          <a:bodyPr anchor="ctr">
            <a:normAutofit/>
          </a:bodyPr>
          <a:lstStyle>
            <a:lvl1pPr algn="just">
              <a:spcBef>
                <a:spcPts val="2000"/>
              </a:spcBef>
              <a:defRPr sz="2800">
                <a:solidFill>
                  <a:srgbClr val="002060"/>
                </a:solidFill>
                <a:latin typeface="Corbel" panose="020B0503020204020204" pitchFamily="34" charset="0"/>
              </a:defRPr>
            </a:lvl1pPr>
            <a:lvl2pPr algn="just">
              <a:defRPr sz="2000">
                <a:solidFill>
                  <a:srgbClr val="002060"/>
                </a:solidFill>
                <a:latin typeface="Corbel" panose="020B0503020204020204" pitchFamily="34" charset="0"/>
              </a:defRPr>
            </a:lvl2pPr>
            <a:lvl3pPr algn="just">
              <a:defRPr sz="2000">
                <a:solidFill>
                  <a:srgbClr val="002060"/>
                </a:solidFill>
                <a:latin typeface="Corbel" panose="020B0503020204020204" pitchFamily="34" charset="0"/>
              </a:defRPr>
            </a:lvl3pPr>
            <a:lvl4pPr algn="just">
              <a:defRPr sz="2000">
                <a:solidFill>
                  <a:srgbClr val="002060"/>
                </a:solidFill>
                <a:latin typeface="Corbel" panose="020B0503020204020204" pitchFamily="34" charset="0"/>
              </a:defRPr>
            </a:lvl4pPr>
            <a:lvl5pPr algn="just">
              <a:defRPr sz="2000">
                <a:solidFill>
                  <a:srgbClr val="002060"/>
                </a:solidFill>
                <a:latin typeface="Corbel" panose="020B0503020204020204" pitchFamily="34" charset="0"/>
              </a:defRPr>
            </a:lvl5pPr>
          </a:lstStyle>
          <a:p>
            <a:pPr lvl="0"/>
            <a:r>
              <a:rPr lang="en-GB" noProof="0" dirty="0" err="1"/>
              <a:t>Cliquez</a:t>
            </a:r>
            <a:r>
              <a:rPr lang="en-GB" noProof="0" dirty="0"/>
              <a:t> pour modifier les styles du </a:t>
            </a:r>
            <a:r>
              <a:rPr lang="en-GB" noProof="0" dirty="0" err="1"/>
              <a:t>texte</a:t>
            </a:r>
            <a:r>
              <a:rPr lang="en-GB" noProof="0" dirty="0"/>
              <a:t> du masque</a:t>
            </a:r>
          </a:p>
          <a:p>
            <a:pPr lvl="1"/>
            <a:r>
              <a:rPr lang="en-GB" noProof="0" dirty="0" err="1"/>
              <a:t>Deuxième</a:t>
            </a:r>
            <a:r>
              <a:rPr lang="en-GB" noProof="0" dirty="0"/>
              <a:t> </a:t>
            </a:r>
            <a:r>
              <a:rPr lang="en-GB" noProof="0" dirty="0" err="1"/>
              <a:t>niveau</a:t>
            </a:r>
            <a:endParaRPr lang="en-GB" noProof="0" dirty="0"/>
          </a:p>
          <a:p>
            <a:pPr lvl="2"/>
            <a:r>
              <a:rPr lang="en-GB" noProof="0" dirty="0" err="1"/>
              <a:t>Troisième</a:t>
            </a:r>
            <a:r>
              <a:rPr lang="en-GB" noProof="0" dirty="0"/>
              <a:t> </a:t>
            </a:r>
            <a:r>
              <a:rPr lang="en-GB" noProof="0" dirty="0" err="1"/>
              <a:t>niveau</a:t>
            </a:r>
            <a:endParaRPr lang="en-GB" noProof="0" dirty="0"/>
          </a:p>
          <a:p>
            <a:pPr lvl="3"/>
            <a:r>
              <a:rPr lang="en-GB" noProof="0" dirty="0" err="1"/>
              <a:t>Quatrième</a:t>
            </a:r>
            <a:r>
              <a:rPr lang="en-GB" noProof="0" dirty="0"/>
              <a:t> </a:t>
            </a:r>
            <a:r>
              <a:rPr lang="en-GB" noProof="0" dirty="0" err="1"/>
              <a:t>niveau</a:t>
            </a:r>
            <a:endParaRPr lang="en-GB" noProof="0" dirty="0"/>
          </a:p>
          <a:p>
            <a:pPr lvl="4"/>
            <a:r>
              <a:rPr lang="en-GB" noProof="0" dirty="0" err="1"/>
              <a:t>Cinquième</a:t>
            </a:r>
            <a:r>
              <a:rPr lang="en-GB" noProof="0" dirty="0"/>
              <a:t> </a:t>
            </a:r>
            <a:r>
              <a:rPr lang="en-GB" noProof="0" dirty="0" err="1"/>
              <a:t>niveau</a:t>
            </a:r>
            <a:endParaRPr lang="en-GB" noProof="0" dirty="0"/>
          </a:p>
        </p:txBody>
      </p:sp>
      <p:sp>
        <p:nvSpPr>
          <p:cNvPr id="4" name="Date Placeholder 3"/>
          <p:cNvSpPr>
            <a:spLocks noGrp="1"/>
          </p:cNvSpPr>
          <p:nvPr>
            <p:ph type="dt" sz="half" idx="10"/>
          </p:nvPr>
        </p:nvSpPr>
        <p:spPr/>
        <p:txBody>
          <a:bodyPr/>
          <a:lstStyle/>
          <a:p>
            <a:fld id="{C848C8E1-DF80-4525-915A-62B7B85339F7}"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386211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Date Placeholder 3"/>
          <p:cNvSpPr>
            <a:spLocks noGrp="1"/>
          </p:cNvSpPr>
          <p:nvPr>
            <p:ph type="dt" sz="half" idx="10"/>
          </p:nvPr>
        </p:nvSpPr>
        <p:spPr/>
        <p:txBody>
          <a:bodyPr/>
          <a:lstStyle/>
          <a:p>
            <a:fld id="{C848C8E1-DF80-4525-915A-62B7B85339F7}"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893672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Date Placeholder 4"/>
          <p:cNvSpPr>
            <a:spLocks noGrp="1"/>
          </p:cNvSpPr>
          <p:nvPr>
            <p:ph type="dt" sz="half" idx="10"/>
          </p:nvPr>
        </p:nvSpPr>
        <p:spPr/>
        <p:txBody>
          <a:bodyPr/>
          <a:lstStyle/>
          <a:p>
            <a:fld id="{C848C8E1-DF80-4525-915A-62B7B85339F7}"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1466659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629842" y="2505075"/>
            <a:ext cx="3868340"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4629150" y="2505075"/>
            <a:ext cx="3887391"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Date Placeholder 6"/>
          <p:cNvSpPr>
            <a:spLocks noGrp="1"/>
          </p:cNvSpPr>
          <p:nvPr>
            <p:ph type="dt" sz="half" idx="10"/>
          </p:nvPr>
        </p:nvSpPr>
        <p:spPr/>
        <p:txBody>
          <a:bodyPr/>
          <a:lstStyle/>
          <a:p>
            <a:fld id="{C848C8E1-DF80-4525-915A-62B7B85339F7}" type="datetimeFigureOut">
              <a:rPr lang="fr-FR" smtClean="0"/>
              <a:t>25/08/2025</a:t>
            </a:fld>
            <a:endParaRPr lang="fr-FR"/>
          </a:p>
        </p:txBody>
      </p:sp>
      <p:sp>
        <p:nvSpPr>
          <p:cNvPr id="8" name="Footer Placeholder 7"/>
          <p:cNvSpPr>
            <a:spLocks noGrp="1"/>
          </p:cNvSpPr>
          <p:nvPr>
            <p:ph type="ftr" sz="quarter" idx="11"/>
          </p:nvPr>
        </p:nvSpPr>
        <p:spPr/>
        <p:txBody>
          <a:bodyPr/>
          <a:lstStyle/>
          <a:p>
            <a:endParaRPr lang="fr-FR"/>
          </a:p>
        </p:txBody>
      </p:sp>
      <p:sp>
        <p:nvSpPr>
          <p:cNvPr id="9" name="Slide Number Placeholder 8"/>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36309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Date Placeholder 2"/>
          <p:cNvSpPr>
            <a:spLocks noGrp="1"/>
          </p:cNvSpPr>
          <p:nvPr>
            <p:ph type="dt" sz="half" idx="10"/>
          </p:nvPr>
        </p:nvSpPr>
        <p:spPr/>
        <p:txBody>
          <a:bodyPr/>
          <a:lstStyle/>
          <a:p>
            <a:fld id="{C848C8E1-DF80-4525-915A-62B7B85339F7}" type="datetimeFigureOut">
              <a:rPr lang="fr-FR" smtClean="0"/>
              <a:t>25/08/2025</a:t>
            </a:fld>
            <a:endParaRPr lang="fr-FR"/>
          </a:p>
        </p:txBody>
      </p:sp>
      <p:sp>
        <p:nvSpPr>
          <p:cNvPr id="4" name="Footer Placeholder 3"/>
          <p:cNvSpPr>
            <a:spLocks noGrp="1"/>
          </p:cNvSpPr>
          <p:nvPr>
            <p:ph type="ftr" sz="quarter" idx="11"/>
          </p:nvPr>
        </p:nvSpPr>
        <p:spPr/>
        <p:txBody>
          <a:bodyPr/>
          <a:lstStyle/>
          <a:p>
            <a:endParaRPr lang="fr-FR"/>
          </a:p>
        </p:txBody>
      </p:sp>
      <p:sp>
        <p:nvSpPr>
          <p:cNvPr id="5" name="Slide Number Placeholder 4"/>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01777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848C8E1-DF80-4525-915A-62B7B85339F7}" type="datetimeFigureOut">
              <a:rPr lang="fr-FR" smtClean="0"/>
              <a:t>25/08/2025</a:t>
            </a:fld>
            <a:endParaRPr lang="fr-FR"/>
          </a:p>
        </p:txBody>
      </p:sp>
      <p:sp>
        <p:nvSpPr>
          <p:cNvPr id="3" name="Footer Placeholder 2"/>
          <p:cNvSpPr>
            <a:spLocks noGrp="1"/>
          </p:cNvSpPr>
          <p:nvPr>
            <p:ph type="ftr" sz="quarter" idx="11"/>
          </p:nvPr>
        </p:nvSpPr>
        <p:spPr/>
        <p:txBody>
          <a:bodyPr/>
          <a:lstStyle/>
          <a:p>
            <a:endParaRPr lang="fr-FR"/>
          </a:p>
        </p:txBody>
      </p:sp>
      <p:sp>
        <p:nvSpPr>
          <p:cNvPr id="4" name="Slide Number Placeholder 3"/>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39844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848C8E1-DF80-4525-915A-62B7B85339F7}"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288272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Date Placeholder 4"/>
          <p:cNvSpPr>
            <a:spLocks noGrp="1"/>
          </p:cNvSpPr>
          <p:nvPr>
            <p:ph type="dt" sz="half" idx="10"/>
          </p:nvPr>
        </p:nvSpPr>
        <p:spPr/>
        <p:txBody>
          <a:bodyPr/>
          <a:lstStyle/>
          <a:p>
            <a:fld id="{C848C8E1-DF80-4525-915A-62B7B85339F7}" type="datetimeFigureOut">
              <a:rPr lang="fr-FR" smtClean="0"/>
              <a:t>25/08/2025</a:t>
            </a:fld>
            <a:endParaRPr lang="fr-FR"/>
          </a:p>
        </p:txBody>
      </p:sp>
      <p:sp>
        <p:nvSpPr>
          <p:cNvPr id="6" name="Footer Placeholder 5"/>
          <p:cNvSpPr>
            <a:spLocks noGrp="1"/>
          </p:cNvSpPr>
          <p:nvPr>
            <p:ph type="ftr" sz="quarter" idx="11"/>
          </p:nvPr>
        </p:nvSpPr>
        <p:spPr/>
        <p:txBody>
          <a:bodyPr/>
          <a:lstStyle/>
          <a:p>
            <a:endParaRPr lang="fr-FR"/>
          </a:p>
        </p:txBody>
      </p:sp>
      <p:sp>
        <p:nvSpPr>
          <p:cNvPr id="7" name="Slide Number Placeholder 6"/>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645377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848C8E1-DF80-4525-915A-62B7B85339F7}"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1865507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Date Placeholder 3"/>
          <p:cNvSpPr>
            <a:spLocks noGrp="1"/>
          </p:cNvSpPr>
          <p:nvPr>
            <p:ph type="dt" sz="half" idx="10"/>
          </p:nvPr>
        </p:nvSpPr>
        <p:spPr/>
        <p:txBody>
          <a:bodyPr/>
          <a:lstStyle/>
          <a:p>
            <a:fld id="{C848C8E1-DF80-4525-915A-62B7B85339F7}" type="datetimeFigureOut">
              <a:rPr lang="fr-FR" smtClean="0"/>
              <a:t>25/08/2025</a:t>
            </a:fld>
            <a:endParaRPr lang="fr-FR"/>
          </a:p>
        </p:txBody>
      </p:sp>
      <p:sp>
        <p:nvSpPr>
          <p:cNvPr id="5" name="Footer Placeholder 4"/>
          <p:cNvSpPr>
            <a:spLocks noGrp="1"/>
          </p:cNvSpPr>
          <p:nvPr>
            <p:ph type="ftr" sz="quarter" idx="11"/>
          </p:nvPr>
        </p:nvSpPr>
        <p:spPr/>
        <p:txBody>
          <a:bodyPr/>
          <a:lstStyle/>
          <a:p>
            <a:endParaRPr lang="fr-FR"/>
          </a:p>
        </p:txBody>
      </p:sp>
      <p:sp>
        <p:nvSpPr>
          <p:cNvPr id="6" name="Slide Number Placeholder 5"/>
          <p:cNvSpPr>
            <a:spLocks noGrp="1"/>
          </p:cNvSpPr>
          <p:nvPr>
            <p:ph type="sldNum" sz="quarter" idx="12"/>
          </p:nvPr>
        </p:nvSpPr>
        <p:spPr/>
        <p:txBody>
          <a:bodyPr/>
          <a:lstStyle/>
          <a:p>
            <a:fld id="{4435D016-8A5B-451C-9985-B5E5C241B00B}" type="slidenum">
              <a:rPr lang="fr-FR" smtClean="0"/>
              <a:t>‹N°›</a:t>
            </a:fld>
            <a:endParaRPr lang="fr-FR"/>
          </a:p>
        </p:txBody>
      </p:sp>
    </p:spTree>
    <p:extLst>
      <p:ext uri="{BB962C8B-B14F-4D97-AF65-F5344CB8AC3E}">
        <p14:creationId xmlns:p14="http://schemas.microsoft.com/office/powerpoint/2010/main" val="30430666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chor="ctr">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48C8E1-DF80-4525-915A-62B7B85339F7}" type="datetimeFigureOut">
              <a:rPr lang="fr-FR" smtClean="0"/>
              <a:t>25/08/2025</a:t>
            </a:fld>
            <a:endParaRPr lang="fr-FR"/>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435D016-8A5B-451C-9985-B5E5C241B00B}" type="slidenum">
              <a:rPr lang="fr-FR" smtClean="0"/>
              <a:t>‹N°›</a:t>
            </a:fld>
            <a:endParaRPr lang="fr-FR"/>
          </a:p>
        </p:txBody>
      </p:sp>
    </p:spTree>
    <p:extLst>
      <p:ext uri="{BB962C8B-B14F-4D97-AF65-F5344CB8AC3E}">
        <p14:creationId xmlns:p14="http://schemas.microsoft.com/office/powerpoint/2010/main" val="378925294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914400" rtl="0" eaLnBrk="1" latinLnBrk="0" hangingPunct="1">
        <a:lnSpc>
          <a:spcPct val="90000"/>
        </a:lnSpc>
        <a:spcBef>
          <a:spcPct val="0"/>
        </a:spcBef>
        <a:buNone/>
        <a:defRPr sz="4400" kern="1200">
          <a:solidFill>
            <a:schemeClr val="tx1"/>
          </a:solidFill>
          <a:latin typeface="Corbel" panose="020B0503020204020204" pitchFamily="34" charset="0"/>
          <a:ea typeface="+mj-ea"/>
          <a:cs typeface="+mj-cs"/>
        </a:defRPr>
      </a:lvl1pPr>
    </p:titleStyle>
    <p:bodyStyle>
      <a:lvl1pPr marL="228600" indent="-228600" algn="just" defTabSz="914400" rtl="0" eaLnBrk="1" latinLnBrk="0" hangingPunct="1">
        <a:lnSpc>
          <a:spcPct val="90000"/>
        </a:lnSpc>
        <a:spcBef>
          <a:spcPts val="2000"/>
        </a:spcBef>
        <a:buFont typeface="Arial" panose="020B0604020202020204" pitchFamily="34" charset="0"/>
        <a:buChar char="•"/>
        <a:defRPr sz="2800" kern="1200">
          <a:solidFill>
            <a:srgbClr val="002060"/>
          </a:solidFill>
          <a:latin typeface="Corbel" panose="020B0503020204020204" pitchFamily="34" charset="0"/>
          <a:ea typeface="+mn-ea"/>
          <a:cs typeface="+mn-cs"/>
        </a:defRPr>
      </a:lvl1pPr>
      <a:lvl2pPr marL="6858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2pPr>
      <a:lvl3pPr marL="11430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3pPr>
      <a:lvl4pPr marL="16002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4pPr>
      <a:lvl5pPr marL="2057400" indent="-228600" algn="just" defTabSz="914400" rtl="0" eaLnBrk="1" latinLnBrk="0" hangingPunct="1">
        <a:lnSpc>
          <a:spcPct val="90000"/>
        </a:lnSpc>
        <a:spcBef>
          <a:spcPts val="2000"/>
        </a:spcBef>
        <a:buFont typeface="Arial" panose="020B0604020202020204" pitchFamily="34" charset="0"/>
        <a:buChar char="•"/>
        <a:defRPr sz="2000" kern="1200">
          <a:solidFill>
            <a:srgbClr val="002060"/>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2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2.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4.png"/><Relationship Id="rId7"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5.png"/></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9" name="Image 8" descr="Une image contenant dessin&#10;&#10;Description générée automatiquement">
            <a:extLst>
              <a:ext uri="{FF2B5EF4-FFF2-40B4-BE49-F238E27FC236}">
                <a16:creationId xmlns:a16="http://schemas.microsoft.com/office/drawing/2014/main" id="{BF956A54-4746-496F-955F-9B7C27352D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2768" y="224445"/>
            <a:ext cx="2732933" cy="1196971"/>
          </a:xfrm>
          <a:prstGeom prst="rect">
            <a:avLst/>
          </a:prstGeom>
        </p:spPr>
      </p:pic>
      <p:sp>
        <p:nvSpPr>
          <p:cNvPr id="10" name="Rectangle 4">
            <a:extLst>
              <a:ext uri="{FF2B5EF4-FFF2-40B4-BE49-F238E27FC236}">
                <a16:creationId xmlns:a16="http://schemas.microsoft.com/office/drawing/2014/main" id="{53C387A4-1840-4096-A5BA-FE1AB07C996E}"/>
              </a:ext>
            </a:extLst>
          </p:cNvPr>
          <p:cNvSpPr txBox="1">
            <a:spLocks noChangeArrowheads="1"/>
          </p:cNvSpPr>
          <p:nvPr/>
        </p:nvSpPr>
        <p:spPr>
          <a:xfrm>
            <a:off x="153618" y="1903953"/>
            <a:ext cx="6264696" cy="1800026"/>
          </a:xfrm>
          <a:prstGeom prst="rect">
            <a:avLst/>
          </a:prstGeom>
          <a:ln>
            <a:noFill/>
          </a:ln>
        </p:spPr>
        <p:txBody>
          <a:bodyPr vert="horz" lIns="0" tIns="36000" rIns="18000" bIns="3600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r" defTabSz="457200" rtl="0" eaLnBrk="1" fontAlgn="auto" latinLnBrk="0" hangingPunct="1">
              <a:lnSpc>
                <a:spcPct val="100000"/>
              </a:lnSpc>
              <a:spcBef>
                <a:spcPts val="0"/>
              </a:spcBef>
              <a:spcAft>
                <a:spcPts val="0"/>
              </a:spcAft>
              <a:buClrTx/>
              <a:buSzTx/>
              <a:buFontTx/>
              <a:buNone/>
              <a:tabLst/>
              <a:defRPr/>
            </a:pPr>
            <a:br>
              <a:rPr lang="fr-FR" sz="1100" dirty="0">
                <a:latin typeface="Verdana" pitchFamily="34" charset="0"/>
              </a:rPr>
            </a:br>
            <a:endParaRPr lang="fr-FR" sz="2400" dirty="0">
              <a:solidFill>
                <a:schemeClr val="bg1"/>
              </a:solidFill>
              <a:latin typeface="Verdana" pitchFamily="34" charset="0"/>
            </a:endParaRPr>
          </a:p>
          <a:p>
            <a:pPr algn="r"/>
            <a:br>
              <a:rPr lang="en-US" sz="2000" dirty="0">
                <a:latin typeface="Verdana" pitchFamily="34" charset="0"/>
              </a:rPr>
            </a:br>
            <a:br>
              <a:rPr lang="en-US" sz="2000" dirty="0">
                <a:latin typeface="Verdana" pitchFamily="34" charset="0"/>
              </a:rPr>
            </a:br>
            <a:r>
              <a:rPr lang="fr-FR" sz="2000" dirty="0">
                <a:solidFill>
                  <a:schemeClr val="bg1"/>
                </a:solidFill>
                <a:latin typeface="Verdana" pitchFamily="34" charset="0"/>
              </a:rPr>
              <a:t> </a:t>
            </a:r>
            <a:br>
              <a:rPr lang="fr-FR" sz="1100" dirty="0">
                <a:latin typeface="Verdana" pitchFamily="34" charset="0"/>
              </a:rPr>
            </a:br>
            <a:endParaRPr lang="en-GB" sz="1100" dirty="0">
              <a:latin typeface="Verdana" pitchFamily="34" charset="0"/>
            </a:endParaRPr>
          </a:p>
        </p:txBody>
      </p:sp>
      <p:sp>
        <p:nvSpPr>
          <p:cNvPr id="11" name="Rectangle 5">
            <a:extLst>
              <a:ext uri="{FF2B5EF4-FFF2-40B4-BE49-F238E27FC236}">
                <a16:creationId xmlns:a16="http://schemas.microsoft.com/office/drawing/2014/main" id="{76F4E89B-67F0-4F24-967F-B7960C6A6616}"/>
              </a:ext>
            </a:extLst>
          </p:cNvPr>
          <p:cNvSpPr>
            <a:spLocks noChangeArrowheads="1"/>
          </p:cNvSpPr>
          <p:nvPr/>
        </p:nvSpPr>
        <p:spPr bwMode="auto">
          <a:xfrm>
            <a:off x="2411760" y="2244436"/>
            <a:ext cx="4284662" cy="3020607"/>
          </a:xfrm>
          <a:prstGeom prst="rect">
            <a:avLst/>
          </a:prstGeom>
          <a:noFill/>
          <a:ln w="9525">
            <a:noFill/>
            <a:miter lim="800000"/>
            <a:headEnd/>
            <a:tailEnd/>
          </a:ln>
        </p:spPr>
        <p:txBody>
          <a:bodyPr wrap="none" anchor="ctr"/>
          <a:lstStyle/>
          <a:p>
            <a:pPr algn="r" defTabSz="914400"/>
            <a:r>
              <a:rPr lang="en-GB" sz="2000" dirty="0">
                <a:solidFill>
                  <a:schemeClr val="bg1"/>
                </a:solidFill>
                <a:latin typeface="Trebuchet MS" pitchFamily="34" charset="0"/>
                <a:cs typeface="Arial" pitchFamily="34" charset="0"/>
              </a:rPr>
              <a:t>Contrats de transport international</a:t>
            </a:r>
          </a:p>
          <a:p>
            <a:pPr algn="r" defTabSz="914400"/>
            <a:endParaRPr lang="en-GB" sz="2000" dirty="0">
              <a:solidFill>
                <a:schemeClr val="bg1"/>
              </a:solidFill>
              <a:latin typeface="Trebuchet MS" pitchFamily="34" charset="0"/>
              <a:cs typeface="Arial" pitchFamily="34" charset="0"/>
            </a:endParaRPr>
          </a:p>
          <a:p>
            <a:pPr algn="r" defTabSz="914400"/>
            <a:r>
              <a:rPr lang="en-GB" sz="1600" dirty="0">
                <a:solidFill>
                  <a:schemeClr val="bg1"/>
                </a:solidFill>
                <a:latin typeface="Trebuchet MS" pitchFamily="34" charset="0"/>
                <a:cs typeface="Arial" pitchFamily="34" charset="0"/>
              </a:rPr>
              <a:t>Pr. Philippe Corruble, EMN</a:t>
            </a:r>
          </a:p>
          <a:p>
            <a:pPr algn="r" defTabSz="914400"/>
            <a:r>
              <a:rPr lang="en-GB" sz="1600" dirty="0">
                <a:solidFill>
                  <a:schemeClr val="bg1"/>
                </a:solidFill>
                <a:latin typeface="Trebuchet MS" pitchFamily="34" charset="0"/>
                <a:cs typeface="Arial" pitchFamily="34" charset="0"/>
              </a:rPr>
              <a:t>Avocat</a:t>
            </a:r>
          </a:p>
          <a:p>
            <a:pPr algn="r" defTabSz="914400"/>
            <a:r>
              <a:rPr lang="en-GB" sz="1600" dirty="0">
                <a:solidFill>
                  <a:schemeClr val="bg1"/>
                </a:solidFill>
                <a:latin typeface="Trebuchet MS" pitchFamily="34" charset="0"/>
                <a:cs typeface="Arial" pitchFamily="34" charset="0"/>
              </a:rPr>
              <a:t>Stream, </a:t>
            </a:r>
            <a:r>
              <a:rPr lang="en-GB" sz="1600">
                <a:solidFill>
                  <a:schemeClr val="bg1"/>
                </a:solidFill>
                <a:latin typeface="Trebuchet MS" pitchFamily="34" charset="0"/>
                <a:cs typeface="Arial" pitchFamily="34" charset="0"/>
              </a:rPr>
              <a:t>avocats &amp; </a:t>
            </a:r>
            <a:r>
              <a:rPr lang="en-GB" sz="1600" dirty="0" err="1">
                <a:solidFill>
                  <a:schemeClr val="bg1"/>
                </a:solidFill>
                <a:latin typeface="Trebuchet MS" pitchFamily="34" charset="0"/>
                <a:cs typeface="Arial" pitchFamily="34" charset="0"/>
              </a:rPr>
              <a:t>solicitors</a:t>
            </a:r>
            <a:endParaRPr lang="en-GB" sz="1600" dirty="0">
              <a:solidFill>
                <a:schemeClr val="bg1"/>
              </a:solidFill>
              <a:latin typeface="Trebuchet MS" pitchFamily="34" charset="0"/>
              <a:cs typeface="Arial" pitchFamily="34" charset="0"/>
            </a:endParaRPr>
          </a:p>
          <a:p>
            <a:pPr algn="r" defTabSz="914400"/>
            <a:r>
              <a:rPr lang="en-GB" sz="1600" dirty="0">
                <a:solidFill>
                  <a:schemeClr val="bg1"/>
                </a:solidFill>
                <a:latin typeface="Trebuchet MS" pitchFamily="34" charset="0"/>
                <a:cs typeface="Arial" pitchFamily="34" charset="0"/>
              </a:rPr>
              <a:t>Barreau du Havre</a:t>
            </a:r>
          </a:p>
        </p:txBody>
      </p:sp>
    </p:spTree>
    <p:extLst>
      <p:ext uri="{BB962C8B-B14F-4D97-AF65-F5344CB8AC3E}">
        <p14:creationId xmlns:p14="http://schemas.microsoft.com/office/powerpoint/2010/main" val="24664116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algn="just">
              <a:lnSpc>
                <a:spcPct val="107000"/>
              </a:lnSpc>
              <a:spcAft>
                <a:spcPts val="800"/>
              </a:spcAft>
            </a:pPr>
            <a:r>
              <a:rPr lang="fr-FR" sz="2000" b="1" u="sng" dirty="0" err="1">
                <a:ea typeface="Times New Roman" panose="02020603050405020304" pitchFamily="18" charset="0"/>
                <a:cs typeface="Times New Roman" panose="02020603050405020304" pitchFamily="18" charset="0"/>
              </a:rPr>
              <a:t>Contrat </a:t>
            </a:r>
            <a:r>
              <a:rPr lang="fr-FR" sz="2000" b="1" u="sng" dirty="0">
                <a:ea typeface="Times New Roman" panose="02020603050405020304" pitchFamily="18" charset="0"/>
                <a:cs typeface="Times New Roman" panose="02020603050405020304" pitchFamily="18" charset="0"/>
              </a:rPr>
              <a:t>de </a:t>
            </a:r>
            <a:r>
              <a:rPr lang="fr-FR" sz="2000" b="1" u="sng" dirty="0" err="1">
                <a:ea typeface="Times New Roman" panose="02020603050405020304" pitchFamily="18" charset="0"/>
                <a:cs typeface="Times New Roman" panose="02020603050405020304" pitchFamily="18" charset="0"/>
              </a:rPr>
              <a:t>transport</a:t>
            </a:r>
            <a:r>
              <a:rPr lang="fr-FR" sz="2000" b="1" u="sng" dirty="0">
                <a:ea typeface="Times New Roman" panose="02020603050405020304" pitchFamily="18" charset="0"/>
                <a:cs typeface="Times New Roman" panose="02020603050405020304" pitchFamily="18" charset="0"/>
              </a:rPr>
              <a:t> maritime </a:t>
            </a:r>
            <a:r>
              <a:rPr lang="fr-FR" sz="2000" dirty="0">
                <a:effectLst/>
                <a:ea typeface="Times New Roman" panose="02020603050405020304" pitchFamily="18" charset="0"/>
                <a:cs typeface="Times New Roman" panose="02020603050405020304" pitchFamily="18" charset="0"/>
              </a:rPr>
              <a:t>= </a:t>
            </a:r>
            <a:r>
              <a:rPr lang="fr-FR" sz="2000" dirty="0" err="1">
                <a:effectLst/>
                <a:ea typeface="Times New Roman" panose="02020603050405020304" pitchFamily="18" charset="0"/>
                <a:cs typeface="Times New Roman" panose="02020603050405020304" pitchFamily="18" charset="0"/>
              </a:rPr>
              <a:t>tout contrat </a:t>
            </a:r>
            <a:r>
              <a:rPr lang="fr-FR" sz="2000" dirty="0">
                <a:effectLst/>
                <a:ea typeface="Times New Roman" panose="02020603050405020304" pitchFamily="18" charset="0"/>
                <a:cs typeface="Times New Roman" panose="02020603050405020304" pitchFamily="18" charset="0"/>
              </a:rPr>
              <a:t>par </a:t>
            </a:r>
            <a:r>
              <a:rPr lang="fr-FR" sz="2000" dirty="0" err="1">
                <a:effectLst/>
                <a:ea typeface="Times New Roman" panose="02020603050405020304" pitchFamily="18" charset="0"/>
                <a:cs typeface="Times New Roman" panose="02020603050405020304" pitchFamily="18" charset="0"/>
              </a:rPr>
              <a:t>lequel </a:t>
            </a:r>
            <a:r>
              <a:rPr lang="fr-FR" sz="2000" dirty="0">
                <a:effectLst/>
                <a:ea typeface="Times New Roman" panose="02020603050405020304" pitchFamily="18" charset="0"/>
                <a:cs typeface="Times New Roman" panose="02020603050405020304" pitchFamily="18" charset="0"/>
              </a:rPr>
              <a:t>un transporteur </a:t>
            </a:r>
            <a:r>
              <a:rPr lang="fr-FR" sz="2000" dirty="0" err="1">
                <a:effectLst/>
                <a:ea typeface="Times New Roman" panose="02020603050405020304" pitchFamily="18" charset="0"/>
                <a:cs typeface="Times New Roman" panose="02020603050405020304" pitchFamily="18" charset="0"/>
              </a:rPr>
              <a:t>s'engage</a:t>
            </a:r>
            <a:r>
              <a:rPr lang="fr-FR" sz="2000" dirty="0">
                <a:effectLst/>
                <a:ea typeface="Times New Roman" panose="02020603050405020304" pitchFamily="18" charset="0"/>
                <a:cs typeface="Times New Roman" panose="02020603050405020304" pitchFamily="18" charset="0"/>
              </a:rPr>
              <a:t>, moyennant </a:t>
            </a:r>
            <a:r>
              <a:rPr lang="fr-FR" sz="2000" dirty="0" err="1">
                <a:effectLst/>
                <a:ea typeface="Times New Roman" panose="02020603050405020304" pitchFamily="18" charset="0"/>
                <a:cs typeface="Times New Roman" panose="02020603050405020304" pitchFamily="18" charset="0"/>
              </a:rPr>
              <a:t>le paiement </a:t>
            </a:r>
            <a:r>
              <a:rPr lang="fr-FR" sz="2000" dirty="0">
                <a:effectLst/>
                <a:ea typeface="Times New Roman" panose="02020603050405020304" pitchFamily="18" charset="0"/>
                <a:cs typeface="Times New Roman" panose="02020603050405020304" pitchFamily="18" charset="0"/>
              </a:rPr>
              <a:t>d'un </a:t>
            </a:r>
            <a:r>
              <a:rPr lang="fr-FR" sz="2000" dirty="0" err="1">
                <a:effectLst/>
                <a:ea typeface="Times New Roman" panose="02020603050405020304" pitchFamily="18" charset="0"/>
                <a:cs typeface="Times New Roman" panose="02020603050405020304" pitchFamily="18" charset="0"/>
              </a:rPr>
              <a:t>fret</a:t>
            </a:r>
            <a:r>
              <a:rPr lang="fr-FR" sz="2000" dirty="0">
                <a:effectLst/>
                <a:ea typeface="Times New Roman" panose="02020603050405020304" pitchFamily="18" charset="0"/>
                <a:cs typeface="Times New Roman" panose="02020603050405020304" pitchFamily="18" charset="0"/>
              </a:rPr>
              <a:t>, à transporter </a:t>
            </a:r>
            <a:r>
              <a:rPr lang="fr-FR" sz="2000" dirty="0" err="1">
                <a:effectLst/>
                <a:ea typeface="Times New Roman" panose="02020603050405020304" pitchFamily="18" charset="0"/>
                <a:cs typeface="Times New Roman" panose="02020603050405020304" pitchFamily="18" charset="0"/>
              </a:rPr>
              <a:t>des marchandises </a:t>
            </a:r>
            <a:r>
              <a:rPr lang="fr-FR" sz="2000" dirty="0">
                <a:effectLst/>
                <a:ea typeface="Times New Roman" panose="02020603050405020304" pitchFamily="18" charset="0"/>
                <a:cs typeface="Times New Roman" panose="02020603050405020304" pitchFamily="18" charset="0"/>
              </a:rPr>
              <a:t>d'un port à </a:t>
            </a:r>
            <a:r>
              <a:rPr lang="fr-FR" sz="2000" dirty="0" err="1">
                <a:effectLst/>
                <a:ea typeface="Times New Roman" panose="02020603050405020304" pitchFamily="18" charset="0"/>
                <a:cs typeface="Times New Roman" panose="02020603050405020304" pitchFamily="18" charset="0"/>
              </a:rPr>
              <a:t>un autre</a:t>
            </a:r>
            <a:r>
              <a:rPr lang="fr-FR" sz="2000" dirty="0">
                <a:effectLst/>
                <a:ea typeface="Times New Roman" panose="02020603050405020304" pitchFamily="18" charset="0"/>
                <a:cs typeface="Times New Roman" panose="02020603050405020304" pitchFamily="18" charset="0"/>
              </a:rPr>
              <a:t>.</a:t>
            </a:r>
          </a:p>
          <a:p>
            <a:pPr marL="0" indent="0" algn="just">
              <a:lnSpc>
                <a:spcPct val="107000"/>
              </a:lnSpc>
              <a:spcAft>
                <a:spcPts val="800"/>
              </a:spcAft>
              <a:buNone/>
            </a:pPr>
            <a:endParaRPr lang="fr-FR" sz="2000" dirty="0">
              <a:effectLst/>
              <a:ea typeface="Calibri" panose="020F0502020204030204" pitchFamily="34" charset="0"/>
              <a:cs typeface="Times New Roman" panose="02020603050405020304" pitchFamily="18" charset="0"/>
            </a:endParaRPr>
          </a:p>
          <a:p>
            <a:pPr algn="just">
              <a:lnSpc>
                <a:spcPct val="107000"/>
              </a:lnSpc>
              <a:spcAft>
                <a:spcPts val="800"/>
              </a:spcAft>
            </a:pPr>
            <a:r>
              <a:rPr lang="fr-FR" sz="2000" b="1" u="sng" dirty="0" err="1">
                <a:ea typeface="Times New Roman" panose="02020603050405020304" pitchFamily="18" charset="0"/>
                <a:cs typeface="Times New Roman" panose="02020603050405020304" pitchFamily="18" charset="0"/>
              </a:rPr>
              <a:t>Transport terrestre </a:t>
            </a:r>
            <a:r>
              <a:rPr lang="fr-FR" sz="2000" dirty="0">
                <a:effectLst/>
                <a:ea typeface="Times New Roman" panose="02020603050405020304" pitchFamily="18" charset="0"/>
                <a:cs typeface="Times New Roman" panose="02020603050405020304" pitchFamily="18" charset="0"/>
              </a:rPr>
              <a:t>= partie non maritime d'un transport multimodal </a:t>
            </a:r>
            <a:r>
              <a:rPr lang="fr-FR" sz="2000" dirty="0" err="1">
                <a:effectLst/>
                <a:ea typeface="Times New Roman" panose="02020603050405020304" pitchFamily="18" charset="0"/>
                <a:cs typeface="Times New Roman" panose="02020603050405020304" pitchFamily="18" charset="0"/>
              </a:rPr>
              <a:t>précédant </a:t>
            </a:r>
            <a:r>
              <a:rPr lang="fr-FR" sz="2000" dirty="0">
                <a:effectLst/>
                <a:ea typeface="Times New Roman" panose="02020603050405020304" pitchFamily="18" charset="0"/>
                <a:cs typeface="Times New Roman" panose="02020603050405020304" pitchFamily="18" charset="0"/>
              </a:rPr>
              <a:t>la partie maritime (</a:t>
            </a:r>
            <a:r>
              <a:rPr lang="fr-FR" sz="2000" dirty="0" err="1">
                <a:effectLst/>
                <a:ea typeface="Times New Roman" panose="02020603050405020304" pitchFamily="18" charset="0"/>
                <a:cs typeface="Times New Roman" panose="02020603050405020304" pitchFamily="18" charset="0"/>
              </a:rPr>
              <a:t>pré-acheminement</a:t>
            </a:r>
            <a:r>
              <a:rPr lang="fr-FR" sz="2000" dirty="0">
                <a:effectLst/>
                <a:ea typeface="Times New Roman" panose="02020603050405020304" pitchFamily="18" charset="0"/>
                <a:cs typeface="Times New Roman" panose="02020603050405020304" pitchFamily="18" charset="0"/>
              </a:rPr>
              <a:t>) ou </a:t>
            </a:r>
            <a:r>
              <a:rPr lang="fr-FR" sz="2000" dirty="0" err="1">
                <a:effectLst/>
                <a:ea typeface="Times New Roman" panose="02020603050405020304" pitchFamily="18" charset="0"/>
                <a:cs typeface="Times New Roman" panose="02020603050405020304" pitchFamily="18" charset="0"/>
              </a:rPr>
              <a:t>la suivant </a:t>
            </a:r>
            <a:r>
              <a:rPr lang="fr-FR" sz="2000" dirty="0">
                <a:effectLst/>
                <a:ea typeface="Times New Roman" panose="02020603050405020304" pitchFamily="18" charset="0"/>
                <a:cs typeface="Times New Roman" panose="02020603050405020304" pitchFamily="18" charset="0"/>
              </a:rPr>
              <a:t>(</a:t>
            </a:r>
            <a:r>
              <a:rPr lang="fr-FR" sz="2000" dirty="0" err="1">
                <a:effectLst/>
                <a:ea typeface="Times New Roman" panose="02020603050405020304" pitchFamily="18" charset="0"/>
                <a:cs typeface="Times New Roman" panose="02020603050405020304" pitchFamily="18" charset="0"/>
              </a:rPr>
              <a:t>post-acheminement</a:t>
            </a:r>
            <a:r>
              <a:rPr lang="fr-FR" sz="2000" dirty="0">
                <a:effectLst/>
                <a:ea typeface="Times New Roman" panose="02020603050405020304" pitchFamily="18" charset="0"/>
                <a:cs typeface="Times New Roman" panose="02020603050405020304" pitchFamily="18" charset="0"/>
              </a:rPr>
              <a:t>).</a:t>
            </a:r>
            <a:endParaRPr lang="fr-FR" sz="2000" dirty="0">
              <a:effectLst/>
              <a:ea typeface="Calibri" panose="020F0502020204030204" pitchFamily="34" charset="0"/>
              <a:cs typeface="Times New Roman" panose="02020603050405020304" pitchFamily="18" charset="0"/>
            </a:endParaRP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a:bodyPr>
          <a:lstStyle/>
          <a:p>
            <a:pPr algn="ctr"/>
            <a:r>
              <a:rPr lang="fr-FR" dirty="0" err="1">
                <a:solidFill>
                  <a:schemeClr val="bg1"/>
                </a:solidFill>
                <a:latin typeface="Franklin Gothic Book" panose="020B0503020102020204" pitchFamily="34" charset="0"/>
              </a:rPr>
              <a:t>Droit</a:t>
            </a:r>
            <a:r>
              <a:rPr lang="fr-FR" dirty="0">
                <a:solidFill>
                  <a:schemeClr val="bg1"/>
                </a:solidFill>
                <a:latin typeface="Franklin Gothic Book" panose="020B0503020102020204" pitchFamily="34" charset="0"/>
              </a:rPr>
              <a:t> des transports : </a:t>
            </a:r>
            <a:r>
              <a:rPr lang="fr-FR" dirty="0" err="1">
                <a:solidFill>
                  <a:schemeClr val="bg1"/>
                </a:solidFill>
                <a:latin typeface="Franklin Gothic Book" panose="020B0503020102020204" pitchFamily="34" charset="0"/>
              </a:rPr>
              <a:t>glossaire</a:t>
            </a:r>
            <a:endParaRPr lang="fr-FR" dirty="0">
              <a:solidFill>
                <a:schemeClr val="bg1"/>
              </a:solidFill>
              <a:latin typeface="Franklin Gothic Book" panose="020B0503020102020204" pitchFamily="34" charset="0"/>
            </a:endParaRP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31420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201165" y="1719071"/>
            <a:ext cx="8741670" cy="4407408"/>
          </a:xfrm>
        </p:spPr>
        <p:txBody>
          <a:bodyPr>
            <a:normAutofit/>
          </a:bodyPr>
          <a:lstStyle/>
          <a:p>
            <a:pPr marL="0" indent="0" algn="ctr">
              <a:lnSpc>
                <a:spcPct val="107000"/>
              </a:lnSpc>
              <a:spcAft>
                <a:spcPts val="800"/>
              </a:spcAft>
              <a:buNone/>
            </a:pPr>
            <a:r>
              <a:rPr lang="en-US" sz="2400" dirty="0">
                <a:ea typeface="Times New Roman" panose="02020603050405020304" pitchFamily="18" charset="0"/>
                <a:cs typeface="Times New Roman" panose="02020603050405020304" pitchFamily="18" charset="0"/>
              </a:rPr>
              <a:t>LCL = </a:t>
            </a:r>
            <a:r>
              <a:rPr lang="en-US" sz="2400" i="1" dirty="0">
                <a:ea typeface="Times New Roman" panose="02020603050405020304" pitchFamily="18" charset="0"/>
                <a:cs typeface="Times New Roman" panose="02020603050405020304" pitchFamily="18" charset="0"/>
              </a:rPr>
              <a:t>chargement partiel d'un conteneur</a:t>
            </a:r>
            <a:r>
              <a:rPr lang="en-US" sz="2400" dirty="0">
                <a:ea typeface="Times New Roman" panose="02020603050405020304" pitchFamily="18" charset="0"/>
                <a:cs typeface="Times New Roman" panose="02020603050405020304" pitchFamily="18" charset="0"/>
              </a:rPr>
              <a:t>. FCL = </a:t>
            </a:r>
            <a:r>
              <a:rPr lang="en-US" sz="2400" i="1" dirty="0">
                <a:ea typeface="Times New Roman" panose="02020603050405020304" pitchFamily="18" charset="0"/>
                <a:cs typeface="Times New Roman" panose="02020603050405020304" pitchFamily="18" charset="0"/>
              </a:rPr>
              <a:t>chargement complet d'un conteneur</a:t>
            </a:r>
            <a:r>
              <a:rPr lang="en-US" sz="2400" dirty="0">
                <a:ea typeface="Times New Roman" panose="02020603050405020304" pitchFamily="18" charset="0"/>
                <a:cs typeface="Times New Roman" panose="02020603050405020304" pitchFamily="18" charset="0"/>
              </a:rPr>
              <a:t>.</a:t>
            </a:r>
          </a:p>
          <a:p>
            <a:pPr algn="l">
              <a:lnSpc>
                <a:spcPct val="107000"/>
              </a:lnSpc>
              <a:spcAft>
                <a:spcPts val="800"/>
              </a:spcAft>
              <a:buFont typeface="Wingdings" panose="05000000000000000000" pitchFamily="2" charset="2"/>
              <a:buChar char="Ø"/>
            </a:pPr>
            <a:r>
              <a:rPr lang="en-US" sz="1800" b="1" u="sng" dirty="0">
                <a:ea typeface="Times New Roman" panose="02020603050405020304" pitchFamily="18" charset="0"/>
                <a:cs typeface="Times New Roman" panose="02020603050405020304" pitchFamily="18" charset="0"/>
              </a:rPr>
              <a:t>FCL/FCL </a:t>
            </a:r>
            <a:r>
              <a:rPr lang="en-US" sz="1800" dirty="0">
                <a:ea typeface="Times New Roman" panose="02020603050405020304" pitchFamily="18" charset="0"/>
                <a:cs typeface="Times New Roman" panose="02020603050405020304" pitchFamily="18" charset="0"/>
              </a:rPr>
              <a:t>= conteneur chargé à domicile et livré à domicile.</a:t>
            </a:r>
          </a:p>
          <a:p>
            <a:pPr algn="l">
              <a:lnSpc>
                <a:spcPct val="107000"/>
              </a:lnSpc>
              <a:spcAft>
                <a:spcPts val="800"/>
              </a:spcAft>
              <a:buFont typeface="Wingdings" panose="05000000000000000000" pitchFamily="2" charset="2"/>
              <a:buChar char="Ø"/>
            </a:pPr>
            <a:r>
              <a:rPr lang="en-US" sz="1800" b="1" u="sng" dirty="0">
                <a:ea typeface="Times New Roman" panose="02020603050405020304" pitchFamily="18" charset="0"/>
                <a:cs typeface="Times New Roman" panose="02020603050405020304" pitchFamily="18" charset="0"/>
              </a:rPr>
              <a:t>FCL/LCL </a:t>
            </a:r>
            <a:r>
              <a:rPr lang="en-US" sz="1800" dirty="0">
                <a:ea typeface="Times New Roman" panose="02020603050405020304" pitchFamily="18" charset="0"/>
                <a:cs typeface="Times New Roman" panose="02020603050405020304" pitchFamily="18" charset="0"/>
              </a:rPr>
              <a:t>= conteneur chargé à domicile mais livré au port de déchargement.</a:t>
            </a:r>
          </a:p>
          <a:p>
            <a:pPr algn="l">
              <a:lnSpc>
                <a:spcPct val="107000"/>
              </a:lnSpc>
              <a:spcAft>
                <a:spcPts val="800"/>
              </a:spcAft>
              <a:buFont typeface="Wingdings" panose="05000000000000000000" pitchFamily="2" charset="2"/>
              <a:buChar char="Ø"/>
            </a:pPr>
            <a:r>
              <a:rPr lang="en-US" sz="1800" b="1" u="sng" dirty="0">
                <a:ea typeface="Times New Roman" panose="02020603050405020304" pitchFamily="18" charset="0"/>
                <a:cs typeface="Times New Roman" panose="02020603050405020304" pitchFamily="18" charset="0"/>
              </a:rPr>
              <a:t>LCL/LCL </a:t>
            </a:r>
            <a:r>
              <a:rPr lang="en-US" sz="1800" dirty="0">
                <a:ea typeface="Times New Roman" panose="02020603050405020304" pitchFamily="18" charset="0"/>
                <a:cs typeface="Times New Roman" panose="02020603050405020304" pitchFamily="18" charset="0"/>
              </a:rPr>
              <a:t>= conteneur chargé au port d'embarquement et livré au port de déchargement.</a:t>
            </a:r>
          </a:p>
          <a:p>
            <a:pPr algn="l">
              <a:lnSpc>
                <a:spcPct val="107000"/>
              </a:lnSpc>
              <a:spcAft>
                <a:spcPts val="800"/>
              </a:spcAft>
              <a:buFont typeface="Wingdings" panose="05000000000000000000" pitchFamily="2" charset="2"/>
              <a:buChar char="Ø"/>
            </a:pPr>
            <a:r>
              <a:rPr lang="en-US" sz="1800" b="1" u="sng" dirty="0">
                <a:ea typeface="Times New Roman" panose="02020603050405020304" pitchFamily="18" charset="0"/>
                <a:cs typeface="Times New Roman" panose="02020603050405020304" pitchFamily="18" charset="0"/>
              </a:rPr>
              <a:t>LCL/FCL </a:t>
            </a:r>
            <a:r>
              <a:rPr lang="en-US" sz="1800" dirty="0">
                <a:ea typeface="Times New Roman" panose="02020603050405020304" pitchFamily="18" charset="0"/>
                <a:cs typeface="Times New Roman" panose="02020603050405020304" pitchFamily="18" charset="0"/>
              </a:rPr>
              <a:t>= conteneur chargé au port d'expédition mais livré à domicile ou au lieu de livraison convenu.</a:t>
            </a:r>
            <a:endParaRPr lang="fr-FR" sz="1800" dirty="0">
              <a:effectLst/>
              <a:ea typeface="Calibri" panose="020F0502020204030204" pitchFamily="34" charset="0"/>
              <a:cs typeface="Times New Roman" panose="02020603050405020304" pitchFamily="18" charset="0"/>
            </a:endParaRP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a:bodyPr>
          <a:lstStyle/>
          <a:p>
            <a:pPr algn="ctr"/>
            <a:r>
              <a:rPr lang="fr-FR" dirty="0" err="1">
                <a:solidFill>
                  <a:schemeClr val="bg1"/>
                </a:solidFill>
                <a:latin typeface="Franklin Gothic Book" panose="020B0503020102020204" pitchFamily="34" charset="0"/>
              </a:rPr>
              <a:t>Droit</a:t>
            </a:r>
            <a:r>
              <a:rPr lang="fr-FR" dirty="0">
                <a:solidFill>
                  <a:schemeClr val="bg1"/>
                </a:solidFill>
                <a:latin typeface="Franklin Gothic Book" panose="020B0503020102020204" pitchFamily="34" charset="0"/>
              </a:rPr>
              <a:t> des transports : </a:t>
            </a:r>
            <a:r>
              <a:rPr lang="fr-FR" dirty="0" err="1">
                <a:solidFill>
                  <a:schemeClr val="bg1"/>
                </a:solidFill>
                <a:latin typeface="Franklin Gothic Book" panose="020B0503020102020204" pitchFamily="34" charset="0"/>
              </a:rPr>
              <a:t>glossaire</a:t>
            </a:r>
            <a:endParaRPr lang="fr-FR" dirty="0">
              <a:solidFill>
                <a:schemeClr val="bg1"/>
              </a:solidFill>
              <a:latin typeface="Franklin Gothic Book" panose="020B0503020102020204" pitchFamily="34" charset="0"/>
            </a:endParaRP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8069157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algn="just">
              <a:lnSpc>
                <a:spcPct val="107000"/>
              </a:lnSpc>
              <a:spcAft>
                <a:spcPts val="800"/>
              </a:spcAft>
            </a:pPr>
            <a:r>
              <a:rPr lang="en-US" sz="2200" dirty="0"/>
              <a:t>Avant d'étudier le droit des transports, il convient de distinguer les différents modes de transport.</a:t>
            </a:r>
          </a:p>
          <a:p>
            <a:pPr algn="just">
              <a:lnSpc>
                <a:spcPct val="107000"/>
              </a:lnSpc>
              <a:spcAft>
                <a:spcPts val="800"/>
              </a:spcAft>
            </a:pPr>
            <a:r>
              <a:rPr lang="en-US" sz="2200" dirty="0"/>
              <a:t>D'un point de vue juridique, les modes de transport présentent des points communs et des différences.</a:t>
            </a:r>
            <a:endParaRPr lang="fr-FR" sz="2200" dirty="0"/>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a:bodyPr>
          <a:lstStyle/>
          <a:p>
            <a:pPr algn="ctr"/>
            <a:r>
              <a:rPr lang="fr-FR" dirty="0" err="1">
                <a:solidFill>
                  <a:schemeClr val="bg1"/>
                </a:solidFill>
                <a:latin typeface="Franklin Gothic Book" panose="020B0503020102020204" pitchFamily="34" charset="0"/>
              </a:rPr>
              <a:t>Droit</a:t>
            </a:r>
            <a:r>
              <a:rPr lang="fr-FR" dirty="0">
                <a:solidFill>
                  <a:schemeClr val="bg1"/>
                </a:solidFill>
                <a:latin typeface="Franklin Gothic Book" panose="020B0503020102020204" pitchFamily="34" charset="0"/>
              </a:rPr>
              <a:t> des transports : introduction</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684267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dirty="0" err="1"/>
              <a:t>Trois </a:t>
            </a:r>
            <a:r>
              <a:rPr lang="fr-FR" sz="2200" dirty="0"/>
              <a:t>modes de transport :</a:t>
            </a:r>
          </a:p>
          <a:p>
            <a:pPr algn="ctr">
              <a:lnSpc>
                <a:spcPct val="107000"/>
              </a:lnSpc>
              <a:spcAft>
                <a:spcPts val="800"/>
              </a:spcAft>
              <a:buFontTx/>
              <a:buChar char="-"/>
            </a:pPr>
            <a:r>
              <a:rPr lang="fr-FR" sz="2200" dirty="0"/>
              <a:t>Transport maritime</a:t>
            </a:r>
          </a:p>
          <a:p>
            <a:pPr algn="ctr">
              <a:lnSpc>
                <a:spcPct val="107000"/>
              </a:lnSpc>
              <a:spcAft>
                <a:spcPts val="800"/>
              </a:spcAft>
              <a:buFontTx/>
              <a:buChar char="-"/>
            </a:pPr>
            <a:r>
              <a:rPr lang="fr-FR" sz="2200" dirty="0"/>
              <a:t>Transport terrestre (route, </a:t>
            </a:r>
            <a:r>
              <a:rPr lang="fr-FR" sz="2200" dirty="0" err="1"/>
              <a:t>voie navigable intérieure</a:t>
            </a:r>
            <a:r>
              <a:rPr lang="fr-FR" sz="2200" dirty="0"/>
              <a:t>, rail)</a:t>
            </a:r>
          </a:p>
          <a:p>
            <a:pPr algn="ctr">
              <a:lnSpc>
                <a:spcPct val="107000"/>
              </a:lnSpc>
              <a:spcAft>
                <a:spcPts val="800"/>
              </a:spcAft>
              <a:buFontTx/>
              <a:buChar char="-"/>
            </a:pPr>
            <a:r>
              <a:rPr lang="fr-FR" sz="2200" dirty="0"/>
              <a:t>Transport aérien</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a:bodyPr>
          <a:lstStyle/>
          <a:p>
            <a:pPr algn="ctr"/>
            <a:r>
              <a:rPr lang="fr-FR" dirty="0" err="1">
                <a:solidFill>
                  <a:schemeClr val="bg1"/>
                </a:solidFill>
                <a:latin typeface="Franklin Gothic Book" panose="020B0503020102020204" pitchFamily="34" charset="0"/>
              </a:rPr>
              <a:t>Droit</a:t>
            </a:r>
            <a:r>
              <a:rPr lang="fr-FR" dirty="0">
                <a:solidFill>
                  <a:schemeClr val="bg1"/>
                </a:solidFill>
                <a:latin typeface="Franklin Gothic Book" panose="020B0503020102020204" pitchFamily="34" charset="0"/>
              </a:rPr>
              <a:t> des transports : introduction</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47204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dirty="0"/>
              <a:t>- </a:t>
            </a:r>
            <a:r>
              <a:rPr lang="fr-FR" sz="2200" dirty="0" err="1"/>
              <a:t>Droit</a:t>
            </a:r>
            <a:r>
              <a:rPr lang="fr-FR" sz="2200" dirty="0"/>
              <a:t> international et </a:t>
            </a:r>
            <a:r>
              <a:rPr lang="fr-FR" sz="2200" dirty="0" err="1"/>
              <a:t>droit</a:t>
            </a:r>
            <a:r>
              <a:rPr lang="fr-FR" sz="2200" dirty="0"/>
              <a:t> national</a:t>
            </a:r>
          </a:p>
          <a:p>
            <a:pPr algn="ctr">
              <a:lnSpc>
                <a:spcPct val="107000"/>
              </a:lnSpc>
              <a:spcAft>
                <a:spcPts val="800"/>
              </a:spcAft>
              <a:buFontTx/>
              <a:buChar char="-"/>
            </a:pPr>
            <a:r>
              <a:rPr lang="fr-FR" sz="2200" dirty="0"/>
              <a:t>Un document de transport </a:t>
            </a:r>
            <a:r>
              <a:rPr lang="fr-FR" sz="2200" dirty="0" err="1"/>
              <a:t>représentant </a:t>
            </a:r>
            <a:r>
              <a:rPr lang="fr-FR" sz="2200" dirty="0"/>
              <a:t>le </a:t>
            </a:r>
            <a:r>
              <a:rPr lang="fr-FR" sz="2200" dirty="0" err="1"/>
              <a:t>contrat de transport</a:t>
            </a:r>
            <a:endParaRPr lang="fr-FR" sz="2200" dirty="0"/>
          </a:p>
          <a:p>
            <a:pPr algn="ctr">
              <a:lnSpc>
                <a:spcPct val="107000"/>
              </a:lnSpc>
              <a:spcAft>
                <a:spcPts val="800"/>
              </a:spcAft>
              <a:buFontTx/>
              <a:buChar char="-"/>
            </a:pPr>
            <a:r>
              <a:rPr lang="fr-FR" sz="2200" dirty="0"/>
              <a:t>Informations clés figurant sur </a:t>
            </a:r>
            <a:r>
              <a:rPr lang="fr-FR" sz="2200" dirty="0" err="1"/>
              <a:t>ce </a:t>
            </a:r>
            <a:r>
              <a:rPr lang="fr-FR" sz="2200" dirty="0"/>
              <a:t>document de transport </a:t>
            </a:r>
            <a:r>
              <a:rPr lang="fr-FR" sz="2000" dirty="0"/>
              <a:t>(</a:t>
            </a:r>
            <a:r>
              <a:rPr lang="en-US" sz="1800" i="1" dirty="0"/>
              <a:t>Qui a pris en charge les marchandises ? Dans quel état les marchandises ont-elles été prises en charge ?)</a:t>
            </a:r>
          </a:p>
          <a:p>
            <a:pPr algn="ctr">
              <a:lnSpc>
                <a:spcPct val="107000"/>
              </a:lnSpc>
              <a:spcAft>
                <a:spcPts val="800"/>
              </a:spcAft>
              <a:buFontTx/>
              <a:buChar char="-"/>
            </a:pPr>
            <a:r>
              <a:rPr lang="en-US" sz="2200" dirty="0"/>
              <a:t>Responsabilité du transporteur pour le transport des marchandises du point A au point B </a:t>
            </a:r>
            <a:r>
              <a:rPr lang="en-US" sz="2000" dirty="0"/>
              <a:t>(</a:t>
            </a:r>
            <a:r>
              <a:rPr lang="en-US" sz="1800" i="1" dirty="0"/>
              <a:t>limitation de la responsabilité du transporteur, nécessité pour l'expéditeur de faire des réserves, délai de prescription court pour limiter l'exposition du transporteur</a:t>
            </a:r>
            <a:r>
              <a:rPr lang="en-US" sz="1800" dirty="0"/>
              <a:t>)</a:t>
            </a:r>
            <a:endParaRPr lang="fr-FR" sz="1800" dirty="0"/>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fontScale="90000"/>
          </a:bodyPr>
          <a:lstStyle/>
          <a:p>
            <a:pPr algn="ctr"/>
            <a:r>
              <a:rPr lang="fr-FR" dirty="0" err="1">
                <a:solidFill>
                  <a:schemeClr val="bg1"/>
                </a:solidFill>
                <a:latin typeface="Franklin Gothic Book" panose="020B0503020102020204" pitchFamily="34" charset="0"/>
              </a:rPr>
              <a:t>Points communs entre </a:t>
            </a:r>
            <a:r>
              <a:rPr lang="fr-FR" dirty="0">
                <a:solidFill>
                  <a:schemeClr val="bg1"/>
                </a:solidFill>
                <a:latin typeface="Franklin Gothic Book" panose="020B0503020102020204" pitchFamily="34" charset="0"/>
              </a:rPr>
              <a:t>les modes de transport</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868949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u="sng" dirty="0" err="1"/>
              <a:t>Droit</a:t>
            </a:r>
            <a:r>
              <a:rPr lang="fr-FR" sz="2200" u="sng" dirty="0"/>
              <a:t> international : </a:t>
            </a:r>
            <a:r>
              <a:rPr lang="fr-FR" sz="2200" dirty="0"/>
              <a:t>Convention de Bruxelles (1924)</a:t>
            </a:r>
          </a:p>
          <a:p>
            <a:pPr marL="0" indent="0" algn="ctr">
              <a:lnSpc>
                <a:spcPct val="107000"/>
              </a:lnSpc>
              <a:spcAft>
                <a:spcPts val="800"/>
              </a:spcAft>
              <a:buNone/>
            </a:pPr>
            <a:r>
              <a:rPr lang="fr-FR" sz="2200" u="sng" dirty="0" err="1"/>
              <a:t>Droit</a:t>
            </a:r>
            <a:r>
              <a:rPr lang="fr-FR" sz="2200" u="sng" dirty="0"/>
              <a:t> français : </a:t>
            </a:r>
            <a:r>
              <a:rPr lang="fr-FR" sz="2200" dirty="0"/>
              <a:t>« Code des transports » (5e partie)</a:t>
            </a:r>
          </a:p>
          <a:p>
            <a:pPr marL="0" indent="0" algn="ctr">
              <a:lnSpc>
                <a:spcPct val="107000"/>
              </a:lnSpc>
              <a:spcAft>
                <a:spcPts val="800"/>
              </a:spcAft>
              <a:buNone/>
            </a:pPr>
            <a:r>
              <a:rPr lang="fr-FR" sz="2200" u="sng" dirty="0"/>
              <a:t>Document de </a:t>
            </a:r>
            <a:r>
              <a:rPr lang="fr-FR" sz="2200" dirty="0" err="1"/>
              <a:t>transport</a:t>
            </a:r>
            <a:r>
              <a:rPr lang="fr-FR" sz="2200" u="sng" dirty="0"/>
              <a:t> : </a:t>
            </a:r>
            <a:r>
              <a:rPr lang="fr-FR" sz="2200" dirty="0"/>
              <a:t>connaissement maritime (B/L)</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3600" dirty="0">
                <a:solidFill>
                  <a:schemeClr val="bg1"/>
                </a:solidFill>
                <a:latin typeface="Franklin Gothic Book" panose="020B0503020102020204" pitchFamily="34" charset="0"/>
              </a:rPr>
              <a:t>Les </a:t>
            </a:r>
            <a:r>
              <a:rPr lang="fr-FR" sz="3600" dirty="0" err="1">
                <a:solidFill>
                  <a:schemeClr val="bg1"/>
                </a:solidFill>
                <a:latin typeface="Franklin Gothic Book" panose="020B0503020102020204" pitchFamily="34" charset="0"/>
              </a:rPr>
              <a:t>spécificités </a:t>
            </a:r>
            <a:r>
              <a:rPr lang="fr-FR" sz="3600" dirty="0">
                <a:solidFill>
                  <a:schemeClr val="bg1"/>
                </a:solidFill>
                <a:latin typeface="Franklin Gothic Book" panose="020B0503020102020204" pitchFamily="34" charset="0"/>
              </a:rPr>
              <a:t>du transport maritime</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572748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Espace réservé du contenu 2" descr="Une image contenant texte, reçu&#10;&#10;Description générée automatiquement">
            <a:extLst>
              <a:ext uri="{FF2B5EF4-FFF2-40B4-BE49-F238E27FC236}">
                <a16:creationId xmlns:a16="http://schemas.microsoft.com/office/drawing/2014/main" id="{E63B7777-2537-47FD-8A6E-46469643242D}"/>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39815" y="0"/>
            <a:ext cx="5495193" cy="6858000"/>
          </a:xfrm>
        </p:spPr>
      </p:pic>
    </p:spTree>
    <p:extLst>
      <p:ext uri="{BB962C8B-B14F-4D97-AF65-F5344CB8AC3E}">
        <p14:creationId xmlns:p14="http://schemas.microsoft.com/office/powerpoint/2010/main" val="172052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u="sng" dirty="0" err="1"/>
              <a:t>Droit</a:t>
            </a:r>
            <a:r>
              <a:rPr lang="fr-FR" sz="2200" u="sng" dirty="0"/>
              <a:t> international : </a:t>
            </a:r>
            <a:r>
              <a:rPr lang="fr-FR" sz="2200" dirty="0"/>
              <a:t>Convention CMR (1956)</a:t>
            </a:r>
          </a:p>
          <a:p>
            <a:pPr marL="0" indent="0" algn="ctr">
              <a:lnSpc>
                <a:spcPct val="107000"/>
              </a:lnSpc>
              <a:spcAft>
                <a:spcPts val="800"/>
              </a:spcAft>
              <a:buNone/>
            </a:pPr>
            <a:r>
              <a:rPr lang="fr-FR" sz="2200" u="sng" dirty="0" err="1"/>
              <a:t>Droit</a:t>
            </a:r>
            <a:r>
              <a:rPr lang="fr-FR" sz="2200" u="sng" dirty="0"/>
              <a:t> français : </a:t>
            </a:r>
            <a:r>
              <a:rPr lang="fr-FR" sz="2200" dirty="0"/>
              <a:t>« Code des transports » (3e partie)</a:t>
            </a:r>
          </a:p>
          <a:p>
            <a:pPr marL="0" indent="0" algn="ctr">
              <a:lnSpc>
                <a:spcPct val="107000"/>
              </a:lnSpc>
              <a:spcAft>
                <a:spcPts val="800"/>
              </a:spcAft>
              <a:buNone/>
            </a:pPr>
            <a:r>
              <a:rPr lang="fr-FR" sz="2200" u="sng" dirty="0"/>
              <a:t>Document de transport : </a:t>
            </a:r>
            <a:r>
              <a:rPr lang="fr-FR" sz="2200" dirty="0"/>
              <a:t>lettre de voiture CMR</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3600" dirty="0">
                <a:solidFill>
                  <a:schemeClr val="bg1"/>
                </a:solidFill>
                <a:latin typeface="Franklin Gothic Book" panose="020B0503020102020204" pitchFamily="34" charset="0"/>
              </a:rPr>
              <a:t>Les </a:t>
            </a:r>
            <a:r>
              <a:rPr lang="fr-FR" sz="3600" dirty="0" err="1">
                <a:solidFill>
                  <a:schemeClr val="bg1"/>
                </a:solidFill>
                <a:latin typeface="Franklin Gothic Book" panose="020B0503020102020204" pitchFamily="34" charset="0"/>
              </a:rPr>
              <a:t>spécificités </a:t>
            </a:r>
            <a:r>
              <a:rPr lang="fr-FR" sz="3600" dirty="0">
                <a:solidFill>
                  <a:schemeClr val="bg1"/>
                </a:solidFill>
                <a:latin typeface="Franklin Gothic Book" panose="020B0503020102020204" pitchFamily="34" charset="0"/>
              </a:rPr>
              <a:t>du transport routier</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1584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E7459DF6-F6AF-40BF-8510-3D98F76243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9331" y="0"/>
            <a:ext cx="5322705" cy="6858000"/>
          </a:xfrm>
          <a:prstGeom prst="rect">
            <a:avLst/>
          </a:prstGeom>
        </p:spPr>
      </p:pic>
    </p:spTree>
    <p:extLst>
      <p:ext uri="{BB962C8B-B14F-4D97-AF65-F5344CB8AC3E}">
        <p14:creationId xmlns:p14="http://schemas.microsoft.com/office/powerpoint/2010/main" val="777990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u="sng" dirty="0" err="1"/>
              <a:t>Droit</a:t>
            </a:r>
            <a:r>
              <a:rPr lang="fr-FR" sz="2200" u="sng" dirty="0"/>
              <a:t> international : </a:t>
            </a:r>
            <a:r>
              <a:rPr lang="en-US" sz="2200" dirty="0"/>
              <a:t>la Convention relative au contrat de transport de marchandises par voie navigable intérieure (dite « CMNI », 2000)</a:t>
            </a:r>
            <a:endParaRPr lang="fr-FR" sz="2200" dirty="0"/>
          </a:p>
          <a:p>
            <a:pPr marL="0" indent="0" algn="ctr">
              <a:lnSpc>
                <a:spcPct val="107000"/>
              </a:lnSpc>
              <a:spcAft>
                <a:spcPts val="800"/>
              </a:spcAft>
              <a:buNone/>
            </a:pPr>
            <a:r>
              <a:rPr lang="fr-FR" sz="2200" u="sng" dirty="0" err="1"/>
              <a:t>Droit</a:t>
            </a:r>
            <a:r>
              <a:rPr lang="fr-FR" sz="2200" u="sng" dirty="0"/>
              <a:t> français : </a:t>
            </a:r>
            <a:r>
              <a:rPr lang="fr-FR" sz="2200" dirty="0"/>
              <a:t>« Code des transports » (4e partie)</a:t>
            </a:r>
          </a:p>
          <a:p>
            <a:pPr marL="0" indent="0" algn="ctr">
              <a:lnSpc>
                <a:spcPct val="107000"/>
              </a:lnSpc>
              <a:spcAft>
                <a:spcPts val="800"/>
              </a:spcAft>
              <a:buNone/>
            </a:pPr>
            <a:r>
              <a:rPr lang="fr-FR" sz="2200" u="sng" dirty="0"/>
              <a:t>Document de </a:t>
            </a:r>
            <a:r>
              <a:rPr lang="fr-FR" sz="2200" dirty="0" err="1"/>
              <a:t>transport</a:t>
            </a:r>
            <a:r>
              <a:rPr lang="fr-FR" sz="2200" u="sng" dirty="0"/>
              <a:t> : </a:t>
            </a:r>
            <a:r>
              <a:rPr lang="fr-FR" sz="2200" dirty="0"/>
              <a:t>connaissement fluvial</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3600" dirty="0" err="1">
                <a:solidFill>
                  <a:schemeClr val="bg1"/>
                </a:solidFill>
                <a:latin typeface="Franklin Gothic Book" panose="020B0503020102020204" pitchFamily="34" charset="0"/>
              </a:rPr>
              <a:t>Les spécificités </a:t>
            </a:r>
            <a:r>
              <a:rPr lang="fr-FR" sz="3600" dirty="0">
                <a:solidFill>
                  <a:schemeClr val="bg1"/>
                </a:solidFill>
                <a:latin typeface="Franklin Gothic Book" panose="020B0503020102020204" pitchFamily="34" charset="0"/>
              </a:rPr>
              <a:t>du transport </a:t>
            </a:r>
            <a:r>
              <a:rPr lang="fr-FR" sz="3600" dirty="0" err="1">
                <a:solidFill>
                  <a:schemeClr val="bg1"/>
                </a:solidFill>
                <a:latin typeface="Franklin Gothic Book" panose="020B0503020102020204" pitchFamily="34" charset="0"/>
              </a:rPr>
              <a:t>fluvial</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7807635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u="sng" dirty="0" err="1"/>
              <a:t>Droit</a:t>
            </a:r>
            <a:r>
              <a:rPr lang="fr-FR" sz="2200" u="sng" dirty="0"/>
              <a:t> international : </a:t>
            </a:r>
            <a:r>
              <a:rPr lang="fr-FR" sz="2200" dirty="0"/>
              <a:t>Convention de Berne (1890, </a:t>
            </a:r>
            <a:r>
              <a:rPr lang="fr-FR" sz="2200" dirty="0" err="1"/>
              <a:t>régulièrement mise à jour</a:t>
            </a:r>
            <a:r>
              <a:rPr lang="fr-FR" sz="2200" dirty="0"/>
              <a:t>)</a:t>
            </a:r>
          </a:p>
          <a:p>
            <a:pPr marL="0" indent="0" algn="ctr">
              <a:lnSpc>
                <a:spcPct val="107000"/>
              </a:lnSpc>
              <a:spcAft>
                <a:spcPts val="800"/>
              </a:spcAft>
              <a:buNone/>
            </a:pPr>
            <a:r>
              <a:rPr lang="fr-FR" sz="2200" u="sng" dirty="0" err="1"/>
              <a:t>Droit</a:t>
            </a:r>
            <a:r>
              <a:rPr lang="fr-FR" sz="2200" u="sng" dirty="0"/>
              <a:t> français : </a:t>
            </a:r>
            <a:r>
              <a:rPr lang="fr-FR" sz="2200" dirty="0"/>
              <a:t>« Code des transports » (2e partie)</a:t>
            </a:r>
          </a:p>
          <a:p>
            <a:pPr marL="0" indent="0" algn="ctr">
              <a:lnSpc>
                <a:spcPct val="107000"/>
              </a:lnSpc>
              <a:spcAft>
                <a:spcPts val="800"/>
              </a:spcAft>
              <a:buNone/>
            </a:pPr>
            <a:r>
              <a:rPr lang="fr-FR" sz="2200" u="sng" dirty="0"/>
              <a:t>Document de transport : </a:t>
            </a:r>
            <a:r>
              <a:rPr lang="fr-FR" sz="2200" dirty="0"/>
              <a:t>lettre de voiture ferroviaire</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3600" dirty="0">
                <a:solidFill>
                  <a:schemeClr val="bg1"/>
                </a:solidFill>
                <a:latin typeface="Franklin Gothic Book" panose="020B0503020102020204" pitchFamily="34" charset="0"/>
              </a:rPr>
              <a:t>Les </a:t>
            </a:r>
            <a:r>
              <a:rPr lang="fr-FR" sz="3600" dirty="0" err="1">
                <a:solidFill>
                  <a:schemeClr val="bg1"/>
                </a:solidFill>
                <a:latin typeface="Franklin Gothic Book" panose="020B0503020102020204" pitchFamily="34" charset="0"/>
              </a:rPr>
              <a:t>spécificités </a:t>
            </a:r>
            <a:r>
              <a:rPr lang="fr-FR" sz="3600" dirty="0">
                <a:solidFill>
                  <a:schemeClr val="bg1"/>
                </a:solidFill>
                <a:latin typeface="Franklin Gothic Book" panose="020B0503020102020204" pitchFamily="34" charset="0"/>
              </a:rPr>
              <a:t>du transport ferroviaire</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961194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Image 2" descr="Une image contenant texte, reçu&#10;&#10;Description générée automatiquement">
            <a:extLst>
              <a:ext uri="{FF2B5EF4-FFF2-40B4-BE49-F238E27FC236}">
                <a16:creationId xmlns:a16="http://schemas.microsoft.com/office/drawing/2014/main" id="{E12255FF-DE03-46FE-BCEF-D43669C297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3244" y="0"/>
            <a:ext cx="5457511" cy="6858000"/>
          </a:xfrm>
          <a:prstGeom prst="rect">
            <a:avLst/>
          </a:prstGeom>
        </p:spPr>
      </p:pic>
    </p:spTree>
    <p:extLst>
      <p:ext uri="{BB962C8B-B14F-4D97-AF65-F5344CB8AC3E}">
        <p14:creationId xmlns:p14="http://schemas.microsoft.com/office/powerpoint/2010/main" val="195991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0" indent="0" algn="ctr">
              <a:lnSpc>
                <a:spcPct val="107000"/>
              </a:lnSpc>
              <a:spcAft>
                <a:spcPts val="800"/>
              </a:spcAft>
              <a:buNone/>
            </a:pPr>
            <a:r>
              <a:rPr lang="fr-FR" sz="2200" u="sng" dirty="0" err="1"/>
              <a:t>Droit</a:t>
            </a:r>
            <a:r>
              <a:rPr lang="fr-FR" sz="2200" u="sng" dirty="0"/>
              <a:t> international : </a:t>
            </a:r>
            <a:r>
              <a:rPr lang="fr-FR" sz="2200" dirty="0"/>
              <a:t>Convention </a:t>
            </a:r>
            <a:r>
              <a:rPr lang="fr-FR" sz="2200" dirty="0" err="1"/>
              <a:t>de Montréal </a:t>
            </a:r>
            <a:r>
              <a:rPr lang="fr-FR" sz="2200" dirty="0"/>
              <a:t>(1999)</a:t>
            </a:r>
          </a:p>
          <a:p>
            <a:pPr marL="0" indent="0" algn="ctr">
              <a:lnSpc>
                <a:spcPct val="107000"/>
              </a:lnSpc>
              <a:spcAft>
                <a:spcPts val="800"/>
              </a:spcAft>
              <a:buNone/>
            </a:pPr>
            <a:r>
              <a:rPr lang="fr-FR" sz="2200" u="sng" dirty="0" err="1"/>
              <a:t>Droit</a:t>
            </a:r>
            <a:r>
              <a:rPr lang="fr-FR" sz="2200" u="sng" dirty="0"/>
              <a:t> français : </a:t>
            </a:r>
            <a:r>
              <a:rPr lang="fr-FR" sz="2200" dirty="0"/>
              <a:t>« Code des transports » (6e partie)</a:t>
            </a:r>
          </a:p>
          <a:p>
            <a:pPr marL="0" indent="0" algn="ctr">
              <a:lnSpc>
                <a:spcPct val="107000"/>
              </a:lnSpc>
              <a:spcAft>
                <a:spcPts val="800"/>
              </a:spcAft>
              <a:buNone/>
            </a:pPr>
            <a:r>
              <a:rPr lang="fr-FR" sz="2200" u="sng" dirty="0"/>
              <a:t>Document de transport : </a:t>
            </a:r>
            <a:r>
              <a:rPr lang="fr-FR" sz="2200" dirty="0" err="1"/>
              <a:t>lettre de </a:t>
            </a:r>
            <a:r>
              <a:rPr lang="fr-FR" sz="2200" dirty="0"/>
              <a:t>transport aérien – AWB (« lettre de transport aérien – LTA »)</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3600" dirty="0" err="1">
                <a:solidFill>
                  <a:schemeClr val="bg1"/>
                </a:solidFill>
                <a:latin typeface="Franklin Gothic Book" panose="020B0503020102020204" pitchFamily="34" charset="0"/>
              </a:rPr>
              <a:t>Les spécificités </a:t>
            </a:r>
            <a:r>
              <a:rPr lang="fr-FR" sz="3600" dirty="0">
                <a:solidFill>
                  <a:schemeClr val="bg1"/>
                </a:solidFill>
                <a:latin typeface="Franklin Gothic Book" panose="020B0503020102020204" pitchFamily="34" charset="0"/>
              </a:rPr>
              <a:t>du transport aérien</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135644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3" name="Image 2">
            <a:extLst>
              <a:ext uri="{FF2B5EF4-FFF2-40B4-BE49-F238E27FC236}">
                <a16:creationId xmlns:a16="http://schemas.microsoft.com/office/drawing/2014/main" id="{41F71F29-442A-464F-ADEE-E82356192A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22231" y="0"/>
            <a:ext cx="5363307" cy="6858000"/>
          </a:xfrm>
          <a:prstGeom prst="rect">
            <a:avLst/>
          </a:prstGeom>
        </p:spPr>
      </p:pic>
      <p:cxnSp>
        <p:nvCxnSpPr>
          <p:cNvPr id="5" name="Connecteur droit 4">
            <a:extLst>
              <a:ext uri="{FF2B5EF4-FFF2-40B4-BE49-F238E27FC236}">
                <a16:creationId xmlns:a16="http://schemas.microsoft.com/office/drawing/2014/main" id="{4C02360D-7FA1-4682-9461-DDFC74546C0C}"/>
              </a:ext>
            </a:extLst>
          </p:cNvPr>
          <p:cNvCxnSpPr/>
          <p:nvPr/>
        </p:nvCxnSpPr>
        <p:spPr>
          <a:xfrm>
            <a:off x="2391508" y="606669"/>
            <a:ext cx="1758461" cy="0"/>
          </a:xfrm>
          <a:prstGeom prst="line">
            <a:avLst/>
          </a:prstGeom>
          <a:ln w="76200">
            <a:solidFill>
              <a:srgbClr val="FF0000"/>
            </a:solidFill>
          </a:ln>
        </p:spPr>
        <p:style>
          <a:lnRef idx="3">
            <a:schemeClr val="accent2"/>
          </a:lnRef>
          <a:fillRef idx="0">
            <a:schemeClr val="accent2"/>
          </a:fillRef>
          <a:effectRef idx="2">
            <a:schemeClr val="accent2"/>
          </a:effectRef>
          <a:fontRef idx="minor">
            <a:schemeClr val="tx1"/>
          </a:fontRef>
        </p:style>
      </p:cxnSp>
      <p:cxnSp>
        <p:nvCxnSpPr>
          <p:cNvPr id="7" name="Connecteur droit 6">
            <a:extLst>
              <a:ext uri="{FF2B5EF4-FFF2-40B4-BE49-F238E27FC236}">
                <a16:creationId xmlns:a16="http://schemas.microsoft.com/office/drawing/2014/main" id="{2D187FED-3402-4D3B-B116-58B0DC180099}"/>
              </a:ext>
            </a:extLst>
          </p:cNvPr>
          <p:cNvCxnSpPr/>
          <p:nvPr/>
        </p:nvCxnSpPr>
        <p:spPr>
          <a:xfrm>
            <a:off x="2391508" y="1204546"/>
            <a:ext cx="1116623" cy="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05752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fontScale="92500" lnSpcReduction="20000"/>
          </a:bodyPr>
          <a:lstStyle/>
          <a:p>
            <a:pPr>
              <a:lnSpc>
                <a:spcPct val="107000"/>
              </a:lnSpc>
              <a:spcAft>
                <a:spcPts val="800"/>
              </a:spcAft>
              <a:buFont typeface="Wingdings" panose="05000000000000000000" pitchFamily="2" charset="2"/>
              <a:buChar char="Ø"/>
            </a:pPr>
            <a:r>
              <a:rPr lang="en-US" sz="1800" dirty="0"/>
              <a:t>Quel que soit le mode de transport, le transporteur est toujours exposé à un risque important. Si les marchandises sont endommagées, le propriétaire des marchandises peut tenir le transporteur pour responsable. Afin de limiter l'exposition du transporteur à ce risque, la loi prévoit plusieurs mécanismes :</a:t>
            </a:r>
          </a:p>
          <a:p>
            <a:pPr>
              <a:lnSpc>
                <a:spcPct val="107000"/>
              </a:lnSpc>
              <a:spcAft>
                <a:spcPts val="800"/>
              </a:spcAft>
              <a:buFontTx/>
              <a:buChar char="-"/>
            </a:pPr>
            <a:r>
              <a:rPr lang="en-US" sz="1800" b="1" u="sng" dirty="0"/>
              <a:t>Réserves </a:t>
            </a:r>
            <a:r>
              <a:rPr lang="en-US" sz="1800" dirty="0"/>
              <a:t>= le propriétaire des marchandises doit envoyer sans délai au transporteur des réserves précises et motivées.</a:t>
            </a:r>
          </a:p>
          <a:p>
            <a:pPr>
              <a:lnSpc>
                <a:spcPct val="107000"/>
              </a:lnSpc>
              <a:spcAft>
                <a:spcPts val="800"/>
              </a:spcAft>
              <a:buFontTx/>
              <a:buChar char="-"/>
            </a:pPr>
            <a:r>
              <a:rPr lang="en-US" sz="1800" b="1" u="sng" dirty="0"/>
              <a:t>Délai de prescription </a:t>
            </a:r>
            <a:r>
              <a:rPr lang="en-US" sz="1800" dirty="0"/>
              <a:t>= délai au-delà duquel le propriétaire des marchandises ne peut plus réclamer de dédommagement au transporteur.</a:t>
            </a:r>
          </a:p>
          <a:p>
            <a:pPr>
              <a:lnSpc>
                <a:spcPct val="107000"/>
              </a:lnSpc>
              <a:spcAft>
                <a:spcPts val="800"/>
              </a:spcAft>
              <a:buFontTx/>
              <a:buChar char="-"/>
            </a:pPr>
            <a:r>
              <a:rPr lang="en-US" sz="1800" b="1" u="sng" dirty="0"/>
              <a:t>Limitation de la responsabilité </a:t>
            </a:r>
            <a:r>
              <a:rPr lang="en-US" sz="1800" dirty="0"/>
              <a:t>= en fonction du poids et de l'emballage des marchandises, il existe une indemnisation maximale que le propriétaire des marchandises peut réclamer au transporteur pour chaque expédition.</a:t>
            </a:r>
            <a:endParaRPr lang="fr-FR" sz="1800" dirty="0"/>
          </a:p>
          <a:p>
            <a:pPr>
              <a:lnSpc>
                <a:spcPct val="107000"/>
              </a:lnSpc>
              <a:spcAft>
                <a:spcPts val="800"/>
              </a:spcAft>
              <a:buFont typeface="Wingdings" panose="05000000000000000000" pitchFamily="2" charset="2"/>
              <a:buChar char="Ø"/>
            </a:pPr>
            <a:r>
              <a:rPr lang="en-US" sz="1800" dirty="0"/>
              <a:t>Ces trois mécanismes s'appliquent de manière différente selon le mode de transport concerné.</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Autofit/>
          </a:bodyPr>
          <a:lstStyle/>
          <a:p>
            <a:pPr algn="ctr"/>
            <a:r>
              <a:rPr lang="fr-FR" sz="2400" dirty="0">
                <a:solidFill>
                  <a:schemeClr val="bg1"/>
                </a:solidFill>
                <a:latin typeface="Franklin Gothic Book" panose="020B0503020102020204" pitchFamily="34" charset="0"/>
              </a:rPr>
              <a:t>Concepts généraux du </a:t>
            </a:r>
            <a:r>
              <a:rPr lang="fr-FR" sz="2400" dirty="0" err="1">
                <a:solidFill>
                  <a:schemeClr val="bg1"/>
                </a:solidFill>
                <a:latin typeface="Franklin Gothic Book" panose="020B0503020102020204" pitchFamily="34" charset="0"/>
              </a:rPr>
              <a:t>droit</a:t>
            </a:r>
            <a:r>
              <a:rPr lang="fr-FR" sz="2400" dirty="0">
                <a:solidFill>
                  <a:schemeClr val="bg1"/>
                </a:solidFill>
                <a:latin typeface="Franklin Gothic Book" panose="020B0503020102020204" pitchFamily="34" charset="0"/>
              </a:rPr>
              <a:t> des transports</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2653395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2B52DD4-5C61-4C05-94A6-9F0EF7A260BA}"/>
              </a:ext>
            </a:extLst>
          </p:cNvPr>
          <p:cNvSpPr>
            <a:spLocks noGrp="1"/>
          </p:cNvSpPr>
          <p:nvPr>
            <p:ph idx="1"/>
          </p:nvPr>
        </p:nvSpPr>
        <p:spPr>
          <a:xfrm>
            <a:off x="380999" y="1719071"/>
            <a:ext cx="8407893" cy="4407408"/>
          </a:xfrm>
        </p:spPr>
        <p:txBody>
          <a:bodyPr>
            <a:normAutofit/>
          </a:bodyPr>
          <a:lstStyle/>
          <a:p>
            <a:pPr marL="857250" indent="-857250" algn="ctr">
              <a:buFont typeface="+mj-lt"/>
              <a:buAutoNum type="romanUcPeriod"/>
            </a:pPr>
            <a:r>
              <a:rPr lang="en-GB" sz="2000" dirty="0"/>
              <a:t>Acteurs clés du droit des transports</a:t>
            </a:r>
          </a:p>
          <a:p>
            <a:pPr marL="857250" indent="-857250" algn="ctr">
              <a:buFont typeface="+mj-lt"/>
              <a:buAutoNum type="romanUcPeriod"/>
            </a:pPr>
            <a:r>
              <a:rPr lang="en-GB" sz="2000" dirty="0"/>
              <a:t>Responsabilité de chaque acteur clé</a:t>
            </a:r>
          </a:p>
        </p:txBody>
      </p:sp>
      <p:sp>
        <p:nvSpPr>
          <p:cNvPr id="13" name="Titre 1">
            <a:extLst>
              <a:ext uri="{FF2B5EF4-FFF2-40B4-BE49-F238E27FC236}">
                <a16:creationId xmlns:a16="http://schemas.microsoft.com/office/drawing/2014/main" id="{0E927EC4-8148-47F5-A53B-68087E8B6436}"/>
              </a:ext>
            </a:extLst>
          </p:cNvPr>
          <p:cNvSpPr>
            <a:spLocks noGrp="1"/>
          </p:cNvSpPr>
          <p:nvPr>
            <p:ph type="title"/>
          </p:nvPr>
        </p:nvSpPr>
        <p:spPr>
          <a:xfrm>
            <a:off x="381000" y="355847"/>
            <a:ext cx="8381260" cy="1054394"/>
          </a:xfrm>
        </p:spPr>
        <p:txBody>
          <a:bodyPr>
            <a:normAutofit/>
          </a:bodyPr>
          <a:lstStyle/>
          <a:p>
            <a:pPr algn="ctr"/>
            <a:r>
              <a:rPr lang="fr-FR" sz="2400" dirty="0">
                <a:solidFill>
                  <a:schemeClr val="bg1"/>
                </a:solidFill>
                <a:latin typeface="Franklin Gothic Book" panose="020B0503020102020204" pitchFamily="34" charset="0"/>
              </a:rPr>
              <a:t>CE QUE VOUS DEVEZ SAVOIR SUR LA LOGISTIQUE DANS LES TRANSACTIONS INTERNATIONALES</a:t>
            </a:r>
          </a:p>
        </p:txBody>
      </p:sp>
      <p:sp>
        <p:nvSpPr>
          <p:cNvPr id="14" name="Footer Placeholder 3">
            <a:extLst>
              <a:ext uri="{FF2B5EF4-FFF2-40B4-BE49-F238E27FC236}">
                <a16:creationId xmlns:a16="http://schemas.microsoft.com/office/drawing/2014/main" id="{B87A3AEC-6483-4308-A883-354DEF8ED4F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031985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5D80A5D2-E778-43AA-B117-EDFE74AA871B}"/>
              </a:ext>
            </a:extLst>
          </p:cNvPr>
          <p:cNvSpPr>
            <a:spLocks noGrp="1"/>
          </p:cNvSpPr>
          <p:nvPr>
            <p:ph idx="1"/>
          </p:nvPr>
        </p:nvSpPr>
        <p:spPr>
          <a:xfrm>
            <a:off x="251520" y="1700808"/>
            <a:ext cx="8550275" cy="4808537"/>
          </a:xfrm>
          <a:ln>
            <a:noFill/>
          </a:ln>
        </p:spPr>
        <p:txBody>
          <a:bodyPr>
            <a:normAutofit/>
          </a:bodyPr>
          <a:lstStyle/>
          <a:p>
            <a:pPr marL="0" indent="0" algn="ctr">
              <a:buNone/>
            </a:pPr>
            <a:r>
              <a:rPr lang="fr-FR" sz="2000" dirty="0"/>
              <a:t>A - EXPÉDITEURS</a:t>
            </a:r>
          </a:p>
          <a:p>
            <a:pPr marL="0" indent="0" algn="ctr">
              <a:buNone/>
            </a:pPr>
            <a:r>
              <a:rPr lang="fr-FR" sz="2000" dirty="0"/>
              <a:t>B – TRANSPORTEURS </a:t>
            </a:r>
          </a:p>
          <a:p>
            <a:pPr marL="0" indent="0" algn="ctr">
              <a:buNone/>
            </a:pPr>
            <a:r>
              <a:rPr lang="fr-FR" sz="2000" dirty="0"/>
              <a:t>C – TRANSPORTEURS DE MARCHANDISES</a:t>
            </a:r>
          </a:p>
          <a:p>
            <a:pPr marL="0" indent="0" algn="ctr">
              <a:buNone/>
            </a:pPr>
            <a:r>
              <a:rPr lang="fr-FR" sz="2000" dirty="0"/>
              <a:t>D – DÉCLARANTS EN DOUANE</a:t>
            </a:r>
            <a:endParaRPr lang="en-US" sz="2000" dirty="0"/>
          </a:p>
        </p:txBody>
      </p:sp>
      <p:sp>
        <p:nvSpPr>
          <p:cNvPr id="12" name="Titre 1">
            <a:extLst>
              <a:ext uri="{FF2B5EF4-FFF2-40B4-BE49-F238E27FC236}">
                <a16:creationId xmlns:a16="http://schemas.microsoft.com/office/drawing/2014/main" id="{437921F8-BB5B-41A7-9391-87799D310ABB}"/>
              </a:ext>
            </a:extLst>
          </p:cNvPr>
          <p:cNvSpPr>
            <a:spLocks noGrp="1"/>
          </p:cNvSpPr>
          <p:nvPr>
            <p:ph type="title"/>
          </p:nvPr>
        </p:nvSpPr>
        <p:spPr>
          <a:xfrm>
            <a:off x="381000" y="355847"/>
            <a:ext cx="8381260" cy="1054394"/>
          </a:xfrm>
        </p:spPr>
        <p:txBody>
          <a:bodyPr>
            <a:normAutofit/>
          </a:bodyPr>
          <a:lstStyle/>
          <a:p>
            <a:pPr algn="ctr"/>
            <a:r>
              <a:rPr lang="fr-FR" sz="2400" b="1" u="sng" dirty="0">
                <a:solidFill>
                  <a:srgbClr val="FFFFFF"/>
                </a:solidFill>
              </a:rPr>
              <a:t>PARTIE I – QUI : LES ACTEURS CLÉS DU DROIT DES TRANSPORTS</a:t>
            </a:r>
            <a:endParaRPr lang="fr-FR" sz="2400"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F0B3C146-C01B-4362-A9F9-643CB49B3781}"/>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537535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94BDB73F-324F-4DED-8C2F-76C78827A4C1}"/>
              </a:ext>
            </a:extLst>
          </p:cNvPr>
          <p:cNvSpPr>
            <a:spLocks noGrp="1"/>
          </p:cNvSpPr>
          <p:nvPr>
            <p:ph idx="1"/>
          </p:nvPr>
        </p:nvSpPr>
        <p:spPr>
          <a:xfrm>
            <a:off x="380999" y="1719071"/>
            <a:ext cx="8407893" cy="4407408"/>
          </a:xfrm>
        </p:spPr>
        <p:txBody>
          <a:bodyPr>
            <a:normAutofit/>
          </a:bodyPr>
          <a:lstStyle/>
          <a:p>
            <a:pPr marL="0" indent="0">
              <a:buNone/>
            </a:pPr>
            <a:r>
              <a:rPr lang="fr-FR" sz="2000" dirty="0"/>
              <a:t>1- </a:t>
            </a:r>
            <a:r>
              <a:rPr lang="fr-FR" sz="2000" dirty="0" err="1"/>
              <a:t>Rôle des expéditeurs </a:t>
            </a:r>
            <a:r>
              <a:rPr lang="fr-FR" sz="2000" dirty="0"/>
              <a:t>?</a:t>
            </a:r>
          </a:p>
          <a:p>
            <a:pPr marL="0" indent="0">
              <a:buNone/>
            </a:pPr>
            <a:endParaRPr lang="fr-FR" sz="2000" dirty="0"/>
          </a:p>
          <a:p>
            <a:pPr marL="0" indent="0">
              <a:buNone/>
            </a:pPr>
            <a:r>
              <a:rPr lang="fr-FR" sz="2000" dirty="0"/>
              <a:t>2 – </a:t>
            </a:r>
            <a:r>
              <a:rPr lang="fr-FR" sz="2000" dirty="0" err="1"/>
              <a:t>Relations contractuelles des expéditeurs </a:t>
            </a:r>
            <a:r>
              <a:rPr lang="fr-FR" sz="2000" dirty="0"/>
              <a:t>?</a:t>
            </a:r>
          </a:p>
        </p:txBody>
      </p:sp>
      <p:sp>
        <p:nvSpPr>
          <p:cNvPr id="13" name="Titre 1">
            <a:extLst>
              <a:ext uri="{FF2B5EF4-FFF2-40B4-BE49-F238E27FC236}">
                <a16:creationId xmlns:a16="http://schemas.microsoft.com/office/drawing/2014/main" id="{B877C956-FA53-44D2-9F10-6D280F372994}"/>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A – EXPÉDITEURS</a:t>
            </a:r>
          </a:p>
        </p:txBody>
      </p:sp>
      <p:sp>
        <p:nvSpPr>
          <p:cNvPr id="8" name="Footer Placeholder 3">
            <a:extLst>
              <a:ext uri="{FF2B5EF4-FFF2-40B4-BE49-F238E27FC236}">
                <a16:creationId xmlns:a16="http://schemas.microsoft.com/office/drawing/2014/main" id="{71D308D3-17BB-478E-A170-6C6544B18419}"/>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196410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402BF0D-C7A8-4811-829A-67371745EE80}"/>
              </a:ext>
            </a:extLst>
          </p:cNvPr>
          <p:cNvSpPr>
            <a:spLocks noGrp="1"/>
          </p:cNvSpPr>
          <p:nvPr>
            <p:ph idx="1"/>
          </p:nvPr>
        </p:nvSpPr>
        <p:spPr>
          <a:xfrm>
            <a:off x="380999" y="1719071"/>
            <a:ext cx="8407893" cy="4407408"/>
          </a:xfrm>
        </p:spPr>
        <p:txBody>
          <a:bodyPr>
            <a:normAutofit/>
          </a:bodyPr>
          <a:lstStyle/>
          <a:p>
            <a:r>
              <a:rPr lang="fr-FR" sz="2000" b="1" dirty="0"/>
              <a:t>RÔLE DE L'EXPÉDITEUR : </a:t>
            </a:r>
            <a:r>
              <a:rPr lang="en-US" sz="2000" i="1" dirty="0"/>
              <a:t>la partie qui souhaite que la marchandise soit transportée (vendeur/acheteur)</a:t>
            </a:r>
          </a:p>
          <a:p>
            <a:pPr marL="0" indent="0">
              <a:buNone/>
            </a:pPr>
            <a:endParaRPr lang="en-US" sz="2000" b="1" dirty="0"/>
          </a:p>
          <a:p>
            <a:r>
              <a:rPr lang="en-US" sz="2000" b="1" dirty="0"/>
              <a:t>RELATION CONTRACTUELLE DE L'EXPÉDITEUR : </a:t>
            </a:r>
            <a:r>
              <a:rPr lang="en-US" sz="2000" i="1" dirty="0"/>
              <a:t>l'expéditeur conclut un contrat de transport avec le transporteur ou un contrat d'organisation du transport avec un transitaire</a:t>
            </a:r>
          </a:p>
        </p:txBody>
      </p:sp>
      <p:sp>
        <p:nvSpPr>
          <p:cNvPr id="12" name="Titre 1">
            <a:extLst>
              <a:ext uri="{FF2B5EF4-FFF2-40B4-BE49-F238E27FC236}">
                <a16:creationId xmlns:a16="http://schemas.microsoft.com/office/drawing/2014/main" id="{C8A3B788-13D1-4A24-858A-9F6EF3401F61}"/>
              </a:ext>
            </a:extLst>
          </p:cNvPr>
          <p:cNvSpPr>
            <a:spLocks noGrp="1"/>
          </p:cNvSpPr>
          <p:nvPr>
            <p:ph type="title"/>
          </p:nvPr>
        </p:nvSpPr>
        <p:spPr>
          <a:xfrm>
            <a:off x="381000" y="355847"/>
            <a:ext cx="8381260" cy="1054394"/>
          </a:xfrm>
        </p:spPr>
        <p:txBody>
          <a:bodyPr>
            <a:noAutofit/>
          </a:bodyPr>
          <a:lstStyle/>
          <a:p>
            <a:pPr algn="ctr"/>
            <a:r>
              <a:rPr lang="fr-FR" sz="2000" b="1" dirty="0">
                <a:solidFill>
                  <a:schemeClr val="bg1"/>
                </a:solidFill>
                <a:latin typeface="Franklin Gothic Book" panose="020B0503020102020204" pitchFamily="34" charset="0"/>
              </a:rPr>
              <a:t>A – EXPÉDITEURS</a:t>
            </a:r>
          </a:p>
        </p:txBody>
      </p:sp>
      <p:sp>
        <p:nvSpPr>
          <p:cNvPr id="8" name="Footer Placeholder 3">
            <a:extLst>
              <a:ext uri="{FF2B5EF4-FFF2-40B4-BE49-F238E27FC236}">
                <a16:creationId xmlns:a16="http://schemas.microsoft.com/office/drawing/2014/main" id="{5388C3DB-8B38-4604-89B4-A24350085B3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8608608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380999" y="1719071"/>
            <a:ext cx="8407893" cy="4407408"/>
          </a:xfrm>
        </p:spPr>
        <p:txBody>
          <a:bodyPr>
            <a:normAutofit/>
          </a:bodyPr>
          <a:lstStyle/>
          <a:p>
            <a:r>
              <a:rPr lang="fr-FR" sz="2000" b="1" dirty="0" err="1"/>
              <a:t>Rôle</a:t>
            </a:r>
            <a:r>
              <a:rPr lang="fr-FR" sz="2000" b="1" dirty="0"/>
              <a:t> des transporteurs ?</a:t>
            </a:r>
          </a:p>
          <a:p>
            <a:pPr marL="0" indent="0">
              <a:buNone/>
            </a:pPr>
            <a:endParaRPr lang="fr-FR" sz="2000" b="1" dirty="0"/>
          </a:p>
          <a:p>
            <a:r>
              <a:rPr lang="fr-FR" sz="2000" b="1" dirty="0" err="1"/>
              <a:t>Relations contractuelles</a:t>
            </a:r>
            <a:r>
              <a:rPr lang="fr-FR" sz="2000" b="1" dirty="0"/>
              <a:t> des transporteurs ?</a:t>
            </a:r>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B – TRANSPORTEURS</a:t>
            </a:r>
          </a:p>
        </p:txBody>
      </p:sp>
      <p:sp>
        <p:nvSpPr>
          <p:cNvPr id="8" name="Footer Placeholder 3">
            <a:extLst>
              <a:ext uri="{FF2B5EF4-FFF2-40B4-BE49-F238E27FC236}">
                <a16:creationId xmlns:a16="http://schemas.microsoft.com/office/drawing/2014/main" id="{763DDBD3-7316-4E16-886D-889BFFA09F2A}"/>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788075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380999" y="1719071"/>
            <a:ext cx="8407893" cy="4407408"/>
          </a:xfrm>
        </p:spPr>
        <p:txBody>
          <a:bodyPr>
            <a:normAutofit/>
          </a:bodyPr>
          <a:lstStyle/>
          <a:p>
            <a:pPr algn="just"/>
            <a:r>
              <a:rPr lang="en-US" sz="2000" dirty="0"/>
              <a:t>La société chargée du transport des marchandises</a:t>
            </a:r>
          </a:p>
          <a:p>
            <a:pPr algn="just"/>
            <a:r>
              <a:rPr lang="en-US" sz="2000" dirty="0"/>
              <a:t>Cette société est propriétaire du navire / camion / barge / train / avion </a:t>
            </a:r>
            <a:r>
              <a:rPr lang="en-US" sz="2000" i="1" dirty="0"/>
              <a:t>et </a:t>
            </a:r>
            <a:r>
              <a:rPr lang="en-US" sz="2000" dirty="0"/>
              <a:t>l'exploite </a:t>
            </a:r>
            <a:r>
              <a:rPr lang="en-US" sz="2000" u="sng" dirty="0"/>
              <a:t>ou </a:t>
            </a:r>
            <a:r>
              <a:rPr lang="en-US" sz="2000" i="1" dirty="0"/>
              <a:t>se contente de </a:t>
            </a:r>
            <a:r>
              <a:rPr lang="en-US" sz="2000" dirty="0"/>
              <a:t>l'exploiter</a:t>
            </a:r>
          </a:p>
          <a:p>
            <a:pPr algn="just"/>
            <a:r>
              <a:rPr lang="en-US" sz="2000" dirty="0"/>
              <a:t>Relation contractuelle : transporteur – expéditeur / transporteur – transitaire</a:t>
            </a:r>
            <a:endParaRPr lang="fr-FR" sz="2000"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B – TRANSPORTEURS</a:t>
            </a:r>
          </a:p>
        </p:txBody>
      </p:sp>
      <p:sp>
        <p:nvSpPr>
          <p:cNvPr id="8" name="Footer Placeholder 3">
            <a:extLst>
              <a:ext uri="{FF2B5EF4-FFF2-40B4-BE49-F238E27FC236}">
                <a16:creationId xmlns:a16="http://schemas.microsoft.com/office/drawing/2014/main" id="{F3B4AF91-CCB0-4F45-B4B0-1A26CB1E337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5587091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Espace réservé du contenu 2">
            <a:extLst>
              <a:ext uri="{FF2B5EF4-FFF2-40B4-BE49-F238E27FC236}">
                <a16:creationId xmlns:a16="http://schemas.microsoft.com/office/drawing/2014/main" id="{B4422B17-FEE4-4A30-9B1B-10E0952A98C8}"/>
              </a:ext>
            </a:extLst>
          </p:cNvPr>
          <p:cNvSpPr>
            <a:spLocks noGrp="1"/>
          </p:cNvSpPr>
          <p:nvPr>
            <p:ph idx="1"/>
          </p:nvPr>
        </p:nvSpPr>
        <p:spPr>
          <a:xfrm>
            <a:off x="380999" y="1719071"/>
            <a:ext cx="8407893" cy="4407408"/>
          </a:xfrm>
        </p:spPr>
        <p:txBody>
          <a:bodyPr>
            <a:normAutofit/>
          </a:bodyPr>
          <a:lstStyle/>
          <a:p>
            <a:pPr marL="0" indent="0" algn="ctr">
              <a:buNone/>
            </a:pPr>
            <a:r>
              <a:rPr lang="en-US" sz="2000" b="1" dirty="0"/>
              <a:t>1) Transporteurs maritimes</a:t>
            </a:r>
            <a:endParaRPr lang="fr-FR" sz="2000" b="1" dirty="0"/>
          </a:p>
        </p:txBody>
      </p:sp>
      <p:sp>
        <p:nvSpPr>
          <p:cNvPr id="13" name="Titre 1">
            <a:extLst>
              <a:ext uri="{FF2B5EF4-FFF2-40B4-BE49-F238E27FC236}">
                <a16:creationId xmlns:a16="http://schemas.microsoft.com/office/drawing/2014/main" id="{AD20F3BF-AAC8-4F20-88D4-3938CF1BE90A}"/>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B – TRANSPORTEURS</a:t>
            </a:r>
          </a:p>
        </p:txBody>
      </p:sp>
      <p:sp>
        <p:nvSpPr>
          <p:cNvPr id="8" name="Footer Placeholder 3">
            <a:extLst>
              <a:ext uri="{FF2B5EF4-FFF2-40B4-BE49-F238E27FC236}">
                <a16:creationId xmlns:a16="http://schemas.microsoft.com/office/drawing/2014/main" id="{F3B4AF91-CCB0-4F45-B4B0-1A26CB1E337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915703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EE804A4-8C36-44E3-8395-59A13096BF63}"/>
              </a:ext>
            </a:extLst>
          </p:cNvPr>
          <p:cNvSpPr>
            <a:spLocks noGrp="1"/>
          </p:cNvSpPr>
          <p:nvPr>
            <p:ph idx="1"/>
          </p:nvPr>
        </p:nvSpPr>
        <p:spPr>
          <a:xfrm>
            <a:off x="380999" y="1719071"/>
            <a:ext cx="8407893" cy="4407408"/>
          </a:xfrm>
        </p:spPr>
        <p:txBody>
          <a:bodyPr>
            <a:normAutofit/>
          </a:bodyPr>
          <a:lstStyle/>
          <a:p>
            <a:pPr marL="0" indent="0" algn="ctr">
              <a:buNone/>
            </a:pPr>
            <a:r>
              <a:rPr lang="fr-FR" sz="2800" dirty="0" err="1"/>
              <a:t>Deux </a:t>
            </a:r>
            <a:r>
              <a:rPr lang="fr-FR" sz="2800" dirty="0"/>
              <a:t>types de </a:t>
            </a:r>
            <a:r>
              <a:rPr lang="fr-FR" sz="2800" dirty="0" err="1"/>
              <a:t>contrats </a:t>
            </a:r>
            <a:r>
              <a:rPr lang="fr-FR" sz="2800" dirty="0"/>
              <a:t>:</a:t>
            </a:r>
            <a:br>
              <a:rPr lang="fr-FR" sz="2800" dirty="0"/>
            </a:br>
            <a:r>
              <a:rPr lang="fr-FR" sz="2800" dirty="0"/>
              <a:t>- </a:t>
            </a:r>
            <a:r>
              <a:rPr lang="fr-FR" sz="2800" dirty="0" err="1"/>
              <a:t>contrat </a:t>
            </a:r>
            <a:r>
              <a:rPr lang="fr-FR" sz="2800" dirty="0"/>
              <a:t>de </a:t>
            </a:r>
            <a:r>
              <a:rPr lang="fr-FR" sz="2800" dirty="0" err="1"/>
              <a:t>transport</a:t>
            </a:r>
            <a:br>
              <a:rPr lang="fr-FR" sz="2800" dirty="0"/>
            </a:br>
            <a:r>
              <a:rPr lang="fr-FR" sz="2800" dirty="0"/>
              <a:t>- </a:t>
            </a:r>
            <a:r>
              <a:rPr lang="fr-FR" sz="2800" dirty="0" err="1"/>
              <a:t>affrètement</a:t>
            </a:r>
            <a:r>
              <a:rPr lang="fr-FR" sz="2800" dirty="0"/>
              <a:t>.</a:t>
            </a:r>
            <a:endParaRPr lang="en-US" dirty="0"/>
          </a:p>
        </p:txBody>
      </p:sp>
      <p:sp>
        <p:nvSpPr>
          <p:cNvPr id="12" name="Titre 1">
            <a:extLst>
              <a:ext uri="{FF2B5EF4-FFF2-40B4-BE49-F238E27FC236}">
                <a16:creationId xmlns:a16="http://schemas.microsoft.com/office/drawing/2014/main" id="{CB188703-EA68-4C2E-B9E0-17A65868CCBD}"/>
              </a:ext>
            </a:extLst>
          </p:cNvPr>
          <p:cNvSpPr>
            <a:spLocks noGrp="1"/>
          </p:cNvSpPr>
          <p:nvPr>
            <p:ph type="title"/>
          </p:nvPr>
        </p:nvSpPr>
        <p:spPr>
          <a:xfrm>
            <a:off x="381000" y="355847"/>
            <a:ext cx="8381260" cy="1054394"/>
          </a:xfrm>
        </p:spPr>
        <p:txBody>
          <a:bodyPr>
            <a:normAutofit/>
          </a:bodyPr>
          <a:lstStyle/>
          <a:p>
            <a:pPr algn="ctr"/>
            <a:r>
              <a:rPr lang="fr-FR" dirty="0">
                <a:solidFill>
                  <a:schemeClr val="bg1"/>
                </a:solidFill>
                <a:latin typeface="Franklin Gothic Book" panose="020B0503020102020204" pitchFamily="34" charset="0"/>
              </a:rPr>
              <a:t>B – TRANSPORTEURS (MARITIMES)</a:t>
            </a:r>
          </a:p>
        </p:txBody>
      </p:sp>
      <p:sp>
        <p:nvSpPr>
          <p:cNvPr id="8" name="Footer Placeholder 3">
            <a:extLst>
              <a:ext uri="{FF2B5EF4-FFF2-40B4-BE49-F238E27FC236}">
                <a16:creationId xmlns:a16="http://schemas.microsoft.com/office/drawing/2014/main" id="{05AB5EDA-3963-4142-B60F-4946B517F86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875738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686FE67F-E23C-4215-85BA-8E8FA7F5A124}"/>
              </a:ext>
            </a:extLst>
          </p:cNvPr>
          <p:cNvSpPr>
            <a:spLocks noGrp="1"/>
          </p:cNvSpPr>
          <p:nvPr>
            <p:ph idx="1"/>
          </p:nvPr>
        </p:nvSpPr>
        <p:spPr>
          <a:xfrm>
            <a:off x="380999" y="1719071"/>
            <a:ext cx="8407893" cy="4407408"/>
          </a:xfrm>
        </p:spPr>
        <p:txBody>
          <a:bodyPr>
            <a:normAutofit/>
          </a:bodyPr>
          <a:lstStyle/>
          <a:p>
            <a:r>
              <a:rPr lang="en-US" sz="2000" b="1" dirty="0"/>
              <a:t>Forme du contrat : le connaissement</a:t>
            </a:r>
          </a:p>
          <a:p>
            <a:pPr marL="0" indent="0">
              <a:buNone/>
            </a:pPr>
            <a:endParaRPr lang="en-US" sz="2000" b="1" dirty="0"/>
          </a:p>
          <a:p>
            <a:r>
              <a:rPr lang="en-US" sz="2000" b="1" dirty="0"/>
              <a:t>Obligations des parties en vertu d'un contrat de transport</a:t>
            </a:r>
          </a:p>
        </p:txBody>
      </p:sp>
      <p:sp>
        <p:nvSpPr>
          <p:cNvPr id="12" name="Titre 1">
            <a:extLst>
              <a:ext uri="{FF2B5EF4-FFF2-40B4-BE49-F238E27FC236}">
                <a16:creationId xmlns:a16="http://schemas.microsoft.com/office/drawing/2014/main" id="{9C73BF69-1FF6-4E57-A72A-82C547C980B9}"/>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CONTRAT DE TRANSPORT</a:t>
            </a:r>
          </a:p>
        </p:txBody>
      </p:sp>
      <p:sp>
        <p:nvSpPr>
          <p:cNvPr id="8" name="Footer Placeholder 3">
            <a:extLst>
              <a:ext uri="{FF2B5EF4-FFF2-40B4-BE49-F238E27FC236}">
                <a16:creationId xmlns:a16="http://schemas.microsoft.com/office/drawing/2014/main" id="{B8149BAB-D4CD-4535-AB44-09277CB3C4F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371722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1" name="Espace réservé du contenu 2">
            <a:extLst>
              <a:ext uri="{FF2B5EF4-FFF2-40B4-BE49-F238E27FC236}">
                <a16:creationId xmlns:a16="http://schemas.microsoft.com/office/drawing/2014/main" id="{30339894-F172-4DAD-94EE-0FDA1DDD147D}"/>
              </a:ext>
            </a:extLst>
          </p:cNvPr>
          <p:cNvSpPr>
            <a:spLocks noGrp="1"/>
          </p:cNvSpPr>
          <p:nvPr>
            <p:ph idx="1"/>
          </p:nvPr>
        </p:nvSpPr>
        <p:spPr>
          <a:xfrm>
            <a:off x="380999" y="1719071"/>
            <a:ext cx="8407893" cy="4407408"/>
          </a:xfrm>
        </p:spPr>
        <p:txBody>
          <a:bodyPr>
            <a:normAutofit/>
          </a:bodyPr>
          <a:lstStyle/>
          <a:p>
            <a:pPr marL="0" indent="0" algn="just">
              <a:buNone/>
            </a:pPr>
            <a:r>
              <a:rPr lang="en-US" sz="2000" dirty="0"/>
              <a:t>Le connaissement est émis par le transporteur maritime. Il a deux fonctions : </a:t>
            </a:r>
          </a:p>
          <a:p>
            <a:pPr algn="just">
              <a:buFontTx/>
              <a:buChar char="-"/>
            </a:pPr>
            <a:r>
              <a:rPr lang="en-US" sz="2000" dirty="0"/>
              <a:t>Une fonction contractuelle</a:t>
            </a:r>
          </a:p>
          <a:p>
            <a:pPr algn="just">
              <a:buFontTx/>
              <a:buChar char="-"/>
            </a:pPr>
            <a:r>
              <a:rPr lang="en-US" sz="2000" dirty="0"/>
              <a:t>Une fonction probatoire.</a:t>
            </a:r>
          </a:p>
          <a:p>
            <a:pPr marL="0" indent="0" algn="just">
              <a:buNone/>
            </a:pPr>
            <a:endParaRPr lang="en-US" sz="2000" dirty="0"/>
          </a:p>
          <a:p>
            <a:pPr marL="0" indent="0" algn="just">
              <a:buNone/>
            </a:pPr>
            <a:r>
              <a:rPr lang="en-US" sz="2000" dirty="0"/>
              <a:t>Le transporteur et le destinataire peuvent inscrire des réserves sur le connaissement : les réserves doivent être précises et motivées.</a:t>
            </a:r>
          </a:p>
          <a:p>
            <a:pPr marL="0" indent="0" algn="just">
              <a:buNone/>
            </a:pPr>
            <a:endParaRPr lang="en-US" sz="2000" dirty="0"/>
          </a:p>
          <a:p>
            <a:pPr marL="0" indent="0" algn="just">
              <a:buNone/>
            </a:pPr>
            <a:r>
              <a:rPr lang="en-US" sz="2000" dirty="0"/>
              <a:t>La plupart des connaissements stipulent que 3 originaux sont requis. Le transporteur en conserve 1 et le destinataire doit présenter les 2 autres.</a:t>
            </a:r>
          </a:p>
        </p:txBody>
      </p:sp>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CONTRAT DE TRANSPORT : LE CONNAISSANCE MARITIME</a:t>
            </a:r>
          </a:p>
        </p:txBody>
      </p:sp>
      <p:sp>
        <p:nvSpPr>
          <p:cNvPr id="8" name="Footer Placeholder 3">
            <a:extLst>
              <a:ext uri="{FF2B5EF4-FFF2-40B4-BE49-F238E27FC236}">
                <a16:creationId xmlns:a16="http://schemas.microsoft.com/office/drawing/2014/main" id="{904833D7-3432-4120-ADDA-5F97E3B9229B}"/>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55998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Espace réservé du contenu 4" descr="Une image contenant table&#10;&#10;Description générée automatiquement">
            <a:extLst>
              <a:ext uri="{FF2B5EF4-FFF2-40B4-BE49-F238E27FC236}">
                <a16:creationId xmlns:a16="http://schemas.microsoft.com/office/drawing/2014/main" id="{A39A8C4D-60AC-4106-9E26-6F6ED7F97131}"/>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580292"/>
            <a:ext cx="6361244" cy="8194432"/>
          </a:xfrm>
        </p:spPr>
      </p:pic>
      <p:sp>
        <p:nvSpPr>
          <p:cNvPr id="5" name="Ellipse 4">
            <a:extLst>
              <a:ext uri="{FF2B5EF4-FFF2-40B4-BE49-F238E27FC236}">
                <a16:creationId xmlns:a16="http://schemas.microsoft.com/office/drawing/2014/main" id="{CECBDBA1-5EBB-41A5-A0C3-7292DA23C5B5}"/>
              </a:ext>
            </a:extLst>
          </p:cNvPr>
          <p:cNvSpPr/>
          <p:nvPr/>
        </p:nvSpPr>
        <p:spPr>
          <a:xfrm>
            <a:off x="1468316" y="2540977"/>
            <a:ext cx="1987061" cy="422031"/>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6" name="Ellipse 5">
            <a:extLst>
              <a:ext uri="{FF2B5EF4-FFF2-40B4-BE49-F238E27FC236}">
                <a16:creationId xmlns:a16="http://schemas.microsoft.com/office/drawing/2014/main" id="{A8BA48B6-EE86-4FF4-AA64-E5BFD316B459}"/>
              </a:ext>
            </a:extLst>
          </p:cNvPr>
          <p:cNvSpPr/>
          <p:nvPr/>
        </p:nvSpPr>
        <p:spPr>
          <a:xfrm>
            <a:off x="5161084" y="2479431"/>
            <a:ext cx="712177" cy="712177"/>
          </a:xfrm>
          <a:prstGeom prst="ellipse">
            <a:avLst/>
          </a:prstGeom>
          <a:noFill/>
          <a:ln w="5715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7" name="Connecteur droit avec flèche 6">
            <a:extLst>
              <a:ext uri="{FF2B5EF4-FFF2-40B4-BE49-F238E27FC236}">
                <a16:creationId xmlns:a16="http://schemas.microsoft.com/office/drawing/2014/main" id="{D520615A-9FC8-41D9-B2FB-13B63F02C283}"/>
              </a:ext>
            </a:extLst>
          </p:cNvPr>
          <p:cNvCxnSpPr/>
          <p:nvPr/>
        </p:nvCxnSpPr>
        <p:spPr>
          <a:xfrm flipH="1">
            <a:off x="3455376" y="1608993"/>
            <a:ext cx="3648808" cy="107266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8" name="Connecteur droit avec flèche 7">
            <a:extLst>
              <a:ext uri="{FF2B5EF4-FFF2-40B4-BE49-F238E27FC236}">
                <a16:creationId xmlns:a16="http://schemas.microsoft.com/office/drawing/2014/main" id="{CD2806BB-4601-45E4-B096-B9D1965835C1}"/>
              </a:ext>
            </a:extLst>
          </p:cNvPr>
          <p:cNvCxnSpPr>
            <a:cxnSpLocks/>
          </p:cNvCxnSpPr>
          <p:nvPr/>
        </p:nvCxnSpPr>
        <p:spPr>
          <a:xfrm flipH="1">
            <a:off x="5873261" y="1608993"/>
            <a:ext cx="1219948" cy="1072661"/>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0" name="ZoneTexte 9">
            <a:extLst>
              <a:ext uri="{FF2B5EF4-FFF2-40B4-BE49-F238E27FC236}">
                <a16:creationId xmlns:a16="http://schemas.microsoft.com/office/drawing/2014/main" id="{3A63A058-82DA-4325-A530-EC9592D2CAA1}"/>
              </a:ext>
            </a:extLst>
          </p:cNvPr>
          <p:cNvSpPr txBox="1"/>
          <p:nvPr/>
        </p:nvSpPr>
        <p:spPr>
          <a:xfrm>
            <a:off x="7130561" y="1285827"/>
            <a:ext cx="1916724" cy="584775"/>
          </a:xfrm>
          <a:prstGeom prst="rect">
            <a:avLst/>
          </a:prstGeom>
          <a:noFill/>
        </p:spPr>
        <p:txBody>
          <a:bodyPr wrap="square" rtlCol="0">
            <a:spAutoFit/>
          </a:bodyPr>
          <a:lstStyle/>
          <a:p>
            <a:r>
              <a:rPr lang="fr-FR" sz="1600" b="1" dirty="0">
                <a:solidFill>
                  <a:srgbClr val="00B050"/>
                </a:solidFill>
              </a:rPr>
              <a:t>Pour </a:t>
            </a:r>
            <a:r>
              <a:rPr lang="fr-FR" sz="1600" b="1" dirty="0" err="1">
                <a:solidFill>
                  <a:srgbClr val="00B050"/>
                </a:solidFill>
              </a:rPr>
              <a:t>calculer la responsabilité du transporteur</a:t>
            </a:r>
            <a:endParaRPr lang="fr-FR" sz="1600" b="1" dirty="0">
              <a:solidFill>
                <a:srgbClr val="00B050"/>
              </a:solidFill>
            </a:endParaRPr>
          </a:p>
        </p:txBody>
      </p:sp>
      <p:sp>
        <p:nvSpPr>
          <p:cNvPr id="11" name="Ellipse 10">
            <a:extLst>
              <a:ext uri="{FF2B5EF4-FFF2-40B4-BE49-F238E27FC236}">
                <a16:creationId xmlns:a16="http://schemas.microsoft.com/office/drawing/2014/main" id="{46474A6D-242F-40E1-A429-4D29A32C9AA7}"/>
              </a:ext>
            </a:extLst>
          </p:cNvPr>
          <p:cNvSpPr/>
          <p:nvPr/>
        </p:nvSpPr>
        <p:spPr>
          <a:xfrm>
            <a:off x="4009291" y="5460024"/>
            <a:ext cx="1863970" cy="1072661"/>
          </a:xfrm>
          <a:prstGeom prst="ellipse">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cxnSp>
        <p:nvCxnSpPr>
          <p:cNvPr id="12" name="Connecteur droit avec flèche 11">
            <a:extLst>
              <a:ext uri="{FF2B5EF4-FFF2-40B4-BE49-F238E27FC236}">
                <a16:creationId xmlns:a16="http://schemas.microsoft.com/office/drawing/2014/main" id="{C7F63A99-D215-4FC4-88AA-E6D825B9F734}"/>
              </a:ext>
            </a:extLst>
          </p:cNvPr>
          <p:cNvCxnSpPr/>
          <p:nvPr/>
        </p:nvCxnSpPr>
        <p:spPr>
          <a:xfrm flipH="1">
            <a:off x="5853494" y="5249007"/>
            <a:ext cx="1503484" cy="624253"/>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3" name="ZoneTexte 12">
            <a:extLst>
              <a:ext uri="{FF2B5EF4-FFF2-40B4-BE49-F238E27FC236}">
                <a16:creationId xmlns:a16="http://schemas.microsoft.com/office/drawing/2014/main" id="{DC16970C-2D50-4F8E-8509-264024163368}"/>
              </a:ext>
            </a:extLst>
          </p:cNvPr>
          <p:cNvSpPr txBox="1"/>
          <p:nvPr/>
        </p:nvSpPr>
        <p:spPr>
          <a:xfrm>
            <a:off x="7482253" y="5064341"/>
            <a:ext cx="2031023" cy="369332"/>
          </a:xfrm>
          <a:prstGeom prst="rect">
            <a:avLst/>
          </a:prstGeom>
          <a:noFill/>
        </p:spPr>
        <p:txBody>
          <a:bodyPr wrap="square" rtlCol="0">
            <a:spAutoFit/>
          </a:bodyPr>
          <a:lstStyle/>
          <a:p>
            <a:r>
              <a:rPr lang="fr-FR" b="1" dirty="0" err="1">
                <a:solidFill>
                  <a:srgbClr val="FF0000"/>
                </a:solidFill>
              </a:rPr>
              <a:t>Réservations</a:t>
            </a:r>
            <a:endParaRPr lang="fr-FR" b="1" dirty="0">
              <a:solidFill>
                <a:srgbClr val="FF0000"/>
              </a:solidFill>
            </a:endParaRPr>
          </a:p>
        </p:txBody>
      </p:sp>
      <p:sp>
        <p:nvSpPr>
          <p:cNvPr id="14" name="Footer Placeholder 3">
            <a:extLst>
              <a:ext uri="{FF2B5EF4-FFF2-40B4-BE49-F238E27FC236}">
                <a16:creationId xmlns:a16="http://schemas.microsoft.com/office/drawing/2014/main" id="{59ED42D3-77EF-42F7-AEF6-475A944EC9B2}"/>
              </a:ext>
            </a:extLst>
          </p:cNvPr>
          <p:cNvSpPr>
            <a:spLocks noGrp="1"/>
          </p:cNvSpPr>
          <p:nvPr>
            <p:ph type="ftr" sz="quarter" idx="11"/>
          </p:nvPr>
        </p:nvSpPr>
        <p:spPr>
          <a:xfrm>
            <a:off x="5576535" y="6570013"/>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8943683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12" name="Titre 1">
            <a:extLst>
              <a:ext uri="{FF2B5EF4-FFF2-40B4-BE49-F238E27FC236}">
                <a16:creationId xmlns:a16="http://schemas.microsoft.com/office/drawing/2014/main" id="{5043E480-026A-4F00-947D-678512732390}"/>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CONTRAT DE TRANSPORT</a:t>
            </a:r>
          </a:p>
        </p:txBody>
      </p:sp>
      <p:sp>
        <p:nvSpPr>
          <p:cNvPr id="3" name="Espace réservé du contenu 2">
            <a:extLst>
              <a:ext uri="{FF2B5EF4-FFF2-40B4-BE49-F238E27FC236}">
                <a16:creationId xmlns:a16="http://schemas.microsoft.com/office/drawing/2014/main" id="{EFF9AE9E-1960-42FC-A231-3E57C6E4C816}"/>
              </a:ext>
            </a:extLst>
          </p:cNvPr>
          <p:cNvSpPr>
            <a:spLocks noGrp="1"/>
          </p:cNvSpPr>
          <p:nvPr>
            <p:ph idx="1"/>
          </p:nvPr>
        </p:nvSpPr>
        <p:spPr/>
        <p:txBody>
          <a:bodyPr>
            <a:normAutofit/>
          </a:bodyPr>
          <a:lstStyle/>
          <a:p>
            <a:pPr marL="0" indent="0">
              <a:buNone/>
            </a:pPr>
            <a:r>
              <a:rPr lang="fr-FR" sz="2000" dirty="0"/>
              <a:t>Les </a:t>
            </a:r>
            <a:r>
              <a:rPr lang="fr-FR" sz="2000" dirty="0" err="1"/>
              <a:t>deux </a:t>
            </a:r>
            <a:r>
              <a:rPr lang="fr-FR" sz="2000" dirty="0"/>
              <a:t>obligations </a:t>
            </a:r>
            <a:r>
              <a:rPr lang="fr-FR" sz="2000" dirty="0" err="1"/>
              <a:t>de l'expéditeur en vertu d'</a:t>
            </a:r>
            <a:r>
              <a:rPr lang="fr-FR" sz="2000" dirty="0"/>
              <a:t>un </a:t>
            </a:r>
            <a:r>
              <a:rPr lang="fr-FR" sz="2000" dirty="0" err="1"/>
              <a:t>contrat </a:t>
            </a:r>
            <a:r>
              <a:rPr lang="fr-FR" sz="2000" dirty="0"/>
              <a:t>de </a:t>
            </a:r>
            <a:r>
              <a:rPr lang="fr-FR" sz="2000" dirty="0" err="1"/>
              <a:t>transport </a:t>
            </a:r>
            <a:r>
              <a:rPr lang="fr-FR" sz="2000" dirty="0"/>
              <a:t>:</a:t>
            </a:r>
          </a:p>
          <a:p>
            <a:pPr>
              <a:buFontTx/>
              <a:buChar char="-"/>
            </a:pPr>
            <a:r>
              <a:rPr lang="fr-FR" sz="2000" dirty="0" err="1"/>
              <a:t>Payer </a:t>
            </a:r>
            <a:r>
              <a:rPr lang="fr-FR" sz="2000" dirty="0"/>
              <a:t>le </a:t>
            </a:r>
            <a:r>
              <a:rPr lang="fr-FR" sz="2000" dirty="0" err="1"/>
              <a:t>fret</a:t>
            </a:r>
            <a:endParaRPr lang="fr-FR" sz="2000" dirty="0"/>
          </a:p>
          <a:p>
            <a:pPr>
              <a:buFontTx/>
              <a:buChar char="-"/>
            </a:pPr>
            <a:r>
              <a:rPr lang="fr-FR" sz="2000" dirty="0" err="1"/>
              <a:t>Faire des déclarations exactes </a:t>
            </a:r>
            <a:r>
              <a:rPr lang="fr-FR" sz="2000" dirty="0"/>
              <a:t>sur les </a:t>
            </a:r>
            <a:r>
              <a:rPr lang="fr-FR" sz="2000" dirty="0" err="1"/>
              <a:t>marchandises</a:t>
            </a:r>
            <a:r>
              <a:rPr lang="fr-FR" sz="2000" dirty="0"/>
              <a:t>.</a:t>
            </a:r>
          </a:p>
        </p:txBody>
      </p:sp>
      <p:sp>
        <p:nvSpPr>
          <p:cNvPr id="10" name="Footer Placeholder 3">
            <a:extLst>
              <a:ext uri="{FF2B5EF4-FFF2-40B4-BE49-F238E27FC236}">
                <a16:creationId xmlns:a16="http://schemas.microsoft.com/office/drawing/2014/main" id="{88892186-2EF7-4525-838C-F8F4AB99DE32}"/>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900464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A119B17-09F7-458A-9DC4-8CA73FE8B26D}"/>
              </a:ext>
            </a:extLst>
          </p:cNvPr>
          <p:cNvSpPr>
            <a:spLocks noGrp="1"/>
          </p:cNvSpPr>
          <p:nvPr>
            <p:ph idx="1"/>
          </p:nvPr>
        </p:nvSpPr>
        <p:spPr>
          <a:xfrm>
            <a:off x="380999" y="1719071"/>
            <a:ext cx="8407893" cy="4407408"/>
          </a:xfrm>
        </p:spPr>
        <p:txBody>
          <a:bodyPr>
            <a:normAutofit/>
          </a:bodyPr>
          <a:lstStyle/>
          <a:p>
            <a:pPr marL="0" indent="0">
              <a:buNone/>
            </a:pPr>
            <a:r>
              <a:rPr lang="en-GB" sz="2000" dirty="0"/>
              <a:t>Obligations du transporteur en vertu d'un contrat de transport :</a:t>
            </a:r>
          </a:p>
          <a:p>
            <a:pPr marL="0" indent="0">
              <a:buNone/>
            </a:pPr>
            <a:r>
              <a:rPr lang="en-GB" sz="2000" dirty="0"/>
              <a:t>- Utiliser un navire en état de navigabilité</a:t>
            </a:r>
          </a:p>
          <a:p>
            <a:pPr marL="0" indent="0">
              <a:buNone/>
            </a:pPr>
            <a:r>
              <a:rPr lang="en-GB" sz="2000" dirty="0"/>
              <a:t>- Charger, transporter et décharger les marchandises.</a:t>
            </a:r>
          </a:p>
        </p:txBody>
      </p:sp>
      <p:sp>
        <p:nvSpPr>
          <p:cNvPr id="6" name="Titre 1">
            <a:extLst>
              <a:ext uri="{FF2B5EF4-FFF2-40B4-BE49-F238E27FC236}">
                <a16:creationId xmlns:a16="http://schemas.microsoft.com/office/drawing/2014/main" id="{3B955F69-7ED5-4CE7-A780-4B628C295366}"/>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CONTRAT DE TRANSPORT</a:t>
            </a:r>
          </a:p>
        </p:txBody>
      </p:sp>
      <p:sp>
        <p:nvSpPr>
          <p:cNvPr id="9" name="Footer Placeholder 3">
            <a:extLst>
              <a:ext uri="{FF2B5EF4-FFF2-40B4-BE49-F238E27FC236}">
                <a16:creationId xmlns:a16="http://schemas.microsoft.com/office/drawing/2014/main" id="{5609B41A-7A64-407F-8E8D-1C74613EA69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5790467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A6D9467C-B58E-4AFB-BDDA-3ADC60B07317}"/>
              </a:ext>
            </a:extLst>
          </p:cNvPr>
          <p:cNvSpPr>
            <a:spLocks noGrp="1"/>
          </p:cNvSpPr>
          <p:nvPr>
            <p:ph idx="1"/>
          </p:nvPr>
        </p:nvSpPr>
        <p:spPr>
          <a:xfrm>
            <a:off x="380999" y="1719071"/>
            <a:ext cx="8407893" cy="4288537"/>
          </a:xfrm>
        </p:spPr>
        <p:txBody>
          <a:bodyPr>
            <a:normAutofit/>
          </a:bodyPr>
          <a:lstStyle/>
          <a:p>
            <a:r>
              <a:rPr lang="fr-FR" sz="2000" dirty="0" err="1"/>
              <a:t>Forme </a:t>
            </a:r>
            <a:r>
              <a:rPr lang="fr-FR" sz="2000" dirty="0"/>
              <a:t>du </a:t>
            </a:r>
            <a:r>
              <a:rPr lang="fr-FR" sz="2000" dirty="0" err="1"/>
              <a:t>contrat </a:t>
            </a:r>
            <a:r>
              <a:rPr lang="fr-FR" sz="2000" dirty="0"/>
              <a:t>: contrat d'affrètement</a:t>
            </a:r>
          </a:p>
          <a:p>
            <a:pPr marL="0" indent="0">
              <a:buNone/>
            </a:pPr>
            <a:endParaRPr lang="fr-FR" sz="2000" dirty="0"/>
          </a:p>
          <a:p>
            <a:r>
              <a:rPr lang="fr-FR" sz="2000" dirty="0"/>
              <a:t>Obligations des parties </a:t>
            </a:r>
            <a:r>
              <a:rPr lang="fr-FR" sz="2000" dirty="0" err="1"/>
              <a:t>en vertu de chaque </a:t>
            </a:r>
            <a:r>
              <a:rPr lang="fr-FR" sz="2000" dirty="0"/>
              <a:t>type de contrat d'affrètement</a:t>
            </a:r>
          </a:p>
        </p:txBody>
      </p:sp>
      <p:sp>
        <p:nvSpPr>
          <p:cNvPr id="6" name="Titre 1">
            <a:extLst>
              <a:ext uri="{FF2B5EF4-FFF2-40B4-BE49-F238E27FC236}">
                <a16:creationId xmlns:a16="http://schemas.microsoft.com/office/drawing/2014/main" id="{DCC1A3F2-6FEC-4EB9-AB71-96E93A2B5AD9}"/>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a:t>
            </a:r>
          </a:p>
        </p:txBody>
      </p:sp>
      <p:sp>
        <p:nvSpPr>
          <p:cNvPr id="9" name="Footer Placeholder 3">
            <a:extLst>
              <a:ext uri="{FF2B5EF4-FFF2-40B4-BE49-F238E27FC236}">
                <a16:creationId xmlns:a16="http://schemas.microsoft.com/office/drawing/2014/main" id="{D89FF8A0-874A-4081-B341-077F79FECCCB}"/>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177760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A6D9467C-B58E-4AFB-BDDA-3ADC60B07317}"/>
              </a:ext>
            </a:extLst>
          </p:cNvPr>
          <p:cNvSpPr>
            <a:spLocks noGrp="1"/>
          </p:cNvSpPr>
          <p:nvPr>
            <p:ph idx="1"/>
          </p:nvPr>
        </p:nvSpPr>
        <p:spPr>
          <a:xfrm>
            <a:off x="380999" y="1719071"/>
            <a:ext cx="8407893" cy="4288537"/>
          </a:xfrm>
        </p:spPr>
        <p:txBody>
          <a:bodyPr>
            <a:normAutofit/>
          </a:bodyPr>
          <a:lstStyle/>
          <a:p>
            <a:pPr algn="ctr"/>
            <a:r>
              <a:rPr lang="fr-FR" sz="2000" dirty="0" err="1"/>
              <a:t>Connaissement</a:t>
            </a:r>
            <a:r>
              <a:rPr lang="fr-FR" sz="2000" dirty="0">
                <a:sym typeface="Wingdings" panose="05000000000000000000" pitchFamily="2" charset="2"/>
              </a:rPr>
              <a:t>  </a:t>
            </a:r>
            <a:r>
              <a:rPr lang="fr-FR" sz="2000" dirty="0" err="1"/>
              <a:t>contrat </a:t>
            </a:r>
            <a:r>
              <a:rPr lang="fr-FR" sz="2000" dirty="0"/>
              <a:t>de transport</a:t>
            </a:r>
          </a:p>
          <a:p>
            <a:pPr marL="0" indent="0" algn="ctr">
              <a:buNone/>
            </a:pPr>
            <a:r>
              <a:rPr lang="fr-FR" sz="2000" dirty="0">
                <a:latin typeface="Symbol" panose="05050102010706020507" pitchFamily="18" charset="2"/>
              </a:rPr>
              <a:t>¹</a:t>
            </a:r>
            <a:endParaRPr lang="fr-FR" sz="2000" dirty="0"/>
          </a:p>
          <a:p>
            <a:pPr algn="ctr"/>
            <a:r>
              <a:rPr lang="fr-FR" sz="2000" dirty="0"/>
              <a:t>Contrat d'affrètement</a:t>
            </a:r>
            <a:r>
              <a:rPr lang="fr-FR" sz="2000" dirty="0">
                <a:sym typeface="Wingdings" panose="05000000000000000000" pitchFamily="2" charset="2"/>
              </a:rPr>
              <a:t>  </a:t>
            </a:r>
            <a:r>
              <a:rPr lang="fr-FR" sz="2000" dirty="0" err="1"/>
              <a:t>contrat de location </a:t>
            </a:r>
            <a:r>
              <a:rPr lang="fr-FR" sz="2000" dirty="0"/>
              <a:t>d'un </a:t>
            </a:r>
            <a:r>
              <a:rPr lang="fr-FR" sz="2000" dirty="0" err="1"/>
              <a:t>navire</a:t>
            </a:r>
            <a:endParaRPr lang="fr-FR" sz="2000" dirty="0"/>
          </a:p>
        </p:txBody>
      </p:sp>
      <p:sp>
        <p:nvSpPr>
          <p:cNvPr id="6" name="Titre 1">
            <a:extLst>
              <a:ext uri="{FF2B5EF4-FFF2-40B4-BE49-F238E27FC236}">
                <a16:creationId xmlns:a16="http://schemas.microsoft.com/office/drawing/2014/main" id="{DCC1A3F2-6FEC-4EB9-AB71-96E93A2B5AD9}"/>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a:t>
            </a:r>
          </a:p>
        </p:txBody>
      </p:sp>
      <p:sp>
        <p:nvSpPr>
          <p:cNvPr id="9" name="Footer Placeholder 3">
            <a:extLst>
              <a:ext uri="{FF2B5EF4-FFF2-40B4-BE49-F238E27FC236}">
                <a16:creationId xmlns:a16="http://schemas.microsoft.com/office/drawing/2014/main" id="{D89FF8A0-874A-4081-B341-077F79FECCCB}"/>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44889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F43983AB-7A12-4A4F-A37C-E694200D19F3}"/>
              </a:ext>
            </a:extLst>
          </p:cNvPr>
          <p:cNvSpPr>
            <a:spLocks noGrp="1"/>
          </p:cNvSpPr>
          <p:nvPr>
            <p:ph idx="1"/>
          </p:nvPr>
        </p:nvSpPr>
        <p:spPr>
          <a:xfrm>
            <a:off x="380999" y="1719071"/>
            <a:ext cx="8407893" cy="4407408"/>
          </a:xfrm>
        </p:spPr>
        <p:txBody>
          <a:bodyPr>
            <a:normAutofit/>
          </a:bodyPr>
          <a:lstStyle/>
          <a:p>
            <a:pPr algn="just"/>
            <a:r>
              <a:rPr lang="en-US" sz="2000" dirty="0"/>
              <a:t>Le contrat d'affrètement est le document qui établit les obligations des parties au contrat d'affrètement.</a:t>
            </a:r>
          </a:p>
          <a:p>
            <a:pPr algn="just"/>
            <a:r>
              <a:rPr lang="en-US" sz="2000" i="0" u="none" strike="noStrike" baseline="0" dirty="0">
                <a:latin typeface="Minion-Regular"/>
              </a:rPr>
              <a:t>Il s'agit d'un document standardisé qui définit les modalités contractuelles selon lesquelles une partie (</a:t>
            </a:r>
            <a:r>
              <a:rPr lang="en-US" sz="2000" b="1" i="0" u="sng" strike="noStrike" baseline="0" dirty="0">
                <a:latin typeface="Minion-Regular"/>
              </a:rPr>
              <a:t>l'affréteur</a:t>
            </a:r>
            <a:r>
              <a:rPr lang="en-US" sz="2000" i="0" u="none" strike="noStrike" baseline="0" dirty="0">
                <a:latin typeface="Minion-Regular"/>
              </a:rPr>
              <a:t>) engage une autre partie (</a:t>
            </a:r>
            <a:r>
              <a:rPr lang="en-US" sz="2000" b="1" i="0" u="sng" strike="noStrike" baseline="0" dirty="0">
                <a:latin typeface="Minion-Regular"/>
              </a:rPr>
              <a:t>le propriétaire du navire</a:t>
            </a:r>
            <a:r>
              <a:rPr lang="en-US" sz="2000" i="0" u="none" strike="noStrike" baseline="0" dirty="0">
                <a:latin typeface="Minion-Regular"/>
              </a:rPr>
              <a:t>) pour le transport, en tout ou en partie, d'un navire lui appartenant.</a:t>
            </a:r>
          </a:p>
          <a:p>
            <a:r>
              <a:rPr lang="en-US" sz="2000" strike="noStrike" baseline="0" dirty="0">
                <a:latin typeface="Minion-Regular"/>
              </a:rPr>
              <a:t>L'affréteur </a:t>
            </a:r>
            <a:r>
              <a:rPr lang="en-US" sz="2000" dirty="0">
                <a:latin typeface="Minion-Regular"/>
              </a:rPr>
              <a:t>paie toujours un loyer au propriétaire du navire.</a:t>
            </a:r>
            <a:endParaRPr lang="en-US" sz="2000" i="0" u="none" strike="noStrike" baseline="0" dirty="0">
              <a:latin typeface="Minion-Regular"/>
            </a:endParaRPr>
          </a:p>
          <a:p>
            <a:pPr algn="just"/>
            <a:r>
              <a:rPr lang="en-US" sz="2000" i="1" u="sng" strike="noStrike" baseline="0" dirty="0">
                <a:latin typeface="Minion-Regular"/>
              </a:rPr>
              <a:t>Il existe trois types fondamentaux d'affrètement </a:t>
            </a:r>
            <a:r>
              <a:rPr lang="en-US" sz="2000" i="1" u="sng" dirty="0">
                <a:latin typeface="Minion-Regular"/>
              </a:rPr>
              <a:t>: l'affrètement au voyage, l'affrètement à temps et l'affrètement à nu (coque nue)</a:t>
            </a:r>
            <a:r>
              <a:rPr lang="en-US" sz="2000" dirty="0">
                <a:latin typeface="Minion-Regular"/>
              </a:rPr>
              <a:t>.</a:t>
            </a:r>
          </a:p>
        </p:txBody>
      </p:sp>
      <p:sp>
        <p:nvSpPr>
          <p:cNvPr id="6" name="Titre 1">
            <a:extLst>
              <a:ext uri="{FF2B5EF4-FFF2-40B4-BE49-F238E27FC236}">
                <a16:creationId xmlns:a16="http://schemas.microsoft.com/office/drawing/2014/main" id="{F60AA0BE-3F84-49B8-AFFA-43D79249034A}"/>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D'AFFRETEEMENT : LE CONTRAT D'AFFRETEEMENT</a:t>
            </a:r>
          </a:p>
        </p:txBody>
      </p:sp>
      <p:sp>
        <p:nvSpPr>
          <p:cNvPr id="9" name="Footer Placeholder 3">
            <a:extLst>
              <a:ext uri="{FF2B5EF4-FFF2-40B4-BE49-F238E27FC236}">
                <a16:creationId xmlns:a16="http://schemas.microsoft.com/office/drawing/2014/main" id="{F9D42368-3034-4253-A2A9-4610100B8FCA}"/>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87835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1A90DE5C-F2C7-4EDF-89DD-D41FE2D4C77F}"/>
              </a:ext>
            </a:extLst>
          </p:cNvPr>
          <p:cNvSpPr>
            <a:spLocks noGrp="1"/>
          </p:cNvSpPr>
          <p:nvPr>
            <p:ph idx="1"/>
          </p:nvPr>
        </p:nvSpPr>
        <p:spPr>
          <a:xfrm>
            <a:off x="327733" y="1696915"/>
            <a:ext cx="8407893" cy="4193931"/>
          </a:xfrm>
        </p:spPr>
        <p:txBody>
          <a:bodyPr>
            <a:normAutofit/>
          </a:bodyPr>
          <a:lstStyle/>
          <a:p>
            <a:pPr marL="0" indent="0">
              <a:buNone/>
              <a:defRPr/>
            </a:pPr>
            <a:r>
              <a:rPr lang="en-GB" sz="2000" u="sng" dirty="0"/>
              <a:t>OBLIGATIONS DES PARTIES EN VERTU D'UN CONTRAT DE LOCATION COQUE NU (BARE BOAT) :</a:t>
            </a:r>
          </a:p>
          <a:p>
            <a:r>
              <a:rPr lang="en-US" sz="2000" dirty="0"/>
              <a:t>L'affréteur met à la disposition du locataire un navire non équipé et non armé.</a:t>
            </a:r>
          </a:p>
          <a:p>
            <a:r>
              <a:rPr lang="en-US" sz="2000" dirty="0"/>
              <a:t>Le navire est armé et navigue avec l'équipage de l'affréteur.</a:t>
            </a:r>
          </a:p>
          <a:p>
            <a:r>
              <a:rPr lang="en-US" sz="2000" dirty="0"/>
              <a:t>L'affréteur est libre d'organiser les destinations et les opérations commerciales.</a:t>
            </a:r>
          </a:p>
          <a:p>
            <a:pPr marL="0" indent="0">
              <a:buNone/>
            </a:pPr>
            <a:r>
              <a:rPr lang="en-US" sz="2000" dirty="0"/>
              <a:t>&amp;gt; L'affréteur est responsable de la gestion nautique et commerciale du navire.</a:t>
            </a:r>
            <a:endParaRPr lang="en-GB" sz="2000" dirty="0"/>
          </a:p>
        </p:txBody>
      </p:sp>
      <p:sp>
        <p:nvSpPr>
          <p:cNvPr id="6" name="Titre 1">
            <a:extLst>
              <a:ext uri="{FF2B5EF4-FFF2-40B4-BE49-F238E27FC236}">
                <a16:creationId xmlns:a16="http://schemas.microsoft.com/office/drawing/2014/main" id="{8D4655C3-9A47-4B4B-A7F5-A4153140E11F}"/>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 : AFFRETE À LA DÉNÉE</a:t>
            </a:r>
          </a:p>
        </p:txBody>
      </p:sp>
      <p:sp>
        <p:nvSpPr>
          <p:cNvPr id="9" name="Footer Placeholder 3">
            <a:extLst>
              <a:ext uri="{FF2B5EF4-FFF2-40B4-BE49-F238E27FC236}">
                <a16:creationId xmlns:a16="http://schemas.microsoft.com/office/drawing/2014/main" id="{C23DFEB9-DD44-484E-B1CA-517776D6AD8B}"/>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593998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831AD1CA-B2DD-4ABD-B51E-AF0C45284273}"/>
              </a:ext>
            </a:extLst>
          </p:cNvPr>
          <p:cNvSpPr>
            <a:spLocks noGrp="1"/>
          </p:cNvSpPr>
          <p:nvPr>
            <p:ph idx="1"/>
          </p:nvPr>
        </p:nvSpPr>
        <p:spPr>
          <a:xfrm>
            <a:off x="380999" y="1719071"/>
            <a:ext cx="8407893" cy="4407408"/>
          </a:xfrm>
        </p:spPr>
        <p:txBody>
          <a:bodyPr>
            <a:normAutofit/>
          </a:bodyPr>
          <a:lstStyle/>
          <a:p>
            <a:pPr marL="0" indent="0">
              <a:buNone/>
            </a:pPr>
            <a:r>
              <a:rPr lang="en-US" sz="2000" i="0" u="sng" strike="noStrike" baseline="0" dirty="0">
                <a:latin typeface="Minion-Regular"/>
              </a:rPr>
              <a:t>OBLIGATIONS DES PARTIES EN VERTU D'UN CONTRAT D'AFFRÈTEMENT À VOYAGE :</a:t>
            </a:r>
          </a:p>
          <a:p>
            <a:r>
              <a:rPr lang="en-US" sz="2000" i="0" u="none" strike="noStrike" baseline="0" dirty="0">
                <a:latin typeface="Minion-Regular"/>
              </a:rPr>
              <a:t>Le propriétaire du navire transporte des marchandises d'un port à un autre au cours d'un voyage déterminé.</a:t>
            </a:r>
          </a:p>
          <a:p>
            <a:r>
              <a:rPr lang="en-US" sz="2000" dirty="0">
                <a:latin typeface="Minion-Regular"/>
              </a:rPr>
              <a:t>Le navire est équipé et piloté par l'équipage du propriétaire du navire.</a:t>
            </a:r>
          </a:p>
          <a:p>
            <a:r>
              <a:rPr lang="en-US" sz="2000" i="0" u="none" strike="noStrike" baseline="0" dirty="0">
                <a:latin typeface="Minion-Regular"/>
              </a:rPr>
              <a:t>L'affréteur n'est pas responsable de l'entretien ni des dommages causés à des tiers résultant de la négligence opérationnelle de l'équipage. Un affréteur au voyage n'est généralement pas responsable des dépenses telles que le soutage (carburant).</a:t>
            </a:r>
            <a:endParaRPr lang="fr-FR" sz="2000" dirty="0"/>
          </a:p>
        </p:txBody>
      </p:sp>
      <p:sp>
        <p:nvSpPr>
          <p:cNvPr id="6" name="Titre 1">
            <a:extLst>
              <a:ext uri="{FF2B5EF4-FFF2-40B4-BE49-F238E27FC236}">
                <a16:creationId xmlns:a16="http://schemas.microsoft.com/office/drawing/2014/main" id="{A0711DFB-62F7-4FEC-B52C-AE696C26BCF5}"/>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 : AFFRETE DE VOYAGE</a:t>
            </a:r>
          </a:p>
        </p:txBody>
      </p:sp>
      <p:sp>
        <p:nvSpPr>
          <p:cNvPr id="9" name="Footer Placeholder 3">
            <a:extLst>
              <a:ext uri="{FF2B5EF4-FFF2-40B4-BE49-F238E27FC236}">
                <a16:creationId xmlns:a16="http://schemas.microsoft.com/office/drawing/2014/main" id="{42B1A642-B598-43A3-8A51-4006147127E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576546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6" name="Titre 1">
            <a:extLst>
              <a:ext uri="{FF2B5EF4-FFF2-40B4-BE49-F238E27FC236}">
                <a16:creationId xmlns:a16="http://schemas.microsoft.com/office/drawing/2014/main" id="{D5F7E2D8-5436-4000-8AFE-5E534C758BE7}"/>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CONTRAT D'AFFRETEEMENT : AFFRETEEMENT À TEMPS</a:t>
            </a:r>
          </a:p>
        </p:txBody>
      </p:sp>
      <p:sp>
        <p:nvSpPr>
          <p:cNvPr id="3" name="Espace réservé du contenu 2">
            <a:extLst>
              <a:ext uri="{FF2B5EF4-FFF2-40B4-BE49-F238E27FC236}">
                <a16:creationId xmlns:a16="http://schemas.microsoft.com/office/drawing/2014/main" id="{3BAECEA0-8073-4A86-AA46-937514528CD5}"/>
              </a:ext>
            </a:extLst>
          </p:cNvPr>
          <p:cNvSpPr>
            <a:spLocks noGrp="1"/>
          </p:cNvSpPr>
          <p:nvPr>
            <p:ph idx="1"/>
          </p:nvPr>
        </p:nvSpPr>
        <p:spPr>
          <a:xfrm>
            <a:off x="133720" y="1513922"/>
            <a:ext cx="8877276" cy="4587845"/>
          </a:xfrm>
        </p:spPr>
        <p:txBody>
          <a:bodyPr>
            <a:noAutofit/>
          </a:bodyPr>
          <a:lstStyle/>
          <a:p>
            <a:pPr marL="0" indent="0">
              <a:buNone/>
            </a:pPr>
            <a:r>
              <a:rPr lang="fr-FR" sz="2000" u="sng" dirty="0"/>
              <a:t>OBLIGATIONS DES PARTIES EN VERTU D'UN AFFRETMENT À TEMPS :</a:t>
            </a:r>
          </a:p>
          <a:p>
            <a:r>
              <a:rPr lang="en-US" sz="2000" i="0" u="none" strike="noStrike" baseline="0" dirty="0">
                <a:latin typeface="Minion-Regular"/>
              </a:rPr>
              <a:t>L'armateur met la capacité de transport du navire à la disposition de l'affréteur pour une période déterminée.</a:t>
            </a:r>
          </a:p>
          <a:p>
            <a:r>
              <a:rPr lang="en-US" sz="2000" i="0" u="none" strike="noStrike" baseline="0" dirty="0">
                <a:latin typeface="Minion-Regular"/>
              </a:rPr>
              <a:t>Le propriétaire du navire est responsable de la navigation et de la gestion du navire.</a:t>
            </a:r>
          </a:p>
          <a:p>
            <a:r>
              <a:rPr lang="en-US" sz="2000" i="0" u="none" strike="noStrike" baseline="0" dirty="0">
                <a:latin typeface="Minion-Regular"/>
              </a:rPr>
              <a:t>Le capitaine et l'équipage restent employés du propriétaire et sont soumis aux ordres de celui-ci en ce qui concerne la navigation et la gestion du navire. </a:t>
            </a:r>
          </a:p>
          <a:p>
            <a:r>
              <a:rPr lang="en-US" sz="2000" dirty="0">
                <a:latin typeface="Minion-Regular"/>
              </a:rPr>
              <a:t>Le navire est à la disposition de l'affréteur pour ce qui concerne les ports d'escale, les marchandises transportées et les autres questions liées à l'activité de l'affréteur.</a:t>
            </a:r>
          </a:p>
          <a:p>
            <a:r>
              <a:rPr lang="en-US" sz="2000" dirty="0">
                <a:latin typeface="Minion-Regular"/>
              </a:rPr>
              <a:t>Étant donné que l'affréteur à temps n'obtient que la capacité de transport d'un navire particulier, il n'est pas responsable de l'entretien, des réparations du navire ou des dommages causés à des tiers résultant de la négligence opérationnelle de l'équipage.</a:t>
            </a:r>
          </a:p>
        </p:txBody>
      </p:sp>
      <p:sp>
        <p:nvSpPr>
          <p:cNvPr id="9" name="Footer Placeholder 3">
            <a:extLst>
              <a:ext uri="{FF2B5EF4-FFF2-40B4-BE49-F238E27FC236}">
                <a16:creationId xmlns:a16="http://schemas.microsoft.com/office/drawing/2014/main" id="{857ABB94-2F65-4DF6-B78F-81191F4A9224}"/>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60369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2" name="Tableau 2">
            <a:extLst>
              <a:ext uri="{FF2B5EF4-FFF2-40B4-BE49-F238E27FC236}">
                <a16:creationId xmlns:a16="http://schemas.microsoft.com/office/drawing/2014/main" id="{634E6970-0D02-40D9-ACD7-6F10AE4BB33C}"/>
              </a:ext>
            </a:extLst>
          </p:cNvPr>
          <p:cNvGraphicFramePr>
            <a:graphicFrameLocks noGrp="1"/>
          </p:cNvGraphicFramePr>
          <p:nvPr>
            <p:ph idx="1"/>
            <p:extLst>
              <p:ext uri="{D42A27DB-BD31-4B8C-83A1-F6EECF244321}">
                <p14:modId xmlns:p14="http://schemas.microsoft.com/office/powerpoint/2010/main" val="3864381799"/>
              </p:ext>
            </p:extLst>
          </p:nvPr>
        </p:nvGraphicFramePr>
        <p:xfrm>
          <a:off x="87923" y="1644162"/>
          <a:ext cx="8880231" cy="4352192"/>
        </p:xfrm>
        <a:graphic>
          <a:graphicData uri="http://schemas.openxmlformats.org/drawingml/2006/table">
            <a:tbl>
              <a:tblPr firstRow="1" bandRow="1">
                <a:tableStyleId>{5C22544A-7EE6-4342-B048-85BDC9FD1C3A}</a:tableStyleId>
              </a:tblPr>
              <a:tblGrid>
                <a:gridCol w="2960077">
                  <a:extLst>
                    <a:ext uri="{9D8B030D-6E8A-4147-A177-3AD203B41FA5}">
                      <a16:colId xmlns:a16="http://schemas.microsoft.com/office/drawing/2014/main" val="688573481"/>
                    </a:ext>
                  </a:extLst>
                </a:gridCol>
                <a:gridCol w="2960077">
                  <a:extLst>
                    <a:ext uri="{9D8B030D-6E8A-4147-A177-3AD203B41FA5}">
                      <a16:colId xmlns:a16="http://schemas.microsoft.com/office/drawing/2014/main" val="3384801172"/>
                    </a:ext>
                  </a:extLst>
                </a:gridCol>
                <a:gridCol w="2960077">
                  <a:extLst>
                    <a:ext uri="{9D8B030D-6E8A-4147-A177-3AD203B41FA5}">
                      <a16:colId xmlns:a16="http://schemas.microsoft.com/office/drawing/2014/main" val="4207992061"/>
                    </a:ext>
                  </a:extLst>
                </a:gridCol>
              </a:tblGrid>
              <a:tr h="1064966">
                <a:tc>
                  <a:txBody>
                    <a:bodyPr/>
                    <a:lstStyle/>
                    <a:p>
                      <a:endParaRPr lang="fr-FR" dirty="0"/>
                    </a:p>
                  </a:txBody>
                  <a:tcPr/>
                </a:tc>
                <a:tc>
                  <a:txBody>
                    <a:bodyPr/>
                    <a:lstStyle/>
                    <a:p>
                      <a:r>
                        <a:rPr lang="fr-FR" dirty="0"/>
                        <a:t>Gestion </a:t>
                      </a:r>
                      <a:r>
                        <a:rPr lang="fr-FR" dirty="0" err="1"/>
                        <a:t>nautique</a:t>
                      </a:r>
                    </a:p>
                  </a:txBody>
                  <a:tcPr/>
                </a:tc>
                <a:tc>
                  <a:txBody>
                    <a:bodyPr/>
                    <a:lstStyle/>
                    <a:p>
                      <a:r>
                        <a:rPr lang="fr-FR" dirty="0"/>
                        <a:t>Gestion commerciale</a:t>
                      </a:r>
                    </a:p>
                  </a:txBody>
                  <a:tcPr/>
                </a:tc>
                <a:extLst>
                  <a:ext uri="{0D108BD9-81ED-4DB2-BD59-A6C34878D82A}">
                    <a16:rowId xmlns:a16="http://schemas.microsoft.com/office/drawing/2014/main" val="3880521052"/>
                  </a:ext>
                </a:extLst>
              </a:tr>
              <a:tr h="1157294">
                <a:tc>
                  <a:txBody>
                    <a:bodyPr/>
                    <a:lstStyle/>
                    <a:p>
                      <a:r>
                        <a:rPr lang="fr-FR" dirty="0"/>
                        <a:t>AFFRETEMENT COASSE-ET-CHARGEMENT (BARE BOAT)</a:t>
                      </a:r>
                    </a:p>
                  </a:txBody>
                  <a:tcPr/>
                </a:tc>
                <a:tc>
                  <a:txBody>
                    <a:bodyPr/>
                    <a:lstStyle/>
                    <a:p>
                      <a:r>
                        <a:rPr lang="fr-FR" dirty="0" err="1"/>
                        <a:t>Affréteur</a:t>
                      </a:r>
                      <a:endParaRPr lang="fr-FR" dirty="0"/>
                    </a:p>
                  </a:txBody>
                  <a:tcPr/>
                </a:tc>
                <a:tc>
                  <a:txBody>
                    <a:bodyPr/>
                    <a:lstStyle/>
                    <a:p>
                      <a:r>
                        <a:rPr lang="fr-FR" dirty="0" err="1"/>
                        <a:t>Affréteur</a:t>
                      </a:r>
                      <a:endParaRPr lang="fr-FR" dirty="0"/>
                    </a:p>
                  </a:txBody>
                  <a:tcPr/>
                </a:tc>
                <a:extLst>
                  <a:ext uri="{0D108BD9-81ED-4DB2-BD59-A6C34878D82A}">
                    <a16:rowId xmlns:a16="http://schemas.microsoft.com/office/drawing/2014/main" val="4237379473"/>
                  </a:ext>
                </a:extLst>
              </a:tr>
              <a:tr h="1064966">
                <a:tc>
                  <a:txBody>
                    <a:bodyPr/>
                    <a:lstStyle/>
                    <a:p>
                      <a:r>
                        <a:rPr lang="fr-FR" dirty="0"/>
                        <a:t>AFFRETEUR</a:t>
                      </a:r>
                    </a:p>
                  </a:txBody>
                  <a:tcPr/>
                </a:tc>
                <a:tc>
                  <a:txBody>
                    <a:bodyPr/>
                    <a:lstStyle/>
                    <a:p>
                      <a:r>
                        <a:rPr lang="fr-FR" dirty="0" err="1"/>
                        <a:t>Armateur</a:t>
                      </a:r>
                      <a:endParaRPr lang="fr-FR" dirty="0"/>
                    </a:p>
                  </a:txBody>
                  <a:tcPr/>
                </a:tc>
                <a:tc>
                  <a:txBody>
                    <a:bodyPr/>
                    <a:lstStyle/>
                    <a:p>
                      <a:r>
                        <a:rPr lang="fr-FR" dirty="0" err="1"/>
                        <a:t>Armateur</a:t>
                      </a:r>
                      <a:endParaRPr lang="fr-FR" dirty="0"/>
                    </a:p>
                  </a:txBody>
                  <a:tcPr/>
                </a:tc>
                <a:extLst>
                  <a:ext uri="{0D108BD9-81ED-4DB2-BD59-A6C34878D82A}">
                    <a16:rowId xmlns:a16="http://schemas.microsoft.com/office/drawing/2014/main" val="2348744467"/>
                  </a:ext>
                </a:extLst>
              </a:tr>
              <a:tr h="1064966">
                <a:tc>
                  <a:txBody>
                    <a:bodyPr/>
                    <a:lstStyle/>
                    <a:p>
                      <a:r>
                        <a:rPr lang="fr-FR" dirty="0"/>
                        <a:t>AFFRÈTEMENT À TEMPS</a:t>
                      </a:r>
                    </a:p>
                  </a:txBody>
                  <a:tcPr/>
                </a:tc>
                <a:tc>
                  <a:txBody>
                    <a:bodyPr/>
                    <a:lstStyle/>
                    <a:p>
                      <a:r>
                        <a:rPr lang="fr-FR" dirty="0" err="1"/>
                        <a:t>Armateur</a:t>
                      </a:r>
                      <a:endParaRPr lang="fr-FR" dirty="0"/>
                    </a:p>
                  </a:txBody>
                  <a:tcPr/>
                </a:tc>
                <a:tc>
                  <a:txBody>
                    <a:bodyPr/>
                    <a:lstStyle/>
                    <a:p>
                      <a:r>
                        <a:rPr lang="fr-FR" dirty="0" err="1"/>
                        <a:t>Affréteur</a:t>
                      </a:r>
                      <a:endParaRPr lang="fr-FR" dirty="0"/>
                    </a:p>
                  </a:txBody>
                  <a:tcPr/>
                </a:tc>
                <a:extLst>
                  <a:ext uri="{0D108BD9-81ED-4DB2-BD59-A6C34878D82A}">
                    <a16:rowId xmlns:a16="http://schemas.microsoft.com/office/drawing/2014/main" val="3917909003"/>
                  </a:ext>
                </a:extLst>
              </a:tr>
            </a:tbl>
          </a:graphicData>
        </a:graphic>
      </p:graphicFrame>
      <p:sp>
        <p:nvSpPr>
          <p:cNvPr id="6" name="Titre 1">
            <a:extLst>
              <a:ext uri="{FF2B5EF4-FFF2-40B4-BE49-F238E27FC236}">
                <a16:creationId xmlns:a16="http://schemas.microsoft.com/office/drawing/2014/main" id="{4AAF046F-7F1B-4E67-A317-D213F815257E}"/>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Questions </a:t>
            </a:r>
            <a:r>
              <a:rPr lang="fr-FR" sz="2000" dirty="0" err="1">
                <a:solidFill>
                  <a:schemeClr val="bg1"/>
                </a:solidFill>
                <a:latin typeface="Franklin Gothic Book" panose="020B0503020102020204" pitchFamily="34" charset="0"/>
              </a:rPr>
              <a:t>de responsabilité</a:t>
            </a:r>
          </a:p>
        </p:txBody>
      </p:sp>
      <p:sp>
        <p:nvSpPr>
          <p:cNvPr id="9" name="Footer Placeholder 3">
            <a:extLst>
              <a:ext uri="{FF2B5EF4-FFF2-40B4-BE49-F238E27FC236}">
                <a16:creationId xmlns:a16="http://schemas.microsoft.com/office/drawing/2014/main" id="{621FD224-5003-4346-8195-6EC3B5F554C1}"/>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697312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1FF5546-7A8E-4EB6-AAAE-F4EF25F79166}"/>
              </a:ext>
            </a:extLst>
          </p:cNvPr>
          <p:cNvSpPr>
            <a:spLocks noGrp="1"/>
          </p:cNvSpPr>
          <p:nvPr>
            <p:ph idx="1"/>
          </p:nvPr>
        </p:nvSpPr>
        <p:spPr>
          <a:xfrm>
            <a:off x="380999" y="1719071"/>
            <a:ext cx="8407893" cy="4407408"/>
          </a:xfrm>
        </p:spPr>
        <p:txBody>
          <a:bodyPr>
            <a:normAutofit/>
          </a:bodyPr>
          <a:lstStyle/>
          <a:p>
            <a:pPr algn="just"/>
            <a:r>
              <a:rPr lang="fr-FR" sz="2000" dirty="0"/>
              <a:t>RÔLE DU TRANSPORTEUR ROUTIER ?</a:t>
            </a:r>
          </a:p>
          <a:p>
            <a:pPr algn="just"/>
            <a:endParaRPr lang="fr-FR" sz="2000" dirty="0"/>
          </a:p>
          <a:p>
            <a:pPr algn="just"/>
            <a:r>
              <a:rPr lang="fr-FR" sz="2000" dirty="0"/>
              <a:t>RELATION CONTRACTUELLE DU TRANSPORTEUR ROUTIER ?</a:t>
            </a:r>
          </a:p>
        </p:txBody>
      </p:sp>
      <p:sp>
        <p:nvSpPr>
          <p:cNvPr id="6" name="Titre 1">
            <a:extLst>
              <a:ext uri="{FF2B5EF4-FFF2-40B4-BE49-F238E27FC236}">
                <a16:creationId xmlns:a16="http://schemas.microsoft.com/office/drawing/2014/main" id="{A0BF9A6B-61EF-4221-954E-D2560F6CF130}"/>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B – TRANSPORTEURS (ROUTIERS)</a:t>
            </a:r>
          </a:p>
        </p:txBody>
      </p:sp>
      <p:sp>
        <p:nvSpPr>
          <p:cNvPr id="9" name="Footer Placeholder 3">
            <a:extLst>
              <a:ext uri="{FF2B5EF4-FFF2-40B4-BE49-F238E27FC236}">
                <a16:creationId xmlns:a16="http://schemas.microsoft.com/office/drawing/2014/main" id="{443C52E0-C004-4ED7-89BC-95FA044E03EA}"/>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8716677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1FF5546-7A8E-4EB6-AAAE-F4EF25F79166}"/>
              </a:ext>
            </a:extLst>
          </p:cNvPr>
          <p:cNvSpPr>
            <a:spLocks noGrp="1"/>
          </p:cNvSpPr>
          <p:nvPr>
            <p:ph idx="1"/>
          </p:nvPr>
        </p:nvSpPr>
        <p:spPr>
          <a:xfrm>
            <a:off x="380999" y="1719071"/>
            <a:ext cx="8407893" cy="4407408"/>
          </a:xfrm>
        </p:spPr>
        <p:txBody>
          <a:bodyPr>
            <a:noAutofit/>
          </a:bodyPr>
          <a:lstStyle/>
          <a:p>
            <a:pPr algn="just"/>
            <a:r>
              <a:rPr lang="fr-FR" sz="1600" u="sng" dirty="0"/>
              <a:t>RÔLE DU TRANSPORTEUR ROUTIER : </a:t>
            </a:r>
            <a:r>
              <a:rPr lang="en-US" sz="1600" dirty="0"/>
              <a:t>le transporteur routier achemine les marchandises d'un point A à un point B. Ce transport peut être effectué à l'intérieur d'un même pays ou à l'international.</a:t>
            </a:r>
            <a:endParaRPr lang="fr-FR" sz="1600" dirty="0"/>
          </a:p>
          <a:p>
            <a:pPr marL="0" indent="0" algn="just">
              <a:buNone/>
            </a:pPr>
            <a:endParaRPr lang="fr-FR" sz="1600" dirty="0"/>
          </a:p>
          <a:p>
            <a:pPr algn="just"/>
            <a:r>
              <a:rPr lang="fr-FR" sz="1600" u="sng" dirty="0"/>
              <a:t>RELATION CONTRACTUELLE DU TRANSPORTEUR ROUTIER :</a:t>
            </a:r>
          </a:p>
          <a:p>
            <a:pPr algn="just">
              <a:buFontTx/>
              <a:buChar char="-"/>
            </a:pPr>
            <a:r>
              <a:rPr lang="en-US" sz="1600" dirty="0"/>
              <a:t>Lorsque l'expéditeur a fait appel à un transitaire, celui-ci passe un contrat avec le transporteur.</a:t>
            </a:r>
          </a:p>
          <a:p>
            <a:pPr algn="just">
              <a:buFontTx/>
              <a:buChar char="-"/>
            </a:pPr>
            <a:r>
              <a:rPr lang="en-US" sz="1600" dirty="0"/>
              <a:t>Lorsque le chargeur n'a pas fait appel à un transitaire, il passe directement contrat avec le transporteur.</a:t>
            </a:r>
          </a:p>
          <a:p>
            <a:pPr algn="just">
              <a:buFontTx/>
              <a:buChar char="-"/>
            </a:pPr>
            <a:r>
              <a:rPr lang="en-US" sz="1600" dirty="0"/>
              <a:t>Remarque : la sous-traitance est possible. Lorsqu'un transporteur a conclu un contrat avec un transitaire ou avec le chargeur, il peut alors sous-traiter ce transport à un autre transporteur. Il y aura alors un nouveau contrat, conclu entre le transporteur initial et le transporteur sous-traitant.</a:t>
            </a:r>
            <a:endParaRPr lang="fr-FR" sz="1600" dirty="0"/>
          </a:p>
        </p:txBody>
      </p:sp>
      <p:sp>
        <p:nvSpPr>
          <p:cNvPr id="6" name="Titre 1">
            <a:extLst>
              <a:ext uri="{FF2B5EF4-FFF2-40B4-BE49-F238E27FC236}">
                <a16:creationId xmlns:a16="http://schemas.microsoft.com/office/drawing/2014/main" id="{A0BF9A6B-61EF-4221-954E-D2560F6CF130}"/>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B – TRANSPORTEURS (ROUTIERS)</a:t>
            </a:r>
          </a:p>
        </p:txBody>
      </p:sp>
      <p:sp>
        <p:nvSpPr>
          <p:cNvPr id="9" name="Footer Placeholder 3">
            <a:extLst>
              <a:ext uri="{FF2B5EF4-FFF2-40B4-BE49-F238E27FC236}">
                <a16:creationId xmlns:a16="http://schemas.microsoft.com/office/drawing/2014/main" id="{443C52E0-C004-4ED7-89BC-95FA044E03EA}"/>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4169115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91629E4-EB29-46FB-8E8B-ECB3A001667D}"/>
              </a:ext>
            </a:extLst>
          </p:cNvPr>
          <p:cNvSpPr>
            <a:spLocks noGrp="1"/>
          </p:cNvSpPr>
          <p:nvPr>
            <p:ph idx="1"/>
          </p:nvPr>
        </p:nvSpPr>
        <p:spPr>
          <a:xfrm>
            <a:off x="380999" y="1719071"/>
            <a:ext cx="8407893" cy="4407408"/>
          </a:xfrm>
        </p:spPr>
        <p:txBody>
          <a:bodyPr>
            <a:normAutofit/>
          </a:bodyPr>
          <a:lstStyle/>
          <a:p>
            <a:pPr algn="l"/>
            <a:r>
              <a:rPr lang="fr-FR" sz="2000" dirty="0"/>
              <a:t>RÔLE DES TRANSPORTEURS ?</a:t>
            </a:r>
          </a:p>
          <a:p>
            <a:pPr marL="0" indent="0" algn="l">
              <a:buNone/>
            </a:pPr>
            <a:endParaRPr lang="fr-FR" sz="2000" dirty="0"/>
          </a:p>
          <a:p>
            <a:pPr algn="l"/>
            <a:r>
              <a:rPr lang="fr-FR" sz="2000" dirty="0"/>
              <a:t>RELATION CONTRACTUELLE ENTRE LES TRANSPORTEURS ?</a:t>
            </a:r>
          </a:p>
        </p:txBody>
      </p:sp>
      <p:sp>
        <p:nvSpPr>
          <p:cNvPr id="6" name="Titre 1">
            <a:extLst>
              <a:ext uri="{FF2B5EF4-FFF2-40B4-BE49-F238E27FC236}">
                <a16:creationId xmlns:a16="http://schemas.microsoft.com/office/drawing/2014/main" id="{816768DE-7738-4CCA-A2B2-31D5B70547D9}"/>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 – TRANSPORTEURS</a:t>
            </a:r>
          </a:p>
        </p:txBody>
      </p:sp>
      <p:sp>
        <p:nvSpPr>
          <p:cNvPr id="9" name="Footer Placeholder 3">
            <a:extLst>
              <a:ext uri="{FF2B5EF4-FFF2-40B4-BE49-F238E27FC236}">
                <a16:creationId xmlns:a16="http://schemas.microsoft.com/office/drawing/2014/main" id="{A0E46B40-FAE3-489E-991F-5FE36B424C0B}"/>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21955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9F33923A-15C2-4771-93A9-6D0014A97CF7}"/>
              </a:ext>
            </a:extLst>
          </p:cNvPr>
          <p:cNvSpPr>
            <a:spLocks noGrp="1"/>
          </p:cNvSpPr>
          <p:nvPr>
            <p:ph idx="1"/>
          </p:nvPr>
        </p:nvSpPr>
        <p:spPr>
          <a:xfrm>
            <a:off x="380999" y="1719071"/>
            <a:ext cx="8407893" cy="4407408"/>
          </a:xfrm>
        </p:spPr>
        <p:txBody>
          <a:bodyPr>
            <a:normAutofit/>
          </a:bodyPr>
          <a:lstStyle/>
          <a:p>
            <a:pPr>
              <a:buFontTx/>
              <a:buNone/>
            </a:pPr>
            <a:endParaRPr lang="fr-FR" dirty="0"/>
          </a:p>
          <a:p>
            <a:r>
              <a:rPr lang="fr-FR" sz="2000" u="sng" dirty="0"/>
              <a:t>RÔLE : </a:t>
            </a:r>
            <a:r>
              <a:rPr lang="fr-FR" sz="2000" dirty="0"/>
              <a:t>ORGANISATION COMPLÈTE DU TRANSPORT</a:t>
            </a:r>
          </a:p>
          <a:p>
            <a:pPr marL="0" indent="0">
              <a:buNone/>
            </a:pPr>
            <a:r>
              <a:rPr lang="fr-FR" sz="2000" dirty="0"/>
              <a:t>    - conclusion des </a:t>
            </a:r>
            <a:r>
              <a:rPr lang="en-US" sz="2000" dirty="0"/>
              <a:t>contrats de transport avec les transporteurs requis</a:t>
            </a:r>
            <a:endParaRPr lang="fr-FR" sz="2000" dirty="0"/>
          </a:p>
          <a:p>
            <a:pPr marL="0" indent="0">
              <a:buNone/>
            </a:pPr>
            <a:r>
              <a:rPr lang="fr-FR" sz="2000" dirty="0"/>
              <a:t>    - dédouanement</a:t>
            </a:r>
          </a:p>
          <a:p>
            <a:r>
              <a:rPr lang="fr-FR" sz="2000" u="sng" dirty="0"/>
              <a:t>RELATION CONTRACTUELLE : </a:t>
            </a:r>
            <a:r>
              <a:rPr lang="fr-FR" sz="2000" dirty="0"/>
              <a:t>PARTIE AU CONTRAT DE TRANSPORT</a:t>
            </a:r>
          </a:p>
          <a:p>
            <a:pPr>
              <a:buFontTx/>
              <a:buNone/>
            </a:pPr>
            <a:endParaRPr lang="fr-FR" dirty="0"/>
          </a:p>
        </p:txBody>
      </p:sp>
      <p:sp>
        <p:nvSpPr>
          <p:cNvPr id="6" name="Titre 1">
            <a:extLst>
              <a:ext uri="{FF2B5EF4-FFF2-40B4-BE49-F238E27FC236}">
                <a16:creationId xmlns:a16="http://schemas.microsoft.com/office/drawing/2014/main" id="{A2CC4CBB-153B-4D63-A526-F7EE24C15695}"/>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 – TRANSPORTEURS</a:t>
            </a:r>
          </a:p>
        </p:txBody>
      </p:sp>
      <p:sp>
        <p:nvSpPr>
          <p:cNvPr id="9" name="Footer Placeholder 3">
            <a:extLst>
              <a:ext uri="{FF2B5EF4-FFF2-40B4-BE49-F238E27FC236}">
                <a16:creationId xmlns:a16="http://schemas.microsoft.com/office/drawing/2014/main" id="{4CD3C30C-4185-497B-B2DD-20D2BAFA30F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2462834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AA8B9D9-BF23-4F00-A57B-2BA873F72ED8}"/>
              </a:ext>
            </a:extLst>
          </p:cNvPr>
          <p:cNvSpPr>
            <a:spLocks noGrp="1"/>
          </p:cNvSpPr>
          <p:nvPr>
            <p:ph idx="1"/>
          </p:nvPr>
        </p:nvSpPr>
        <p:spPr>
          <a:xfrm>
            <a:off x="380999" y="1719071"/>
            <a:ext cx="8407893" cy="4407408"/>
          </a:xfrm>
        </p:spPr>
        <p:txBody>
          <a:bodyPr>
            <a:normAutofit/>
          </a:bodyPr>
          <a:lstStyle/>
          <a:p>
            <a:pPr algn="just"/>
            <a:r>
              <a:rPr lang="fr-FR" sz="2000" dirty="0" err="1"/>
              <a:t>Attention </a:t>
            </a:r>
            <a:r>
              <a:rPr lang="fr-FR" sz="2000" dirty="0"/>
              <a:t>: un transitaire peut </a:t>
            </a:r>
            <a:r>
              <a:rPr lang="fr-FR" sz="2000" dirty="0" err="1"/>
              <a:t>également être </a:t>
            </a:r>
            <a:r>
              <a:rPr lang="fr-FR" sz="2000" dirty="0"/>
              <a:t>un transporteur</a:t>
            </a:r>
          </a:p>
          <a:p>
            <a:pPr algn="just"/>
            <a:r>
              <a:rPr lang="fr-FR" sz="2000" dirty="0" err="1"/>
              <a:t>Les transitaires </a:t>
            </a:r>
            <a:r>
              <a:rPr lang="fr-FR" sz="2000" dirty="0"/>
              <a:t>disposent </a:t>
            </a:r>
            <a:r>
              <a:rPr lang="fr-FR" sz="2000" dirty="0" err="1"/>
              <a:t>souvent </a:t>
            </a:r>
            <a:r>
              <a:rPr lang="fr-FR" sz="2000" dirty="0"/>
              <a:t>de </a:t>
            </a:r>
            <a:r>
              <a:rPr lang="fr-FR" sz="2000" dirty="0" err="1"/>
              <a:t>leurs propres moyens</a:t>
            </a:r>
            <a:r>
              <a:rPr lang="fr-FR" sz="2000" dirty="0"/>
              <a:t> de transport</a:t>
            </a:r>
          </a:p>
          <a:p>
            <a:pPr algn="just"/>
            <a:r>
              <a:rPr lang="fr-FR" sz="2000" dirty="0"/>
              <a:t>Cela </a:t>
            </a:r>
            <a:r>
              <a:rPr lang="fr-FR" sz="2000" dirty="0" err="1"/>
              <a:t>dépend </a:t>
            </a:r>
            <a:r>
              <a:rPr lang="fr-FR" sz="2000" dirty="0"/>
              <a:t>de </a:t>
            </a:r>
            <a:r>
              <a:rPr lang="fr-FR" sz="2000" dirty="0" err="1"/>
              <a:t>ce que vous leur demandez </a:t>
            </a:r>
            <a:r>
              <a:rPr lang="fr-FR" sz="2000" dirty="0"/>
              <a:t>de faire</a:t>
            </a:r>
          </a:p>
          <a:p>
            <a:pPr algn="just"/>
            <a:r>
              <a:rPr lang="fr-FR" sz="2000" dirty="0"/>
              <a:t>Les qualifications </a:t>
            </a:r>
            <a:r>
              <a:rPr lang="fr-FR" sz="2000" dirty="0" err="1"/>
              <a:t>juridiques dépendent </a:t>
            </a:r>
            <a:r>
              <a:rPr lang="fr-FR" sz="2000" dirty="0"/>
              <a:t>des </a:t>
            </a:r>
            <a:r>
              <a:rPr lang="fr-FR" sz="2000" dirty="0" err="1"/>
              <a:t>termes du contrat</a:t>
            </a:r>
            <a:endParaRPr lang="fr-FR" sz="2000" dirty="0"/>
          </a:p>
        </p:txBody>
      </p:sp>
      <p:sp>
        <p:nvSpPr>
          <p:cNvPr id="6" name="Titre 1">
            <a:extLst>
              <a:ext uri="{FF2B5EF4-FFF2-40B4-BE49-F238E27FC236}">
                <a16:creationId xmlns:a16="http://schemas.microsoft.com/office/drawing/2014/main" id="{0774B071-07E4-41C5-810E-94A0E560B7BC}"/>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 – TRANSPORTEURS</a:t>
            </a:r>
          </a:p>
        </p:txBody>
      </p:sp>
      <p:sp>
        <p:nvSpPr>
          <p:cNvPr id="9" name="Footer Placeholder 3">
            <a:extLst>
              <a:ext uri="{FF2B5EF4-FFF2-40B4-BE49-F238E27FC236}">
                <a16:creationId xmlns:a16="http://schemas.microsoft.com/office/drawing/2014/main" id="{26472D85-10F8-4DCF-9905-7B189918F04A}"/>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2600721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911E1796-E8C2-4A06-B883-A9C3AD0005A1}"/>
              </a:ext>
            </a:extLst>
          </p:cNvPr>
          <p:cNvSpPr>
            <a:spLocks noGrp="1"/>
          </p:cNvSpPr>
          <p:nvPr>
            <p:ph idx="1"/>
          </p:nvPr>
        </p:nvSpPr>
        <p:spPr>
          <a:xfrm>
            <a:off x="380999" y="1719071"/>
            <a:ext cx="8381261" cy="667015"/>
          </a:xfrm>
        </p:spPr>
        <p:txBody>
          <a:bodyPr>
            <a:normAutofit/>
          </a:bodyPr>
          <a:lstStyle/>
          <a:p>
            <a:pPr algn="ctr">
              <a:buFontTx/>
              <a:buNone/>
              <a:defRPr/>
            </a:pPr>
            <a:r>
              <a:rPr lang="en-US" sz="1800" b="1" dirty="0"/>
              <a:t>Transitaires importants en France</a:t>
            </a:r>
          </a:p>
        </p:txBody>
      </p:sp>
      <p:sp>
        <p:nvSpPr>
          <p:cNvPr id="6" name="Titre 1">
            <a:extLst>
              <a:ext uri="{FF2B5EF4-FFF2-40B4-BE49-F238E27FC236}">
                <a16:creationId xmlns:a16="http://schemas.microsoft.com/office/drawing/2014/main" id="{B5ABE54A-B2E1-46C4-8780-9AB60A73B135}"/>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C – TRANSPORTEURS</a:t>
            </a:r>
          </a:p>
        </p:txBody>
      </p:sp>
      <p:pic>
        <p:nvPicPr>
          <p:cNvPr id="3" name="Image 2">
            <a:extLst>
              <a:ext uri="{FF2B5EF4-FFF2-40B4-BE49-F238E27FC236}">
                <a16:creationId xmlns:a16="http://schemas.microsoft.com/office/drawing/2014/main" id="{4870DC03-570A-476B-9E64-9D39335D53A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69627" y="2334713"/>
            <a:ext cx="2951742" cy="1739901"/>
          </a:xfrm>
          <a:prstGeom prst="rect">
            <a:avLst/>
          </a:prstGeom>
        </p:spPr>
      </p:pic>
      <p:pic>
        <p:nvPicPr>
          <p:cNvPr id="10" name="Image 9">
            <a:extLst>
              <a:ext uri="{FF2B5EF4-FFF2-40B4-BE49-F238E27FC236}">
                <a16:creationId xmlns:a16="http://schemas.microsoft.com/office/drawing/2014/main" id="{0CEBD188-45AA-4444-8D6E-74C11FA52D8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788024" y="2334713"/>
            <a:ext cx="3106950" cy="1739901"/>
          </a:xfrm>
          <a:prstGeom prst="rect">
            <a:avLst/>
          </a:prstGeom>
        </p:spPr>
      </p:pic>
      <p:pic>
        <p:nvPicPr>
          <p:cNvPr id="12" name="Image 11">
            <a:extLst>
              <a:ext uri="{FF2B5EF4-FFF2-40B4-BE49-F238E27FC236}">
                <a16:creationId xmlns:a16="http://schemas.microsoft.com/office/drawing/2014/main" id="{5486ED88-FD04-48EB-B66F-E1086545C0C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63467" y="4292131"/>
            <a:ext cx="2951742" cy="1604138"/>
          </a:xfrm>
          <a:prstGeom prst="rect">
            <a:avLst/>
          </a:prstGeom>
        </p:spPr>
      </p:pic>
      <p:pic>
        <p:nvPicPr>
          <p:cNvPr id="14" name="Image 13" descr="Une image contenant texte, clipart&#10;&#10;Description générée automatiquement">
            <a:extLst>
              <a:ext uri="{FF2B5EF4-FFF2-40B4-BE49-F238E27FC236}">
                <a16:creationId xmlns:a16="http://schemas.microsoft.com/office/drawing/2014/main" id="{AC272C15-B962-41AA-B73E-03B5769053F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788024" y="4292132"/>
            <a:ext cx="3106950" cy="1604138"/>
          </a:xfrm>
          <a:prstGeom prst="rect">
            <a:avLst/>
          </a:prstGeom>
        </p:spPr>
      </p:pic>
      <p:sp>
        <p:nvSpPr>
          <p:cNvPr id="15" name="Footer Placeholder 3">
            <a:extLst>
              <a:ext uri="{FF2B5EF4-FFF2-40B4-BE49-F238E27FC236}">
                <a16:creationId xmlns:a16="http://schemas.microsoft.com/office/drawing/2014/main" id="{61429B18-6298-4909-A6D4-487A7FC35910}"/>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150512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0CA366BA-BD53-49B5-B70E-1DA922E9E1DB}"/>
              </a:ext>
            </a:extLst>
          </p:cNvPr>
          <p:cNvSpPr>
            <a:spLocks noGrp="1"/>
          </p:cNvSpPr>
          <p:nvPr>
            <p:ph idx="1"/>
          </p:nvPr>
        </p:nvSpPr>
        <p:spPr>
          <a:xfrm>
            <a:off x="380999" y="1719071"/>
            <a:ext cx="8407893" cy="4407408"/>
          </a:xfrm>
        </p:spPr>
        <p:txBody>
          <a:bodyPr>
            <a:normAutofit/>
          </a:bodyPr>
          <a:lstStyle/>
          <a:p>
            <a:pPr algn="l"/>
            <a:r>
              <a:rPr lang="fr-FR" sz="2000" dirty="0"/>
              <a:t>RÔLE DES DÉCLARANTS EN DOUANE ?</a:t>
            </a:r>
          </a:p>
          <a:p>
            <a:pPr marL="0" indent="0" algn="l">
              <a:buNone/>
            </a:pPr>
            <a:endParaRPr lang="fr-FR" sz="2000" dirty="0"/>
          </a:p>
          <a:p>
            <a:pPr algn="l"/>
            <a:r>
              <a:rPr lang="fr-FR" sz="2000" dirty="0"/>
              <a:t>RELATION CONTRACTUELLE DES DÉCLARANTS EN DOUANE ?</a:t>
            </a:r>
          </a:p>
        </p:txBody>
      </p:sp>
      <p:sp>
        <p:nvSpPr>
          <p:cNvPr id="6" name="Titre 1">
            <a:extLst>
              <a:ext uri="{FF2B5EF4-FFF2-40B4-BE49-F238E27FC236}">
                <a16:creationId xmlns:a16="http://schemas.microsoft.com/office/drawing/2014/main" id="{3E6181D7-1ECB-48C7-B680-3D02AE30C857}"/>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D – DÉCLARANTS EN DOUANE</a:t>
            </a:r>
          </a:p>
        </p:txBody>
      </p:sp>
      <p:sp>
        <p:nvSpPr>
          <p:cNvPr id="9" name="Footer Placeholder 3">
            <a:extLst>
              <a:ext uri="{FF2B5EF4-FFF2-40B4-BE49-F238E27FC236}">
                <a16:creationId xmlns:a16="http://schemas.microsoft.com/office/drawing/2014/main" id="{74616788-2FDC-43AE-A12B-0466086C4718}"/>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21657929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807C64C-3FFC-4E19-B619-B7067C0F5E4C}"/>
              </a:ext>
            </a:extLst>
          </p:cNvPr>
          <p:cNvSpPr>
            <a:spLocks noGrp="1"/>
          </p:cNvSpPr>
          <p:nvPr>
            <p:ph idx="1"/>
          </p:nvPr>
        </p:nvSpPr>
        <p:spPr>
          <a:xfrm>
            <a:off x="380999" y="1719071"/>
            <a:ext cx="8407893" cy="4407408"/>
          </a:xfrm>
        </p:spPr>
        <p:txBody>
          <a:bodyPr>
            <a:normAutofit/>
          </a:bodyPr>
          <a:lstStyle/>
          <a:p>
            <a:pPr algn="just"/>
            <a:r>
              <a:rPr lang="fr-FR" sz="2000" b="1" u="sng" dirty="0"/>
              <a:t>RÔLE </a:t>
            </a:r>
            <a:r>
              <a:rPr lang="fr-FR" sz="2000" u="sng" dirty="0"/>
              <a:t>: </a:t>
            </a:r>
            <a:r>
              <a:rPr lang="en-US" sz="2000" dirty="0"/>
              <a:t> le commissionnaire en douane agréé est la personne dont la profession consiste à accomplir des formalités douanières pour le compte d'un tiers.</a:t>
            </a:r>
          </a:p>
          <a:p>
            <a:pPr algn="just"/>
            <a:endParaRPr lang="en-US" sz="2000" dirty="0"/>
          </a:p>
          <a:p>
            <a:pPr algn="just"/>
            <a:r>
              <a:rPr lang="en-US" sz="2000" b="1" u="sng" dirty="0"/>
              <a:t>RELATION CONTRACTUELLE </a:t>
            </a:r>
            <a:r>
              <a:rPr lang="en-US" sz="2000" u="sng" dirty="0"/>
              <a:t>:</a:t>
            </a:r>
          </a:p>
          <a:p>
            <a:pPr algn="just">
              <a:buFontTx/>
              <a:buChar char="-"/>
            </a:pPr>
            <a:r>
              <a:rPr lang="en-US" sz="2000" dirty="0"/>
              <a:t>Parfois, les formalités douanières sont effectuées par le transitaire. Dans ce cas, le transitaire agit en tant que déclarant en douane. Il passe un contrat avec l'expéditeur.</a:t>
            </a:r>
          </a:p>
          <a:p>
            <a:pPr algn="just">
              <a:buFontTx/>
              <a:buChar char="-"/>
            </a:pPr>
            <a:r>
              <a:rPr lang="en-US" sz="2000" dirty="0"/>
              <a:t>S'il n'y a pas de transitaire ou si le transitaire ne dispose pas d'un service de déclaration en douane, l'expéditeur devra lui-même faire appel à un déclarant en douane et conclure un contrat avec lui.</a:t>
            </a:r>
          </a:p>
        </p:txBody>
      </p:sp>
      <p:sp>
        <p:nvSpPr>
          <p:cNvPr id="6" name="Titre 1">
            <a:extLst>
              <a:ext uri="{FF2B5EF4-FFF2-40B4-BE49-F238E27FC236}">
                <a16:creationId xmlns:a16="http://schemas.microsoft.com/office/drawing/2014/main" id="{D72D781F-2266-4A96-8B6B-FC85BA8A96B8}"/>
              </a:ext>
            </a:extLst>
          </p:cNvPr>
          <p:cNvSpPr>
            <a:spLocks noGrp="1"/>
          </p:cNvSpPr>
          <p:nvPr>
            <p:ph type="title"/>
          </p:nvPr>
        </p:nvSpPr>
        <p:spPr>
          <a:xfrm>
            <a:off x="381000" y="355847"/>
            <a:ext cx="8381260" cy="1054394"/>
          </a:xfrm>
        </p:spPr>
        <p:txBody>
          <a:bodyPr>
            <a:normAutofit/>
          </a:bodyPr>
          <a:lstStyle/>
          <a:p>
            <a:r>
              <a:rPr lang="fr-FR" sz="2000" dirty="0">
                <a:solidFill>
                  <a:schemeClr val="bg1"/>
                </a:solidFill>
                <a:latin typeface="Franklin Gothic Book" panose="020B0503020102020204" pitchFamily="34" charset="0"/>
              </a:rPr>
              <a:t>D – DÉCLARANT EN DOUANE</a:t>
            </a:r>
          </a:p>
        </p:txBody>
      </p:sp>
      <p:sp>
        <p:nvSpPr>
          <p:cNvPr id="9" name="Footer Placeholder 3">
            <a:extLst>
              <a:ext uri="{FF2B5EF4-FFF2-40B4-BE49-F238E27FC236}">
                <a16:creationId xmlns:a16="http://schemas.microsoft.com/office/drawing/2014/main" id="{24E8141E-5AFA-477A-A5C8-676C4382EE40}"/>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1449508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D0117260-736F-495C-9295-251BC421E359}"/>
              </a:ext>
            </a:extLst>
          </p:cNvPr>
          <p:cNvSpPr>
            <a:spLocks noGrp="1"/>
          </p:cNvSpPr>
          <p:nvPr>
            <p:ph idx="1"/>
          </p:nvPr>
        </p:nvSpPr>
        <p:spPr>
          <a:xfrm>
            <a:off x="380999" y="1719071"/>
            <a:ext cx="8407893" cy="4407408"/>
          </a:xfrm>
        </p:spPr>
        <p:txBody>
          <a:bodyPr>
            <a:normAutofit/>
          </a:bodyPr>
          <a:lstStyle/>
          <a:p>
            <a:pPr algn="l"/>
            <a:r>
              <a:rPr lang="en-US" sz="2000" b="1" dirty="0"/>
              <a:t>A – Responsabilité dans le transport maritime</a:t>
            </a:r>
          </a:p>
          <a:p>
            <a:pPr algn="l"/>
            <a:r>
              <a:rPr lang="en-US" sz="2000" b="1" dirty="0"/>
              <a:t>B – Responsabilité du transitaire</a:t>
            </a:r>
          </a:p>
          <a:p>
            <a:pPr algn="l"/>
            <a:r>
              <a:rPr lang="en-US" sz="2000" b="1" dirty="0"/>
              <a:t>C – Responsabilité du dédouaneur</a:t>
            </a:r>
          </a:p>
        </p:txBody>
      </p:sp>
      <p:sp>
        <p:nvSpPr>
          <p:cNvPr id="6" name="Titre 1">
            <a:extLst>
              <a:ext uri="{FF2B5EF4-FFF2-40B4-BE49-F238E27FC236}">
                <a16:creationId xmlns:a16="http://schemas.microsoft.com/office/drawing/2014/main" id="{5F25C56C-86D7-42B2-AE38-F9F99FFFCBA4}"/>
              </a:ext>
            </a:extLst>
          </p:cNvPr>
          <p:cNvSpPr>
            <a:spLocks noGrp="1"/>
          </p:cNvSpPr>
          <p:nvPr>
            <p:ph type="title"/>
          </p:nvPr>
        </p:nvSpPr>
        <p:spPr>
          <a:xfrm>
            <a:off x="201165" y="355847"/>
            <a:ext cx="8705443" cy="1054394"/>
          </a:xfrm>
        </p:spPr>
        <p:txBody>
          <a:bodyPr>
            <a:normAutofit/>
          </a:bodyPr>
          <a:lstStyle/>
          <a:p>
            <a:r>
              <a:rPr lang="fr-FR" sz="2400" dirty="0">
                <a:solidFill>
                  <a:schemeClr val="bg1"/>
                </a:solidFill>
                <a:latin typeface="Franklin Gothic Book" panose="020B0503020102020204" pitchFamily="34" charset="0"/>
              </a:rPr>
              <a:t>PARTIE II – RESPONSABILITÉ DE CHAQUE ACTEUR CLÉ</a:t>
            </a:r>
          </a:p>
        </p:txBody>
      </p:sp>
      <p:sp>
        <p:nvSpPr>
          <p:cNvPr id="9" name="Footer Placeholder 3">
            <a:extLst>
              <a:ext uri="{FF2B5EF4-FFF2-40B4-BE49-F238E27FC236}">
                <a16:creationId xmlns:a16="http://schemas.microsoft.com/office/drawing/2014/main" id="{8284B116-0725-45A1-BA51-0C510424C5F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1540540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D0117260-736F-495C-9295-251BC421E359}"/>
              </a:ext>
            </a:extLst>
          </p:cNvPr>
          <p:cNvSpPr>
            <a:spLocks noGrp="1"/>
          </p:cNvSpPr>
          <p:nvPr>
            <p:ph idx="1"/>
          </p:nvPr>
        </p:nvSpPr>
        <p:spPr>
          <a:xfrm>
            <a:off x="380999" y="1719071"/>
            <a:ext cx="8407893" cy="4407408"/>
          </a:xfrm>
        </p:spPr>
        <p:txBody>
          <a:bodyPr>
            <a:normAutofit/>
          </a:bodyPr>
          <a:lstStyle/>
          <a:p>
            <a:pPr marL="0" indent="0">
              <a:buNone/>
            </a:pPr>
            <a:r>
              <a:rPr lang="en-US" sz="2000" dirty="0"/>
              <a:t>Dans le domaine maritime, la responsabilité fonctionne différemment selon que les marchandises ont été transportées dans le cadre d'un contrat de transport ou d'un contrat d'affrètement. Cependant, nous concentrerons notre cours sur les responsabilités découlant des contrats de transport. Les conteneurs entreront donc dans le champ d'application de ce cours, mais pas les marchandises telles que le pétrole et les céréales.</a:t>
            </a:r>
          </a:p>
          <a:p>
            <a:pPr marL="0" indent="0" algn="l">
              <a:buNone/>
            </a:pPr>
            <a:endParaRPr lang="en-US" sz="2200" b="1" dirty="0"/>
          </a:p>
        </p:txBody>
      </p:sp>
      <p:sp>
        <p:nvSpPr>
          <p:cNvPr id="6" name="Titre 1">
            <a:extLst>
              <a:ext uri="{FF2B5EF4-FFF2-40B4-BE49-F238E27FC236}">
                <a16:creationId xmlns:a16="http://schemas.microsoft.com/office/drawing/2014/main" id="{5F25C56C-86D7-42B2-AE38-F9F99FFFCBA4}"/>
              </a:ext>
            </a:extLst>
          </p:cNvPr>
          <p:cNvSpPr>
            <a:spLocks noGrp="1"/>
          </p:cNvSpPr>
          <p:nvPr>
            <p:ph type="title"/>
          </p:nvPr>
        </p:nvSpPr>
        <p:spPr>
          <a:xfrm>
            <a:off x="201165" y="355847"/>
            <a:ext cx="8705443" cy="1054394"/>
          </a:xfrm>
        </p:spPr>
        <p:txBody>
          <a:bodyPr>
            <a:normAutofit/>
          </a:bodyPr>
          <a:lstStyle/>
          <a:p>
            <a:r>
              <a:rPr lang="fr-FR" sz="2000" dirty="0">
                <a:solidFill>
                  <a:schemeClr val="bg1"/>
                </a:solidFill>
                <a:latin typeface="Franklin Gothic Book" panose="020B0503020102020204" pitchFamily="34" charset="0"/>
              </a:rPr>
              <a:t>A – RESPONSABILITÉS DANS LE TRANSPORT MARITIME</a:t>
            </a:r>
          </a:p>
        </p:txBody>
      </p:sp>
      <p:sp>
        <p:nvSpPr>
          <p:cNvPr id="9" name="Footer Placeholder 3">
            <a:extLst>
              <a:ext uri="{FF2B5EF4-FFF2-40B4-BE49-F238E27FC236}">
                <a16:creationId xmlns:a16="http://schemas.microsoft.com/office/drawing/2014/main" id="{8284B116-0725-45A1-BA51-0C510424C5F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9675699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380999" y="1719071"/>
            <a:ext cx="8407893" cy="4407408"/>
          </a:xfrm>
        </p:spPr>
        <p:txBody>
          <a:bodyPr>
            <a:normAutofit/>
          </a:bodyPr>
          <a:lstStyle/>
          <a:p>
            <a:pPr marL="0" indent="0">
              <a:buNone/>
            </a:pPr>
            <a:r>
              <a:rPr lang="en-US" sz="1800" dirty="0"/>
              <a:t>Chaque mode de transport international est régi par sa propre convention internationale.</a:t>
            </a:r>
          </a:p>
          <a:p>
            <a:pPr marL="0" indent="0">
              <a:buNone/>
            </a:pPr>
            <a:endParaRPr lang="en-US" sz="1800" dirty="0"/>
          </a:p>
          <a:p>
            <a:pPr marL="0" indent="0">
              <a:buNone/>
            </a:pPr>
            <a:r>
              <a:rPr lang="en-US" sz="1800" dirty="0"/>
              <a:t>La Convention de Bruxelles (1924), connue sous le nom de « Règles de La Haye », détermine les règles applicables au transport maritime international. La Convention de Bruxelles (1924) s'applique lorsque deux conditions sont remplies :</a:t>
            </a:r>
          </a:p>
          <a:p>
            <a:pPr>
              <a:buFontTx/>
              <a:buChar char="-"/>
            </a:pPr>
            <a:r>
              <a:rPr lang="en-US" sz="1800" dirty="0"/>
              <a:t>Le connaissement est établi dans un État partie à la convention</a:t>
            </a:r>
          </a:p>
          <a:p>
            <a:pPr>
              <a:buFontTx/>
              <a:buChar char="-"/>
            </a:pPr>
            <a:r>
              <a:rPr lang="en-US" sz="1800" dirty="0"/>
              <a:t>Le transport a lieu entre deux ports de pays différents.</a:t>
            </a:r>
          </a:p>
          <a:p>
            <a:pPr marL="0" indent="0">
              <a:buNone/>
            </a:pPr>
            <a:endParaRPr lang="en-US" sz="1800" dirty="0"/>
          </a:p>
          <a:p>
            <a:pPr marL="0" indent="0">
              <a:buNone/>
            </a:pPr>
            <a:r>
              <a:rPr lang="en-US" sz="1800" dirty="0"/>
              <a:t>Exemple : si un connaissement a été émis à Alger, l'Algérie ayant ratifié la convention de 1924, cette convention s'applique.</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355847"/>
            <a:ext cx="8880231" cy="1054394"/>
          </a:xfrm>
        </p:spPr>
        <p:txBody>
          <a:bodyPr>
            <a:noAutofit/>
          </a:bodyPr>
          <a:lstStyle/>
          <a:p>
            <a:pPr algn="ctr"/>
            <a:r>
              <a:rPr lang="fr-FR" sz="3600" dirty="0">
                <a:solidFill>
                  <a:schemeClr val="bg1"/>
                </a:solidFill>
                <a:latin typeface="Franklin Gothic Book" panose="020B0503020102020204" pitchFamily="34" charset="0"/>
              </a:rPr>
              <a:t>A – RESPONSABILITÉS EN MATIÈRE DE TRANSPORT MARITIME – </a:t>
            </a:r>
            <a:r>
              <a:rPr lang="fr-FR" sz="3600" dirty="0" err="1">
                <a:solidFill>
                  <a:schemeClr val="bg1"/>
                </a:solidFill>
                <a:latin typeface="Franklin Gothic Book" panose="020B0503020102020204" pitchFamily="34" charset="0"/>
              </a:rPr>
              <a:t>Contrat </a:t>
            </a:r>
            <a:r>
              <a:rPr lang="fr-FR" sz="3600" dirty="0">
                <a:solidFill>
                  <a:schemeClr val="bg1"/>
                </a:solidFill>
                <a:latin typeface="Franklin Gothic Book" panose="020B0503020102020204" pitchFamily="34" charset="0"/>
              </a:rPr>
              <a:t>de </a:t>
            </a:r>
            <a:r>
              <a:rPr lang="fr-FR" sz="3600" dirty="0" err="1">
                <a:solidFill>
                  <a:schemeClr val="bg1"/>
                </a:solidFill>
                <a:latin typeface="Franklin Gothic Book" panose="020B0503020102020204" pitchFamily="34" charset="0"/>
              </a:rPr>
              <a:t>transport</a:t>
            </a:r>
            <a:endParaRPr lang="fr-FR" sz="36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908555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380999" y="1719071"/>
            <a:ext cx="8407893" cy="4407408"/>
          </a:xfrm>
        </p:spPr>
        <p:txBody>
          <a:bodyPr>
            <a:normAutofit/>
          </a:bodyPr>
          <a:lstStyle/>
          <a:p>
            <a:pPr marL="0" indent="0">
              <a:buNone/>
            </a:pPr>
            <a:r>
              <a:rPr lang="en-US" sz="1800" dirty="0"/>
              <a:t>En tant qu'expéditeur, je dois faire attention à plusieurs choses lorsque je dépose une réclamation contre le transporteur maritime :</a:t>
            </a:r>
          </a:p>
          <a:p>
            <a:pPr>
              <a:buFontTx/>
              <a:buChar char="-"/>
            </a:pPr>
            <a:r>
              <a:rPr lang="en-US" sz="1800" dirty="0"/>
              <a:t>Le délai pour formuler des réserves (a)</a:t>
            </a:r>
          </a:p>
          <a:p>
            <a:pPr>
              <a:buFontTx/>
              <a:buChar char="-"/>
            </a:pPr>
            <a:r>
              <a:rPr lang="en-US" sz="1800" dirty="0"/>
              <a:t>Le délai pour intenter une action en justice (appelé « délai de prescription ») (b)</a:t>
            </a:r>
          </a:p>
          <a:p>
            <a:pPr>
              <a:buFontTx/>
              <a:buChar char="-"/>
            </a:pPr>
            <a:r>
              <a:rPr lang="en-US" sz="1800" dirty="0"/>
              <a:t>Les documents à joindre à la réclamation (c)</a:t>
            </a:r>
          </a:p>
          <a:p>
            <a:pPr>
              <a:buFontTx/>
              <a:buChar char="-"/>
            </a:pPr>
            <a:r>
              <a:rPr lang="en-US" sz="1800" dirty="0"/>
              <a:t>La limitation de la responsabilité du transporteur maritime et ses exceptions (d).</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355847"/>
            <a:ext cx="8880231"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5429774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380999" y="1719071"/>
            <a:ext cx="8407893" cy="4407408"/>
          </a:xfrm>
        </p:spPr>
        <p:txBody>
          <a:bodyPr>
            <a:normAutofit/>
          </a:bodyPr>
          <a:lstStyle/>
          <a:p>
            <a:pPr marL="0" indent="0">
              <a:buNone/>
            </a:pPr>
            <a:r>
              <a:rPr lang="en-US" sz="1800" dirty="0"/>
              <a:t>En cas de </a:t>
            </a:r>
            <a:r>
              <a:rPr lang="en-US" sz="1800" u="sng" dirty="0"/>
              <a:t>dommage ou de perte partielle</a:t>
            </a:r>
            <a:r>
              <a:rPr lang="en-US" sz="1800" dirty="0"/>
              <a:t>, le destinataire doit faire une réserve écrite, motivée et précise sur le bordereau de livraison. Une distinction est faite selon que le dommage est apparent ou non. Le dommage est apparent lorsque, au moment de la livraison, le destinataire peut le constater par un examen rapide.</a:t>
            </a:r>
          </a:p>
          <a:p>
            <a:pPr>
              <a:buFontTx/>
              <a:buChar char="-"/>
            </a:pPr>
            <a:r>
              <a:rPr lang="en-US" sz="1800" dirty="0"/>
              <a:t>Lorsque le dommage est </a:t>
            </a:r>
            <a:r>
              <a:rPr lang="en-US" sz="1800" b="1" u="sng" dirty="0"/>
              <a:t>apparent</a:t>
            </a:r>
            <a:r>
              <a:rPr lang="en-US" sz="1800" dirty="0"/>
              <a:t>, le destinataire doit adresser ses réserves par écrit au transporteur </a:t>
            </a:r>
            <a:r>
              <a:rPr lang="en-US" sz="1800" i="1" u="sng" dirty="0"/>
              <a:t>le jour de la livraison</a:t>
            </a:r>
            <a:r>
              <a:rPr lang="en-US" sz="1800" dirty="0"/>
              <a:t>.</a:t>
            </a:r>
          </a:p>
          <a:p>
            <a:pPr>
              <a:buFontTx/>
              <a:buChar char="-"/>
            </a:pPr>
            <a:r>
              <a:rPr lang="en-US" sz="1800" dirty="0"/>
              <a:t>Lorsque le dommage </a:t>
            </a:r>
            <a:r>
              <a:rPr lang="en-US" sz="1800" b="1" u="sng" dirty="0"/>
              <a:t>n'</a:t>
            </a:r>
            <a:r>
              <a:rPr lang="en-US" sz="1800" dirty="0"/>
              <a:t>est </a:t>
            </a:r>
            <a:r>
              <a:rPr lang="en-US" sz="1800" b="1" u="sng" dirty="0"/>
              <a:t>pas apparent</a:t>
            </a:r>
            <a:r>
              <a:rPr lang="en-US" sz="1800" dirty="0"/>
              <a:t>, les réserves doivent être notifiées au transporteur au plus tard </a:t>
            </a:r>
            <a:r>
              <a:rPr lang="en-US" sz="1800" i="1" u="sng" dirty="0"/>
              <a:t>dans les trois jours suivant la livraison</a:t>
            </a:r>
            <a:r>
              <a:rPr lang="en-US" sz="1800" dirty="0"/>
              <a:t>.</a:t>
            </a:r>
          </a:p>
          <a:p>
            <a:pPr marL="0" indent="0">
              <a:buNone/>
            </a:pPr>
            <a:endParaRPr lang="en-US" sz="1800" dirty="0"/>
          </a:p>
          <a:p>
            <a:pPr marL="0" indent="0">
              <a:buNone/>
            </a:pPr>
            <a:r>
              <a:rPr lang="en-US" sz="1800" dirty="0"/>
              <a:t>Si les réserves sont adressées au transporteur </a:t>
            </a:r>
            <a:r>
              <a:rPr lang="en-US" sz="1800" b="1" u="sng" dirty="0"/>
              <a:t>après le délai</a:t>
            </a:r>
            <a:r>
              <a:rPr lang="en-US" sz="1800" dirty="0"/>
              <a:t>, le transporteur bénéficie de la </a:t>
            </a:r>
            <a:r>
              <a:rPr lang="en-US" sz="1800" i="1" u="sng" dirty="0"/>
              <a:t>présomption de livraison conforme</a:t>
            </a:r>
            <a:r>
              <a:rPr lang="en-US" sz="1800" dirty="0"/>
              <a:t>.</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355847"/>
            <a:ext cx="8880231"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a:t>
            </a:r>
            <a:r>
              <a:rPr lang="fr-FR" sz="2000" dirty="0" err="1">
                <a:solidFill>
                  <a:schemeClr val="bg1"/>
                </a:solidFill>
                <a:latin typeface="Franklin Gothic Book" panose="020B0503020102020204" pitchFamily="34" charset="0"/>
              </a:rPr>
              <a:t>réserves écrites </a:t>
            </a:r>
            <a:r>
              <a:rPr lang="fr-FR" sz="2000" dirty="0">
                <a:solidFill>
                  <a:schemeClr val="bg1"/>
                </a:solidFill>
                <a:latin typeface="Franklin Gothic Book" panose="020B0503020102020204" pitchFamily="34" charset="0"/>
              </a:rPr>
              <a:t>(1)</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052936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380999" y="1719071"/>
            <a:ext cx="8407893" cy="4407408"/>
          </a:xfrm>
        </p:spPr>
        <p:txBody>
          <a:bodyPr>
            <a:normAutofit/>
          </a:bodyPr>
          <a:lstStyle/>
          <a:p>
            <a:pPr marL="0" indent="0">
              <a:buNone/>
            </a:pPr>
            <a:r>
              <a:rPr lang="en-US" sz="1800" dirty="0"/>
              <a:t>Dans le transport maritime, le délai de prescription est d'un an. Cela signifie que </a:t>
            </a:r>
            <a:r>
              <a:rPr lang="en-US" sz="1800" b="1" u="sng" dirty="0"/>
              <a:t>le chargeur ne peut intenter aucune action en justice après un an</a:t>
            </a:r>
            <a:r>
              <a:rPr lang="en-US" sz="1800" dirty="0"/>
              <a:t>. Ce délai d'un an commence </a:t>
            </a:r>
            <a:r>
              <a:rPr lang="en-US" sz="1800" b="1" u="sng" dirty="0"/>
              <a:t>à courir à compter du jour où les marchandises ont été livrées </a:t>
            </a:r>
            <a:r>
              <a:rPr lang="en-US" sz="1800" dirty="0"/>
              <a:t>au destinataire. Si les marchandises ont été totalement perdues, le délai de prescription court à compter du jour où les marchandises auraient dû être livrées au destinataire.</a:t>
            </a:r>
          </a:p>
          <a:p>
            <a:pPr marL="0" indent="0">
              <a:buNone/>
            </a:pPr>
            <a:r>
              <a:rPr lang="en-US" sz="1800" dirty="0"/>
              <a:t>Plusieurs événements interrompent le délai de prescription. L'interruption efface le délai de prescription. À la fin de l'interruption, le délai d'un an recommence à courir à partir du début. Les deux principaux </a:t>
            </a:r>
            <a:r>
              <a:rPr lang="en-US" sz="1800" b="1" u="sng" dirty="0"/>
              <a:t>événements qui provoquent une interruption du délai de prescription </a:t>
            </a:r>
            <a:r>
              <a:rPr lang="en-US" sz="1800" dirty="0"/>
              <a:t>sont les suivants :</a:t>
            </a:r>
          </a:p>
          <a:p>
            <a:pPr>
              <a:buFontTx/>
              <a:buChar char="-"/>
            </a:pPr>
            <a:r>
              <a:rPr lang="en-US" sz="1800" i="1" u="sng" dirty="0"/>
              <a:t>La reconnaissance par le transporteur de sa responsabilité</a:t>
            </a:r>
            <a:r>
              <a:rPr lang="en-US" sz="1800" dirty="0"/>
              <a:t>.</a:t>
            </a:r>
          </a:p>
          <a:p>
            <a:pPr>
              <a:buFontTx/>
              <a:buChar char="-"/>
            </a:pPr>
            <a:r>
              <a:rPr lang="en-US" sz="1800" dirty="0"/>
              <a:t>Une </a:t>
            </a:r>
            <a:r>
              <a:rPr lang="en-US" sz="1800" i="1" u="sng" dirty="0"/>
              <a:t>action en justice</a:t>
            </a:r>
            <a:r>
              <a:rPr lang="en-US" sz="1800" dirty="0"/>
              <a:t>.1</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158262"/>
            <a:ext cx="8880231" cy="1230923"/>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prescription </a:t>
            </a:r>
            <a:r>
              <a:rPr lang="fr-FR" sz="2000" dirty="0" err="1">
                <a:solidFill>
                  <a:schemeClr val="bg1"/>
                </a:solidFill>
                <a:latin typeface="Franklin Gothic Book" panose="020B0503020102020204" pitchFamily="34" charset="0"/>
              </a:rPr>
              <a:t>légale </a:t>
            </a:r>
            <a:r>
              <a:rPr lang="fr-FR" sz="2000" dirty="0">
                <a:solidFill>
                  <a:schemeClr val="bg1"/>
                </a:solidFill>
                <a:latin typeface="Franklin Gothic Book" panose="020B0503020102020204" pitchFamily="34" charset="0"/>
              </a:rPr>
              <a:t>(2)</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25848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380999" y="1719071"/>
            <a:ext cx="8407893" cy="4407408"/>
          </a:xfrm>
        </p:spPr>
        <p:txBody>
          <a:bodyPr>
            <a:normAutofit/>
          </a:bodyPr>
          <a:lstStyle/>
          <a:p>
            <a:pPr marL="0" indent="0">
              <a:buNone/>
            </a:pPr>
            <a:r>
              <a:rPr lang="en-US" sz="1800" dirty="0"/>
              <a:t>Lorsqu'un expéditeur dépose une réclamation contre le transporteur maritime, il doit fournir plusieurs documents :</a:t>
            </a:r>
          </a:p>
          <a:p>
            <a:pPr>
              <a:buFontTx/>
              <a:buChar char="-"/>
            </a:pPr>
            <a:r>
              <a:rPr lang="en-US" sz="1800" dirty="0"/>
              <a:t>Le connaissement (B/L)</a:t>
            </a:r>
          </a:p>
          <a:p>
            <a:pPr>
              <a:buFontTx/>
              <a:buChar char="-"/>
            </a:pPr>
            <a:r>
              <a:rPr lang="en-US" sz="1800" dirty="0"/>
              <a:t>La facture d'achat des marchandises transportées</a:t>
            </a:r>
          </a:p>
          <a:p>
            <a:pPr>
              <a:buFontTx/>
              <a:buChar char="-"/>
            </a:pPr>
            <a:r>
              <a:rPr lang="en-US" sz="1800" dirty="0"/>
              <a:t>Le rapport d'expertise (si une expertise des marchandises a été organisée juste après la livraison)</a:t>
            </a:r>
          </a:p>
          <a:p>
            <a:pPr>
              <a:buFontTx/>
              <a:buChar char="-"/>
            </a:pPr>
            <a:r>
              <a:rPr lang="en-US" sz="1800" dirty="0"/>
              <a:t>Tout document permettant d'évaluer la nature, l'état et la quantité des marchandises transportées.</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158262"/>
            <a:ext cx="8880231" cy="1230923"/>
          </a:xfrm>
        </p:spPr>
        <p:txBody>
          <a:bodyPr>
            <a:noAutofit/>
          </a:bodyPr>
          <a:lstStyle/>
          <a:p>
            <a:pPr algn="ctr"/>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documents (3)</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60140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201165" y="1565031"/>
            <a:ext cx="8741670" cy="4536738"/>
          </a:xfrm>
        </p:spPr>
        <p:txBody>
          <a:bodyPr>
            <a:normAutofit/>
          </a:bodyPr>
          <a:lstStyle/>
          <a:p>
            <a:pPr marL="0" indent="0">
              <a:buNone/>
            </a:pPr>
            <a:r>
              <a:rPr lang="en-US" sz="1700" dirty="0"/>
              <a:t>La responsabilité du transporteur maritime est limitée. Cela signifie que </a:t>
            </a:r>
            <a:r>
              <a:rPr lang="en-US" sz="1700" b="1" u="sng" dirty="0"/>
              <a:t>l'expéditeur ne pourra pas réclamer une indemnisation au transporteur au-delà d'une certaine limite</a:t>
            </a:r>
            <a:r>
              <a:rPr lang="en-US" sz="1700" dirty="0"/>
              <a:t>. Cette limite varie en fonction de la valeur et de la quantité des marchandises. </a:t>
            </a:r>
            <a:r>
              <a:rPr lang="en-US" sz="1700" b="1" u="sng" dirty="0"/>
              <a:t>Il existe deux méthodes pour calculer la limite de responsabilité du transporteur</a:t>
            </a:r>
            <a:r>
              <a:rPr lang="en-US" sz="1700" dirty="0"/>
              <a:t>. La méthode utilisée sera celle qui est </a:t>
            </a:r>
            <a:r>
              <a:rPr lang="en-US" sz="1700" i="1" dirty="0"/>
              <a:t>la plus favorable à l'expéditeur</a:t>
            </a:r>
            <a:r>
              <a:rPr lang="en-US" sz="1700" dirty="0"/>
              <a:t>.</a:t>
            </a:r>
          </a:p>
          <a:p>
            <a:pPr marL="0" indent="0">
              <a:buNone/>
            </a:pPr>
            <a:endParaRPr lang="en-US" sz="1700" dirty="0"/>
          </a:p>
          <a:p>
            <a:pPr marL="0" indent="0">
              <a:buNone/>
            </a:pPr>
            <a:r>
              <a:rPr lang="en-US" sz="1700" dirty="0"/>
              <a:t>Voici les deux méthodes de calcul de la limitation de la responsabilité du transporteur dans le transport maritime international :</a:t>
            </a:r>
          </a:p>
          <a:p>
            <a:pPr>
              <a:buFontTx/>
              <a:buChar char="-"/>
            </a:pPr>
            <a:r>
              <a:rPr lang="en-US" sz="1700" i="1" u="sng" dirty="0"/>
              <a:t>666,67 DTS par colis ou unité</a:t>
            </a:r>
          </a:p>
          <a:p>
            <a:pPr>
              <a:buFontTx/>
              <a:buChar char="-"/>
            </a:pPr>
            <a:r>
              <a:rPr lang="en-US" sz="1700" i="1" u="sng" dirty="0"/>
              <a:t>2 DTS par kilogramme de fret brut </a:t>
            </a:r>
            <a:r>
              <a:rPr lang="en-US" sz="1700" dirty="0"/>
              <a:t>(« brut » signifie que cela inclut l'emballage).</a:t>
            </a:r>
          </a:p>
          <a:p>
            <a:pPr marL="0" indent="0">
              <a:buNone/>
            </a:pPr>
            <a:endParaRPr lang="en-US" sz="1700" dirty="0"/>
          </a:p>
          <a:p>
            <a:pPr marL="0" indent="0">
              <a:buNone/>
            </a:pPr>
            <a:r>
              <a:rPr lang="en-US" sz="1700" dirty="0"/>
              <a:t>« DTS » signifie « droit de tirage spécial ». Les DTS sont des unités de compte du Fonds monétaire international (FMI). 1 DTS = 1,23 €.</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158262"/>
            <a:ext cx="8880231" cy="1230923"/>
          </a:xfrm>
        </p:spPr>
        <p:txBody>
          <a:bodyPr>
            <a:noAutofit/>
          </a:bodyPr>
          <a:lstStyle/>
          <a:p>
            <a:pPr algn="ctr"/>
            <a:r>
              <a:rPr lang="fr-FR" sz="2000" dirty="0">
                <a:solidFill>
                  <a:schemeClr val="bg1"/>
                </a:solidFill>
                <a:latin typeface="Franklin Gothic Book" panose="020B0503020102020204" pitchFamily="34" charset="0"/>
              </a:rPr>
              <a:t>A – RESPONSABILITÉ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limitation de </a:t>
            </a:r>
            <a:r>
              <a:rPr lang="fr-FR" sz="2000" dirty="0" err="1">
                <a:solidFill>
                  <a:schemeClr val="bg1"/>
                </a:solidFill>
                <a:latin typeface="Franklin Gothic Book" panose="020B0503020102020204" pitchFamily="34" charset="0"/>
              </a:rPr>
              <a:t>la responsabilité </a:t>
            </a:r>
            <a:r>
              <a:rPr lang="fr-FR" sz="2000" dirty="0">
                <a:solidFill>
                  <a:schemeClr val="bg1"/>
                </a:solidFill>
                <a:latin typeface="Franklin Gothic Book" panose="020B0503020102020204" pitchFamily="34" charset="0"/>
              </a:rPr>
              <a:t>(4)</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2390315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281354" y="1732085"/>
            <a:ext cx="8546124" cy="4185138"/>
          </a:xfrm>
        </p:spPr>
        <p:txBody>
          <a:bodyPr>
            <a:normAutofit/>
          </a:bodyPr>
          <a:lstStyle/>
          <a:p>
            <a:pPr marL="0" indent="0">
              <a:buNone/>
            </a:pPr>
            <a:r>
              <a:rPr lang="en-US" sz="1800" dirty="0"/>
              <a:t>La limitation de responsabilité du transporteur est levée dans deux cas :</a:t>
            </a:r>
          </a:p>
          <a:p>
            <a:pPr>
              <a:buFontTx/>
              <a:buChar char="-"/>
            </a:pPr>
            <a:r>
              <a:rPr lang="en-US" sz="1800" dirty="0"/>
              <a:t>Lorsque l'expéditeur a envoyé une </a:t>
            </a:r>
            <a:r>
              <a:rPr lang="en-US" sz="1800" b="1" u="sng" dirty="0"/>
              <a:t>déclaration de valeur </a:t>
            </a:r>
            <a:r>
              <a:rPr lang="en-US" sz="1800" dirty="0"/>
              <a:t>au transporteur avant la livraison.</a:t>
            </a:r>
          </a:p>
          <a:p>
            <a:pPr marL="0" indent="0">
              <a:buNone/>
            </a:pPr>
            <a:r>
              <a:rPr lang="en-US" sz="1600" i="1" dirty="0"/>
              <a:t>La limitation de l'indemnisation ne s'applique pas lorsque l'expéditeur a déclaré la nature et la valeur des marchandises avant l'expédition et que cette déclaration a été mentionnée dans le connaissement.</a:t>
            </a:r>
          </a:p>
          <a:p>
            <a:pPr>
              <a:buFontTx/>
              <a:buChar char="-"/>
            </a:pPr>
            <a:r>
              <a:rPr lang="en-US" sz="1800" dirty="0"/>
              <a:t>Lorsque le transporteur a commis une </a:t>
            </a:r>
            <a:r>
              <a:rPr lang="en-US" sz="1800" b="1" u="sng" dirty="0"/>
              <a:t>faute inexcusable</a:t>
            </a:r>
            <a:r>
              <a:rPr lang="en-US" sz="1800" dirty="0"/>
              <a:t>.</a:t>
            </a:r>
          </a:p>
          <a:p>
            <a:pPr marL="0" indent="0">
              <a:buNone/>
            </a:pPr>
            <a:r>
              <a:rPr lang="en-US" sz="1600" i="1" dirty="0"/>
              <a:t>La limitation de la responsabilité du transporteur est écartée lorsque le chargeur démontre que le transporteur a commis une faute inexcusable : une faute imprudente et consciente. Le chargeur doit démontrer que le transporteur savait que son comportement pouvait entraîner un dommage.</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158262"/>
            <a:ext cx="8880231" cy="1230923"/>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limitation de </a:t>
            </a:r>
            <a:r>
              <a:rPr lang="fr-FR" sz="2000" dirty="0" err="1">
                <a:solidFill>
                  <a:schemeClr val="bg1"/>
                </a:solidFill>
                <a:latin typeface="Franklin Gothic Book" panose="020B0503020102020204" pitchFamily="34" charset="0"/>
              </a:rPr>
              <a:t>la responsabilité </a:t>
            </a:r>
            <a:r>
              <a:rPr lang="fr-FR" sz="2000" dirty="0">
                <a:solidFill>
                  <a:schemeClr val="bg1"/>
                </a:solidFill>
                <a:latin typeface="Franklin Gothic Book" panose="020B0503020102020204" pitchFamily="34" charset="0"/>
              </a:rPr>
              <a:t>(4)</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368155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B0963718-223A-4AC3-88A7-AA9D03E2A649}"/>
              </a:ext>
            </a:extLst>
          </p:cNvPr>
          <p:cNvSpPr>
            <a:spLocks noGrp="1"/>
          </p:cNvSpPr>
          <p:nvPr>
            <p:ph idx="1"/>
          </p:nvPr>
        </p:nvSpPr>
        <p:spPr>
          <a:xfrm>
            <a:off x="281354" y="1732085"/>
            <a:ext cx="8546124" cy="4185138"/>
          </a:xfrm>
        </p:spPr>
        <p:txBody>
          <a:bodyPr>
            <a:normAutofit/>
          </a:bodyPr>
          <a:lstStyle/>
          <a:p>
            <a:pPr marL="0" indent="0" algn="ctr">
              <a:buNone/>
            </a:pPr>
            <a:r>
              <a:rPr lang="en-US" sz="2000" dirty="0"/>
              <a:t>Mettons en œuvre ces règles juridiques à l'aide d'un exemple</a:t>
            </a:r>
          </a:p>
        </p:txBody>
      </p:sp>
      <p:sp>
        <p:nvSpPr>
          <p:cNvPr id="6" name="Titre 1">
            <a:extLst>
              <a:ext uri="{FF2B5EF4-FFF2-40B4-BE49-F238E27FC236}">
                <a16:creationId xmlns:a16="http://schemas.microsoft.com/office/drawing/2014/main" id="{241821FB-29A3-4F61-AD64-E830C174AFED}"/>
              </a:ext>
            </a:extLst>
          </p:cNvPr>
          <p:cNvSpPr>
            <a:spLocks noGrp="1"/>
          </p:cNvSpPr>
          <p:nvPr>
            <p:ph type="title"/>
          </p:nvPr>
        </p:nvSpPr>
        <p:spPr>
          <a:xfrm>
            <a:off x="96715" y="158262"/>
            <a:ext cx="8880231" cy="1230923"/>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 </a:t>
            </a:r>
            <a:r>
              <a:rPr lang="fr-FR" sz="2000" dirty="0">
                <a:solidFill>
                  <a:schemeClr val="bg1"/>
                </a:solidFill>
                <a:latin typeface="Franklin Gothic Book" panose="020B0503020102020204" pitchFamily="34" charset="0"/>
              </a:rPr>
              <a:t>: limitation de </a:t>
            </a:r>
            <a:r>
              <a:rPr lang="fr-FR" sz="2000" dirty="0" err="1">
                <a:solidFill>
                  <a:schemeClr val="bg1"/>
                </a:solidFill>
                <a:latin typeface="Franklin Gothic Book" panose="020B0503020102020204" pitchFamily="34" charset="0"/>
              </a:rPr>
              <a:t>la responsabilité </a:t>
            </a:r>
            <a:r>
              <a:rPr lang="fr-FR" sz="2000" dirty="0">
                <a:solidFill>
                  <a:schemeClr val="bg1"/>
                </a:solidFill>
                <a:latin typeface="Franklin Gothic Book" panose="020B0503020102020204" pitchFamily="34" charset="0"/>
              </a:rPr>
              <a:t>(4)</a:t>
            </a:r>
          </a:p>
        </p:txBody>
      </p:sp>
      <p:sp>
        <p:nvSpPr>
          <p:cNvPr id="9" name="Footer Placeholder 3">
            <a:extLst>
              <a:ext uri="{FF2B5EF4-FFF2-40B4-BE49-F238E27FC236}">
                <a16:creationId xmlns:a16="http://schemas.microsoft.com/office/drawing/2014/main" id="{5CB41273-7495-43C8-B679-2845761666AD}"/>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439501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AB47A54-96F6-446E-A18F-76239F3C2EEE}"/>
              </a:ext>
            </a:extLst>
          </p:cNvPr>
          <p:cNvSpPr>
            <a:spLocks noGrp="1"/>
          </p:cNvSpPr>
          <p:nvPr>
            <p:ph idx="1"/>
          </p:nvPr>
        </p:nvSpPr>
        <p:spPr>
          <a:xfrm>
            <a:off x="380999" y="1719071"/>
            <a:ext cx="8407893" cy="4407408"/>
          </a:xfrm>
        </p:spPr>
        <p:txBody>
          <a:bodyPr>
            <a:normAutofit/>
          </a:bodyPr>
          <a:lstStyle/>
          <a:p>
            <a:pPr marL="0" lvl="1" indent="0" algn="just">
              <a:buFont typeface="Alright Sans Thin" pitchFamily="2" charset="0"/>
              <a:buNone/>
              <a:defRPr/>
            </a:pPr>
            <a:r>
              <a:rPr lang="en-US" dirty="0"/>
              <a:t>Je travaille pour une entreprise française qui commercialise du café. J'ai acheté une cargaison de café auprès d'un producteur brésilien selon les termes FAS. </a:t>
            </a:r>
          </a:p>
          <a:p>
            <a:pPr marL="0" lvl="1" indent="0" algn="just">
              <a:buFont typeface="Alright Sans Thin" pitchFamily="2" charset="0"/>
              <a:buNone/>
              <a:defRPr/>
            </a:pPr>
            <a:r>
              <a:rPr lang="en-US" dirty="0"/>
              <a:t>Les marchandises sont transportées par CMA CGM du port de Sao Paulo au port du Havre. </a:t>
            </a:r>
          </a:p>
          <a:p>
            <a:pPr marL="0" lvl="1" indent="0" algn="just">
              <a:buFont typeface="Alright Sans Thin" pitchFamily="2" charset="0"/>
              <a:buNone/>
              <a:defRPr/>
            </a:pPr>
            <a:r>
              <a:rPr lang="en-US" dirty="0"/>
              <a:t>Le conteneur contient 300 caisses de 15 kg chacune (total : 4 500 kg). Prix : 400 000 €. </a:t>
            </a:r>
          </a:p>
          <a:p>
            <a:pPr marL="0" lvl="1" indent="0" algn="just">
              <a:buFont typeface="Alright Sans Thin" pitchFamily="2" charset="0"/>
              <a:buNone/>
              <a:defRPr/>
            </a:pPr>
            <a:r>
              <a:rPr lang="en-US" dirty="0"/>
              <a:t>Lors de la livraison au port du Havre, je constate que le café est très humide. </a:t>
            </a:r>
          </a:p>
          <a:p>
            <a:pPr marL="0" lvl="1" indent="0" algn="just">
              <a:buFont typeface="Alright Sans Thin" pitchFamily="2" charset="0"/>
              <a:buNone/>
              <a:defRPr/>
            </a:pPr>
            <a:r>
              <a:rPr lang="en-US" b="1" dirty="0"/>
              <a:t>Que dois-je faire en premier lieu ?</a:t>
            </a:r>
          </a:p>
        </p:txBody>
      </p:sp>
      <p:sp>
        <p:nvSpPr>
          <p:cNvPr id="6" name="Titre 1">
            <a:extLst>
              <a:ext uri="{FF2B5EF4-FFF2-40B4-BE49-F238E27FC236}">
                <a16:creationId xmlns:a16="http://schemas.microsoft.com/office/drawing/2014/main" id="{B4B68EB8-A100-45FA-A4DB-8F11D7187C0E}"/>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0D78424D-9D50-4083-9243-8E7594653EE3}"/>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25246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4D061B5-C3D4-46BD-8C35-2D602B6F51EB}"/>
              </a:ext>
            </a:extLst>
          </p:cNvPr>
          <p:cNvSpPr>
            <a:spLocks noGrp="1"/>
          </p:cNvSpPr>
          <p:nvPr>
            <p:ph idx="1"/>
          </p:nvPr>
        </p:nvSpPr>
        <p:spPr>
          <a:xfrm>
            <a:off x="380999" y="1719071"/>
            <a:ext cx="8407893" cy="4407408"/>
          </a:xfrm>
        </p:spPr>
        <p:txBody>
          <a:bodyPr>
            <a:normAutofit/>
          </a:bodyPr>
          <a:lstStyle/>
          <a:p>
            <a:pPr algn="ctr">
              <a:buFont typeface="Lucida Grande"/>
              <a:buNone/>
            </a:pPr>
            <a:r>
              <a:rPr lang="en-US" sz="2000" dirty="0"/>
              <a:t>Première étape : </a:t>
            </a:r>
            <a:r>
              <a:rPr lang="en-US" sz="2000" i="1" u="sng" dirty="0"/>
              <a:t>je note des réserves précises et motivées sur le connaissement</a:t>
            </a:r>
            <a:r>
              <a:rPr lang="en-US" sz="2000" dirty="0"/>
              <a:t>. </a:t>
            </a:r>
          </a:p>
          <a:p>
            <a:pPr algn="ctr">
              <a:buFont typeface="Lucida Grande"/>
              <a:buNone/>
            </a:pPr>
            <a:r>
              <a:rPr lang="en-US" sz="2000" dirty="0"/>
              <a:t>Je dois indiquer le type de dommage : une perte ? Partielle ou totale ? Humidité ? Cassure ?</a:t>
            </a:r>
          </a:p>
          <a:p>
            <a:pPr algn="ctr">
              <a:buFont typeface="Lucida Grande"/>
              <a:buNone/>
            </a:pPr>
            <a:endParaRPr lang="en-US" sz="2000" dirty="0"/>
          </a:p>
          <a:p>
            <a:pPr algn="ctr">
              <a:buFont typeface="Lucida Grande"/>
              <a:buNone/>
            </a:pPr>
            <a:r>
              <a:rPr lang="en-US" sz="2000" dirty="0"/>
              <a:t>Pourquoi dois-je faire des réserves sur le connaissement dès que possible ?</a:t>
            </a:r>
          </a:p>
        </p:txBody>
      </p:sp>
      <p:sp>
        <p:nvSpPr>
          <p:cNvPr id="6" name="Titre 1">
            <a:extLst>
              <a:ext uri="{FF2B5EF4-FFF2-40B4-BE49-F238E27FC236}">
                <a16:creationId xmlns:a16="http://schemas.microsoft.com/office/drawing/2014/main" id="{183934A6-51A8-4A72-B3B5-D66E4AF9CF45}"/>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892980B2-2692-447B-92A8-ED9A65C176E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710348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4D061B5-C3D4-46BD-8C35-2D602B6F51EB}"/>
              </a:ext>
            </a:extLst>
          </p:cNvPr>
          <p:cNvSpPr>
            <a:spLocks noGrp="1"/>
          </p:cNvSpPr>
          <p:nvPr>
            <p:ph idx="1"/>
          </p:nvPr>
        </p:nvSpPr>
        <p:spPr>
          <a:xfrm>
            <a:off x="380999" y="1719071"/>
            <a:ext cx="8407893" cy="4407408"/>
          </a:xfrm>
        </p:spPr>
        <p:txBody>
          <a:bodyPr>
            <a:normAutofit/>
          </a:bodyPr>
          <a:lstStyle/>
          <a:p>
            <a:pPr>
              <a:buFont typeface="Lucida Grande"/>
              <a:buNone/>
            </a:pPr>
            <a:r>
              <a:rPr lang="en-US" sz="1800" dirty="0"/>
              <a:t>Dans le transport maritime, les réservations doivent être effectuées dans un délai très court :</a:t>
            </a:r>
          </a:p>
          <a:p>
            <a:pPr>
              <a:buFontTx/>
              <a:buChar char="-"/>
            </a:pPr>
            <a:r>
              <a:rPr lang="en-US" sz="1800" dirty="0"/>
              <a:t>Lorsque les </a:t>
            </a:r>
            <a:r>
              <a:rPr lang="en-US" sz="1800" b="1" u="sng" dirty="0"/>
              <a:t>dommages sont apparents</a:t>
            </a:r>
            <a:r>
              <a:rPr lang="en-US" sz="1800" dirty="0"/>
              <a:t>, je dois émettre des réserves </a:t>
            </a:r>
            <a:r>
              <a:rPr lang="en-US" sz="1800" i="1" u="sng" dirty="0"/>
              <a:t>le jour de la livraison</a:t>
            </a:r>
            <a:r>
              <a:rPr lang="en-US" sz="1800" dirty="0"/>
              <a:t>.</a:t>
            </a:r>
          </a:p>
          <a:p>
            <a:pPr>
              <a:buFontTx/>
              <a:buChar char="-"/>
            </a:pPr>
            <a:r>
              <a:rPr lang="en-US" sz="1800" dirty="0"/>
              <a:t>Lorsque les </a:t>
            </a:r>
            <a:r>
              <a:rPr lang="en-US" sz="1800" b="1" u="sng" dirty="0"/>
              <a:t>dommages ne sont pas apparents</a:t>
            </a:r>
            <a:r>
              <a:rPr lang="en-US" sz="1800" dirty="0"/>
              <a:t>, je dois émettre des réserves </a:t>
            </a:r>
            <a:r>
              <a:rPr lang="en-US" sz="1800" i="1" u="sng" dirty="0"/>
              <a:t>dans les trois jours </a:t>
            </a:r>
            <a:r>
              <a:rPr lang="en-US" sz="1800" dirty="0"/>
              <a:t>suivant la livraison.</a:t>
            </a:r>
          </a:p>
          <a:p>
            <a:pPr marL="0" indent="0">
              <a:buNone/>
            </a:pPr>
            <a:r>
              <a:rPr lang="en-US" sz="1800" dirty="0"/>
              <a:t>Lorsque des réserves précises et motivées sont formulées </a:t>
            </a:r>
            <a:r>
              <a:rPr lang="en-US" sz="1800" b="1" u="sng" dirty="0"/>
              <a:t>dans ce délai</a:t>
            </a:r>
            <a:r>
              <a:rPr lang="en-US" sz="1800" dirty="0"/>
              <a:t>, </a:t>
            </a:r>
            <a:r>
              <a:rPr lang="en-US" sz="1800" i="1" u="sng" dirty="0"/>
              <a:t>le dommage est réputé avoir été causé par le transporteur</a:t>
            </a:r>
            <a:r>
              <a:rPr lang="en-US" sz="1800" dirty="0"/>
              <a:t>. Il appartient alors à ce dernier de prouver qu'il n'a pas commis de faute.</a:t>
            </a:r>
          </a:p>
          <a:p>
            <a:pPr marL="0" indent="0">
              <a:buNone/>
            </a:pPr>
            <a:r>
              <a:rPr lang="en-US" sz="1800" dirty="0"/>
              <a:t>Lorsque les réserves sont formulées </a:t>
            </a:r>
            <a:r>
              <a:rPr lang="en-US" sz="1800" b="1" u="sng" dirty="0"/>
              <a:t>après ce délai </a:t>
            </a:r>
            <a:r>
              <a:rPr lang="en-US" sz="1800" dirty="0"/>
              <a:t>(mais au plus tard dans un délai d'un an après la livraison), une indemnisation par le transporteur est possible, mais </a:t>
            </a:r>
            <a:r>
              <a:rPr lang="en-US" sz="1800" i="1" u="sng" dirty="0"/>
              <a:t>l'expéditeur devra prouver que le dommage a bien été causé par le transporteur maritime</a:t>
            </a:r>
            <a:r>
              <a:rPr lang="en-US" sz="1800" dirty="0"/>
              <a:t>.</a:t>
            </a:r>
          </a:p>
          <a:p>
            <a:pPr marL="0" indent="0">
              <a:buNone/>
            </a:pPr>
            <a:r>
              <a:rPr lang="en-US" sz="1800" dirty="0"/>
              <a:t>Mais comment faire pour que toutes les parties au transport s'accordent sur les dommages ?</a:t>
            </a:r>
          </a:p>
        </p:txBody>
      </p:sp>
      <p:sp>
        <p:nvSpPr>
          <p:cNvPr id="6" name="Titre 1">
            <a:extLst>
              <a:ext uri="{FF2B5EF4-FFF2-40B4-BE49-F238E27FC236}">
                <a16:creationId xmlns:a16="http://schemas.microsoft.com/office/drawing/2014/main" id="{183934A6-51A8-4A72-B3B5-D66E4AF9CF45}"/>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892980B2-2692-447B-92A8-ED9A65C176E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294815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4D061B5-C3D4-46BD-8C35-2D602B6F51EB}"/>
              </a:ext>
            </a:extLst>
          </p:cNvPr>
          <p:cNvSpPr>
            <a:spLocks noGrp="1"/>
          </p:cNvSpPr>
          <p:nvPr>
            <p:ph idx="1"/>
          </p:nvPr>
        </p:nvSpPr>
        <p:spPr>
          <a:xfrm>
            <a:off x="380999" y="1719071"/>
            <a:ext cx="8407893" cy="4407408"/>
          </a:xfrm>
        </p:spPr>
        <p:txBody>
          <a:bodyPr>
            <a:normAutofit/>
          </a:bodyPr>
          <a:lstStyle/>
          <a:p>
            <a:pPr>
              <a:buNone/>
            </a:pPr>
            <a:r>
              <a:rPr lang="en-US" sz="2000" dirty="0"/>
              <a:t>Après avoir inscrit les réserves sur le connaissement, j'organise une </a:t>
            </a:r>
            <a:r>
              <a:rPr lang="en-US" sz="2000" b="1" u="sng" dirty="0"/>
              <a:t>expertise</a:t>
            </a:r>
            <a:r>
              <a:rPr lang="en-US" sz="2000" dirty="0"/>
              <a:t> contradictoire à laquelle j'invite CMA CGM (et tous les acteurs impliqués dans le transport). J'envoie une réclamation au service des réclamations de CMA CGM. </a:t>
            </a:r>
          </a:p>
          <a:p>
            <a:pPr>
              <a:buNone/>
            </a:pPr>
            <a:r>
              <a:rPr lang="en-US" sz="2000" dirty="0"/>
              <a:t>Le rapport d'expertise viendra étayer ma réclamation : il contiendra des photos, des explications techniques, un résumé des faits...</a:t>
            </a:r>
          </a:p>
        </p:txBody>
      </p:sp>
      <p:sp>
        <p:nvSpPr>
          <p:cNvPr id="6" name="Titre 1">
            <a:extLst>
              <a:ext uri="{FF2B5EF4-FFF2-40B4-BE49-F238E27FC236}">
                <a16:creationId xmlns:a16="http://schemas.microsoft.com/office/drawing/2014/main" id="{183934A6-51A8-4A72-B3B5-D66E4AF9CF45}"/>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892980B2-2692-447B-92A8-ED9A65C176E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092233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AB47A54-96F6-446E-A18F-76239F3C2EEE}"/>
              </a:ext>
            </a:extLst>
          </p:cNvPr>
          <p:cNvSpPr>
            <a:spLocks noGrp="1"/>
          </p:cNvSpPr>
          <p:nvPr>
            <p:ph idx="1"/>
          </p:nvPr>
        </p:nvSpPr>
        <p:spPr>
          <a:xfrm>
            <a:off x="380999" y="1719071"/>
            <a:ext cx="8407893" cy="4407408"/>
          </a:xfrm>
        </p:spPr>
        <p:txBody>
          <a:bodyPr>
            <a:normAutofit/>
          </a:bodyPr>
          <a:lstStyle/>
          <a:p>
            <a:pPr marL="0" lvl="1" indent="0" algn="ctr">
              <a:buFont typeface="Alright Sans Thin" pitchFamily="2" charset="0"/>
              <a:buNone/>
              <a:defRPr/>
            </a:pPr>
            <a:r>
              <a:rPr lang="en-US" dirty="0"/>
              <a:t>Combien d'argent puis-je demander ?</a:t>
            </a:r>
          </a:p>
        </p:txBody>
      </p:sp>
      <p:sp>
        <p:nvSpPr>
          <p:cNvPr id="6" name="Titre 1">
            <a:extLst>
              <a:ext uri="{FF2B5EF4-FFF2-40B4-BE49-F238E27FC236}">
                <a16:creationId xmlns:a16="http://schemas.microsoft.com/office/drawing/2014/main" id="{B4B68EB8-A100-45FA-A4DB-8F11D7187C0E}"/>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03AC9FC-407B-408B-819A-60E8174BE6E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45584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AB47A54-96F6-446E-A18F-76239F3C2EEE}"/>
              </a:ext>
            </a:extLst>
          </p:cNvPr>
          <p:cNvSpPr>
            <a:spLocks noGrp="1"/>
          </p:cNvSpPr>
          <p:nvPr>
            <p:ph idx="1"/>
          </p:nvPr>
        </p:nvSpPr>
        <p:spPr>
          <a:xfrm>
            <a:off x="380999" y="1719071"/>
            <a:ext cx="8407893" cy="4407408"/>
          </a:xfrm>
        </p:spPr>
        <p:txBody>
          <a:bodyPr>
            <a:normAutofit/>
          </a:bodyPr>
          <a:lstStyle/>
          <a:p>
            <a:pPr marL="0" lvl="1" indent="0" algn="just">
              <a:buFont typeface="Alright Sans Thin" pitchFamily="2" charset="0"/>
              <a:buNone/>
              <a:defRPr/>
            </a:pPr>
            <a:r>
              <a:rPr lang="en-US" dirty="0"/>
              <a:t>Lorsque le dommage est survenu pendant le transport maritime, la responsabilité du transporteur maritime est présumée. L'expéditeur n'a pas à prouver la faute du transporteur. </a:t>
            </a:r>
          </a:p>
          <a:p>
            <a:pPr marL="0" lvl="1" indent="0" algn="just">
              <a:buFont typeface="Alright Sans Thin" pitchFamily="2" charset="0"/>
              <a:buNone/>
              <a:defRPr/>
            </a:pPr>
            <a:r>
              <a:rPr lang="en-US" dirty="0"/>
              <a:t>Mais la responsabilité du transporteur maritime est limitée : 2 DTS* par kg ou 666,67 DTS par colis. La limite la plus élevée est appliquée.</a:t>
            </a:r>
          </a:p>
          <a:p>
            <a:pPr marL="0" lvl="1" indent="0" algn="just">
              <a:buFont typeface="Alright Sans Thin" pitchFamily="2" charset="0"/>
              <a:buNone/>
              <a:defRPr/>
            </a:pPr>
            <a:r>
              <a:rPr lang="en-US" dirty="0"/>
              <a:t>*DTS = Droit de tirage spécial. </a:t>
            </a:r>
          </a:p>
          <a:p>
            <a:pPr marL="0" lvl="1" indent="0" algn="just">
              <a:buFont typeface="Alright Sans Thin" pitchFamily="2" charset="0"/>
              <a:buNone/>
              <a:defRPr/>
            </a:pPr>
            <a:r>
              <a:rPr lang="en-US" dirty="0"/>
              <a:t>Les DTS sont des unités de compte du Fonds monétaire international (FMI). 1 DTS = 1,23 €.</a:t>
            </a:r>
          </a:p>
        </p:txBody>
      </p:sp>
      <p:sp>
        <p:nvSpPr>
          <p:cNvPr id="6" name="Titre 1">
            <a:extLst>
              <a:ext uri="{FF2B5EF4-FFF2-40B4-BE49-F238E27FC236}">
                <a16:creationId xmlns:a16="http://schemas.microsoft.com/office/drawing/2014/main" id="{B4B68EB8-A100-45FA-A4DB-8F11D7187C0E}"/>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99C59380-FB4A-4DEE-A025-8EA565773B13}"/>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2043855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AB47A54-96F6-446E-A18F-76239F3C2EEE}"/>
              </a:ext>
            </a:extLst>
          </p:cNvPr>
          <p:cNvSpPr>
            <a:spLocks noGrp="1"/>
          </p:cNvSpPr>
          <p:nvPr>
            <p:ph idx="1"/>
          </p:nvPr>
        </p:nvSpPr>
        <p:spPr>
          <a:xfrm>
            <a:off x="380999" y="1719071"/>
            <a:ext cx="8407893" cy="4407408"/>
          </a:xfrm>
        </p:spPr>
        <p:txBody>
          <a:bodyPr>
            <a:normAutofit/>
          </a:bodyPr>
          <a:lstStyle/>
          <a:p>
            <a:pPr marL="0" lvl="1" indent="0" algn="ctr">
              <a:buFont typeface="Alright Sans Thin" pitchFamily="2" charset="0"/>
              <a:buNone/>
              <a:defRPr/>
            </a:pPr>
            <a:r>
              <a:rPr lang="en-US" dirty="0"/>
              <a:t>Quel est le montant maximal que je peux demander à CMA CGM ?</a:t>
            </a:r>
          </a:p>
          <a:p>
            <a:pPr marL="0" lvl="1" indent="0" algn="ctr">
              <a:buFont typeface="Alright Sans Thin" pitchFamily="2" charset="0"/>
              <a:buNone/>
              <a:defRPr/>
            </a:pPr>
            <a:endParaRPr lang="en-US" dirty="0"/>
          </a:p>
          <a:p>
            <a:pPr marL="0" lvl="1" indent="0" algn="ctr">
              <a:buNone/>
              <a:defRPr/>
            </a:pPr>
            <a:r>
              <a:rPr lang="en-US" u="sng" dirty="0" err="1"/>
              <a:t>Informations</a:t>
            </a:r>
            <a:r>
              <a:rPr lang="en-US" u="sng" dirty="0"/>
              <a:t> utiles :</a:t>
            </a:r>
          </a:p>
          <a:p>
            <a:pPr marL="342900" lvl="1" indent="-342900" algn="ctr">
              <a:buFontTx/>
              <a:buChar char="-"/>
              <a:defRPr/>
            </a:pPr>
            <a:r>
              <a:rPr lang="en-US" dirty="0"/>
              <a:t>300 cartons de 15 kg chacun (total : 4 500 kg)</a:t>
            </a:r>
          </a:p>
          <a:p>
            <a:pPr marL="342900" lvl="1" indent="-342900" algn="ctr">
              <a:buFontTx/>
              <a:buChar char="-"/>
              <a:defRPr/>
            </a:pPr>
            <a:r>
              <a:rPr lang="en-US" dirty="0"/>
              <a:t>Prix : 400 000 €</a:t>
            </a:r>
          </a:p>
          <a:p>
            <a:pPr marL="0" lvl="1" indent="0" algn="ctr">
              <a:buNone/>
              <a:defRPr/>
            </a:pPr>
            <a:r>
              <a:rPr lang="en-US" dirty="0"/>
              <a:t>- Responsabilité limitée du transporteur maritime : 2 DTS par kg ou 666,67 DTS par colis</a:t>
            </a:r>
          </a:p>
          <a:p>
            <a:pPr marL="0" lvl="1" indent="0" algn="ctr">
              <a:buNone/>
              <a:defRPr/>
            </a:pPr>
            <a:r>
              <a:rPr lang="en-US" dirty="0"/>
              <a:t>- 1 DTS = 1,23 €</a:t>
            </a:r>
            <a:endParaRPr lang="en-US" sz="2800" dirty="0"/>
          </a:p>
        </p:txBody>
      </p:sp>
      <p:sp>
        <p:nvSpPr>
          <p:cNvPr id="6" name="Titre 1">
            <a:extLst>
              <a:ext uri="{FF2B5EF4-FFF2-40B4-BE49-F238E27FC236}">
                <a16:creationId xmlns:a16="http://schemas.microsoft.com/office/drawing/2014/main" id="{B4B68EB8-A100-45FA-A4DB-8F11D7187C0E}"/>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A22F7EC1-C846-47CA-B195-83F9711F933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155034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2AB47A54-96F6-446E-A18F-76239F3C2EEE}"/>
              </a:ext>
            </a:extLst>
          </p:cNvPr>
          <p:cNvSpPr>
            <a:spLocks noGrp="1"/>
          </p:cNvSpPr>
          <p:nvPr>
            <p:ph idx="1"/>
          </p:nvPr>
        </p:nvSpPr>
        <p:spPr>
          <a:xfrm>
            <a:off x="380999" y="1719071"/>
            <a:ext cx="8407893" cy="4407408"/>
          </a:xfrm>
        </p:spPr>
        <p:txBody>
          <a:bodyPr>
            <a:normAutofit/>
          </a:bodyPr>
          <a:lstStyle/>
          <a:p>
            <a:pPr marL="0" lvl="1" indent="0" algn="just">
              <a:buFont typeface="Alright Sans Thin" pitchFamily="2" charset="0"/>
              <a:buNone/>
              <a:defRPr/>
            </a:pPr>
            <a:r>
              <a:rPr lang="en-US" sz="1800" u="sng" dirty="0"/>
              <a:t>Limite de responsabilité calculée en fonction du nombre de kilogrammes :</a:t>
            </a:r>
          </a:p>
          <a:p>
            <a:pPr marL="0" lvl="1" indent="0" algn="just">
              <a:buFont typeface="Alright Sans Thin" pitchFamily="2" charset="0"/>
              <a:buNone/>
              <a:defRPr/>
            </a:pPr>
            <a:r>
              <a:rPr lang="en-US" sz="1800" dirty="0"/>
              <a:t>4 500 kg *2 * 1,23 = 11 070 €</a:t>
            </a:r>
          </a:p>
          <a:p>
            <a:pPr marL="0" lvl="1" indent="0" algn="just">
              <a:buFont typeface="Alright Sans Thin" pitchFamily="2" charset="0"/>
              <a:buNone/>
              <a:defRPr/>
            </a:pPr>
            <a:r>
              <a:rPr lang="en-US" sz="1800" u="sng" dirty="0"/>
              <a:t>Limite de responsabilité calculée en fonction du nombre de cartons :</a:t>
            </a:r>
          </a:p>
          <a:p>
            <a:pPr marL="0" lvl="1" indent="0" algn="just">
              <a:buFont typeface="Alright Sans Thin" pitchFamily="2" charset="0"/>
              <a:buNone/>
              <a:defRPr/>
            </a:pPr>
            <a:r>
              <a:rPr lang="en-US" sz="1800" dirty="0"/>
              <a:t>300 cartons * 666,67 * 1,23 = 246 001,23 €</a:t>
            </a:r>
          </a:p>
          <a:p>
            <a:pPr marL="0" lvl="1" indent="0" algn="just">
              <a:buFont typeface="Alright Sans Thin" pitchFamily="2" charset="0"/>
              <a:buNone/>
              <a:defRPr/>
            </a:pPr>
            <a:endParaRPr lang="en-US" sz="1800" dirty="0"/>
          </a:p>
          <a:p>
            <a:pPr marL="0" lvl="1" indent="0" algn="just">
              <a:buFont typeface="Alright Sans Thin" pitchFamily="2" charset="0"/>
              <a:buNone/>
              <a:defRPr/>
            </a:pPr>
            <a:r>
              <a:rPr lang="en-US" sz="1800" dirty="0"/>
              <a:t>L'expéditeur peut demander la limitation la plus élevée. Prix de la marchandise : 400 000 €. La valeur est supérieure à la limite, mais je peux utiliser la limite la plus élevée.</a:t>
            </a:r>
          </a:p>
          <a:p>
            <a:pPr marL="0" lvl="1" indent="0" algn="just">
              <a:buFont typeface="Alright Sans Thin" pitchFamily="2" charset="0"/>
              <a:buNone/>
              <a:defRPr/>
            </a:pPr>
            <a:r>
              <a:rPr lang="en-US" sz="1800" dirty="0"/>
              <a:t>Je demanderai 246 001,23 €.</a:t>
            </a:r>
          </a:p>
        </p:txBody>
      </p:sp>
      <p:sp>
        <p:nvSpPr>
          <p:cNvPr id="6" name="Titre 1">
            <a:extLst>
              <a:ext uri="{FF2B5EF4-FFF2-40B4-BE49-F238E27FC236}">
                <a16:creationId xmlns:a16="http://schemas.microsoft.com/office/drawing/2014/main" id="{B4B68EB8-A100-45FA-A4DB-8F11D7187C0E}"/>
              </a:ext>
            </a:extLst>
          </p:cNvPr>
          <p:cNvSpPr>
            <a:spLocks noGrp="1"/>
          </p:cNvSpPr>
          <p:nvPr>
            <p:ph type="title"/>
          </p:nvPr>
        </p:nvSpPr>
        <p:spPr>
          <a:xfrm>
            <a:off x="0" y="355847"/>
            <a:ext cx="9144000" cy="1054394"/>
          </a:xfrm>
        </p:spPr>
        <p:txBody>
          <a:bodyPr>
            <a:noAutofit/>
          </a:bodyPr>
          <a:lstStyle/>
          <a:p>
            <a:pPr algn="ctr"/>
            <a:r>
              <a:rPr lang="fr-FR" sz="3600" dirty="0">
                <a:solidFill>
                  <a:schemeClr val="bg1"/>
                </a:solidFill>
                <a:latin typeface="Franklin Gothic Book" panose="020B0503020102020204" pitchFamily="34" charset="0"/>
              </a:rPr>
              <a:t>A – RESPONSABILITÉS EN TRANSPORT MARITIME – </a:t>
            </a:r>
            <a:r>
              <a:rPr lang="fr-FR" sz="3600" dirty="0" err="1">
                <a:solidFill>
                  <a:schemeClr val="bg1"/>
                </a:solidFill>
                <a:latin typeface="Franklin Gothic Book" panose="020B0503020102020204" pitchFamily="34" charset="0"/>
              </a:rPr>
              <a:t>Contrat </a:t>
            </a:r>
            <a:r>
              <a:rPr lang="fr-FR" sz="3600" dirty="0">
                <a:solidFill>
                  <a:schemeClr val="bg1"/>
                </a:solidFill>
                <a:latin typeface="Franklin Gothic Book" panose="020B0503020102020204" pitchFamily="34" charset="0"/>
              </a:rPr>
              <a:t>de </a:t>
            </a:r>
            <a:r>
              <a:rPr lang="fr-FR" sz="3600" dirty="0" err="1">
                <a:solidFill>
                  <a:schemeClr val="bg1"/>
                </a:solidFill>
                <a:latin typeface="Franklin Gothic Book" panose="020B0503020102020204" pitchFamily="34" charset="0"/>
              </a:rPr>
              <a:t>transport</a:t>
            </a:r>
            <a:endParaRPr lang="fr-FR" sz="36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7235D7CD-E1B5-4EDF-B591-A5C35DDD36B7}"/>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187801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C12DDE5B-D0B7-4CDC-A19E-C91964282765}"/>
              </a:ext>
            </a:extLst>
          </p:cNvPr>
          <p:cNvSpPr>
            <a:spLocks noGrp="1"/>
          </p:cNvSpPr>
          <p:nvPr>
            <p:ph idx="1"/>
          </p:nvPr>
        </p:nvSpPr>
        <p:spPr>
          <a:xfrm>
            <a:off x="380999" y="1719071"/>
            <a:ext cx="8407893" cy="4407408"/>
          </a:xfrm>
        </p:spPr>
        <p:txBody>
          <a:bodyPr>
            <a:normAutofit/>
          </a:bodyPr>
          <a:lstStyle/>
          <a:p>
            <a:pPr marL="0" indent="0">
              <a:buNone/>
            </a:pPr>
            <a:r>
              <a:rPr lang="en-US" sz="2000" dirty="0"/>
              <a:t>La limitation de responsabilité du transporteur est levée dans deux cas :</a:t>
            </a:r>
          </a:p>
          <a:p>
            <a:pPr>
              <a:buFontTx/>
              <a:buChar char="-"/>
            </a:pPr>
            <a:r>
              <a:rPr lang="en-US" sz="2000" dirty="0"/>
              <a:t>Lorsque l'expéditeur a envoyé une déclaration de valeur au transporteur avant la livraison (1)</a:t>
            </a:r>
          </a:p>
          <a:p>
            <a:pPr>
              <a:buFontTx/>
              <a:buChar char="-"/>
            </a:pPr>
            <a:r>
              <a:rPr lang="en-US" sz="2000" dirty="0"/>
              <a:t>Lorsque le transporteur a commis une faute inexcusable (2).</a:t>
            </a:r>
          </a:p>
        </p:txBody>
      </p:sp>
      <p:sp>
        <p:nvSpPr>
          <p:cNvPr id="6" name="Titre 1">
            <a:extLst>
              <a:ext uri="{FF2B5EF4-FFF2-40B4-BE49-F238E27FC236}">
                <a16:creationId xmlns:a16="http://schemas.microsoft.com/office/drawing/2014/main" id="{DB6B11DE-08C1-4A36-964D-41585F162B7D}"/>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7B80747-5D6C-4DEF-BCE8-D1A5FFD808E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614795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547C1E7A-E47A-4351-AD92-BABA401A609F}"/>
              </a:ext>
            </a:extLst>
          </p:cNvPr>
          <p:cNvSpPr>
            <a:spLocks noGrp="1"/>
          </p:cNvSpPr>
          <p:nvPr>
            <p:ph idx="1"/>
          </p:nvPr>
        </p:nvSpPr>
        <p:spPr>
          <a:xfrm>
            <a:off x="380999" y="1719071"/>
            <a:ext cx="8407893" cy="4407408"/>
          </a:xfrm>
        </p:spPr>
        <p:txBody>
          <a:bodyPr>
            <a:normAutofit/>
          </a:bodyPr>
          <a:lstStyle/>
          <a:p>
            <a:pPr marL="0" indent="0">
              <a:buNone/>
            </a:pPr>
            <a:r>
              <a:rPr lang="fr-FR" sz="2000" dirty="0"/>
              <a:t>(1) </a:t>
            </a:r>
            <a:r>
              <a:rPr lang="en-US" sz="2000" dirty="0"/>
              <a:t>La limitation de l'indemnisation ne s'applique pas lorsque le chargeur a déclaré la nature et la valeur des marchandises avant l'expédition et que cette déclaration a été mentionnée dans le connaissement.</a:t>
            </a:r>
          </a:p>
          <a:p>
            <a:endParaRPr lang="en-US" sz="2000" dirty="0"/>
          </a:p>
          <a:p>
            <a:pPr marL="0" indent="0">
              <a:buNone/>
            </a:pPr>
            <a:r>
              <a:rPr lang="en-US" sz="2000" dirty="0"/>
              <a:t>J'aurais pu demander 400 000 € (et non  246 001,23 €) si j'avais remis à CMA CGM une déclaration de valeur avant la conclusion du contrat de transport, précisant les détails de cette cargaison de café et sa valeur.</a:t>
            </a:r>
            <a:endParaRPr lang="fr-FR" sz="2000" dirty="0"/>
          </a:p>
        </p:txBody>
      </p:sp>
      <p:sp>
        <p:nvSpPr>
          <p:cNvPr id="6" name="Titre 1">
            <a:extLst>
              <a:ext uri="{FF2B5EF4-FFF2-40B4-BE49-F238E27FC236}">
                <a16:creationId xmlns:a16="http://schemas.microsoft.com/office/drawing/2014/main" id="{6E7CCF2D-B802-479E-B373-20720A5DC1B3}"/>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8" name="Footer Placeholder 3">
            <a:extLst>
              <a:ext uri="{FF2B5EF4-FFF2-40B4-BE49-F238E27FC236}">
                <a16:creationId xmlns:a16="http://schemas.microsoft.com/office/drawing/2014/main" id="{17FB28E9-7828-43B2-BC1F-39C6589348AC}"/>
              </a:ext>
            </a:extLst>
          </p:cNvPr>
          <p:cNvSpPr>
            <a:spLocks noGrp="1"/>
          </p:cNvSpPr>
          <p:nvPr>
            <p:ph type="ftr" sz="quarter" idx="11"/>
          </p:nvPr>
        </p:nvSpPr>
        <p:spPr>
          <a:xfrm>
            <a:off x="4788024" y="6309320"/>
            <a:ext cx="3352800" cy="274320"/>
          </a:xfrm>
        </p:spPr>
        <p:txBody>
          <a:bodyPr/>
          <a:lstStyle/>
          <a:p>
            <a:r>
              <a:rPr lang="en-US" dirty="0"/>
              <a:t>Procédures douanières - Partie 2 - 2021</a:t>
            </a:r>
            <a:endParaRPr lang="fr-FR" dirty="0"/>
          </a:p>
        </p:txBody>
      </p:sp>
    </p:spTree>
    <p:extLst>
      <p:ext uri="{BB962C8B-B14F-4D97-AF65-F5344CB8AC3E}">
        <p14:creationId xmlns:p14="http://schemas.microsoft.com/office/powerpoint/2010/main" val="2802471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F48AAA3A-ACDD-470D-ACEF-3CBEDEAE6C98}"/>
              </a:ext>
            </a:extLst>
          </p:cNvPr>
          <p:cNvSpPr>
            <a:spLocks noGrp="1"/>
          </p:cNvSpPr>
          <p:nvPr>
            <p:ph idx="1"/>
          </p:nvPr>
        </p:nvSpPr>
        <p:spPr>
          <a:xfrm>
            <a:off x="380999" y="1719071"/>
            <a:ext cx="8407893" cy="4407408"/>
          </a:xfrm>
        </p:spPr>
        <p:txBody>
          <a:bodyPr>
            <a:normAutofit/>
          </a:bodyPr>
          <a:lstStyle/>
          <a:p>
            <a:pPr marL="0" indent="0">
              <a:buNone/>
            </a:pPr>
            <a:r>
              <a:rPr lang="en-US" sz="2200" dirty="0"/>
              <a:t>(</a:t>
            </a:r>
            <a:r>
              <a:rPr lang="en-US" sz="1800" dirty="0"/>
              <a:t>2) La limitation de la responsabilité du transporteur est écartée lorsque le chargeur démontre que le transporteur a commis une </a:t>
            </a:r>
            <a:r>
              <a:rPr lang="en-US" sz="1800" u="sng" dirty="0"/>
              <a:t>faute inexcusable </a:t>
            </a:r>
            <a:r>
              <a:rPr lang="en-US" sz="1800" dirty="0"/>
              <a:t>: une faute imprudente et consciente. Le chargeur doit prouver que le transporteur savait que son comportement pouvait causer un dommage.</a:t>
            </a:r>
          </a:p>
          <a:p>
            <a:pPr marL="0" indent="0">
              <a:buNone/>
            </a:pPr>
            <a:endParaRPr lang="en-US" sz="1800" dirty="0"/>
          </a:p>
          <a:p>
            <a:pPr marL="0" indent="0">
              <a:buNone/>
            </a:pPr>
            <a:r>
              <a:rPr lang="en-US" sz="1800" u="sng" dirty="0"/>
              <a:t>Exemple : </a:t>
            </a:r>
            <a:r>
              <a:rPr lang="en-US" sz="1800" dirty="0"/>
              <a:t>le transporteur aurait commis une faute inexcusable s'il avait chargé le conteneur sur le pont sans y être autorisé par le connaissement et sans le déclarer à l'expéditeur, alors que le café est sensible à l'humidité et que le transporteur savait que le navire allait rencontrer en cours de route une zone de forte tempête.</a:t>
            </a:r>
          </a:p>
          <a:p>
            <a:pPr marL="0" indent="0">
              <a:buNone/>
            </a:pPr>
            <a:r>
              <a:rPr lang="en-US" sz="1800" u="sng" dirty="0"/>
              <a:t>Autre exemple concret : </a:t>
            </a:r>
            <a:r>
              <a:rPr lang="en-US" sz="1800" dirty="0"/>
              <a:t>lorsque le transporteur maritime ne prend aucune mesure pour déplacer le conteneur qui a été mis à quai contrairement aux instructions de l'autorité portuaire, le transporteur ayant été averti de l'arrivée d'un cyclone par </a:t>
            </a:r>
            <a:r>
              <a:rPr lang="en-US" sz="1800" dirty="0" err="1"/>
              <a:t>Météo </a:t>
            </a:r>
            <a:r>
              <a:rPr lang="en-US" sz="1800" dirty="0"/>
              <a:t>France.</a:t>
            </a:r>
            <a:endParaRPr lang="fr-FR" sz="1800" dirty="0"/>
          </a:p>
        </p:txBody>
      </p:sp>
      <p:sp>
        <p:nvSpPr>
          <p:cNvPr id="6" name="Titre 1">
            <a:extLst>
              <a:ext uri="{FF2B5EF4-FFF2-40B4-BE49-F238E27FC236}">
                <a16:creationId xmlns:a16="http://schemas.microsoft.com/office/drawing/2014/main" id="{221A5AA7-398E-433B-B8FC-7B185A788531}"/>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4F9779B4-0CB6-4C67-9444-AAF3E8BCD2E0}"/>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328082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CE655DF9-5C4E-441D-9BB7-D9EFFE09EE8D}"/>
              </a:ext>
            </a:extLst>
          </p:cNvPr>
          <p:cNvSpPr>
            <a:spLocks noGrp="1"/>
          </p:cNvSpPr>
          <p:nvPr>
            <p:ph idx="1"/>
          </p:nvPr>
        </p:nvSpPr>
        <p:spPr>
          <a:xfrm>
            <a:off x="380999" y="1719071"/>
            <a:ext cx="8407893" cy="4407408"/>
          </a:xfrm>
        </p:spPr>
        <p:txBody>
          <a:bodyPr>
            <a:normAutofit/>
          </a:bodyPr>
          <a:lstStyle/>
          <a:p>
            <a:pPr marL="0" indent="0">
              <a:buNone/>
            </a:pPr>
            <a:r>
              <a:rPr lang="en-US" sz="2000" dirty="0"/>
              <a:t>Mais imaginons que nous n'ayons pas fait de déclaration de valeur et que CMA CGM n'ait pas commis de faute inexcusable. </a:t>
            </a:r>
          </a:p>
          <a:p>
            <a:pPr marL="0" indent="0">
              <a:buNone/>
            </a:pPr>
            <a:r>
              <a:rPr lang="en-US" sz="2000" dirty="0"/>
              <a:t>À première vue, nous pourrions donc réclamer 246 001,23 € à titre de dédommagement. </a:t>
            </a:r>
          </a:p>
          <a:p>
            <a:pPr marL="0" indent="0">
              <a:buNone/>
            </a:pPr>
            <a:r>
              <a:rPr lang="en-US" sz="2000" dirty="0"/>
              <a:t>Que pourrait répondre CMA CGM ?</a:t>
            </a:r>
            <a:endParaRPr lang="fr-FR" sz="2000" dirty="0"/>
          </a:p>
        </p:txBody>
      </p:sp>
      <p:sp>
        <p:nvSpPr>
          <p:cNvPr id="6" name="Titre 1">
            <a:extLst>
              <a:ext uri="{FF2B5EF4-FFF2-40B4-BE49-F238E27FC236}">
                <a16:creationId xmlns:a16="http://schemas.microsoft.com/office/drawing/2014/main" id="{1F63C932-5FB2-410C-BA3F-4D559DFB6635}"/>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50D01E43-9106-46EA-B16F-A1F0FFE12E3E}"/>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708402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8989D6C-FC76-43AC-AF0D-54E421C216A6}"/>
              </a:ext>
            </a:extLst>
          </p:cNvPr>
          <p:cNvSpPr>
            <a:spLocks noGrp="1"/>
          </p:cNvSpPr>
          <p:nvPr>
            <p:ph idx="1"/>
          </p:nvPr>
        </p:nvSpPr>
        <p:spPr>
          <a:xfrm>
            <a:off x="380999" y="1719071"/>
            <a:ext cx="8407893" cy="4407408"/>
          </a:xfrm>
        </p:spPr>
        <p:txBody>
          <a:bodyPr>
            <a:normAutofit/>
          </a:bodyPr>
          <a:lstStyle/>
          <a:p>
            <a:pPr>
              <a:buFontTx/>
              <a:buNone/>
            </a:pPr>
            <a:r>
              <a:rPr lang="en-US" sz="2000" dirty="0"/>
              <a:t>Une fois le dommage constaté, le transporteur peut être dégagé de sa responsabilité en prouvant l'existence d'un cas exceptionnel. Qu'est-ce qu'un cas exceptionnel ?</a:t>
            </a:r>
          </a:p>
        </p:txBody>
      </p:sp>
      <p:sp>
        <p:nvSpPr>
          <p:cNvPr id="6" name="Titre 1">
            <a:extLst>
              <a:ext uri="{FF2B5EF4-FFF2-40B4-BE49-F238E27FC236}">
                <a16:creationId xmlns:a16="http://schemas.microsoft.com/office/drawing/2014/main" id="{090EF583-26CA-4ED1-9875-3E0424CE3376}"/>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3F38871B-87F6-4EAC-B4E5-A80678D076A0}"/>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519493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15712311-08DD-43DD-950D-0254283771C4}"/>
              </a:ext>
            </a:extLst>
          </p:cNvPr>
          <p:cNvSpPr>
            <a:spLocks noGrp="1"/>
          </p:cNvSpPr>
          <p:nvPr>
            <p:ph idx="1"/>
          </p:nvPr>
        </p:nvSpPr>
        <p:spPr>
          <a:xfrm>
            <a:off x="380999" y="1719071"/>
            <a:ext cx="8407893" cy="4407408"/>
          </a:xfrm>
        </p:spPr>
        <p:txBody>
          <a:bodyPr>
            <a:normAutofit/>
          </a:bodyPr>
          <a:lstStyle/>
          <a:p>
            <a:pPr>
              <a:defRPr/>
            </a:pPr>
            <a:r>
              <a:rPr lang="en-US" sz="2000" b="1" dirty="0"/>
              <a:t>(1) </a:t>
            </a:r>
            <a:r>
              <a:rPr lang="en-US" sz="2000" b="1" u="sng" dirty="0"/>
              <a:t>Indescriptibilité du navire </a:t>
            </a:r>
            <a:r>
              <a:rPr lang="en-US" sz="2000" dirty="0"/>
              <a:t>: l'indescriptibilité du navire est un cas exceptionnel lorsqu'elle est soudaine et que le transporteur a fait tous les efforts possibles pour rendre le navire en état de naviguer.</a:t>
            </a:r>
          </a:p>
          <a:p>
            <a:pPr>
              <a:defRPr/>
            </a:pPr>
            <a:r>
              <a:rPr lang="en-US" sz="2000" b="1" dirty="0"/>
              <a:t>(2) </a:t>
            </a:r>
            <a:r>
              <a:rPr lang="en-US" sz="2000" b="1" u="sng" dirty="0"/>
              <a:t>Incendie </a:t>
            </a:r>
            <a:r>
              <a:rPr lang="en-US" sz="2000" dirty="0"/>
              <a:t>: l'incendie est un événement exceptionnel, sauf s'il est causé par un acte ou une négligence du transporteur.</a:t>
            </a:r>
          </a:p>
          <a:p>
            <a:pPr>
              <a:defRPr/>
            </a:pPr>
            <a:r>
              <a:rPr lang="en-US" sz="2000" b="1" dirty="0"/>
              <a:t>(3) </a:t>
            </a:r>
            <a:r>
              <a:rPr lang="en-US" sz="2000" b="1" u="sng" dirty="0"/>
              <a:t>Actes constituant un événement non imputable au transporteur</a:t>
            </a:r>
            <a:r>
              <a:rPr lang="en-US" sz="2000" dirty="0"/>
              <a:t>. Exemple : piraterie.</a:t>
            </a:r>
          </a:p>
          <a:p>
            <a:pPr>
              <a:defRPr/>
            </a:pPr>
            <a:r>
              <a:rPr lang="en-US" sz="2000" b="1" dirty="0"/>
              <a:t>(4) </a:t>
            </a:r>
            <a:r>
              <a:rPr lang="en-US" sz="2000" b="1" u="sng" dirty="0"/>
              <a:t>Grève et lock-out</a:t>
            </a:r>
          </a:p>
        </p:txBody>
      </p:sp>
      <p:sp>
        <p:nvSpPr>
          <p:cNvPr id="6" name="Titre 1">
            <a:extLst>
              <a:ext uri="{FF2B5EF4-FFF2-40B4-BE49-F238E27FC236}">
                <a16:creationId xmlns:a16="http://schemas.microsoft.com/office/drawing/2014/main" id="{47C323C3-9C9E-4B7B-8B65-2FB0AFE32464}"/>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D2CD959F-9A6A-4EBC-9753-B6C765CDDE65}"/>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619320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05BDA4BE-F089-443C-9243-0A00D8D75851}"/>
              </a:ext>
            </a:extLst>
          </p:cNvPr>
          <p:cNvSpPr>
            <a:spLocks noGrp="1"/>
          </p:cNvSpPr>
          <p:nvPr>
            <p:ph idx="1"/>
          </p:nvPr>
        </p:nvSpPr>
        <p:spPr>
          <a:xfrm>
            <a:off x="380999" y="1719071"/>
            <a:ext cx="8407893" cy="4407408"/>
          </a:xfrm>
        </p:spPr>
        <p:txBody>
          <a:bodyPr>
            <a:normAutofit/>
          </a:bodyPr>
          <a:lstStyle/>
          <a:p>
            <a:pPr>
              <a:defRPr/>
            </a:pPr>
            <a:r>
              <a:rPr lang="en-US" sz="2000" b="1" dirty="0"/>
              <a:t>(5) </a:t>
            </a:r>
            <a:r>
              <a:rPr lang="en-US" sz="2000" b="1" u="sng" dirty="0"/>
              <a:t>Vice inhérent à la marchandise </a:t>
            </a:r>
            <a:r>
              <a:rPr lang="en-US" sz="2000" dirty="0"/>
              <a:t>: le vice inhérent à la marchandise est la propension naturelle de la marchandise à se détériorer.</a:t>
            </a:r>
          </a:p>
          <a:p>
            <a:pPr>
              <a:defRPr/>
            </a:pPr>
            <a:r>
              <a:rPr lang="en-US" sz="2000" b="1" dirty="0"/>
              <a:t>(6) </a:t>
            </a:r>
            <a:r>
              <a:rPr lang="en-US" sz="2000" b="1" u="sng" dirty="0"/>
              <a:t>Faute de l'expéditeur</a:t>
            </a:r>
            <a:r>
              <a:rPr lang="en-US" sz="2000" dirty="0"/>
              <a:t>, notamment dans l'emballage, le conditionnement ou le marquage</a:t>
            </a:r>
          </a:p>
          <a:p>
            <a:pPr>
              <a:defRPr/>
            </a:pPr>
            <a:r>
              <a:rPr lang="en-US" sz="2000" b="1" dirty="0"/>
              <a:t>(7) </a:t>
            </a:r>
            <a:r>
              <a:rPr lang="en-US" sz="2000" b="1" u="sng" dirty="0"/>
              <a:t>Vices cachés du navire échappant à un examen attentif</a:t>
            </a:r>
          </a:p>
          <a:p>
            <a:pPr>
              <a:defRPr/>
            </a:pPr>
            <a:r>
              <a:rPr lang="en-US" sz="2000" b="1" dirty="0"/>
              <a:t>(8) </a:t>
            </a:r>
            <a:r>
              <a:rPr lang="en-US" sz="2000" b="1" u="sng" dirty="0"/>
              <a:t>Acte ou tentative visant à sauver des vies ou des biens, ou détournement à cette fin</a:t>
            </a:r>
          </a:p>
          <a:p>
            <a:pPr algn="just">
              <a:buFontTx/>
              <a:buNone/>
            </a:pPr>
            <a:endParaRPr lang="en-US" b="1" dirty="0"/>
          </a:p>
        </p:txBody>
      </p:sp>
      <p:sp>
        <p:nvSpPr>
          <p:cNvPr id="6" name="Titre 1">
            <a:extLst>
              <a:ext uri="{FF2B5EF4-FFF2-40B4-BE49-F238E27FC236}">
                <a16:creationId xmlns:a16="http://schemas.microsoft.com/office/drawing/2014/main" id="{F5F2529C-02BF-4BD1-AAA4-1E2A6B32D790}"/>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DE8DCEF0-5AA4-4031-93B2-5388E1047A11}"/>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14711454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A64FC535-C482-4DE7-892B-A3BB023C2545}"/>
              </a:ext>
            </a:extLst>
          </p:cNvPr>
          <p:cNvSpPr>
            <a:spLocks noGrp="1"/>
          </p:cNvSpPr>
          <p:nvPr>
            <p:ph idx="1"/>
          </p:nvPr>
        </p:nvSpPr>
        <p:spPr>
          <a:xfrm>
            <a:off x="380999" y="1719071"/>
            <a:ext cx="8407893" cy="4407408"/>
          </a:xfrm>
        </p:spPr>
        <p:txBody>
          <a:bodyPr>
            <a:normAutofit/>
          </a:bodyPr>
          <a:lstStyle/>
          <a:p>
            <a:pPr marL="0" indent="0">
              <a:buNone/>
              <a:defRPr/>
            </a:pPr>
            <a:r>
              <a:rPr lang="en-US" sz="2000" b="1" dirty="0"/>
              <a:t>(9) </a:t>
            </a:r>
            <a:r>
              <a:rPr lang="en-US" sz="2000" b="1" u="sng" dirty="0"/>
              <a:t>Faute maritime </a:t>
            </a:r>
            <a:r>
              <a:rPr lang="en-US" sz="2000" dirty="0"/>
              <a:t>du transporteur, du capitaine ou d'un autre préposé. Une faute maritime est un acte commis par le propriétaire du navire dans le cadre de la navigation ou de l'administration du navire. Navigation = emprunter un chenal trop étroit, échouer le navire, mal lire une carte, etc. Administration du navire = gestion des cales.</a:t>
            </a:r>
          </a:p>
          <a:p>
            <a:pPr marL="0" indent="0">
              <a:buNone/>
              <a:defRPr/>
            </a:pPr>
            <a:r>
              <a:rPr lang="en-US" sz="2000" b="1" dirty="0"/>
              <a:t>(10) </a:t>
            </a:r>
            <a:r>
              <a:rPr lang="en-US" sz="2000" b="1" u="sng" dirty="0"/>
              <a:t>Les risques de la mer </a:t>
            </a:r>
            <a:r>
              <a:rPr lang="en-US" sz="2000" dirty="0"/>
              <a:t>: les risques de la mer constituent un cas d'exception, sauf s'ils sont particuliers, brutaux et violents. De nos jours, nous interprétons cette exception de manière stricte, car la technique a évolué et les navires sont de plus en plus sûrs.</a:t>
            </a:r>
          </a:p>
          <a:p>
            <a:pPr marL="0" indent="0">
              <a:buNone/>
              <a:defRPr/>
            </a:pPr>
            <a:r>
              <a:rPr lang="en-US" sz="2000" b="1" dirty="0"/>
              <a:t>(11) </a:t>
            </a:r>
            <a:r>
              <a:rPr lang="en-US" sz="2000" b="1" u="sng" dirty="0"/>
              <a:t>Le « fait du prince </a:t>
            </a:r>
            <a:r>
              <a:rPr lang="en-US" sz="2000" dirty="0"/>
              <a:t>» : le « fait du prince » réside dans une décision contraignante prise par les autorités publiques et qui a une conséquence sur la bonne exécution du contrat de transport. Cette décision n'est qualifiée de « cas de force majeure » que si elle était imprévisible.</a:t>
            </a:r>
            <a:endParaRPr lang="fr-FR" sz="2000" dirty="0"/>
          </a:p>
          <a:p>
            <a:pPr marL="571500" indent="-571500">
              <a:buFont typeface="+mj-lt"/>
              <a:buAutoNum type="romanLcPeriod"/>
            </a:pPr>
            <a:endParaRPr lang="fr-FR" dirty="0"/>
          </a:p>
        </p:txBody>
      </p:sp>
      <p:sp>
        <p:nvSpPr>
          <p:cNvPr id="6" name="Titre 1">
            <a:extLst>
              <a:ext uri="{FF2B5EF4-FFF2-40B4-BE49-F238E27FC236}">
                <a16:creationId xmlns:a16="http://schemas.microsoft.com/office/drawing/2014/main" id="{3E4DFD06-D552-48C9-A2AA-1CFAF21C5F93}"/>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59D821AE-9638-41F9-BB6E-90C3547A799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6485467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33560D6-EE77-48B9-B6C3-F6C5AD98B556}"/>
              </a:ext>
            </a:extLst>
          </p:cNvPr>
          <p:cNvSpPr>
            <a:spLocks noGrp="1"/>
          </p:cNvSpPr>
          <p:nvPr>
            <p:ph idx="1"/>
          </p:nvPr>
        </p:nvSpPr>
        <p:spPr>
          <a:xfrm>
            <a:off x="380999" y="1719071"/>
            <a:ext cx="8407893" cy="4407408"/>
          </a:xfrm>
        </p:spPr>
        <p:txBody>
          <a:bodyPr>
            <a:normAutofit/>
          </a:bodyPr>
          <a:lstStyle/>
          <a:p>
            <a:pPr marL="0" indent="0" algn="ctr">
              <a:buNone/>
            </a:pPr>
            <a:r>
              <a:rPr lang="en-GB" sz="2000" dirty="0"/>
              <a:t>Que pouvons-nous répondre au transporteur s'il a expliqué que le dommage a été causé par un cas exceptionnel ?</a:t>
            </a:r>
          </a:p>
        </p:txBody>
      </p:sp>
      <p:sp>
        <p:nvSpPr>
          <p:cNvPr id="6" name="Titre 1">
            <a:extLst>
              <a:ext uri="{FF2B5EF4-FFF2-40B4-BE49-F238E27FC236}">
                <a16:creationId xmlns:a16="http://schemas.microsoft.com/office/drawing/2014/main" id="{735D008A-DE93-4D8B-BE12-D8CB78B523DA}"/>
              </a:ext>
            </a:extLst>
          </p:cNvPr>
          <p:cNvSpPr>
            <a:spLocks noGrp="1"/>
          </p:cNvSpPr>
          <p:nvPr>
            <p:ph type="title"/>
          </p:nvPr>
        </p:nvSpPr>
        <p:spPr>
          <a:xfrm>
            <a:off x="123091" y="355847"/>
            <a:ext cx="8932985" cy="1054394"/>
          </a:xfrm>
        </p:spPr>
        <p:txBody>
          <a:bodyPr>
            <a:noAutofit/>
          </a:bodyPr>
          <a:lstStyle/>
          <a:p>
            <a:pPr algn="ctr"/>
            <a:r>
              <a:rPr lang="fr-FR" sz="2000" dirty="0">
                <a:solidFill>
                  <a:schemeClr val="bg1"/>
                </a:solidFill>
                <a:latin typeface="Franklin Gothic Book" panose="020B0503020102020204" pitchFamily="34" charset="0"/>
              </a:rPr>
              <a:t>A – RESPONSABILITÉS EN MATIÈRE DE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44F6CDC-6D05-4754-8EC0-817F6A2E6A3C}"/>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887953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247130A-9A1C-436A-A92C-D95EC0DDC069}"/>
              </a:ext>
            </a:extLst>
          </p:cNvPr>
          <p:cNvSpPr>
            <a:spLocks noGrp="1"/>
          </p:cNvSpPr>
          <p:nvPr>
            <p:ph idx="1"/>
          </p:nvPr>
        </p:nvSpPr>
        <p:spPr>
          <a:xfrm>
            <a:off x="380999" y="1719071"/>
            <a:ext cx="8407893" cy="4407408"/>
          </a:xfrm>
        </p:spPr>
        <p:txBody>
          <a:bodyPr>
            <a:normAutofit/>
          </a:bodyPr>
          <a:lstStyle/>
          <a:p>
            <a:pPr marL="0" indent="0">
              <a:buNone/>
            </a:pPr>
            <a:r>
              <a:rPr lang="en-US" sz="2000" dirty="0"/>
              <a:t>Même si le transporteur prouve qu'il existe un cas exceptionnel, l'expéditeur peut prouver la faute du transporteur afin de surmonter les effets du cas exceptionnel. </a:t>
            </a:r>
          </a:p>
          <a:p>
            <a:pPr marL="0" indent="0">
              <a:buNone/>
            </a:pPr>
            <a:r>
              <a:rPr lang="en-US" sz="2000" dirty="0"/>
              <a:t>La responsabilité du transporteur sera alors réintroduite en tout ou en partie. </a:t>
            </a:r>
          </a:p>
          <a:p>
            <a:pPr marL="0" indent="0">
              <a:buNone/>
            </a:pPr>
            <a:r>
              <a:rPr lang="en-US" sz="2000" dirty="0"/>
              <a:t>La responsabilité peut ainsi être partagée entre le transporteur et l'expéditeur.</a:t>
            </a:r>
            <a:endParaRPr lang="en-GB" sz="2000" dirty="0"/>
          </a:p>
        </p:txBody>
      </p:sp>
      <p:sp>
        <p:nvSpPr>
          <p:cNvPr id="6" name="Titre 1">
            <a:extLst>
              <a:ext uri="{FF2B5EF4-FFF2-40B4-BE49-F238E27FC236}">
                <a16:creationId xmlns:a16="http://schemas.microsoft.com/office/drawing/2014/main" id="{57B2CFFF-00D8-4C05-9748-1C91A49E9AD9}"/>
              </a:ext>
            </a:extLst>
          </p:cNvPr>
          <p:cNvSpPr>
            <a:spLocks noGrp="1"/>
          </p:cNvSpPr>
          <p:nvPr>
            <p:ph type="title"/>
          </p:nvPr>
        </p:nvSpPr>
        <p:spPr>
          <a:xfrm>
            <a:off x="0" y="355847"/>
            <a:ext cx="9144000" cy="1054394"/>
          </a:xfrm>
        </p:spPr>
        <p:txBody>
          <a:bodyPr>
            <a:noAutofit/>
          </a:bodyPr>
          <a:lstStyle/>
          <a:p>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6F45682-D185-4C1B-8FD9-40EB35DAB4B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084398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4247130A-9A1C-436A-A92C-D95EC0DDC069}"/>
              </a:ext>
            </a:extLst>
          </p:cNvPr>
          <p:cNvSpPr>
            <a:spLocks noGrp="1"/>
          </p:cNvSpPr>
          <p:nvPr>
            <p:ph idx="1"/>
          </p:nvPr>
        </p:nvSpPr>
        <p:spPr>
          <a:xfrm>
            <a:off x="380999" y="1719071"/>
            <a:ext cx="8407893" cy="4407408"/>
          </a:xfrm>
        </p:spPr>
        <p:txBody>
          <a:bodyPr>
            <a:normAutofit/>
          </a:bodyPr>
          <a:lstStyle/>
          <a:p>
            <a:pPr marL="0" indent="0">
              <a:buNone/>
            </a:pPr>
            <a:r>
              <a:rPr lang="en-GB" sz="2000" dirty="0"/>
              <a:t>Résumé des responsabilités en matière de transport maritime :</a:t>
            </a:r>
          </a:p>
          <a:p>
            <a:pPr marL="342900" indent="-342900">
              <a:buAutoNum type="arabicParenR"/>
            </a:pPr>
            <a:r>
              <a:rPr lang="en-GB" sz="2000" dirty="0"/>
              <a:t>Réserves émises par le chargeur =&amp;gt; on présume que les dommages ont été causés pendant le transport maritime.</a:t>
            </a:r>
          </a:p>
          <a:p>
            <a:pPr marL="342900" indent="-342900">
              <a:buAutoNum type="arabicParenR"/>
            </a:pPr>
            <a:r>
              <a:rPr lang="en-GB" sz="2000" dirty="0"/>
              <a:t>Le chargeur demande une indemnisation au transporteur maritime : responsabilité limitée. Non limitée si : faute inexcusable ou déclaration de valeur.</a:t>
            </a:r>
          </a:p>
          <a:p>
            <a:pPr marL="342900" indent="-342900">
              <a:buAutoNum type="arabicParenR"/>
            </a:pPr>
            <a:r>
              <a:rPr lang="en-GB" sz="2000" dirty="0"/>
              <a:t>Réponse du transporteur maritime =&amp;gt; cas exceptionnel.</a:t>
            </a:r>
          </a:p>
          <a:p>
            <a:pPr marL="342900" indent="-342900">
              <a:buAutoNum type="arabicParenR"/>
            </a:pPr>
            <a:r>
              <a:rPr lang="en-GB" sz="2000" dirty="0"/>
              <a:t>Réponse du chargeur =&amp;gt; faute du transporteur maritime.</a:t>
            </a:r>
          </a:p>
          <a:p>
            <a:pPr marL="342900" indent="-342900">
              <a:buAutoNum type="arabicParenR"/>
            </a:pPr>
            <a:endParaRPr lang="en-GB" sz="1800" dirty="0"/>
          </a:p>
        </p:txBody>
      </p:sp>
      <p:sp>
        <p:nvSpPr>
          <p:cNvPr id="6" name="Titre 1">
            <a:extLst>
              <a:ext uri="{FF2B5EF4-FFF2-40B4-BE49-F238E27FC236}">
                <a16:creationId xmlns:a16="http://schemas.microsoft.com/office/drawing/2014/main" id="{57B2CFFF-00D8-4C05-9748-1C91A49E9AD9}"/>
              </a:ext>
            </a:extLst>
          </p:cNvPr>
          <p:cNvSpPr>
            <a:spLocks noGrp="1"/>
          </p:cNvSpPr>
          <p:nvPr>
            <p:ph type="title"/>
          </p:nvPr>
        </p:nvSpPr>
        <p:spPr>
          <a:xfrm>
            <a:off x="0" y="355847"/>
            <a:ext cx="9144000" cy="1054394"/>
          </a:xfrm>
        </p:spPr>
        <p:txBody>
          <a:bodyPr>
            <a:noAutofit/>
          </a:bodyPr>
          <a:lstStyle/>
          <a:p>
            <a:r>
              <a:rPr lang="fr-FR" sz="2000" dirty="0">
                <a:solidFill>
                  <a:schemeClr val="bg1"/>
                </a:solidFill>
                <a:latin typeface="Franklin Gothic Book" panose="020B0503020102020204" pitchFamily="34" charset="0"/>
              </a:rPr>
              <a:t>A – RESPONSABILITÉS DANS LE TRANSPORT MARITIME – </a:t>
            </a:r>
            <a:r>
              <a:rPr lang="fr-FR" sz="2000" dirty="0" err="1">
                <a:solidFill>
                  <a:schemeClr val="bg1"/>
                </a:solidFill>
                <a:latin typeface="Franklin Gothic Book" panose="020B0503020102020204" pitchFamily="34" charset="0"/>
              </a:rPr>
              <a:t>Contrat </a:t>
            </a:r>
            <a:r>
              <a:rPr lang="fr-FR" sz="2000" dirty="0">
                <a:solidFill>
                  <a:schemeClr val="bg1"/>
                </a:solidFill>
                <a:latin typeface="Franklin Gothic Book" panose="020B0503020102020204" pitchFamily="34" charset="0"/>
              </a:rPr>
              <a:t>de </a:t>
            </a:r>
            <a:r>
              <a:rPr lang="fr-FR" sz="2000" dirty="0" err="1">
                <a:solidFill>
                  <a:schemeClr val="bg1"/>
                </a:solidFill>
                <a:latin typeface="Franklin Gothic Book" panose="020B0503020102020204" pitchFamily="34" charset="0"/>
              </a:rPr>
              <a:t>transport</a:t>
            </a:r>
            <a:endParaRPr lang="fr-FR" sz="2000" dirty="0">
              <a:solidFill>
                <a:schemeClr val="bg1"/>
              </a:solidFill>
              <a:latin typeface="Franklin Gothic Book" panose="020B0503020102020204" pitchFamily="34" charset="0"/>
            </a:endParaRPr>
          </a:p>
        </p:txBody>
      </p:sp>
      <p:sp>
        <p:nvSpPr>
          <p:cNvPr id="9" name="Footer Placeholder 3">
            <a:extLst>
              <a:ext uri="{FF2B5EF4-FFF2-40B4-BE49-F238E27FC236}">
                <a16:creationId xmlns:a16="http://schemas.microsoft.com/office/drawing/2014/main" id="{66F45682-D185-4C1B-8FD9-40EB35DAB4BF}"/>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3755528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CC6726B-6F40-4F68-8FB0-A12296092C21}"/>
              </a:ext>
            </a:extLst>
          </p:cNvPr>
          <p:cNvSpPr>
            <a:spLocks noGrp="1"/>
          </p:cNvSpPr>
          <p:nvPr>
            <p:ph idx="1"/>
          </p:nvPr>
        </p:nvSpPr>
        <p:spPr>
          <a:xfrm>
            <a:off x="380999" y="1719071"/>
            <a:ext cx="8407893" cy="4407408"/>
          </a:xfrm>
        </p:spPr>
        <p:txBody>
          <a:bodyPr>
            <a:normAutofit/>
          </a:bodyPr>
          <a:lstStyle/>
          <a:p>
            <a:pPr marL="0" indent="0" algn="ctr">
              <a:buNone/>
            </a:pPr>
            <a:r>
              <a:rPr lang="en-US" sz="2000" dirty="0"/>
              <a:t>Il n'existe aucune convention internationale relative à la responsabilité des transitaires !</a:t>
            </a:r>
          </a:p>
          <a:p>
            <a:pPr marL="0" indent="0" algn="ctr">
              <a:buNone/>
            </a:pPr>
            <a:r>
              <a:rPr lang="en-US" sz="2000" dirty="0"/>
              <a:t>En cas de litige avec un transitaire, il convient de se référer à la </a:t>
            </a:r>
            <a:r>
              <a:rPr lang="en-US" sz="2000" b="1" dirty="0"/>
              <a:t>législation nationale</a:t>
            </a:r>
            <a:r>
              <a:rPr lang="en-US" sz="2000" dirty="0"/>
              <a:t>.</a:t>
            </a:r>
          </a:p>
        </p:txBody>
      </p:sp>
      <p:sp>
        <p:nvSpPr>
          <p:cNvPr id="6" name="Titre 1">
            <a:extLst>
              <a:ext uri="{FF2B5EF4-FFF2-40B4-BE49-F238E27FC236}">
                <a16:creationId xmlns:a16="http://schemas.microsoft.com/office/drawing/2014/main" id="{A4378212-0375-48DC-A188-3AA2CDB81955}"/>
              </a:ext>
            </a:extLst>
          </p:cNvPr>
          <p:cNvSpPr>
            <a:spLocks noGrp="1"/>
          </p:cNvSpPr>
          <p:nvPr>
            <p:ph type="title"/>
          </p:nvPr>
        </p:nvSpPr>
        <p:spPr>
          <a:xfrm>
            <a:off x="0" y="355847"/>
            <a:ext cx="9144000" cy="1054394"/>
          </a:xfrm>
        </p:spPr>
        <p:txBody>
          <a:bodyPr>
            <a:noAutofit/>
          </a:bodyPr>
          <a:lstStyle/>
          <a:p>
            <a:pPr algn="ctr"/>
            <a:r>
              <a:rPr lang="fr-FR" sz="2400" dirty="0">
                <a:solidFill>
                  <a:schemeClr val="bg1"/>
                </a:solidFill>
                <a:latin typeface="Franklin Gothic Book" panose="020B0503020102020204" pitchFamily="34" charset="0"/>
              </a:rPr>
              <a:t>B – RESPONSABILITÉ DES TRANSPORTEURS</a:t>
            </a:r>
          </a:p>
        </p:txBody>
      </p:sp>
      <p:sp>
        <p:nvSpPr>
          <p:cNvPr id="9" name="Footer Placeholder 3">
            <a:extLst>
              <a:ext uri="{FF2B5EF4-FFF2-40B4-BE49-F238E27FC236}">
                <a16:creationId xmlns:a16="http://schemas.microsoft.com/office/drawing/2014/main" id="{861B971B-8A3E-490D-873D-DD3368D4377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260195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6CC6726B-6F40-4F68-8FB0-A12296092C21}"/>
              </a:ext>
            </a:extLst>
          </p:cNvPr>
          <p:cNvSpPr>
            <a:spLocks noGrp="1"/>
          </p:cNvSpPr>
          <p:nvPr>
            <p:ph idx="1"/>
          </p:nvPr>
        </p:nvSpPr>
        <p:spPr>
          <a:xfrm>
            <a:off x="380999" y="1719071"/>
            <a:ext cx="8407893" cy="4407408"/>
          </a:xfrm>
        </p:spPr>
        <p:txBody>
          <a:bodyPr>
            <a:normAutofit/>
          </a:bodyPr>
          <a:lstStyle/>
          <a:p>
            <a:pPr marL="0" indent="0">
              <a:buNone/>
            </a:pPr>
            <a:r>
              <a:rPr lang="en-US" sz="1600" dirty="0"/>
              <a:t>Les éléments fondamentaux du régime de responsabilité du transitaire en </a:t>
            </a:r>
            <a:r>
              <a:rPr lang="en-US" sz="1600" b="1" u="sng" dirty="0"/>
              <a:t>droit français </a:t>
            </a:r>
            <a:r>
              <a:rPr lang="en-US" sz="1600" dirty="0"/>
              <a:t>:</a:t>
            </a:r>
          </a:p>
          <a:p>
            <a:pPr marL="0" indent="0">
              <a:buNone/>
            </a:pPr>
            <a:r>
              <a:rPr lang="en-US" sz="1600" dirty="0"/>
              <a:t>(1) Le transitaire a une </a:t>
            </a:r>
            <a:r>
              <a:rPr lang="en-US" sz="1600" b="1" u="sng" dirty="0"/>
              <a:t>obligation de résultat </a:t>
            </a:r>
            <a:r>
              <a:rPr lang="en-US" sz="1600" dirty="0"/>
              <a:t>envers son client. Sa responsabilité est donc fondamentalement identique à celle du transporteur. Le résultat que le transitaire doit atteindre est d'organiser le transport des marchandises d'un point A à un point B et de veiller à ce que les marchandises soient en bon état à l'arrivée. Si le transport n'est pas effectué dans le délai imparti ou si les marchandises sont endommagées, le transitaire a manqué à son obligation de résultat.</a:t>
            </a:r>
          </a:p>
          <a:p>
            <a:pPr marL="0" indent="0">
              <a:buNone/>
            </a:pPr>
            <a:r>
              <a:rPr lang="en-US" sz="1600" dirty="0"/>
              <a:t>2) Dans le cadre de cette obligation de résultat, le transitaire assume une </a:t>
            </a:r>
            <a:r>
              <a:rPr lang="en-US" sz="1600" b="1" u="sng" dirty="0"/>
              <a:t>double responsabilité </a:t>
            </a:r>
            <a:r>
              <a:rPr lang="en-US" sz="1600" dirty="0"/>
              <a:t>: pour ses propres actes et pour ceux de ses subordonnés. La responsabilité personnelle sanctionne le manquement du transitaire à ses obligations personnelles envers son client, dans le cadre de sa mission d'organisation du mouvement des marchandises.    </a:t>
            </a:r>
          </a:p>
          <a:p>
            <a:pPr marL="0" indent="0">
              <a:buNone/>
            </a:pPr>
            <a:r>
              <a:rPr lang="en-US" sz="1600" dirty="0"/>
              <a:t>3) Lorsqu'il est poursuivi en raison d'un acte d'un substitut, le transitaire dispose d'un </a:t>
            </a:r>
            <a:r>
              <a:rPr lang="en-US" sz="1600" b="1" u="sng" dirty="0"/>
              <a:t>recours contre ses substitués</a:t>
            </a:r>
            <a:r>
              <a:rPr lang="en-US" sz="1600" dirty="0"/>
              <a:t>.</a:t>
            </a:r>
          </a:p>
        </p:txBody>
      </p:sp>
      <p:sp>
        <p:nvSpPr>
          <p:cNvPr id="6" name="Titre 1">
            <a:extLst>
              <a:ext uri="{FF2B5EF4-FFF2-40B4-BE49-F238E27FC236}">
                <a16:creationId xmlns:a16="http://schemas.microsoft.com/office/drawing/2014/main" id="{A4378212-0375-48DC-A188-3AA2CDB81955}"/>
              </a:ext>
            </a:extLst>
          </p:cNvPr>
          <p:cNvSpPr>
            <a:spLocks noGrp="1"/>
          </p:cNvSpPr>
          <p:nvPr>
            <p:ph type="title"/>
          </p:nvPr>
        </p:nvSpPr>
        <p:spPr>
          <a:xfrm>
            <a:off x="0" y="355847"/>
            <a:ext cx="9144000" cy="1054394"/>
          </a:xfrm>
        </p:spPr>
        <p:txBody>
          <a:bodyPr>
            <a:noAutofit/>
          </a:bodyPr>
          <a:lstStyle/>
          <a:p>
            <a:pPr algn="ctr"/>
            <a:r>
              <a:rPr lang="fr-FR" sz="2000" dirty="0">
                <a:solidFill>
                  <a:schemeClr val="bg1"/>
                </a:solidFill>
                <a:latin typeface="Franklin Gothic Book" panose="020B0503020102020204" pitchFamily="34" charset="0"/>
              </a:rPr>
              <a:t>B – RESPONSABILITÉ DES TRANSPORTEURS</a:t>
            </a:r>
          </a:p>
        </p:txBody>
      </p:sp>
      <p:sp>
        <p:nvSpPr>
          <p:cNvPr id="9" name="Footer Placeholder 3">
            <a:extLst>
              <a:ext uri="{FF2B5EF4-FFF2-40B4-BE49-F238E27FC236}">
                <a16:creationId xmlns:a16="http://schemas.microsoft.com/office/drawing/2014/main" id="{861B971B-8A3E-490D-873D-DD3368D43778}"/>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26316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9186CF9D-1E88-468C-ABB1-AC789D96EA60}"/>
              </a:ext>
            </a:extLst>
          </p:cNvPr>
          <p:cNvSpPr>
            <a:spLocks noGrp="1"/>
          </p:cNvSpPr>
          <p:nvPr>
            <p:ph idx="1"/>
          </p:nvPr>
        </p:nvSpPr>
        <p:spPr>
          <a:xfrm>
            <a:off x="380999" y="1719071"/>
            <a:ext cx="8407893" cy="4407408"/>
          </a:xfrm>
        </p:spPr>
        <p:txBody>
          <a:bodyPr>
            <a:normAutofit/>
          </a:bodyPr>
          <a:lstStyle/>
          <a:p>
            <a:pPr marL="0" indent="0" algn="ctr">
              <a:buNone/>
            </a:pPr>
            <a:r>
              <a:rPr lang="en-US" sz="2000" dirty="0"/>
              <a:t>Il n'existe aucune convention internationale relative à la responsabilité des déclarants en douane !</a:t>
            </a:r>
          </a:p>
          <a:p>
            <a:pPr marL="0" indent="0" algn="ctr">
              <a:buNone/>
            </a:pPr>
            <a:r>
              <a:rPr lang="en-US" sz="2000" dirty="0"/>
              <a:t>En cas de litige avec un transitaire en douane, il convient de se référer à la </a:t>
            </a:r>
            <a:r>
              <a:rPr lang="en-US" sz="2000" b="1" dirty="0"/>
              <a:t>législation nationale</a:t>
            </a:r>
            <a:r>
              <a:rPr lang="en-US" sz="2000" dirty="0"/>
              <a:t>.</a:t>
            </a:r>
          </a:p>
        </p:txBody>
      </p:sp>
      <p:sp>
        <p:nvSpPr>
          <p:cNvPr id="6" name="Titre 1">
            <a:extLst>
              <a:ext uri="{FF2B5EF4-FFF2-40B4-BE49-F238E27FC236}">
                <a16:creationId xmlns:a16="http://schemas.microsoft.com/office/drawing/2014/main" id="{CFB07FA2-3FD1-42FF-BE85-FBB225565E38}"/>
              </a:ext>
            </a:extLst>
          </p:cNvPr>
          <p:cNvSpPr>
            <a:spLocks noGrp="1"/>
          </p:cNvSpPr>
          <p:nvPr>
            <p:ph type="title"/>
          </p:nvPr>
        </p:nvSpPr>
        <p:spPr>
          <a:xfrm>
            <a:off x="381000" y="355847"/>
            <a:ext cx="8381260" cy="1054394"/>
          </a:xfrm>
        </p:spPr>
        <p:txBody>
          <a:bodyPr>
            <a:normAutofit/>
          </a:bodyPr>
          <a:lstStyle/>
          <a:p>
            <a:pPr algn="ctr"/>
            <a:r>
              <a:rPr lang="fr-FR" sz="2400" dirty="0">
                <a:solidFill>
                  <a:schemeClr val="bg1"/>
                </a:solidFill>
                <a:latin typeface="Franklin Gothic Book" panose="020B0503020102020204" pitchFamily="34" charset="0"/>
              </a:rPr>
              <a:t>C – RESPONSABILITÉ DES DÉCLARANTS EN DOUANE ENVERS LEURS CLIENTS</a:t>
            </a:r>
          </a:p>
        </p:txBody>
      </p:sp>
      <p:sp>
        <p:nvSpPr>
          <p:cNvPr id="9" name="Footer Placeholder 3">
            <a:extLst>
              <a:ext uri="{FF2B5EF4-FFF2-40B4-BE49-F238E27FC236}">
                <a16:creationId xmlns:a16="http://schemas.microsoft.com/office/drawing/2014/main" id="{EAC74C9E-C10F-46FE-8846-097821CEBE7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664919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sp>
        <p:nvSpPr>
          <p:cNvPr id="4" name="Espace réservé du contenu 2">
            <a:extLst>
              <a:ext uri="{FF2B5EF4-FFF2-40B4-BE49-F238E27FC236}">
                <a16:creationId xmlns:a16="http://schemas.microsoft.com/office/drawing/2014/main" id="{9186CF9D-1E88-468C-ABB1-AC789D96EA60}"/>
              </a:ext>
            </a:extLst>
          </p:cNvPr>
          <p:cNvSpPr>
            <a:spLocks noGrp="1"/>
          </p:cNvSpPr>
          <p:nvPr>
            <p:ph idx="1"/>
          </p:nvPr>
        </p:nvSpPr>
        <p:spPr>
          <a:xfrm>
            <a:off x="380999" y="1719071"/>
            <a:ext cx="8407893" cy="4407408"/>
          </a:xfrm>
        </p:spPr>
        <p:txBody>
          <a:bodyPr>
            <a:normAutofit/>
          </a:bodyPr>
          <a:lstStyle/>
          <a:p>
            <a:pPr>
              <a:buNone/>
            </a:pPr>
            <a:r>
              <a:rPr lang="en-US" sz="2000" dirty="0"/>
              <a:t>Le déclarant en douane agit au nom et pour le compte de son client. Il est lié à son client par un </a:t>
            </a:r>
            <a:r>
              <a:rPr lang="en-US" sz="2000" b="1" u="sng" dirty="0"/>
              <a:t>contrat de mandat</a:t>
            </a:r>
            <a:r>
              <a:rPr lang="en-US" sz="2000" dirty="0"/>
              <a:t>. Les éléments fondamentaux du régime de responsabilité du déclarant en douane en </a:t>
            </a:r>
            <a:r>
              <a:rPr lang="en-US" sz="2000" b="1" u="sng" dirty="0"/>
              <a:t>droit français </a:t>
            </a:r>
            <a:r>
              <a:rPr lang="en-US" sz="2000" dirty="0"/>
              <a:t>:</a:t>
            </a:r>
          </a:p>
          <a:p>
            <a:pPr marL="514350" indent="-514350">
              <a:buAutoNum type="arabicParenR"/>
            </a:pPr>
            <a:r>
              <a:rPr lang="en-US" sz="2000" dirty="0"/>
              <a:t>Le déclarant en douane n'est responsable que de ses </a:t>
            </a:r>
            <a:r>
              <a:rPr lang="en-US" sz="2000" u="sng" dirty="0"/>
              <a:t>fautes personnelles</a:t>
            </a:r>
            <a:r>
              <a:rPr lang="en-US" sz="2000" dirty="0"/>
              <a:t>.</a:t>
            </a:r>
          </a:p>
          <a:p>
            <a:pPr marL="514350" indent="-514350">
              <a:buAutoNum type="arabicParenR"/>
            </a:pPr>
            <a:r>
              <a:rPr lang="en-US" sz="2000" dirty="0"/>
              <a:t>Sa responsabilité ne peut être présumée, mais </a:t>
            </a:r>
            <a:r>
              <a:rPr lang="en-US" sz="2000" u="sng" dirty="0"/>
              <a:t>doit être prouvée</a:t>
            </a:r>
            <a:r>
              <a:rPr lang="en-US" sz="2000" dirty="0"/>
              <a:t>.</a:t>
            </a:r>
          </a:p>
        </p:txBody>
      </p:sp>
      <p:sp>
        <p:nvSpPr>
          <p:cNvPr id="6" name="Titre 1">
            <a:extLst>
              <a:ext uri="{FF2B5EF4-FFF2-40B4-BE49-F238E27FC236}">
                <a16:creationId xmlns:a16="http://schemas.microsoft.com/office/drawing/2014/main" id="{CFB07FA2-3FD1-42FF-BE85-FBB225565E38}"/>
              </a:ext>
            </a:extLst>
          </p:cNvPr>
          <p:cNvSpPr>
            <a:spLocks noGrp="1"/>
          </p:cNvSpPr>
          <p:nvPr>
            <p:ph type="title"/>
          </p:nvPr>
        </p:nvSpPr>
        <p:spPr>
          <a:xfrm>
            <a:off x="381000" y="355847"/>
            <a:ext cx="8381260" cy="1054394"/>
          </a:xfrm>
        </p:spPr>
        <p:txBody>
          <a:bodyPr>
            <a:normAutofit/>
          </a:bodyPr>
          <a:lstStyle/>
          <a:p>
            <a:pPr algn="ctr"/>
            <a:r>
              <a:rPr lang="fr-FR" sz="2000" dirty="0">
                <a:solidFill>
                  <a:schemeClr val="bg1"/>
                </a:solidFill>
                <a:latin typeface="Franklin Gothic Book" panose="020B0503020102020204" pitchFamily="34" charset="0"/>
              </a:rPr>
              <a:t>C – RESPONSABILITÉ DES DÉCLARANTS EN DOUANE ENVERS LEURS CLIENTS</a:t>
            </a:r>
          </a:p>
        </p:txBody>
      </p:sp>
      <p:sp>
        <p:nvSpPr>
          <p:cNvPr id="9" name="Footer Placeholder 3">
            <a:extLst>
              <a:ext uri="{FF2B5EF4-FFF2-40B4-BE49-F238E27FC236}">
                <a16:creationId xmlns:a16="http://schemas.microsoft.com/office/drawing/2014/main" id="{EAC74C9E-C10F-46FE-8846-097821CEBE76}"/>
              </a:ext>
            </a:extLst>
          </p:cNvPr>
          <p:cNvSpPr>
            <a:spLocks noGrp="1"/>
          </p:cNvSpPr>
          <p:nvPr>
            <p:ph type="ftr" sz="quarter" idx="11"/>
          </p:nvPr>
        </p:nvSpPr>
        <p:spPr>
          <a:xfrm>
            <a:off x="4788024" y="6309320"/>
            <a:ext cx="3608630" cy="274320"/>
          </a:xfrm>
        </p:spPr>
        <p:txBody>
          <a:bodyPr/>
          <a:lstStyle/>
          <a:p>
            <a:r>
              <a:rPr lang="en-US" dirty="0"/>
              <a:t>Aspects juridiques de la logistique : droit international des transports</a:t>
            </a:r>
            <a:endParaRPr lang="fr-FR" dirty="0"/>
          </a:p>
        </p:txBody>
      </p:sp>
    </p:spTree>
    <p:extLst>
      <p:ext uri="{BB962C8B-B14F-4D97-AF65-F5344CB8AC3E}">
        <p14:creationId xmlns:p14="http://schemas.microsoft.com/office/powerpoint/2010/main" val="401121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Image 4" descr="Une image contenant alimentation, dessin&#10;&#10;Description générée automatiquement">
            <a:extLst>
              <a:ext uri="{FF2B5EF4-FFF2-40B4-BE49-F238E27FC236}">
                <a16:creationId xmlns:a16="http://schemas.microsoft.com/office/drawing/2014/main" id="{94F7A24F-C1FE-4E0C-B76A-F07927C0E7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1165" y="6101768"/>
            <a:ext cx="1524605" cy="667015"/>
          </a:xfrm>
          <a:prstGeom prst="rect">
            <a:avLst/>
          </a:prstGeom>
        </p:spPr>
      </p:pic>
      <p:pic>
        <p:nvPicPr>
          <p:cNvPr id="7" name="Image 6" descr="Une image contenant dessin, rouge, tenant, rose&#10;&#10;Description générée automatiquement">
            <a:extLst>
              <a:ext uri="{FF2B5EF4-FFF2-40B4-BE49-F238E27FC236}">
                <a16:creationId xmlns:a16="http://schemas.microsoft.com/office/drawing/2014/main" id="{E46564F9-FE04-42F2-982E-9B27416BF3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8958" y="6101768"/>
            <a:ext cx="1100146" cy="714380"/>
          </a:xfrm>
          <a:prstGeom prst="rect">
            <a:avLst/>
          </a:prstGeom>
        </p:spPr>
      </p:pic>
      <p:graphicFrame>
        <p:nvGraphicFramePr>
          <p:cNvPr id="3" name="Tableau 7">
            <a:extLst>
              <a:ext uri="{FF2B5EF4-FFF2-40B4-BE49-F238E27FC236}">
                <a16:creationId xmlns:a16="http://schemas.microsoft.com/office/drawing/2014/main" id="{4759623C-0724-404D-8BAE-07A67317BDB6}"/>
              </a:ext>
            </a:extLst>
          </p:cNvPr>
          <p:cNvGraphicFramePr>
            <a:graphicFrameLocks noGrp="1"/>
          </p:cNvGraphicFramePr>
          <p:nvPr>
            <p:ph idx="1"/>
            <p:extLst>
              <p:ext uri="{D42A27DB-BD31-4B8C-83A1-F6EECF244321}">
                <p14:modId xmlns:p14="http://schemas.microsoft.com/office/powerpoint/2010/main" val="3601068121"/>
              </p:ext>
            </p:extLst>
          </p:nvPr>
        </p:nvGraphicFramePr>
        <p:xfrm>
          <a:off x="131884" y="868263"/>
          <a:ext cx="8853853" cy="5353967"/>
        </p:xfrm>
        <a:graphic>
          <a:graphicData uri="http://schemas.openxmlformats.org/drawingml/2006/table">
            <a:tbl>
              <a:tblPr firstRow="1" bandRow="1">
                <a:tableStyleId>{5C22544A-7EE6-4342-B048-85BDC9FD1C3A}</a:tableStyleId>
              </a:tblPr>
              <a:tblGrid>
                <a:gridCol w="1316432">
                  <a:extLst>
                    <a:ext uri="{9D8B030D-6E8A-4147-A177-3AD203B41FA5}">
                      <a16:colId xmlns:a16="http://schemas.microsoft.com/office/drawing/2014/main" val="1572786649"/>
                    </a:ext>
                  </a:extLst>
                </a:gridCol>
                <a:gridCol w="2491504">
                  <a:extLst>
                    <a:ext uri="{9D8B030D-6E8A-4147-A177-3AD203B41FA5}">
                      <a16:colId xmlns:a16="http://schemas.microsoft.com/office/drawing/2014/main" val="1369064811"/>
                    </a:ext>
                  </a:extLst>
                </a:gridCol>
                <a:gridCol w="2601657">
                  <a:extLst>
                    <a:ext uri="{9D8B030D-6E8A-4147-A177-3AD203B41FA5}">
                      <a16:colId xmlns:a16="http://schemas.microsoft.com/office/drawing/2014/main" val="1410046993"/>
                    </a:ext>
                  </a:extLst>
                </a:gridCol>
                <a:gridCol w="2444260">
                  <a:extLst>
                    <a:ext uri="{9D8B030D-6E8A-4147-A177-3AD203B41FA5}">
                      <a16:colId xmlns:a16="http://schemas.microsoft.com/office/drawing/2014/main" val="3449089976"/>
                    </a:ext>
                  </a:extLst>
                </a:gridCol>
              </a:tblGrid>
              <a:tr h="494341">
                <a:tc>
                  <a:txBody>
                    <a:bodyPr/>
                    <a:lstStyle/>
                    <a:p>
                      <a:endParaRPr lang="fr-FR" sz="1000" b="1" dirty="0"/>
                    </a:p>
                  </a:txBody>
                  <a:tcPr/>
                </a:tc>
                <a:tc>
                  <a:txBody>
                    <a:bodyPr/>
                    <a:lstStyle/>
                    <a:p>
                      <a:r>
                        <a:rPr lang="fr-FR" sz="1000" b="1" dirty="0"/>
                        <a:t>Transport maritime international</a:t>
                      </a:r>
                    </a:p>
                  </a:txBody>
                  <a:tcPr/>
                </a:tc>
                <a:tc>
                  <a:txBody>
                    <a:bodyPr/>
                    <a:lstStyle/>
                    <a:p>
                      <a:r>
                        <a:rPr lang="fr-FR" sz="1000" b="1" dirty="0"/>
                        <a:t>Transport routier international</a:t>
                      </a:r>
                    </a:p>
                  </a:txBody>
                  <a:tcPr/>
                </a:tc>
                <a:tc>
                  <a:txBody>
                    <a:bodyPr/>
                    <a:lstStyle/>
                    <a:p>
                      <a:r>
                        <a:rPr lang="fr-FR" sz="1000" b="1" dirty="0"/>
                        <a:t>Transport aérien international</a:t>
                      </a:r>
                    </a:p>
                  </a:txBody>
                  <a:tcPr/>
                </a:tc>
                <a:extLst>
                  <a:ext uri="{0D108BD9-81ED-4DB2-BD59-A6C34878D82A}">
                    <a16:rowId xmlns:a16="http://schemas.microsoft.com/office/drawing/2014/main" val="2286075504"/>
                  </a:ext>
                </a:extLst>
              </a:tr>
              <a:tr h="1036726">
                <a:tc>
                  <a:txBody>
                    <a:bodyPr/>
                    <a:lstStyle/>
                    <a:p>
                      <a:pPr algn="l"/>
                      <a:r>
                        <a:rPr lang="fr-FR" sz="1000" b="1" dirty="0" err="1"/>
                        <a:t>Délai </a:t>
                      </a:r>
                      <a:r>
                        <a:rPr lang="fr-FR" sz="1000" b="1" dirty="0"/>
                        <a:t>de </a:t>
                      </a:r>
                      <a:r>
                        <a:rPr lang="fr-FR" sz="1000" b="1" dirty="0" err="1"/>
                        <a:t>réservation</a:t>
                      </a:r>
                      <a:endParaRPr lang="fr-FR" sz="1000" b="1"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Dommages apparents : les réserves doivent être formulées le jour de la livraison.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Dommages non apparents : le destinataire dispose d'un délai de 3 jours pour émettre des réserves.</a:t>
                      </a:r>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Dommages apparents : les réserves doivent être formulées le jour de la livraison.</a:t>
                      </a:r>
                    </a:p>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Dommages non apparents : le destinataire dispose d'un délai de 7 jours pour faire des réserves.</a:t>
                      </a:r>
                      <a:endParaRPr lang="fr-FR" sz="1000" b="0" i="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Les réserves doivent toujours être formulées le jour de la livraison (le destinataire doit donc vérifier l'état extérieur et intérieur des marchandises avant la fin de la livraison).</a:t>
                      </a:r>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000" b="0" i="0" dirty="0"/>
                    </a:p>
                  </a:txBody>
                  <a:tcPr/>
                </a:tc>
                <a:extLst>
                  <a:ext uri="{0D108BD9-81ED-4DB2-BD59-A6C34878D82A}">
                    <a16:rowId xmlns:a16="http://schemas.microsoft.com/office/drawing/2014/main" val="3901794192"/>
                  </a:ext>
                </a:extLst>
              </a:tr>
              <a:tr h="806342">
                <a:tc>
                  <a:txBody>
                    <a:bodyPr/>
                    <a:lstStyle/>
                    <a:p>
                      <a:pPr algn="l"/>
                      <a:r>
                        <a:rPr lang="fr-FR" sz="1000" b="1" dirty="0" err="1"/>
                        <a:t>Conséquences </a:t>
                      </a:r>
                      <a:r>
                        <a:rPr lang="fr-FR" sz="1000" b="1" dirty="0"/>
                        <a:t>du </a:t>
                      </a:r>
                      <a:r>
                        <a:rPr lang="fr-FR" sz="1000" b="1" dirty="0" err="1"/>
                        <a:t>dépassement du délai </a:t>
                      </a:r>
                      <a:r>
                        <a:rPr lang="fr-FR" sz="1000" b="1" dirty="0"/>
                        <a:t>de </a:t>
                      </a:r>
                      <a:r>
                        <a:rPr lang="fr-FR" sz="1000" b="1" dirty="0" err="1"/>
                        <a:t>réservation</a:t>
                      </a:r>
                      <a:endParaRPr lang="fr-FR" sz="1000" b="1"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Le dépassement du délai entraîne une simple présomption de conformité de la livraison à la charge du destinataire.</a:t>
                      </a:r>
                      <a:endParaRPr lang="fr-FR" sz="1000" b="0" i="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Le dépassement du délai entraîne une simple présomption de non-responsabilité du transporteur routier.</a:t>
                      </a:r>
                      <a:endParaRPr lang="fr-FR" sz="1000" b="0" i="0" dirty="0"/>
                    </a:p>
                    <a:p>
                      <a:pPr marL="0" marR="0" lvl="0" indent="0" algn="just" defTabSz="914400" rtl="0" eaLnBrk="1" fontAlgn="auto" latinLnBrk="0" hangingPunct="1">
                        <a:lnSpc>
                          <a:spcPct val="100000"/>
                        </a:lnSpc>
                        <a:spcBef>
                          <a:spcPts val="0"/>
                        </a:spcBef>
                        <a:spcAft>
                          <a:spcPts val="0"/>
                        </a:spcAft>
                        <a:buClrTx/>
                        <a:buSzTx/>
                        <a:buFontTx/>
                        <a:buNone/>
                        <a:tabLst/>
                        <a:defRPr/>
                      </a:pPr>
                      <a:endParaRPr lang="fr-FR" sz="1000" b="0" i="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L'absence de réservation au moment de la livraison entraîne une présomption de non-responsabilité du transporteur. Le transporteur est présumé avoir livré les marchandises dans l'état et les conditions mentionnés sur la lettre de transport aérien.</a:t>
                      </a:r>
                      <a:endParaRPr lang="fr-FR" sz="1000" b="0" i="0" dirty="0"/>
                    </a:p>
                  </a:txBody>
                  <a:tcPr/>
                </a:tc>
                <a:extLst>
                  <a:ext uri="{0D108BD9-81ED-4DB2-BD59-A6C34878D82A}">
                    <a16:rowId xmlns:a16="http://schemas.microsoft.com/office/drawing/2014/main" val="3696220197"/>
                  </a:ext>
                </a:extLst>
              </a:tr>
              <a:tr h="698717">
                <a:tc>
                  <a:txBody>
                    <a:bodyPr/>
                    <a:lstStyle/>
                    <a:p>
                      <a:pPr algn="l"/>
                      <a:r>
                        <a:rPr lang="fr-FR" sz="1000" b="1" dirty="0"/>
                        <a:t>Délai </a:t>
                      </a:r>
                      <a:r>
                        <a:rPr lang="fr-FR" sz="1000" b="1" dirty="0" err="1"/>
                        <a:t>de prescription</a:t>
                      </a:r>
                    </a:p>
                  </a:txBody>
                  <a:tcPr/>
                </a:tc>
                <a:tc>
                  <a:txBody>
                    <a:bodyPr/>
                    <a:lstStyle/>
                    <a:p>
                      <a:pPr algn="just"/>
                      <a:r>
                        <a:rPr lang="fr-FR" sz="1000" b="0" i="0" dirty="0"/>
                        <a:t>1 </a:t>
                      </a:r>
                      <a:r>
                        <a:rPr lang="fr-FR" sz="1000" b="0" i="0" dirty="0" err="1"/>
                        <a:t>an</a:t>
                      </a:r>
                      <a:endParaRPr lang="fr-FR" sz="1000" b="0" i="0" dirty="0"/>
                    </a:p>
                  </a:txBody>
                  <a:tcPr/>
                </a:tc>
                <a:tc>
                  <a:txBody>
                    <a:bodyPr/>
                    <a:lstStyle/>
                    <a:p>
                      <a:pPr algn="just"/>
                      <a:r>
                        <a:rPr lang="fr-FR" sz="1000" b="0" i="0" dirty="0"/>
                        <a:t>1 </a:t>
                      </a:r>
                      <a:r>
                        <a:rPr lang="fr-FR" sz="1000" b="0" i="0" dirty="0" err="1"/>
                        <a:t>an</a:t>
                      </a:r>
                      <a:endParaRPr lang="fr-FR" sz="1000" b="0" i="0" dirty="0"/>
                    </a:p>
                  </a:txBody>
                  <a:tcPr/>
                </a:tc>
                <a:tc>
                  <a:txBody>
                    <a:bodyPr/>
                    <a:lstStyle/>
                    <a:p>
                      <a:pPr algn="just"/>
                      <a:r>
                        <a:rPr lang="fr-FR" sz="1000" b="0" i="0" dirty="0"/>
                        <a:t>2 </a:t>
                      </a:r>
                      <a:r>
                        <a:rPr lang="fr-FR" sz="1000" b="0" i="0" dirty="0" err="1"/>
                        <a:t>ans</a:t>
                      </a:r>
                      <a:endParaRPr lang="fr-FR" sz="1000" b="0" i="0" dirty="0"/>
                    </a:p>
                  </a:txBody>
                  <a:tcPr/>
                </a:tc>
                <a:extLst>
                  <a:ext uri="{0D108BD9-81ED-4DB2-BD59-A6C34878D82A}">
                    <a16:rowId xmlns:a16="http://schemas.microsoft.com/office/drawing/2014/main" val="4129786467"/>
                  </a:ext>
                </a:extLst>
              </a:tr>
              <a:tr h="709813">
                <a:tc>
                  <a:txBody>
                    <a:bodyPr/>
                    <a:lstStyle/>
                    <a:p>
                      <a:pPr algn="l"/>
                      <a:r>
                        <a:rPr lang="fr-FR" sz="1000" b="1" dirty="0" err="1"/>
                        <a:t>Effets </a:t>
                      </a:r>
                      <a:r>
                        <a:rPr lang="fr-FR" sz="1000" b="1" dirty="0"/>
                        <a:t>du </a:t>
                      </a:r>
                      <a:r>
                        <a:rPr lang="fr-FR" sz="1000" b="1" dirty="0" err="1"/>
                        <a:t>dépassement </a:t>
                      </a:r>
                      <a:r>
                        <a:rPr lang="fr-FR" sz="1000" b="1" dirty="0"/>
                        <a:t>du délai </a:t>
                      </a:r>
                      <a:r>
                        <a:rPr lang="fr-FR" sz="1000" b="1" dirty="0" err="1"/>
                        <a:t>de prescription</a:t>
                      </a:r>
                    </a:p>
                  </a:txBody>
                  <a:tcPr/>
                </a:tc>
                <a:tc>
                  <a:txBody>
                    <a:bodyPr/>
                    <a:lstStyle/>
                    <a:p>
                      <a:pPr algn="just"/>
                      <a:r>
                        <a:rPr lang="en-US" sz="1000" b="0" i="0" dirty="0"/>
                        <a:t>L'expéditeur ne peut plus intenter d'action en justice contre le transporteur</a:t>
                      </a:r>
                      <a:endParaRPr lang="fr-FR" sz="1000" b="0" i="0" dirty="0"/>
                    </a:p>
                  </a:txBody>
                  <a:tcPr/>
                </a:tc>
                <a:tc>
                  <a:txBody>
                    <a:bodyPr/>
                    <a:lstStyle/>
                    <a:p>
                      <a:pPr algn="just"/>
                      <a:r>
                        <a:rPr lang="en-US" sz="1000" b="0" i="0" dirty="0"/>
                        <a:t>L'expéditeur ne peut plus intenter d'action en justice contre le transporteur</a:t>
                      </a:r>
                      <a:endParaRPr lang="fr-FR" sz="1000" b="0" i="0" dirty="0"/>
                    </a:p>
                  </a:txBody>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000" b="0" i="0" dirty="0"/>
                        <a:t>L'expéditeur ne peut plus intenter d'action en justice contre le transporteur</a:t>
                      </a:r>
                      <a:endParaRPr lang="fr-FR" sz="1000" b="0" i="0" dirty="0"/>
                    </a:p>
                    <a:p>
                      <a:pPr algn="just"/>
                      <a:endParaRPr lang="fr-FR" sz="1000" b="0" i="0" dirty="0"/>
                    </a:p>
                  </a:txBody>
                  <a:tcPr/>
                </a:tc>
                <a:extLst>
                  <a:ext uri="{0D108BD9-81ED-4DB2-BD59-A6C34878D82A}">
                    <a16:rowId xmlns:a16="http://schemas.microsoft.com/office/drawing/2014/main" val="1893972930"/>
                  </a:ext>
                </a:extLst>
              </a:tr>
              <a:tr h="698717">
                <a:tc>
                  <a:txBody>
                    <a:bodyPr/>
                    <a:lstStyle/>
                    <a:p>
                      <a:pPr algn="l"/>
                      <a:r>
                        <a:rPr lang="fr-FR" sz="1000" b="1" dirty="0"/>
                        <a:t>Limitation de </a:t>
                      </a:r>
                      <a:r>
                        <a:rPr lang="fr-FR" sz="1000" b="1" dirty="0" err="1"/>
                        <a:t>responsabilité</a:t>
                      </a:r>
                      <a:endParaRPr lang="fr-FR" sz="1000" b="1" dirty="0"/>
                    </a:p>
                  </a:txBody>
                  <a:tcPr/>
                </a:tc>
                <a:tc>
                  <a:txBody>
                    <a:bodyPr/>
                    <a:lstStyle/>
                    <a:p>
                      <a:pPr algn="just">
                        <a:buFontTx/>
                        <a:buNone/>
                      </a:pPr>
                      <a:r>
                        <a:rPr lang="en-US" sz="1000" i="0" u="none" dirty="0"/>
                        <a:t>666,67 DTS par colis ou unité ; ou</a:t>
                      </a:r>
                    </a:p>
                    <a:p>
                      <a:pPr algn="just">
                        <a:buFontTx/>
                        <a:buNone/>
                      </a:pPr>
                      <a:r>
                        <a:rPr lang="en-US" sz="1000" i="0" u="none" dirty="0"/>
                        <a:t>2 DTS par kilogramme de fret brut </a:t>
                      </a:r>
                      <a:endParaRPr lang="fr-FR" sz="1000" b="0" i="0" u="none" dirty="0"/>
                    </a:p>
                  </a:txBody>
                  <a:tcPr/>
                </a:tc>
                <a:tc>
                  <a:txBody>
                    <a:bodyPr/>
                    <a:lstStyle/>
                    <a:p>
                      <a:pPr algn="just"/>
                      <a:r>
                        <a:rPr lang="fr-FR" sz="1000" b="0" i="0" dirty="0"/>
                        <a:t>8,33 DTS par </a:t>
                      </a:r>
                      <a:r>
                        <a:rPr lang="fr-FR" sz="1000" b="0" i="0" dirty="0" err="1"/>
                        <a:t>kilogramme </a:t>
                      </a:r>
                      <a:r>
                        <a:rPr lang="fr-FR" sz="1000" b="0" i="0" dirty="0"/>
                        <a:t>de fret </a:t>
                      </a:r>
                      <a:r>
                        <a:rPr lang="fr-FR" sz="1000" b="0" i="0" dirty="0" err="1"/>
                        <a:t>brut</a:t>
                      </a:r>
                    </a:p>
                  </a:txBody>
                  <a:tcPr/>
                </a:tc>
                <a:tc>
                  <a:txBody>
                    <a:bodyPr/>
                    <a:lstStyle/>
                    <a:p>
                      <a:pPr algn="just"/>
                      <a:r>
                        <a:rPr lang="fr-FR" sz="1000" b="0" i="0" dirty="0"/>
                        <a:t>19 </a:t>
                      </a:r>
                      <a:r>
                        <a:rPr lang="fr-FR" sz="1000" b="0" i="0" dirty="0" err="1"/>
                        <a:t>DSR </a:t>
                      </a:r>
                      <a:r>
                        <a:rPr lang="fr-FR" sz="1000" b="0" i="0" dirty="0"/>
                        <a:t>par </a:t>
                      </a:r>
                      <a:r>
                        <a:rPr lang="fr-FR" sz="1000" b="0" i="0" dirty="0" err="1"/>
                        <a:t>kilogramme </a:t>
                      </a:r>
                      <a:r>
                        <a:rPr lang="fr-FR" sz="1000" b="0" i="0" dirty="0"/>
                        <a:t>de fret </a:t>
                      </a:r>
                      <a:r>
                        <a:rPr lang="fr-FR" sz="1000" b="0" i="0" dirty="0" err="1"/>
                        <a:t>brut</a:t>
                      </a:r>
                    </a:p>
                  </a:txBody>
                  <a:tcPr/>
                </a:tc>
                <a:extLst>
                  <a:ext uri="{0D108BD9-81ED-4DB2-BD59-A6C34878D82A}">
                    <a16:rowId xmlns:a16="http://schemas.microsoft.com/office/drawing/2014/main" val="3250876148"/>
                  </a:ext>
                </a:extLst>
              </a:tr>
              <a:tr h="709813">
                <a:tc>
                  <a:txBody>
                    <a:bodyPr/>
                    <a:lstStyle/>
                    <a:p>
                      <a:pPr algn="l"/>
                      <a:r>
                        <a:rPr lang="fr-FR" sz="1000" b="1" dirty="0"/>
                        <a:t>Événements </a:t>
                      </a:r>
                      <a:r>
                        <a:rPr lang="fr-FR" sz="1000" b="1" dirty="0" err="1"/>
                        <a:t>entraînant la levée </a:t>
                      </a:r>
                      <a:r>
                        <a:rPr lang="fr-FR" sz="1000" b="1" dirty="0"/>
                        <a:t>de la limitation de </a:t>
                      </a:r>
                      <a:r>
                        <a:rPr lang="fr-FR" sz="1000" b="1" dirty="0" err="1"/>
                        <a:t>responsabilité</a:t>
                      </a:r>
                      <a:endParaRPr lang="fr-FR" sz="1000" b="1" dirty="0"/>
                    </a:p>
                  </a:txBody>
                  <a:tcPr/>
                </a:tc>
                <a:tc>
                  <a:txBody>
                    <a:bodyPr/>
                    <a:lstStyle/>
                    <a:p>
                      <a:pPr algn="just"/>
                      <a:r>
                        <a:rPr lang="fr-FR" sz="1000" b="0" dirty="0" err="1"/>
                        <a:t>Déclaration </a:t>
                      </a:r>
                      <a:r>
                        <a:rPr lang="fr-FR" sz="1000" b="0" dirty="0"/>
                        <a:t>de valeur </a:t>
                      </a:r>
                      <a:r>
                        <a:rPr lang="fr-FR" sz="1000" b="0" dirty="0" err="1"/>
                        <a:t>avant </a:t>
                      </a:r>
                      <a:r>
                        <a:rPr lang="fr-FR" sz="1000" b="0" dirty="0"/>
                        <a:t>le transport ; ou</a:t>
                      </a:r>
                    </a:p>
                    <a:p>
                      <a:pPr algn="just"/>
                      <a:r>
                        <a:rPr lang="fr-FR" sz="1000" b="0" dirty="0" err="1"/>
                        <a:t>Faute</a:t>
                      </a:r>
                      <a:r>
                        <a:rPr lang="fr-FR" sz="1000" b="0" dirty="0"/>
                        <a:t> inexcusable du transporteur maritime</a:t>
                      </a:r>
                    </a:p>
                  </a:txBody>
                  <a:tcPr/>
                </a:tc>
                <a:tc>
                  <a:txBody>
                    <a:bodyPr/>
                    <a:lstStyle/>
                    <a:p>
                      <a:pPr algn="just"/>
                      <a:r>
                        <a:rPr lang="fr-FR" sz="1000" b="0" dirty="0" err="1"/>
                        <a:t>Déclaration </a:t>
                      </a:r>
                      <a:r>
                        <a:rPr lang="fr-FR" sz="1000" b="0" dirty="0"/>
                        <a:t>de valeur </a:t>
                      </a:r>
                      <a:r>
                        <a:rPr lang="fr-FR" sz="1000" b="0" dirty="0" err="1"/>
                        <a:t>avant </a:t>
                      </a:r>
                      <a:r>
                        <a:rPr lang="fr-FR" sz="1000" b="0" dirty="0"/>
                        <a:t>le transport ; ou</a:t>
                      </a:r>
                    </a:p>
                    <a:p>
                      <a:pPr algn="just"/>
                      <a:r>
                        <a:rPr lang="fr-FR" sz="1000" b="0" dirty="0" err="1"/>
                        <a:t>Faute</a:t>
                      </a:r>
                      <a:r>
                        <a:rPr lang="fr-FR" sz="1000" b="0" dirty="0"/>
                        <a:t> inexcusable du transporteur routier</a:t>
                      </a:r>
                    </a:p>
                  </a:txBody>
                  <a:tcPr/>
                </a:tc>
                <a:tc>
                  <a:txBody>
                    <a:bodyPr/>
                    <a:lstStyle/>
                    <a:p>
                      <a:pPr algn="just"/>
                      <a:r>
                        <a:rPr lang="fr-FR" sz="1000" b="0" dirty="0" err="1"/>
                        <a:t>Déclaration </a:t>
                      </a:r>
                      <a:r>
                        <a:rPr lang="fr-FR" sz="1000" b="0" dirty="0"/>
                        <a:t>de valeur </a:t>
                      </a:r>
                      <a:r>
                        <a:rPr lang="fr-FR" sz="1000" b="0" dirty="0" err="1"/>
                        <a:t>avant </a:t>
                      </a:r>
                      <a:r>
                        <a:rPr lang="fr-FR" sz="1000" b="0" dirty="0"/>
                        <a:t>le transport (mais </a:t>
                      </a:r>
                      <a:r>
                        <a:rPr lang="en-US" sz="1000" b="0" dirty="0"/>
                        <a:t>la Convention de Montréal ne permet pas à l'expéditeur d'invoquer une faute inexcusable à l'encontre du transporteur)</a:t>
                      </a:r>
                      <a:endParaRPr lang="fr-FR" sz="1000" b="0" dirty="0"/>
                    </a:p>
                  </a:txBody>
                  <a:tcPr/>
                </a:tc>
                <a:extLst>
                  <a:ext uri="{0D108BD9-81ED-4DB2-BD59-A6C34878D82A}">
                    <a16:rowId xmlns:a16="http://schemas.microsoft.com/office/drawing/2014/main" val="679403001"/>
                  </a:ext>
                </a:extLst>
              </a:tr>
            </a:tbl>
          </a:graphicData>
        </a:graphic>
      </p:graphicFrame>
      <p:sp>
        <p:nvSpPr>
          <p:cNvPr id="6" name="Titre 1">
            <a:extLst>
              <a:ext uri="{FF2B5EF4-FFF2-40B4-BE49-F238E27FC236}">
                <a16:creationId xmlns:a16="http://schemas.microsoft.com/office/drawing/2014/main" id="{CFB07FA2-3FD1-42FF-BE85-FBB225565E38}"/>
              </a:ext>
            </a:extLst>
          </p:cNvPr>
          <p:cNvSpPr>
            <a:spLocks noGrp="1"/>
          </p:cNvSpPr>
          <p:nvPr>
            <p:ph type="title"/>
          </p:nvPr>
        </p:nvSpPr>
        <p:spPr>
          <a:xfrm>
            <a:off x="381000" y="355847"/>
            <a:ext cx="8381260" cy="512416"/>
          </a:xfrm>
        </p:spPr>
        <p:txBody>
          <a:bodyPr>
            <a:normAutofit fontScale="90000"/>
          </a:bodyPr>
          <a:lstStyle/>
          <a:p>
            <a:pPr algn="ctr"/>
            <a:r>
              <a:rPr lang="fr-FR" sz="3200" dirty="0">
                <a:solidFill>
                  <a:schemeClr val="bg1"/>
                </a:solidFill>
                <a:latin typeface="Franklin Gothic Book" panose="020B0503020102020204" pitchFamily="34" charset="0"/>
              </a:rPr>
              <a:t>RÉSUMÉ</a:t>
            </a:r>
          </a:p>
        </p:txBody>
      </p:sp>
      <p:sp>
        <p:nvSpPr>
          <p:cNvPr id="9" name="Footer Placeholder 3">
            <a:extLst>
              <a:ext uri="{FF2B5EF4-FFF2-40B4-BE49-F238E27FC236}">
                <a16:creationId xmlns:a16="http://schemas.microsoft.com/office/drawing/2014/main" id="{EAC74C9E-C10F-46FE-8846-097821CEBE76}"/>
              </a:ext>
            </a:extLst>
          </p:cNvPr>
          <p:cNvSpPr>
            <a:spLocks noGrp="1"/>
          </p:cNvSpPr>
          <p:nvPr>
            <p:ph type="ftr" sz="quarter" idx="11"/>
          </p:nvPr>
        </p:nvSpPr>
        <p:spPr>
          <a:xfrm>
            <a:off x="4788024" y="6309320"/>
            <a:ext cx="3608630" cy="274320"/>
          </a:xfrm>
        </p:spPr>
        <p:txBody>
          <a:bodyPr/>
          <a:lstStyle/>
          <a:p>
            <a:r>
              <a:rPr lang="en-US" dirty="0"/>
              <a:t>Aspects juridiques de la logistique : droit du transport international</a:t>
            </a:r>
            <a:endParaRPr lang="fr-FR" dirty="0"/>
          </a:p>
        </p:txBody>
      </p:sp>
    </p:spTree>
    <p:extLst>
      <p:ext uri="{BB962C8B-B14F-4D97-AF65-F5344CB8AC3E}">
        <p14:creationId xmlns:p14="http://schemas.microsoft.com/office/powerpoint/2010/main" val="16969771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a14="http://schemas.microsoft.com/office/drawing/2010/main" xmlns:a16="http://schemas.microsoft.com/office/drawing/2014/main" xmlns="">
      <p:transition spd="med">
        <p:fade/>
      </p:transition>
    </mc:Fallback>
  </mc:AlternateContent>
</p:sld>
</file>

<file path=ppt/theme/theme1.xml><?xml version="1.0" encoding="utf-8"?>
<a:theme xmlns:a="http://schemas.openxmlformats.org/drawingml/2006/main" name="Thème Office">
  <a:themeElements>
    <a:clrScheme name="Thème 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Thèm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6688</TotalTime>
  <Words>5819</Words>
  <Application>Microsoft Office PowerPoint</Application>
  <PresentationFormat>Affichage à l'écran (4:3)</PresentationFormat>
  <Paragraphs>451</Paragraphs>
  <Slides>78</Slides>
  <Notes>0</Notes>
  <HiddenSlides>0</HiddenSlides>
  <MMClips>0</MMClips>
  <ScaleCrop>false</ScaleCrop>
  <HeadingPairs>
    <vt:vector size="6" baseType="variant">
      <vt:variant>
        <vt:lpstr>Polices utilisées</vt:lpstr>
      </vt:variant>
      <vt:variant>
        <vt:i4>12</vt:i4>
      </vt:variant>
      <vt:variant>
        <vt:lpstr>Thème</vt:lpstr>
      </vt:variant>
      <vt:variant>
        <vt:i4>1</vt:i4>
      </vt:variant>
      <vt:variant>
        <vt:lpstr>Titres des diapositives</vt:lpstr>
      </vt:variant>
      <vt:variant>
        <vt:i4>78</vt:i4>
      </vt:variant>
    </vt:vector>
  </HeadingPairs>
  <TitlesOfParts>
    <vt:vector size="91" baseType="lpstr">
      <vt:lpstr>Alright Sans Thin</vt:lpstr>
      <vt:lpstr>Arial</vt:lpstr>
      <vt:lpstr>Calibri</vt:lpstr>
      <vt:lpstr>Corbel</vt:lpstr>
      <vt:lpstr>Franklin Gothic Book</vt:lpstr>
      <vt:lpstr>Lucida Grande</vt:lpstr>
      <vt:lpstr>Minion-Regular</vt:lpstr>
      <vt:lpstr>Symbol</vt:lpstr>
      <vt:lpstr>Times New Roman</vt:lpstr>
      <vt:lpstr>Trebuchet MS</vt:lpstr>
      <vt:lpstr>Verdana</vt:lpstr>
      <vt:lpstr>Wingdings</vt:lpstr>
      <vt:lpstr>Thème Office</vt:lpstr>
      <vt:lpstr>Présentation PowerPoint</vt:lpstr>
      <vt:lpstr>Droit des transports : glossaire</vt:lpstr>
      <vt:lpstr>Droit des transports : glossaire</vt:lpstr>
      <vt:lpstr>Droit des transports : introduction</vt:lpstr>
      <vt:lpstr>Droit des transports : introduction</vt:lpstr>
      <vt:lpstr>Points communs entre les modes de transport</vt:lpstr>
      <vt:lpstr>Les spécificités du transport maritime</vt:lpstr>
      <vt:lpstr>Présentation PowerPoint</vt:lpstr>
      <vt:lpstr>Les spécificités du transport routier</vt:lpstr>
      <vt:lpstr>Présentation PowerPoint</vt:lpstr>
      <vt:lpstr>Les spécificités du transport fluvial</vt:lpstr>
      <vt:lpstr>Les spécificités du transport ferroviaire</vt:lpstr>
      <vt:lpstr>Présentation PowerPoint</vt:lpstr>
      <vt:lpstr>Les spécificités du transport aérien</vt:lpstr>
      <vt:lpstr>Présentation PowerPoint</vt:lpstr>
      <vt:lpstr>Concepts généraux du droit des transports</vt:lpstr>
      <vt:lpstr>CE QUE VOUS DEVEZ SAVOIR SUR LA LOGISTIQUE DANS LES TRANSACTIONS INTERNATIONALES</vt:lpstr>
      <vt:lpstr>PARTIE I – QUI : LES ACTEURS CLÉS DU DROIT DES TRANSPORTS</vt:lpstr>
      <vt:lpstr>A – EXPÉDITEURS</vt:lpstr>
      <vt:lpstr>A – EXPÉDITEURS</vt:lpstr>
      <vt:lpstr>B – TRANSPORTEURS</vt:lpstr>
      <vt:lpstr>B – TRANSPORTEURS</vt:lpstr>
      <vt:lpstr>B – TRANSPORTEURS</vt:lpstr>
      <vt:lpstr>B – TRANSPORTEURS (MARITIMES)</vt:lpstr>
      <vt:lpstr>CONTRAT DE TRANSPORT</vt:lpstr>
      <vt:lpstr>CONTRAT DE TRANSPORT : LE CONNAISSANCE MARITIME</vt:lpstr>
      <vt:lpstr>Présentation PowerPoint</vt:lpstr>
      <vt:lpstr>CONTRAT DE TRANSPORT</vt:lpstr>
      <vt:lpstr>CONTRAT DE TRANSPORT</vt:lpstr>
      <vt:lpstr>CONTRAT D'AFFRETE</vt:lpstr>
      <vt:lpstr>CONTRAT D'AFFRETE</vt:lpstr>
      <vt:lpstr>CONTRAT D'AFFRETEEMENT : LE CONTRAT D'AFFRETEEMENT</vt:lpstr>
      <vt:lpstr>CONTRAT D'AFFRETE : AFFRETE À LA DÉNÉE</vt:lpstr>
      <vt:lpstr>CONTRAT D'AFFRETE : AFFRETE DE VOYAGE</vt:lpstr>
      <vt:lpstr>CONTRAT D'AFFRETEEMENT : AFFRETEEMENT À TEMPS</vt:lpstr>
      <vt:lpstr>Questions de responsabilité</vt:lpstr>
      <vt:lpstr>B – TRANSPORTEURS (ROUTIERS)</vt:lpstr>
      <vt:lpstr>B – TRANSPORTEURS (ROUTIERS)</vt:lpstr>
      <vt:lpstr>C – TRANSPORTEURS</vt:lpstr>
      <vt:lpstr>C – TRANSPORTEURS</vt:lpstr>
      <vt:lpstr>C – TRANSPORTEURS</vt:lpstr>
      <vt:lpstr>C – TRANSPORTEURS</vt:lpstr>
      <vt:lpstr>D – DÉCLARANTS EN DOUANE</vt:lpstr>
      <vt:lpstr>D – DÉCLARANT EN DOUANE</vt:lpstr>
      <vt:lpstr>PARTIE II – RESPONSABILITÉ DE CHAQUE ACTEUR CLÉ</vt:lpstr>
      <vt:lpstr>A – RESPONSABILITÉS DANS LE TRANSPORT MARITIME</vt:lpstr>
      <vt:lpstr>A – RESPONSABILITÉS EN MATIÈRE DE TRANSPORT MARITIME – Contrat de transport</vt:lpstr>
      <vt:lpstr>A – RESPONSABILITÉS EN MATIÈRE DE TRANSPORT MARITIME – Contrat de transport</vt:lpstr>
      <vt:lpstr>A – RESPONSABILITÉS EN MATIÈRE DE TRANSPORT MARITIME – Contrat de transport : réserves écrites (1)</vt:lpstr>
      <vt:lpstr>A – RESPONSABILITÉS EN MATIÈRE DE TRANSPORT MARITIME – Contrat de transport : prescription légale (2)</vt:lpstr>
      <vt:lpstr>A – RESPONSABILITÉS DANS LE TRANSPORT MARITIME – Contrat de transport : documents (3)</vt:lpstr>
      <vt:lpstr>A – RESPONSABILITÉ DANS LE TRANSPORT MARITIME – Contrat de transport : limitation de la responsabilité (4)</vt:lpstr>
      <vt:lpstr>A – RESPONSABILITÉS EN MATIÈRE DE TRANSPORT MARITIME – Contrat de transport : limitation de la responsabilité (4)</vt:lpstr>
      <vt:lpstr>A – RESPONSABILITÉS EN MATIÈRE DE TRANSPORT MARITIME – Contrat de transport : limitation de la responsabilité (4)</vt:lpstr>
      <vt:lpstr>A – RESPONSABILITÉS DANS LE TRANSPORT MARITIME – Contrat de transport</vt:lpstr>
      <vt:lpstr>A – RESPONSABILITÉS DANS LE TRANSPORT MARITIME – Contrat de transport</vt:lpstr>
      <vt:lpstr>A – RESPONSABILITÉS DANS LE TRANSPORT MARITIME – Contrat de transport</vt:lpstr>
      <vt:lpstr>A – RESPONSABILITÉS EN MATIÈRE DE TRANSPORT MARITIME – Contrat de transport</vt:lpstr>
      <vt:lpstr>A – RESPONSABILITÉS EN MATIÈRE DE TRANSPORT MARITIME – Contrat de transport</vt:lpstr>
      <vt:lpstr>A – RESPONSABILITÉS EN MATIÈRE DE TRANSPORT MARITIME – Contrat de transport</vt:lpstr>
      <vt:lpstr>A – RESPONSABILITÉS EN MATIÈRE DE TRANSPORT MARITIME – Contrat de transport</vt:lpstr>
      <vt:lpstr>A – RESPONSABILITÉS EN TRANSPORT MARITIME – Contrat de transport</vt:lpstr>
      <vt:lpstr>A – RESPONSABILITÉS EN MATIÈRE DE TRANSPORT MARITIME – Contrat de transport</vt:lpstr>
      <vt:lpstr>A – RESPONSABILITÉ DANS LE TRANSPORT MARITIME – Contrat de transport</vt:lpstr>
      <vt:lpstr>A – RESPONSABILITÉS EN MATIÈRE DE TRANSPORT MARITIME – Contrat de transport</vt:lpstr>
      <vt:lpstr>A – RESPONSABILITÉ DANS LE TRANSPORT MARITIME – Contrat de transport</vt:lpstr>
      <vt:lpstr>A – RESPONSABILITÉS EN MATIÈRE DE TRANSPORT MARITIME – Contrat de transport</vt:lpstr>
      <vt:lpstr>A – RESPONSABILITÉ DANS LE TRANSPORT MARITIME – Contrat de transport</vt:lpstr>
      <vt:lpstr>A – RESPONSABILITÉS EN MATIÈRE DE TRANSPORT MARITIME – Contrat de transport</vt:lpstr>
      <vt:lpstr>A – RESPONSABILITÉS EN MATIÈRE DE TRANSPORT MARITIME – Contrat de transport</vt:lpstr>
      <vt:lpstr>A – RESPONSABILITÉS EN MATIÈRE DE TRANSPORT MARITIME – Contrat de transport</vt:lpstr>
      <vt:lpstr>A – RESPONSABILITÉS DANS LE TRANSPORT MARITIME – Contrat de transport</vt:lpstr>
      <vt:lpstr>A – RESPONSABILITÉS DANS LE TRANSPORT MARITIME – Contrat de transport</vt:lpstr>
      <vt:lpstr>B – RESPONSABILITÉ DES TRANSPORTEURS</vt:lpstr>
      <vt:lpstr>B – RESPONSABILITÉ DES TRANSPORTEURS</vt:lpstr>
      <vt:lpstr>C – RESPONSABILITÉ DES DÉCLARANTS EN DOUANE ENVERS LEURS CLIENTS</vt:lpstr>
      <vt:lpstr>C – RESPONSABILITÉ DES DÉCLARANTS EN DOUANE ENVERS LEURS CLIENTS</vt:lpstr>
      <vt:lpstr>RÉSUMÉ</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Freddy Desplanques</dc:creator>
  <cp:keywords>, docId:27666BCD34CD6CAD7D62237598902B37</cp:keywords>
  <cp:lastModifiedBy>CORRUBLE Philippe</cp:lastModifiedBy>
  <cp:revision>77</cp:revision>
  <cp:lastPrinted>2020-01-28T10:04:51Z</cp:lastPrinted>
  <dcterms:created xsi:type="dcterms:W3CDTF">2019-12-23T08:45:40Z</dcterms:created>
  <dcterms:modified xsi:type="dcterms:W3CDTF">2025-08-25T16:15:02Z</dcterms:modified>
</cp:coreProperties>
</file>