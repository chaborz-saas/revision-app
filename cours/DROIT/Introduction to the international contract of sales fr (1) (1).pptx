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4" r:id="rId3"/>
    <p:sldId id="277" r:id="rId4"/>
    <p:sldId id="275" r:id="rId5"/>
    <p:sldId id="276" r:id="rId6"/>
    <p:sldId id="278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84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1C829E-40A2-65B4-DAED-3F064DB5C1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A840386-FA20-4CF7-9364-E75FD42C06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F8F04-FCDF-DC83-676A-5BF5F503D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D4ABE-0A76-4A09-B455-8F403E4435E5}" type="datetimeFigureOut">
              <a:rPr lang="fr-FR" smtClean="0"/>
              <a:t>25/08/2025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F73DDDA-BA63-2C8A-97CF-CF4D6B91E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17263B-773B-9040-BE49-49306CD6A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31798-D122-4DCD-BEA5-839CCB7331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8392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C10513-0ED7-504C-201E-B7833265E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67062B2-2F2E-4E57-8562-3F17168A5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F24EE4A-D7D0-E84A-0E04-4C3E5D17A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D4ABE-0A76-4A09-B455-8F403E4435E5}" type="datetimeFigureOut">
              <a:rPr lang="fr-FR" smtClean="0"/>
              <a:t>25/08/2025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DF38088-BD81-E358-B65B-3AD2CDBB8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5A263A3-E188-3AAB-AB2E-B931E05C6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31798-D122-4DCD-BEA5-839CCB7331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3303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587810-7E5A-0B65-F96D-5AB23EFCA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CAEA426-E485-99CF-DC41-45D2BCC49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3F7CC2-44A6-6857-AADD-056160680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D4ABE-0A76-4A09-B455-8F403E4435E5}" type="datetimeFigureOut">
              <a:rPr lang="fr-FR" smtClean="0"/>
              <a:t>25/08/2025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933FA60-4046-F7A2-22AD-2A6C32BEC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7021720-4CCB-AEA9-95C5-507CD399D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31798-D122-4DCD-BEA5-839CCB7331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3088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CB3FAC-2705-029E-6376-EFD9FC42F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3C9DBB-52BC-6ED9-FF17-588CF7C21E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1E21CA1-EC5F-92CE-92A2-48A64A9657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A053BB1-EEF6-0EC0-276B-8DE55E0FD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D4ABE-0A76-4A09-B455-8F403E4435E5}" type="datetimeFigureOut">
              <a:rPr lang="fr-FR" smtClean="0"/>
              <a:t>25/08/2025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52DABBB-9A0E-B3CC-61A3-EC69CBE91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4484C2D-71C3-754F-3EB3-B6066EC49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31798-D122-4DCD-BEA5-839CCB7331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5644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1BC22B-0311-D11C-BD80-8DD60095E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484B519-95C4-178B-1A94-71E3A897D3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A2F6FF-092E-3326-71F7-F514050DF0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66E541C-6407-3B3B-414B-A961EA375F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ADBD49F-4D2D-CABC-AB51-54CE75256D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20300E1-73E6-D287-3DF9-4D085D1B4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D4ABE-0A76-4A09-B455-8F403E4435E5}" type="datetimeFigureOut">
              <a:rPr lang="fr-FR" smtClean="0"/>
              <a:t>25/08/2025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33D4348-2DF1-42E6-7ACC-9D2011DA9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5D4F188-319A-0B90-5B6B-2D81DFD74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31798-D122-4DCD-BEA5-839CCB7331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8329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290F31-B917-CC11-7A12-08F2D757D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ECA4214-1310-689C-9D59-9345EFAAC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D4ABE-0A76-4A09-B455-8F403E4435E5}" type="datetimeFigureOut">
              <a:rPr lang="fr-FR" smtClean="0"/>
              <a:t>25/08/2025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DDA2FD7-0277-FFE2-90CC-4C7AF0AEF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71B21FB-9436-6178-639D-CC9CC33B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31798-D122-4DCD-BEA5-839CCB7331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5609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CACABC9-9485-B02C-4334-4B5CA1D75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D4ABE-0A76-4A09-B455-8F403E4435E5}" type="datetimeFigureOut">
              <a:rPr lang="fr-FR" smtClean="0"/>
              <a:t>25/08/2025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8426D06-E548-7CFB-1A68-CB8BEF39D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0C83E99-8577-2203-56D9-312F9894A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31798-D122-4DCD-BEA5-839CCB7331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9703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F98D47-1C0C-0659-BE23-3F2C25963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B7E8A02-6446-9D83-298B-FA618F6EA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7DDC88D-9D73-A5F0-CA76-CA96AF59A9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72409A4-FB7D-CB70-F4D4-1E8DB52EB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D4ABE-0A76-4A09-B455-8F403E4435E5}" type="datetimeFigureOut">
              <a:rPr lang="fr-FR" smtClean="0"/>
              <a:t>25/08/2025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550070D-54B1-EAFF-CF21-7AC6F5CB9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4D88D57-AD6B-E1CC-F8D3-ABFF6B455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31798-D122-4DCD-BEA5-839CCB7331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3381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C5B287-75A4-E770-1F73-2067298CF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893FE6B-0FCB-F754-D71A-D2CD2B5672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9CA139E-34BA-F566-4CC1-AE959978F3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82116A4-BB25-9E3D-B946-D4021EA75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D4ABE-0A76-4A09-B455-8F403E4435E5}" type="datetimeFigureOut">
              <a:rPr lang="fr-FR" smtClean="0"/>
              <a:t>25/08/2025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8BBB132-666B-935E-0C6A-D08E8CDE8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817E5BB-0718-B05F-8BCF-A63CBAED5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31798-D122-4DCD-BEA5-839CCB7331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0028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ACE563-E5CD-3F95-220A-A5D28FA9B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E6896A3-05FC-7E10-BB12-4CDFA13F89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83804F4-3D48-CDDF-CB95-C112BC7FB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D4ABE-0A76-4A09-B455-8F403E4435E5}" type="datetimeFigureOut">
              <a:rPr lang="fr-FR" smtClean="0"/>
              <a:t>25/08/2025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797D861-B1E5-5E2F-326E-03A6F6D2D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04EB72-0BDD-F1B1-715A-E35355AD1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31798-D122-4DCD-BEA5-839CCB7331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9810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39237EE-A801-3D3D-10E3-81B89348F4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E978B8D-9EFB-E4EA-68FB-1AA4D796AF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13B6A75-92D7-380F-7446-D1145780D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D4ABE-0A76-4A09-B455-8F403E4435E5}" type="datetimeFigureOut">
              <a:rPr lang="fr-FR" smtClean="0"/>
              <a:t>25/08/2025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C7DC03A-3149-8B62-F1B1-344ED66C8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B56E4E9-44E8-F806-96B0-B7ED0DE1F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31798-D122-4DCD-BEA5-839CCB7331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1267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BE2572D-5B0A-8035-DCAF-66602A943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C01F490-C7B5-46E7-DD38-1914456AF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865616C-2BDA-8FFE-E4B0-6DEA4CCD23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3D4ABE-0A76-4A09-B455-8F403E4435E5}" type="datetimeFigureOut">
              <a:rPr lang="fr-FR" smtClean="0"/>
              <a:t>25/08/2025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391DC14-C7F2-3B83-9B2F-FFABFD880A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AD727AF-B804-E745-00B4-AA9722EB34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F31798-D122-4DCD-BEA5-839CCB7331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3381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000" dirty="0" err="1"/>
              <a:t>Contrat</a:t>
            </a:r>
            <a:r>
              <a:rPr lang="fr-FR" sz="2000" dirty="0"/>
              <a:t> de vente internationale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847529" y="2015734"/>
            <a:ext cx="8640959" cy="3933547"/>
          </a:xfrm>
        </p:spPr>
        <p:txBody>
          <a:bodyPr>
            <a:normAutofit/>
          </a:bodyPr>
          <a:lstStyle/>
          <a:p>
            <a:r>
              <a:rPr lang="fr-FR" sz="1600" dirty="0"/>
              <a:t>Convention </a:t>
            </a:r>
            <a:r>
              <a:rPr lang="fr-FR" sz="1600" dirty="0" err="1"/>
              <a:t>de Vienne </a:t>
            </a:r>
            <a:r>
              <a:rPr lang="fr-FR" sz="1600" dirty="0"/>
              <a:t>sur la vente internationale de </a:t>
            </a:r>
            <a:r>
              <a:rPr lang="fr-FR" sz="1600" dirty="0" err="1"/>
              <a:t>marchandises</a:t>
            </a:r>
            <a:r>
              <a:rPr lang="fr-FR" sz="1600" dirty="0"/>
              <a:t>, 11 avril 1980 : la CVIM</a:t>
            </a:r>
          </a:p>
          <a:p>
            <a:r>
              <a:rPr lang="fr-FR" sz="1600" dirty="0"/>
              <a:t>Un code pour la vente internationale de </a:t>
            </a:r>
            <a:r>
              <a:rPr lang="fr-FR" sz="1600" dirty="0" err="1"/>
              <a:t>marchandises</a:t>
            </a:r>
            <a:r>
              <a:rPr lang="fr-FR" sz="1600" dirty="0"/>
              <a:t>. </a:t>
            </a:r>
            <a:r>
              <a:rPr lang="fr-FR" sz="1600" dirty="0" err="1"/>
              <a:t>Contient les règles</a:t>
            </a:r>
            <a:r>
              <a:rPr lang="fr-FR" sz="1600" dirty="0"/>
              <a:t> applicables</a:t>
            </a:r>
          </a:p>
          <a:p>
            <a:r>
              <a:rPr lang="fr-FR" sz="1600" dirty="0" err="1"/>
              <a:t>Ratifiée </a:t>
            </a:r>
            <a:r>
              <a:rPr lang="fr-FR" sz="1600" dirty="0"/>
              <a:t>par 89 pays, </a:t>
            </a:r>
            <a:r>
              <a:rPr lang="fr-FR" sz="1600" dirty="0" err="1"/>
              <a:t>représentant </a:t>
            </a:r>
            <a:r>
              <a:rPr lang="fr-FR" sz="1600" dirty="0"/>
              <a:t> 75 % du </a:t>
            </a:r>
            <a:r>
              <a:rPr lang="fr-FR" sz="1600" dirty="0" err="1"/>
              <a:t>commerce</a:t>
            </a:r>
            <a:r>
              <a:rPr lang="fr-FR" sz="1600" dirty="0"/>
              <a:t> international</a:t>
            </a:r>
          </a:p>
          <a:p>
            <a:r>
              <a:rPr lang="fr-FR" sz="1600" dirty="0"/>
              <a:t>Tous les États </a:t>
            </a:r>
            <a:r>
              <a:rPr lang="fr-FR" sz="1600" dirty="0" err="1"/>
              <a:t>membres</a:t>
            </a:r>
            <a:r>
              <a:rPr lang="fr-FR" sz="1600" dirty="0"/>
              <a:t> de l'UE à l'exception du Royaume-Uni</a:t>
            </a:r>
          </a:p>
          <a:p>
            <a:r>
              <a:rPr lang="fr-FR" sz="1600" dirty="0" err="1"/>
              <a:t>S'applique </a:t>
            </a:r>
            <a:r>
              <a:rPr lang="fr-FR" sz="1600" dirty="0"/>
              <a:t>aux ventes internationales de </a:t>
            </a:r>
            <a:r>
              <a:rPr lang="fr-FR" sz="1600" dirty="0" err="1"/>
              <a:t>marchandises entre </a:t>
            </a:r>
            <a:r>
              <a:rPr lang="fr-FR" sz="1600" dirty="0"/>
              <a:t>parties </a:t>
            </a:r>
            <a:r>
              <a:rPr lang="fr-FR" sz="1600" dirty="0" err="1"/>
              <a:t>situées </a:t>
            </a:r>
            <a:r>
              <a:rPr lang="fr-FR" sz="1600" dirty="0"/>
              <a:t>dans des pays </a:t>
            </a:r>
            <a:r>
              <a:rPr lang="fr-FR" sz="1600" dirty="0" err="1"/>
              <a:t>différents lorsque</a:t>
            </a:r>
            <a:endParaRPr lang="fr-FR" sz="1600" dirty="0"/>
          </a:p>
          <a:p>
            <a:r>
              <a:rPr lang="fr-FR" sz="1600" dirty="0"/>
              <a:t>- les parties sont </a:t>
            </a:r>
            <a:r>
              <a:rPr lang="fr-FR" sz="1600" dirty="0" err="1"/>
              <a:t>ressortissantes </a:t>
            </a:r>
            <a:r>
              <a:rPr lang="fr-FR" sz="1600" dirty="0"/>
              <a:t>d'États </a:t>
            </a:r>
            <a:r>
              <a:rPr lang="fr-FR" sz="1600" dirty="0" err="1"/>
              <a:t>ayant ratifié </a:t>
            </a:r>
            <a:r>
              <a:rPr lang="fr-FR" sz="1600" dirty="0"/>
              <a:t>la convention</a:t>
            </a:r>
          </a:p>
          <a:p>
            <a:r>
              <a:rPr lang="fr-FR" sz="1600" dirty="0"/>
              <a:t>- ou </a:t>
            </a:r>
            <a:r>
              <a:rPr lang="fr-FR" sz="1600" dirty="0" err="1"/>
              <a:t>lorsque les règles de droit </a:t>
            </a:r>
            <a:r>
              <a:rPr lang="fr-FR" sz="1600" dirty="0"/>
              <a:t>international </a:t>
            </a:r>
            <a:r>
              <a:rPr lang="fr-FR" sz="1600" dirty="0" err="1"/>
              <a:t>privé </a:t>
            </a:r>
            <a:r>
              <a:rPr lang="fr-FR" sz="1600" dirty="0"/>
              <a:t>applicables </a:t>
            </a:r>
            <a:r>
              <a:rPr lang="fr-FR" sz="1600" dirty="0" err="1"/>
              <a:t>désignent </a:t>
            </a:r>
            <a:r>
              <a:rPr lang="fr-FR" sz="1600" dirty="0"/>
              <a:t>la </a:t>
            </a:r>
            <a:r>
              <a:rPr lang="fr-FR" sz="1600" dirty="0" err="1"/>
              <a:t>loi </a:t>
            </a:r>
            <a:r>
              <a:rPr lang="fr-FR" sz="1600" dirty="0"/>
              <a:t>d'un </a:t>
            </a:r>
            <a:r>
              <a:rPr lang="fr-FR" sz="1600" dirty="0" err="1"/>
              <a:t>État contractant</a:t>
            </a:r>
            <a:r>
              <a:rPr lang="fr-FR" sz="1600" dirty="0"/>
              <a:t>. Par </a:t>
            </a:r>
            <a:r>
              <a:rPr lang="fr-FR" sz="1600" dirty="0" err="1"/>
              <a:t>exemple </a:t>
            </a:r>
            <a:r>
              <a:rPr lang="fr-FR" sz="1600" dirty="0"/>
              <a:t>: un </a:t>
            </a:r>
            <a:r>
              <a:rPr lang="fr-FR" sz="1600" dirty="0" err="1"/>
              <a:t>contrat</a:t>
            </a:r>
            <a:r>
              <a:rPr lang="fr-FR" sz="1600" dirty="0"/>
              <a:t> de vente </a:t>
            </a:r>
            <a:r>
              <a:rPr lang="fr-FR" sz="1600" dirty="0" err="1"/>
              <a:t>entre </a:t>
            </a:r>
            <a:r>
              <a:rPr lang="fr-FR" sz="1600" dirty="0"/>
              <a:t>une </a:t>
            </a:r>
            <a:r>
              <a:rPr lang="fr-FR" sz="1600" dirty="0" err="1"/>
              <a:t>société</a:t>
            </a:r>
            <a:r>
              <a:rPr lang="fr-FR" sz="1600" dirty="0"/>
              <a:t> française et une </a:t>
            </a:r>
            <a:r>
              <a:rPr lang="fr-FR" sz="1600" dirty="0" err="1"/>
              <a:t>société</a:t>
            </a:r>
            <a:r>
              <a:rPr lang="fr-FR" sz="1600" dirty="0"/>
              <a:t> britannique, </a:t>
            </a:r>
            <a:r>
              <a:rPr lang="fr-FR" sz="1600" dirty="0" err="1"/>
              <a:t>où </a:t>
            </a:r>
            <a:r>
              <a:rPr lang="fr-FR" sz="1600" dirty="0"/>
              <a:t>les parties ont </a:t>
            </a:r>
            <a:r>
              <a:rPr lang="fr-FR" sz="1600" dirty="0" err="1"/>
              <a:t>opté </a:t>
            </a:r>
            <a:r>
              <a:rPr lang="fr-FR" sz="1600" dirty="0"/>
              <a:t>pour le droit français</a:t>
            </a:r>
          </a:p>
          <a:p>
            <a:r>
              <a:rPr lang="fr-FR" sz="1600" dirty="0"/>
              <a:t>- exception : si les parties </a:t>
            </a:r>
            <a:r>
              <a:rPr lang="fr-FR" sz="1600" dirty="0" err="1"/>
              <a:t>ont expressément exclu </a:t>
            </a:r>
            <a:r>
              <a:rPr lang="fr-FR" sz="1600" dirty="0"/>
              <a:t>la convention</a:t>
            </a:r>
          </a:p>
          <a:p>
            <a:endParaRPr lang="fr-FR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967493" y="476673"/>
            <a:ext cx="8275861" cy="1049235"/>
          </a:xfrm>
        </p:spPr>
        <p:txBody>
          <a:bodyPr>
            <a:normAutofit/>
          </a:bodyPr>
          <a:lstStyle/>
          <a:p>
            <a:r>
              <a:rPr lang="fr-FR" sz="2000" dirty="0" err="1"/>
              <a:t>Contrat</a:t>
            </a:r>
            <a:r>
              <a:rPr lang="fr-FR" sz="2000" dirty="0"/>
              <a:t> de vente international : la CVIM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631505" y="2015734"/>
            <a:ext cx="8784975" cy="3450613"/>
          </a:xfrm>
        </p:spPr>
        <p:txBody>
          <a:bodyPr>
            <a:normAutofit/>
          </a:bodyPr>
          <a:lstStyle/>
          <a:p>
            <a:r>
              <a:rPr lang="fr-FR" sz="1800" b="1" u="sng" dirty="0"/>
              <a:t>Ne</a:t>
            </a:r>
            <a:r>
              <a:rPr lang="fr-FR" sz="1800" dirty="0"/>
              <a:t> relèvent </a:t>
            </a:r>
            <a:r>
              <a:rPr lang="fr-FR" sz="1800" b="1" u="sng" dirty="0"/>
              <a:t>pas du champ </a:t>
            </a:r>
            <a:r>
              <a:rPr lang="fr-FR" sz="1800" dirty="0"/>
              <a:t>d'application de la Convention </a:t>
            </a:r>
            <a:r>
              <a:rPr lang="fr-FR" sz="1800" dirty="0" err="1"/>
              <a:t>de Vienne </a:t>
            </a:r>
            <a:r>
              <a:rPr lang="fr-FR" sz="1800" dirty="0"/>
              <a:t>:</a:t>
            </a:r>
          </a:p>
          <a:p>
            <a:r>
              <a:rPr lang="fr-FR" sz="1800" dirty="0"/>
              <a:t>- Les ventes aux </a:t>
            </a:r>
            <a:r>
              <a:rPr lang="fr-FR" sz="1800" dirty="0" err="1"/>
              <a:t>consommateurs</a:t>
            </a:r>
            <a:endParaRPr lang="fr-FR" sz="1800" dirty="0"/>
          </a:p>
          <a:p>
            <a:r>
              <a:rPr lang="fr-FR" sz="1800" dirty="0"/>
              <a:t>- Les ventes </a:t>
            </a:r>
            <a:r>
              <a:rPr lang="fr-FR" sz="1800" dirty="0" err="1"/>
              <a:t>aux enchères</a:t>
            </a:r>
          </a:p>
          <a:p>
            <a:r>
              <a:rPr lang="fr-FR" sz="1800" dirty="0" err="1"/>
              <a:t>- </a:t>
            </a:r>
            <a:r>
              <a:rPr lang="fr-FR" sz="1800" dirty="0"/>
              <a:t>Les ventes immobilières</a:t>
            </a:r>
          </a:p>
          <a:p>
            <a:r>
              <a:rPr lang="fr-FR" sz="1800" dirty="0"/>
              <a:t>- Les ventes </a:t>
            </a:r>
            <a:r>
              <a:rPr lang="fr-FR" sz="1800" dirty="0" err="1"/>
              <a:t>d'actions</a:t>
            </a:r>
            <a:r>
              <a:rPr lang="fr-FR" sz="1800" dirty="0"/>
              <a:t>, d'obligations, d'instruments </a:t>
            </a:r>
            <a:r>
              <a:rPr lang="fr-FR" sz="1800" dirty="0" err="1"/>
              <a:t>financiers</a:t>
            </a:r>
          </a:p>
          <a:p>
            <a:r>
              <a:rPr lang="fr-FR" sz="1800" dirty="0"/>
              <a:t>- Ventes d'</a:t>
            </a:r>
            <a:r>
              <a:rPr lang="fr-FR" sz="1800" dirty="0" err="1"/>
              <a:t>électricité</a:t>
            </a:r>
            <a:r>
              <a:rPr lang="fr-FR" sz="1800" dirty="0"/>
              <a:t>.</a:t>
            </a:r>
          </a:p>
          <a:p>
            <a:endParaRPr lang="fr-FR" sz="4300" dirty="0"/>
          </a:p>
          <a:p>
            <a:endParaRPr lang="fr-FR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C9EE7C-4778-4FF1-80D0-3F3C81C4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000" dirty="0"/>
              <a:t>Convention </a:t>
            </a:r>
            <a:r>
              <a:rPr lang="fr-FR" sz="2000" dirty="0" err="1"/>
              <a:t>de Vienne </a:t>
            </a:r>
            <a:r>
              <a:rPr lang="fr-FR" sz="2000" dirty="0"/>
              <a:t>(CISG)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AD0D27-ABF6-49F4-A43C-081A370C0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1800" dirty="0" err="1"/>
              <a:t>Questions </a:t>
            </a:r>
            <a:r>
              <a:rPr lang="fr-FR" sz="1800" dirty="0"/>
              <a:t>non </a:t>
            </a:r>
            <a:r>
              <a:rPr lang="fr-FR" sz="1800" dirty="0" err="1"/>
              <a:t>traitées </a:t>
            </a:r>
            <a:r>
              <a:rPr lang="fr-FR" sz="1800" dirty="0"/>
              <a:t>par la Convention </a:t>
            </a:r>
            <a:r>
              <a:rPr lang="fr-FR" sz="1800" dirty="0" err="1"/>
              <a:t>de Vienne </a:t>
            </a:r>
            <a:r>
              <a:rPr lang="fr-FR" sz="1800" dirty="0"/>
              <a:t>:</a:t>
            </a:r>
          </a:p>
          <a:p>
            <a:r>
              <a:rPr lang="fr-FR" sz="1800" dirty="0"/>
              <a:t>Les </a:t>
            </a:r>
            <a:r>
              <a:rPr lang="fr-FR" sz="1800" dirty="0" err="1"/>
              <a:t>réponses </a:t>
            </a:r>
            <a:r>
              <a:rPr lang="fr-FR" sz="1800" dirty="0"/>
              <a:t>à </a:t>
            </a:r>
            <a:r>
              <a:rPr lang="fr-FR" sz="1800" dirty="0" err="1"/>
              <a:t>ces </a:t>
            </a:r>
            <a:r>
              <a:rPr lang="fr-FR" sz="1800" dirty="0"/>
              <a:t>questions </a:t>
            </a:r>
            <a:r>
              <a:rPr lang="fr-FR" sz="1800" dirty="0" err="1"/>
              <a:t>se trouvent donc </a:t>
            </a:r>
            <a:r>
              <a:rPr lang="fr-FR" sz="1800" dirty="0"/>
              <a:t>dans la </a:t>
            </a:r>
            <a:r>
              <a:rPr lang="fr-FR" sz="1800" dirty="0" err="1"/>
              <a:t>loi</a:t>
            </a:r>
            <a:r>
              <a:rPr lang="fr-FR" sz="1800" dirty="0"/>
              <a:t> applicable </a:t>
            </a:r>
            <a:r>
              <a:rPr lang="fr-FR" sz="1800" dirty="0" err="1"/>
              <a:t>désignée </a:t>
            </a:r>
            <a:r>
              <a:rPr lang="fr-FR" sz="1800" dirty="0"/>
              <a:t>par </a:t>
            </a:r>
            <a:r>
              <a:rPr lang="fr-FR" sz="1800" dirty="0" err="1"/>
              <a:t>les règles de droit </a:t>
            </a:r>
            <a:r>
              <a:rPr lang="fr-FR" sz="1800" dirty="0"/>
              <a:t>international </a:t>
            </a:r>
            <a:r>
              <a:rPr lang="fr-FR" sz="1800" dirty="0" err="1"/>
              <a:t>privé </a:t>
            </a:r>
            <a:r>
              <a:rPr lang="fr-FR" sz="1800" dirty="0"/>
              <a:t>applicables :</a:t>
            </a:r>
          </a:p>
          <a:p>
            <a:r>
              <a:rPr lang="fr-FR" sz="1800" dirty="0"/>
              <a:t>- </a:t>
            </a:r>
            <a:r>
              <a:rPr lang="fr-FR" sz="1800" dirty="0" err="1"/>
              <a:t>Validité </a:t>
            </a:r>
            <a:r>
              <a:rPr lang="fr-FR" sz="1800" dirty="0"/>
              <a:t>du </a:t>
            </a:r>
            <a:r>
              <a:rPr lang="fr-FR" sz="1800" dirty="0" err="1"/>
              <a:t>contrat</a:t>
            </a:r>
            <a:endParaRPr lang="fr-FR" sz="1800" dirty="0"/>
          </a:p>
          <a:p>
            <a:r>
              <a:rPr lang="fr-FR" sz="1800" dirty="0"/>
              <a:t>- Transfert de </a:t>
            </a:r>
            <a:r>
              <a:rPr lang="fr-FR" sz="1800" dirty="0" err="1"/>
              <a:t>propriété</a:t>
            </a:r>
            <a:endParaRPr lang="fr-FR" sz="1800" dirty="0"/>
          </a:p>
          <a:p>
            <a:endParaRPr lang="fr-FR" sz="1800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36974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000" dirty="0" err="1"/>
              <a:t>Contrat</a:t>
            </a:r>
            <a:r>
              <a:rPr lang="fr-FR" sz="2000" dirty="0"/>
              <a:t> de vente international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1800" dirty="0"/>
              <a:t>Principaux éléments  de la CVIM :</a:t>
            </a:r>
          </a:p>
          <a:p>
            <a:r>
              <a:rPr lang="fr-FR" sz="1800" dirty="0"/>
              <a:t>- Formation du </a:t>
            </a:r>
            <a:r>
              <a:rPr lang="fr-FR" sz="1800" dirty="0" err="1"/>
              <a:t>contrat</a:t>
            </a:r>
            <a:endParaRPr lang="fr-FR" sz="1800" dirty="0"/>
          </a:p>
          <a:p>
            <a:r>
              <a:rPr lang="fr-FR" sz="1800" dirty="0"/>
              <a:t>- Obligations du vendeur</a:t>
            </a:r>
          </a:p>
          <a:p>
            <a:r>
              <a:rPr lang="fr-FR" sz="1800" dirty="0"/>
              <a:t>- </a:t>
            </a:r>
            <a:r>
              <a:rPr lang="fr-FR" sz="1800" dirty="0" err="1"/>
              <a:t>Réception </a:t>
            </a:r>
            <a:r>
              <a:rPr lang="fr-FR" sz="1800" dirty="0"/>
              <a:t>des </a:t>
            </a:r>
            <a:r>
              <a:rPr lang="fr-FR" sz="1800" dirty="0" err="1"/>
              <a:t>marchandises </a:t>
            </a:r>
            <a:r>
              <a:rPr lang="fr-FR" sz="1800" dirty="0"/>
              <a:t>: </a:t>
            </a:r>
            <a:r>
              <a:rPr lang="fr-FR" sz="1800" dirty="0" err="1"/>
              <a:t>l'acheteur </a:t>
            </a:r>
            <a:r>
              <a:rPr lang="fr-FR" sz="1800" dirty="0"/>
              <a:t>doit vérifier </a:t>
            </a:r>
          </a:p>
          <a:p>
            <a:r>
              <a:rPr lang="fr-FR" sz="1800" dirty="0"/>
              <a:t>- Obligations de </a:t>
            </a:r>
            <a:r>
              <a:rPr lang="fr-FR" sz="1800" dirty="0" err="1"/>
              <a:t>l'acheteur </a:t>
            </a:r>
            <a:r>
              <a:rPr lang="fr-FR" sz="1800" dirty="0"/>
              <a:t>: </a:t>
            </a:r>
            <a:r>
              <a:rPr lang="fr-FR" sz="1800" dirty="0" err="1"/>
              <a:t>prix</a:t>
            </a:r>
            <a:r>
              <a:rPr lang="fr-FR" sz="1800" dirty="0"/>
              <a:t> portable, </a:t>
            </a:r>
            <a:r>
              <a:rPr lang="fr-FR" sz="1800" dirty="0" err="1"/>
              <a:t>paiement </a:t>
            </a:r>
            <a:r>
              <a:rPr lang="fr-FR" sz="1800" dirty="0"/>
              <a:t>à </a:t>
            </a:r>
            <a:r>
              <a:rPr lang="fr-FR" sz="1800" dirty="0" err="1"/>
              <a:t>la livraison </a:t>
            </a:r>
            <a:r>
              <a:rPr lang="fr-FR" sz="1800" dirty="0"/>
              <a:t>des </a:t>
            </a:r>
            <a:r>
              <a:rPr lang="fr-FR" sz="1800" dirty="0" err="1"/>
              <a:t>marchandises</a:t>
            </a:r>
            <a:endParaRPr lang="fr-FR" sz="1800" dirty="0"/>
          </a:p>
          <a:p>
            <a:r>
              <a:rPr lang="fr-FR" sz="1800" dirty="0"/>
              <a:t>- </a:t>
            </a:r>
            <a:r>
              <a:rPr lang="fr-FR" sz="1800" dirty="0" err="1"/>
              <a:t>Obligation </a:t>
            </a:r>
            <a:r>
              <a:rPr lang="fr-FR" sz="1800" dirty="0"/>
              <a:t>des parties de </a:t>
            </a:r>
            <a:r>
              <a:rPr lang="fr-FR" sz="1800" dirty="0" err="1"/>
              <a:t>coopérer</a:t>
            </a:r>
            <a:endParaRPr lang="fr-FR" sz="1800" dirty="0"/>
          </a:p>
          <a:p>
            <a:r>
              <a:rPr lang="fr-FR" sz="1800" dirty="0"/>
              <a:t>- Sanctions en cas d'</a:t>
            </a:r>
            <a:r>
              <a:rPr lang="fr-FR" sz="1800" dirty="0" err="1"/>
              <a:t>inexécution</a:t>
            </a:r>
            <a:endParaRPr lang="fr-FR" sz="1800" dirty="0"/>
          </a:p>
          <a:p>
            <a:r>
              <a:rPr lang="fr-FR" sz="1800" dirty="0" err="1"/>
              <a:t>Globalement</a:t>
            </a:r>
            <a:r>
              <a:rPr lang="fr-FR" sz="1800" dirty="0"/>
              <a:t>, un instrument </a:t>
            </a:r>
            <a:r>
              <a:rPr lang="fr-FR" sz="1800" dirty="0" err="1"/>
              <a:t>juridique utile </a:t>
            </a:r>
            <a:r>
              <a:rPr lang="fr-FR" sz="1800" dirty="0"/>
              <a:t>et </a:t>
            </a:r>
            <a:r>
              <a:rPr lang="fr-FR" sz="1800" dirty="0" err="1"/>
              <a:t>pratique</a:t>
            </a:r>
          </a:p>
          <a:p>
            <a:r>
              <a:rPr lang="fr-FR" sz="1800" dirty="0"/>
              <a:t>Aucune </a:t>
            </a:r>
            <a:r>
              <a:rPr lang="fr-FR" sz="1800" dirty="0" err="1"/>
              <a:t>raison </a:t>
            </a:r>
            <a:r>
              <a:rPr lang="fr-FR" sz="1800" dirty="0"/>
              <a:t>de </a:t>
            </a:r>
            <a:r>
              <a:rPr lang="fr-FR" sz="1800" dirty="0" err="1"/>
              <a:t>refuser son </a:t>
            </a:r>
            <a:r>
              <a:rPr lang="fr-FR" sz="1800" dirty="0"/>
              <a:t>application, et </a:t>
            </a:r>
            <a:r>
              <a:rPr lang="fr-FR" sz="1800" dirty="0" err="1"/>
              <a:t>certainement </a:t>
            </a:r>
            <a:r>
              <a:rPr lang="fr-FR" sz="1800" dirty="0"/>
              <a:t>pas pour le vendeur</a:t>
            </a:r>
          </a:p>
          <a:p>
            <a:endParaRPr lang="fr-FR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000" dirty="0" err="1"/>
              <a:t>Contrat</a:t>
            </a:r>
            <a:r>
              <a:rPr lang="fr-FR" sz="2000" dirty="0"/>
              <a:t> de vente international. Dispositions </a:t>
            </a:r>
            <a:r>
              <a:rPr lang="fr-FR" sz="2000" dirty="0" err="1"/>
              <a:t>essentielles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631505" y="2015734"/>
            <a:ext cx="9145016" cy="7029891"/>
          </a:xfrm>
        </p:spPr>
        <p:txBody>
          <a:bodyPr>
            <a:noAutofit/>
          </a:bodyPr>
          <a:lstStyle/>
          <a:p>
            <a:r>
              <a:rPr lang="fr-FR" sz="1800" dirty="0" err="1"/>
              <a:t>Lettres </a:t>
            </a:r>
            <a:r>
              <a:rPr lang="fr-FR" sz="1800" dirty="0"/>
              <a:t>d'intention, lettres de confort... </a:t>
            </a:r>
            <a:r>
              <a:rPr lang="fr-FR" sz="1800" dirty="0" err="1"/>
              <a:t>ambiguïté</a:t>
            </a:r>
            <a:endParaRPr lang="fr-FR" sz="1800" dirty="0"/>
          </a:p>
          <a:p>
            <a:r>
              <a:rPr lang="fr-FR" sz="1800" dirty="0"/>
              <a:t>Documents </a:t>
            </a:r>
            <a:r>
              <a:rPr lang="fr-FR" sz="1800" dirty="0" err="1"/>
              <a:t>précontractuels </a:t>
            </a:r>
            <a:r>
              <a:rPr lang="fr-FR" sz="1800" dirty="0"/>
              <a:t>:</a:t>
            </a:r>
          </a:p>
          <a:p>
            <a:r>
              <a:rPr lang="fr-FR" sz="1800" dirty="0"/>
              <a:t>- documents </a:t>
            </a:r>
            <a:r>
              <a:rPr lang="fr-FR" sz="1800" dirty="0" err="1"/>
              <a:t>publicitaires</a:t>
            </a:r>
          </a:p>
          <a:p>
            <a:r>
              <a:rPr lang="fr-FR" sz="1800" dirty="0"/>
              <a:t>- annexes</a:t>
            </a:r>
          </a:p>
          <a:p>
            <a:r>
              <a:rPr lang="fr-FR" sz="1800" dirty="0"/>
              <a:t>Documents post</a:t>
            </a:r>
            <a:r>
              <a:rPr lang="fr-FR" sz="1800" dirty="0" err="1"/>
              <a:t>-contractuels</a:t>
            </a:r>
          </a:p>
          <a:p>
            <a:r>
              <a:rPr lang="fr-FR" sz="1800" dirty="0" err="1"/>
              <a:t>Préambules</a:t>
            </a:r>
            <a:endParaRPr lang="fr-FR" sz="1800" dirty="0"/>
          </a:p>
          <a:p>
            <a:endParaRPr lang="fr-FR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8D9A04-6DD9-48C0-8EA0-9C05B2EC4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000" dirty="0" err="1"/>
              <a:t>Autres </a:t>
            </a:r>
            <a:r>
              <a:rPr lang="fr-FR" sz="2000" dirty="0"/>
              <a:t>dispositions essentielles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9B315A-E570-4900-8071-39005BD34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1800" dirty="0" err="1"/>
              <a:t>Évaluation </a:t>
            </a:r>
            <a:r>
              <a:rPr lang="fr-FR" sz="1800" dirty="0"/>
              <a:t>de l'</a:t>
            </a:r>
            <a:r>
              <a:rPr lang="fr-FR" sz="1800" dirty="0" err="1"/>
              <a:t>intensité </a:t>
            </a:r>
            <a:r>
              <a:rPr lang="fr-FR" sz="1800" dirty="0"/>
              <a:t>des obligations :</a:t>
            </a:r>
          </a:p>
          <a:p>
            <a:r>
              <a:rPr lang="fr-FR" sz="1800" dirty="0"/>
              <a:t>- Meilleurs efforts</a:t>
            </a:r>
          </a:p>
          <a:p>
            <a:r>
              <a:rPr lang="fr-FR" sz="1800" dirty="0"/>
              <a:t>- Effort ou diligence </a:t>
            </a:r>
            <a:r>
              <a:rPr lang="fr-FR" sz="1800" dirty="0" err="1"/>
              <a:t>raisonnable</a:t>
            </a:r>
          </a:p>
          <a:p>
            <a:r>
              <a:rPr lang="fr-FR" sz="1800" dirty="0"/>
              <a:t>- </a:t>
            </a:r>
            <a:r>
              <a:rPr lang="fr-FR" sz="1800" dirty="0" err="1"/>
              <a:t>Diligence</a:t>
            </a:r>
            <a:r>
              <a:rPr lang="fr-FR" sz="1800" dirty="0"/>
              <a:t> raisonnable</a:t>
            </a:r>
          </a:p>
          <a:p>
            <a:r>
              <a:rPr lang="fr-FR" sz="1800" dirty="0"/>
              <a:t>Clauses relatives au rapport de transfert de </a:t>
            </a:r>
            <a:r>
              <a:rPr lang="fr-FR" sz="1800" dirty="0" err="1"/>
              <a:t>propriété</a:t>
            </a:r>
          </a:p>
          <a:p>
            <a:r>
              <a:rPr lang="fr-FR" sz="1800" dirty="0"/>
              <a:t>Clauses pénales</a:t>
            </a:r>
          </a:p>
          <a:p>
            <a:r>
              <a:rPr lang="fr-FR" sz="1800" dirty="0"/>
              <a:t>Clauses </a:t>
            </a:r>
            <a:r>
              <a:rPr lang="fr-FR" sz="1800" dirty="0" err="1"/>
              <a:t>d'annulation</a:t>
            </a:r>
          </a:p>
        </p:txBody>
      </p:sp>
    </p:spTree>
    <p:extLst>
      <p:ext uri="{BB962C8B-B14F-4D97-AF65-F5344CB8AC3E}">
        <p14:creationId xmlns:p14="http://schemas.microsoft.com/office/powerpoint/2010/main" val="252179404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352</Words>
  <Application>Microsoft Office PowerPoint</Application>
  <PresentationFormat>Grand écran</PresentationFormat>
  <Paragraphs>46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Thème Office</vt:lpstr>
      <vt:lpstr>Contrat de vente internationale</vt:lpstr>
      <vt:lpstr>Contrat de vente international : la CVIM</vt:lpstr>
      <vt:lpstr>Convention de Vienne (CISG)</vt:lpstr>
      <vt:lpstr>Contrat de vente international</vt:lpstr>
      <vt:lpstr>Contrat de vente international. Dispositions essentielles</vt:lpstr>
      <vt:lpstr>Autres dispositions essentielles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CORRUBLE Philippe</dc:creator>
  <cp:keywords>, docId:67573BB8E90264B367BD49DAAEDD2DDA</cp:keywords>
  <cp:lastModifiedBy>CORRUBLE Philippe</cp:lastModifiedBy>
  <cp:revision>2</cp:revision>
  <dcterms:created xsi:type="dcterms:W3CDTF">2025-08-25T09:36:05Z</dcterms:created>
  <dcterms:modified xsi:type="dcterms:W3CDTF">2025-08-25T15:57:08Z</dcterms:modified>
</cp:coreProperties>
</file>