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66"/>
    <p:restoredTop sz="93692"/>
  </p:normalViewPr>
  <p:slideViewPr>
    <p:cSldViewPr>
      <p:cViewPr varScale="1">
        <p:scale>
          <a:sx n="83" d="100"/>
          <a:sy n="83" d="100"/>
        </p:scale>
        <p:origin x="992" y="60"/>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B81C8C-5F67-B744-AF3D-72FC34465F2B}" type="datetimeFigureOut">
              <a:rPr lang="fr-FR" smtClean="0"/>
              <a:t>25/08/2025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8EF23-49B4-0E49-8386-4D0F9C487166}" type="slidenum">
              <a:rPr lang="fr-FR" smtClean="0"/>
              <a:t>‹N°›</a:t>
            </a:fld>
            <a:endParaRPr lang="fr-FR"/>
          </a:p>
        </p:txBody>
      </p:sp>
    </p:spTree>
    <p:extLst>
      <p:ext uri="{BB962C8B-B14F-4D97-AF65-F5344CB8AC3E}">
        <p14:creationId xmlns:p14="http://schemas.microsoft.com/office/powerpoint/2010/main" val="1781069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fr-FR"/>
              <a:t>Modifiez le style du titre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267F764F-8CDF-4C39-B8D5-83FDE874653F}" type="datetimeFigureOut">
              <a:rPr lang="fr-FR" smtClean="0"/>
              <a:pPr/>
              <a:t>25/08/2025</a:t>
            </a:fld>
            <a:endParaRPr lang="fr-FR"/>
          </a:p>
        </p:txBody>
      </p:sp>
      <p:sp>
        <p:nvSpPr>
          <p:cNvPr id="5" name="Footer Placeholder 4"/>
          <p:cNvSpPr>
            <a:spLocks noGrp="1"/>
          </p:cNvSpPr>
          <p:nvPr>
            <p:ph type="ftr" sz="quarter" idx="11"/>
          </p:nvPr>
        </p:nvSpPr>
        <p:spPr>
          <a:xfrm>
            <a:off x="2396319" y="329308"/>
            <a:ext cx="3086292" cy="309201"/>
          </a:xfrm>
        </p:spPr>
        <p:txBody>
          <a:bodyPr/>
          <a:lstStyle/>
          <a:p>
            <a:endParaRPr lang="fr-FR"/>
          </a:p>
        </p:txBody>
      </p:sp>
      <p:sp>
        <p:nvSpPr>
          <p:cNvPr id="6" name="Slide Number Placeholder 5"/>
          <p:cNvSpPr>
            <a:spLocks noGrp="1"/>
          </p:cNvSpPr>
          <p:nvPr>
            <p:ph type="sldNum" sz="quarter" idx="12"/>
          </p:nvPr>
        </p:nvSpPr>
        <p:spPr>
          <a:xfrm>
            <a:off x="1434703" y="798973"/>
            <a:ext cx="802005" cy="503578"/>
          </a:xfrm>
        </p:spPr>
        <p:txBody>
          <a:bodyPr/>
          <a:lstStyle/>
          <a:p>
            <a:fld id="{8229418D-498F-4929-9A63-F0D2555988F5}" type="slidenum">
              <a:rPr lang="fr-FR" smtClean="0"/>
              <a:pPr/>
              <a:t>‹N°›</a:t>
            </a:fld>
            <a:endParaRPr lang="fr-FR"/>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4207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67F764F-8CDF-4C39-B8D5-83FDE874653F}" type="datetimeFigureOut">
              <a:rPr lang="fr-FR" smtClean="0"/>
              <a:pPr/>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229418D-498F-4929-9A63-F0D2555988F5}" type="slidenum">
              <a:rPr lang="fr-FR" smtClean="0"/>
              <a:pPr/>
              <a:t>‹N°›</a:t>
            </a:fld>
            <a:endParaRPr lang="fr-FR"/>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61781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fr-FR"/>
              <a:t>Modifiez le style du titre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67F764F-8CDF-4C39-B8D5-83FDE874653F}" type="datetimeFigureOut">
              <a:rPr lang="fr-FR" smtClean="0"/>
              <a:pPr/>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229418D-498F-4929-9A63-F0D2555988F5}" type="slidenum">
              <a:rPr lang="fr-FR" smtClean="0"/>
              <a:pPr/>
              <a:t>‹N°›</a:t>
            </a:fld>
            <a:endParaRPr lang="fr-FR"/>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7275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fr-FR"/>
              <a:t>Modifiez le style du titre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267F764F-8CDF-4C39-B8D5-83FDE874653F}" type="datetimeFigureOut">
              <a:rPr lang="fr-FR" smtClean="0"/>
              <a:pPr/>
              <a:t>25/08/2025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229418D-498F-4929-9A63-F0D2555988F5}" type="slidenum">
              <a:rPr lang="fr-FR" smtClean="0"/>
              <a:pPr/>
              <a:t>‹N°›</a:t>
            </a:fld>
            <a:endParaRPr lang="fr-FR"/>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60072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fr-FR"/>
              <a:t>Modifiez le style du titre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1443491" y="2824270"/>
            <a:ext cx="3125766" cy="26444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889182" y="2821491"/>
            <a:ext cx="3125652" cy="263737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67F764F-8CDF-4C39-B8D5-83FDE874653F}" type="datetimeFigureOut">
              <a:rPr lang="fr-FR" smtClean="0"/>
              <a:pPr/>
              <a:t>25/08/2025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8229418D-498F-4929-9A63-F0D2555988F5}" type="slidenum">
              <a:rPr lang="fr-FR" smtClean="0"/>
              <a:pPr/>
              <a:t>‹N°›</a:t>
            </a:fld>
            <a:endParaRPr lang="fr-FR"/>
          </a:p>
        </p:txBody>
      </p:sp>
    </p:spTree>
    <p:extLst>
      <p:ext uri="{BB962C8B-B14F-4D97-AF65-F5344CB8AC3E}">
        <p14:creationId xmlns:p14="http://schemas.microsoft.com/office/powerpoint/2010/main" val="3952590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267F764F-8CDF-4C39-B8D5-83FDE874653F}" type="datetimeFigureOut">
              <a:rPr lang="fr-FR" smtClean="0"/>
              <a:pPr/>
              <a:t>25/08/2025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229418D-498F-4929-9A63-F0D2555988F5}" type="slidenum">
              <a:rPr lang="fr-FR" smtClean="0"/>
              <a:pPr/>
              <a:t>‹N°›</a:t>
            </a:fld>
            <a:endParaRPr lang="fr-FR"/>
          </a:p>
        </p:txBody>
      </p:sp>
    </p:spTree>
    <p:extLst>
      <p:ext uri="{BB962C8B-B14F-4D97-AF65-F5344CB8AC3E}">
        <p14:creationId xmlns:p14="http://schemas.microsoft.com/office/powerpoint/2010/main" val="86035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7F764F-8CDF-4C39-B8D5-83FDE874653F}" type="datetimeFigureOut">
              <a:rPr lang="fr-FR" smtClean="0"/>
              <a:pPr/>
              <a:t>25/08/2025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8229418D-498F-4929-9A63-F0D2555988F5}" type="slidenum">
              <a:rPr lang="fr-FR" smtClean="0"/>
              <a:pPr/>
              <a:t>‹N°›</a:t>
            </a:fld>
            <a:endParaRPr lang="fr-FR"/>
          </a:p>
        </p:txBody>
      </p:sp>
    </p:spTree>
    <p:extLst>
      <p:ext uri="{BB962C8B-B14F-4D97-AF65-F5344CB8AC3E}">
        <p14:creationId xmlns:p14="http://schemas.microsoft.com/office/powerpoint/2010/main" val="27112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fr-FR"/>
              <a:t>Modifiez le style du titre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67F764F-8CDF-4C39-B8D5-83FDE874653F}" type="datetimeFigureOut">
              <a:rPr lang="fr-FR" smtClean="0"/>
              <a:pPr/>
              <a:t>25/08/2025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229418D-498F-4929-9A63-F0D2555988F5}" type="slidenum">
              <a:rPr lang="fr-FR" smtClean="0"/>
              <a:pPr/>
              <a:t>‹N°›</a:t>
            </a:fld>
            <a:endParaRPr lang="fr-FR"/>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918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267F764F-8CDF-4C39-B8D5-83FDE874653F}" type="datetimeFigureOut">
              <a:rPr lang="fr-FR" smtClean="0"/>
              <a:pPr/>
              <a:t>25/08/2025</a:t>
            </a:fld>
            <a:endParaRPr lang="fr-FR"/>
          </a:p>
        </p:txBody>
      </p:sp>
      <p:sp>
        <p:nvSpPr>
          <p:cNvPr id="6" name="Footer Placeholder 5"/>
          <p:cNvSpPr>
            <a:spLocks noGrp="1"/>
          </p:cNvSpPr>
          <p:nvPr>
            <p:ph type="ftr" sz="quarter" idx="11"/>
          </p:nvPr>
        </p:nvSpPr>
        <p:spPr>
          <a:xfrm>
            <a:off x="1437530" y="318641"/>
            <a:ext cx="3251553" cy="320931"/>
          </a:xfrm>
        </p:spPr>
        <p:txBody>
          <a:bodyPr/>
          <a:lstStyle/>
          <a:p>
            <a:endParaRPr lang="fr-FR"/>
          </a:p>
        </p:txBody>
      </p:sp>
      <p:sp>
        <p:nvSpPr>
          <p:cNvPr id="7" name="Slide Number Placeholder 6"/>
          <p:cNvSpPr>
            <a:spLocks noGrp="1"/>
          </p:cNvSpPr>
          <p:nvPr>
            <p:ph type="sldNum" sz="quarter" idx="12"/>
          </p:nvPr>
        </p:nvSpPr>
        <p:spPr/>
        <p:txBody>
          <a:bodyPr/>
          <a:lstStyle/>
          <a:p>
            <a:fld id="{8229418D-498F-4929-9A63-F0D2555988F5}" type="slidenum">
              <a:rPr lang="fr-FR" smtClean="0"/>
              <a:pPr/>
              <a:t>‹N°›</a:t>
            </a:fld>
            <a:endParaRPr lang="fr-FR"/>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3073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67F764F-8CDF-4C39-B8D5-83FDE874653F}" type="datetimeFigureOut">
              <a:rPr lang="fr-FR" smtClean="0"/>
              <a:pPr/>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229418D-498F-4929-9A63-F0D2555988F5}" type="slidenum">
              <a:rPr lang="fr-FR" smtClean="0"/>
              <a:pPr/>
              <a:t>‹N°›</a:t>
            </a:fld>
            <a:endParaRPr lang="fr-FR"/>
          </a:p>
        </p:txBody>
      </p:sp>
    </p:spTree>
    <p:extLst>
      <p:ext uri="{BB962C8B-B14F-4D97-AF65-F5344CB8AC3E}">
        <p14:creationId xmlns:p14="http://schemas.microsoft.com/office/powerpoint/2010/main" val="435275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67F764F-8CDF-4C39-B8D5-83FDE874653F}" type="datetimeFigureOut">
              <a:rPr lang="fr-FR" smtClean="0"/>
              <a:pPr/>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229418D-498F-4929-9A63-F0D2555988F5}" type="slidenum">
              <a:rPr lang="fr-FR" smtClean="0"/>
              <a:pPr/>
              <a:t>‹N°›</a:t>
            </a:fld>
            <a:endParaRPr lang="fr-FR"/>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34587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67F764F-8CDF-4C39-B8D5-83FDE874653F}" type="datetimeFigureOut">
              <a:rPr lang="fr-FR" smtClean="0"/>
              <a:t>25/08/2025</a:t>
            </a:fld>
            <a:endParaRPr lang="fr-FR"/>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8229418D-498F-4929-9A63-F0D2555988F5}" type="slidenum">
              <a:rPr lang="fr-FR" smtClean="0"/>
              <a:t>‹N°›</a:t>
            </a:fld>
            <a:endParaRPr lang="fr-FR"/>
          </a:p>
        </p:txBody>
      </p:sp>
    </p:spTree>
    <p:extLst>
      <p:ext uri="{BB962C8B-B14F-4D97-AF65-F5344CB8AC3E}">
        <p14:creationId xmlns:p14="http://schemas.microsoft.com/office/powerpoint/2010/main" val="562512753"/>
      </p:ext>
    </p:ext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4" r:id="rId5"/>
    <p:sldLayoutId id="2147484045" r:id="rId6"/>
    <p:sldLayoutId id="2147484046" r:id="rId7"/>
    <p:sldLayoutId id="2147484047" r:id="rId8"/>
    <p:sldLayoutId id="2147484048" r:id="rId9"/>
    <p:sldLayoutId id="2147484049" r:id="rId10"/>
    <p:sldLayoutId id="2147484050"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a:bodyPr>
          <a:lstStyle/>
          <a:p>
            <a:r>
              <a:rPr lang="fr-FR" sz="2000" dirty="0"/>
              <a:t>Contrats </a:t>
            </a:r>
            <a:r>
              <a:rPr lang="fr-FR" sz="2000" dirty="0" err="1"/>
              <a:t>internation</a:t>
            </a:r>
            <a:r>
              <a:rPr lang="fr-FR" sz="2000" dirty="0"/>
              <a:t>aux </a:t>
            </a:r>
            <a:br>
              <a:rPr lang="fr-FR" sz="2000" dirty="0"/>
            </a:br>
            <a:r>
              <a:rPr lang="fr-FR" sz="2000" dirty="0"/>
              <a:t>principaux aspects </a:t>
            </a:r>
            <a:r>
              <a:rPr lang="fr-FR" sz="2000" dirty="0" err="1"/>
              <a:t>juridiques</a:t>
            </a:r>
          </a:p>
        </p:txBody>
      </p:sp>
      <p:sp>
        <p:nvSpPr>
          <p:cNvPr id="3" name="Sous-titre 2"/>
          <p:cNvSpPr>
            <a:spLocks noGrp="1"/>
          </p:cNvSpPr>
          <p:nvPr>
            <p:ph type="subTitle" idx="1"/>
          </p:nvPr>
        </p:nvSpPr>
        <p:spPr>
          <a:xfrm>
            <a:off x="2123728" y="3933056"/>
            <a:ext cx="5618515" cy="977621"/>
          </a:xfrm>
        </p:spPr>
        <p:txBody>
          <a:bodyPr>
            <a:normAutofit/>
          </a:bodyPr>
          <a:lstStyle/>
          <a:p>
            <a:r>
              <a:rPr lang="fr-FR" sz="1600" dirty="0"/>
              <a:t>Pr. Philippe CORRUBLE</a:t>
            </a:r>
          </a:p>
          <a:p>
            <a:r>
              <a:rPr lang="fr-FR" sz="1600" dirty="0"/>
              <a:t>École de </a:t>
            </a:r>
            <a:r>
              <a:rPr lang="fr-FR" sz="1600" dirty="0" err="1"/>
              <a:t>Management </a:t>
            </a:r>
            <a:r>
              <a:rPr lang="fr-FR" sz="1600" dirty="0"/>
              <a:t>de Normandie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a:t>Questions clés</a:t>
            </a:r>
          </a:p>
        </p:txBody>
      </p:sp>
      <p:sp>
        <p:nvSpPr>
          <p:cNvPr id="3" name="Espace réservé du contenu 2"/>
          <p:cNvSpPr>
            <a:spLocks noGrp="1"/>
          </p:cNvSpPr>
          <p:nvPr>
            <p:ph idx="1"/>
          </p:nvPr>
        </p:nvSpPr>
        <p:spPr/>
        <p:txBody>
          <a:bodyPr>
            <a:normAutofit/>
          </a:bodyPr>
          <a:lstStyle/>
          <a:p>
            <a:r>
              <a:rPr lang="fr-FR" sz="2000" dirty="0"/>
              <a:t>1. </a:t>
            </a:r>
            <a:r>
              <a:rPr lang="fr-FR" sz="2000" dirty="0" err="1"/>
              <a:t>Quelle loi </a:t>
            </a:r>
            <a:r>
              <a:rPr lang="fr-FR" sz="2000" dirty="0"/>
              <a:t>s'applique à un </a:t>
            </a:r>
            <a:r>
              <a:rPr lang="fr-FR" sz="2000" dirty="0" err="1"/>
              <a:t>contrat</a:t>
            </a:r>
            <a:r>
              <a:rPr lang="fr-FR" sz="2000" dirty="0"/>
              <a:t> international ?</a:t>
            </a:r>
          </a:p>
          <a:p>
            <a:r>
              <a:rPr lang="fr-FR" sz="2000" dirty="0"/>
              <a:t>2. </a:t>
            </a:r>
            <a:r>
              <a:rPr lang="fr-FR" sz="2000" dirty="0" err="1"/>
              <a:t>Quelle </a:t>
            </a:r>
            <a:r>
              <a:rPr lang="fr-FR" sz="2000" dirty="0"/>
              <a:t>juridiction </a:t>
            </a:r>
            <a:r>
              <a:rPr lang="fr-FR" sz="2000" dirty="0" err="1"/>
              <a:t>est compétente </a:t>
            </a:r>
            <a:r>
              <a:rPr lang="fr-FR" sz="2000" dirty="0"/>
              <a:t>pour trancher les litiges relatifs au </a:t>
            </a:r>
            <a:r>
              <a:rPr lang="fr-FR" sz="2000" dirty="0" err="1"/>
              <a:t>contrat </a:t>
            </a:r>
            <a:r>
              <a:rPr lang="fr-FR" sz="2000" dirty="0"/>
              <a:t>?</a:t>
            </a:r>
          </a:p>
          <a:p>
            <a:r>
              <a:rPr lang="fr-FR" sz="2000" dirty="0"/>
              <a:t>3. L'arbitrage est-il une alternative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a:t>1. </a:t>
            </a:r>
            <a:r>
              <a:rPr lang="fr-FR" sz="2000" dirty="0" err="1"/>
              <a:t>Quelle loi </a:t>
            </a:r>
            <a:r>
              <a:rPr lang="fr-FR" sz="2000" dirty="0"/>
              <a:t>s'applique à un </a:t>
            </a:r>
            <a:r>
              <a:rPr lang="fr-FR" sz="2000" dirty="0" err="1"/>
              <a:t>contrat</a:t>
            </a:r>
            <a:r>
              <a:rPr lang="fr-FR" sz="2000" dirty="0"/>
              <a:t> international ?</a:t>
            </a:r>
          </a:p>
        </p:txBody>
      </p:sp>
      <p:sp>
        <p:nvSpPr>
          <p:cNvPr id="3" name="Espace réservé du contenu 2"/>
          <p:cNvSpPr>
            <a:spLocks noGrp="1"/>
          </p:cNvSpPr>
          <p:nvPr>
            <p:ph idx="1"/>
          </p:nvPr>
        </p:nvSpPr>
        <p:spPr>
          <a:xfrm>
            <a:off x="467545" y="2015733"/>
            <a:ext cx="8136904" cy="3789531"/>
          </a:xfrm>
        </p:spPr>
        <p:txBody>
          <a:bodyPr>
            <a:normAutofit fontScale="70000" lnSpcReduction="20000"/>
          </a:bodyPr>
          <a:lstStyle/>
          <a:p>
            <a:r>
              <a:rPr lang="en-US" sz="2000" dirty="0"/>
              <a:t>RÈGLEMENT (CE) N° 593/2008 DU PARLEMENT EUROPÉEN ET DU CONSEIL </a:t>
            </a:r>
            <a:r>
              <a:rPr lang="fr-FR" sz="2000" dirty="0"/>
              <a:t>du 17 </a:t>
            </a:r>
            <a:r>
              <a:rPr lang="fr-FR" sz="2000" dirty="0" err="1"/>
              <a:t>juin</a:t>
            </a:r>
            <a:r>
              <a:rPr lang="fr-FR" sz="2000" dirty="0"/>
              <a:t> 2008 </a:t>
            </a:r>
            <a:r>
              <a:rPr lang="en-US" sz="2000" dirty="0"/>
              <a:t>sur la loi applicable aux obligations contractuelles (dit « Rome I »)</a:t>
            </a:r>
          </a:p>
          <a:p>
            <a:r>
              <a:rPr lang="en-US" sz="2000" dirty="0"/>
              <a:t>Applicable dans l'Espace économique européen : tout juge d'un État membre de l'Union européenne est tenu d'appliquer les dispositions du présent règlement</a:t>
            </a:r>
          </a:p>
          <a:p>
            <a:r>
              <a:rPr lang="en-US" sz="2000" dirty="0"/>
              <a:t>+ application « universelle » : quel que soit le lieu où les parties au contrat ont leur résidence (personnes physiques) ou sont établies (sociétés), y compris en dehors de l'UE</a:t>
            </a:r>
          </a:p>
          <a:p>
            <a:r>
              <a:rPr lang="en-US" sz="2000" dirty="0"/>
              <a:t>Rome I s'applique à tout contrat commercial</a:t>
            </a:r>
          </a:p>
          <a:p>
            <a:r>
              <a:rPr lang="en-US" sz="2000" dirty="0"/>
              <a:t>Rome 1 contient généralement trois règles principales :</a:t>
            </a:r>
          </a:p>
          <a:p>
            <a:r>
              <a:rPr lang="en-US" sz="2000" dirty="0"/>
              <a:t>1. Liberté des parties de choisir la loi applicable au contrat</a:t>
            </a:r>
          </a:p>
          <a:p>
            <a:r>
              <a:rPr lang="en-US" sz="2000" dirty="0"/>
              <a:t>2. Détermination de la loi applicable au contrat en l'absence de choix des parties</a:t>
            </a:r>
          </a:p>
          <a:p>
            <a:r>
              <a:rPr lang="en-US" sz="2000" dirty="0"/>
              <a:t>3. Exceptions…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a:t>1.1 </a:t>
            </a:r>
            <a:r>
              <a:rPr lang="fr-FR" sz="2000" dirty="0" err="1"/>
              <a:t>Liberté </a:t>
            </a:r>
            <a:r>
              <a:rPr lang="fr-FR" sz="2000" dirty="0"/>
              <a:t>de </a:t>
            </a:r>
            <a:r>
              <a:rPr lang="fr-FR" sz="2000" dirty="0" err="1"/>
              <a:t>choisir </a:t>
            </a:r>
            <a:r>
              <a:rPr lang="fr-FR" sz="2000" dirty="0"/>
              <a:t>la </a:t>
            </a:r>
            <a:r>
              <a:rPr lang="fr-FR" sz="2000" dirty="0" err="1"/>
              <a:t>loi </a:t>
            </a:r>
            <a:r>
              <a:rPr lang="fr-FR" sz="2000" dirty="0"/>
              <a:t>applicable à un </a:t>
            </a:r>
            <a:r>
              <a:rPr lang="fr-FR" sz="2000" dirty="0" err="1"/>
              <a:t>contrat</a:t>
            </a:r>
            <a:r>
              <a:rPr lang="fr-FR" sz="2000" dirty="0"/>
              <a:t> international</a:t>
            </a:r>
          </a:p>
        </p:txBody>
      </p:sp>
      <p:sp>
        <p:nvSpPr>
          <p:cNvPr id="3" name="Espace réservé du contenu 2"/>
          <p:cNvSpPr>
            <a:spLocks noGrp="1"/>
          </p:cNvSpPr>
          <p:nvPr>
            <p:ph idx="1"/>
          </p:nvPr>
        </p:nvSpPr>
        <p:spPr>
          <a:xfrm>
            <a:off x="251520" y="2015733"/>
            <a:ext cx="8712967" cy="3933547"/>
          </a:xfrm>
        </p:spPr>
        <p:txBody>
          <a:bodyPr>
            <a:normAutofit fontScale="70000" lnSpcReduction="20000"/>
          </a:bodyPr>
          <a:lstStyle/>
          <a:p>
            <a:r>
              <a:rPr lang="en-US" sz="2000" dirty="0"/>
              <a:t>Rome 1 : « Un contrat est régi par la loi choisie par les parties</a:t>
            </a:r>
            <a:r>
              <a:rPr lang="fr-FR" sz="2000" dirty="0"/>
              <a:t>... »  </a:t>
            </a:r>
          </a:p>
          <a:p>
            <a:r>
              <a:rPr lang="fr-FR" sz="2000" dirty="0" err="1"/>
              <a:t>Choix illimité </a:t>
            </a:r>
            <a:r>
              <a:rPr lang="fr-FR" sz="2000" dirty="0"/>
              <a:t>!</a:t>
            </a:r>
          </a:p>
          <a:p>
            <a:r>
              <a:rPr lang="fr-FR" sz="2000" dirty="0" err="1"/>
              <a:t>Devriez-vous vous battre </a:t>
            </a:r>
            <a:r>
              <a:rPr lang="fr-FR" sz="2000" dirty="0"/>
              <a:t>pour </a:t>
            </a:r>
            <a:r>
              <a:rPr lang="fr-FR" sz="2000" dirty="0" err="1"/>
              <a:t>votre droit</a:t>
            </a:r>
            <a:r>
              <a:rPr lang="fr-FR" sz="2000" dirty="0"/>
              <a:t> national ?</a:t>
            </a:r>
          </a:p>
          <a:p>
            <a:r>
              <a:rPr lang="en-US" sz="2000" dirty="0"/>
              <a:t>Rome 1 : « Le choix doit être exprimé expressément ou résulter de manière certaine</a:t>
            </a:r>
          </a:p>
          <a:p>
            <a:r>
              <a:rPr lang="en-US" sz="2000" dirty="0"/>
              <a:t>par les termes du contrat ou par les circonstances de la </a:t>
            </a:r>
            <a:r>
              <a:rPr lang="fr-FR" sz="2000" dirty="0"/>
              <a:t>situation. »</a:t>
            </a:r>
          </a:p>
          <a:p>
            <a:r>
              <a:rPr lang="fr-FR" sz="2000" dirty="0" err="1"/>
              <a:t>Mieux vaut faire </a:t>
            </a:r>
            <a:r>
              <a:rPr lang="fr-FR" sz="2000" dirty="0"/>
              <a:t>un </a:t>
            </a:r>
            <a:r>
              <a:rPr lang="fr-FR" sz="2000" dirty="0" err="1"/>
              <a:t>choix</a:t>
            </a:r>
            <a:r>
              <a:rPr lang="fr-FR" sz="2000" dirty="0"/>
              <a:t> exprès</a:t>
            </a:r>
          </a:p>
          <a:p>
            <a:r>
              <a:rPr lang="fr-FR" sz="2000" dirty="0"/>
              <a:t>Dispositions</a:t>
            </a:r>
            <a:r>
              <a:rPr lang="fr-FR" sz="2000" dirty="0" err="1"/>
              <a:t> impératives </a:t>
            </a:r>
            <a:r>
              <a:rPr lang="fr-FR" sz="2000" dirty="0"/>
              <a:t>: Rome 1, art. 9 : </a:t>
            </a:r>
            <a:r>
              <a:rPr lang="fr-FR" sz="2000" b="1" dirty="0"/>
              <a:t>« </a:t>
            </a:r>
            <a:r>
              <a:rPr lang="en-US" sz="2000" dirty="0"/>
              <a:t>Les dispositions impératives sont celles dont le respect est considéré par un pays comme essentiel pour la sauvegarde de ses intérêts publics, tels que son </a:t>
            </a:r>
            <a:r>
              <a:rPr lang="en-US" sz="2000" dirty="0" err="1"/>
              <a:t>organisation</a:t>
            </a:r>
            <a:r>
              <a:rPr lang="en-US" sz="2000" dirty="0"/>
              <a:t> politique, sociale ou économique, au point qu'elles s'appliquent à toute situation relevant de leur champ d'application, quelle que soit la loi autrement applicable au contrat en vertu du présent règlement. »</a:t>
            </a:r>
            <a:endParaRPr lang="fr-FR" sz="2000" dirty="0"/>
          </a:p>
          <a:p>
            <a:r>
              <a:rPr lang="fr-FR" sz="2000" dirty="0" err="1"/>
              <a:t>Gardez cela </a:t>
            </a:r>
            <a:r>
              <a:rPr lang="fr-FR" sz="2000" dirty="0"/>
              <a:t>à l'esprit... </a:t>
            </a:r>
            <a:r>
              <a:rPr lang="fr-FR" sz="2000" dirty="0" err="1"/>
              <a:t>mieux vaut </a:t>
            </a:r>
            <a:r>
              <a:rPr lang="fr-FR" sz="2000" dirty="0"/>
              <a:t>choisir un juge </a:t>
            </a:r>
            <a:r>
              <a:rPr lang="fr-FR" sz="2000" dirty="0" err="1"/>
              <a:t>dont les lois impératives </a:t>
            </a:r>
            <a:r>
              <a:rPr lang="fr-FR" sz="2000" dirty="0"/>
              <a:t>sont compatibles </a:t>
            </a:r>
            <a:r>
              <a:rPr lang="fr-FR" sz="2000" dirty="0" err="1"/>
              <a:t>avec vos propres opinions.</a:t>
            </a:r>
            <a:endParaRPr lang="fr-FR" sz="2000" dirty="0"/>
          </a:p>
          <a:p>
            <a:endParaRPr lang="fr-F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a:t>1.2 </a:t>
            </a:r>
            <a:r>
              <a:rPr lang="en-US" sz="2000" dirty="0"/>
              <a:t>Droit applicable en l'absence de choix</a:t>
            </a:r>
            <a:endParaRPr lang="fr-FR" sz="2000" dirty="0"/>
          </a:p>
        </p:txBody>
      </p:sp>
      <p:sp>
        <p:nvSpPr>
          <p:cNvPr id="3" name="Espace réservé du contenu 2"/>
          <p:cNvSpPr>
            <a:spLocks noGrp="1"/>
          </p:cNvSpPr>
          <p:nvPr>
            <p:ph idx="1"/>
          </p:nvPr>
        </p:nvSpPr>
        <p:spPr>
          <a:xfrm>
            <a:off x="107504" y="2015733"/>
            <a:ext cx="8928991" cy="3450613"/>
          </a:xfrm>
        </p:spPr>
        <p:txBody>
          <a:bodyPr>
            <a:normAutofit fontScale="77500" lnSpcReduction="20000"/>
          </a:bodyPr>
          <a:lstStyle/>
          <a:p>
            <a:r>
              <a:rPr lang="fr-FR" sz="2000" dirty="0"/>
              <a:t>Rome 1, art. 4.1 :</a:t>
            </a:r>
          </a:p>
          <a:p>
            <a:r>
              <a:rPr lang="en-US" sz="2000" dirty="0"/>
              <a:t>(a) un contrat de vente de biens est régi par la loi du pays où le vendeur a sa résidence habituelle ;</a:t>
            </a:r>
          </a:p>
          <a:p>
            <a:r>
              <a:rPr lang="en-US" sz="2000" dirty="0"/>
              <a:t>(b) un contrat de prestation de services est régi par la loi du pays où le prestataire a sa </a:t>
            </a:r>
            <a:r>
              <a:rPr lang="fr-FR" sz="2000" dirty="0" err="1"/>
              <a:t>résidence habituelle </a:t>
            </a:r>
            <a:r>
              <a:rPr lang="fr-FR" sz="2000" dirty="0"/>
              <a:t>;...</a:t>
            </a:r>
          </a:p>
          <a:p>
            <a:r>
              <a:rPr lang="en-US" sz="2000" dirty="0"/>
              <a:t>(e) un contrat de franchise est régi par la loi du pays où le franchisé a sa résidence habituelle ;</a:t>
            </a:r>
          </a:p>
          <a:p>
            <a:r>
              <a:rPr lang="en-US" sz="2000" dirty="0"/>
              <a:t>(f) le contrat de distribution est régi par la loi du pays où le distributeur a sa résidence habituelle ;</a:t>
            </a:r>
          </a:p>
          <a:p>
            <a:r>
              <a:rPr lang="en-US" sz="2000" dirty="0"/>
              <a:t>(g) un contrat de vente de biens aux enchères est régi par la loi du pays où se déroule la vente, si ce lieu peut être déterminé ;…</a:t>
            </a:r>
            <a:endParaRPr lang="fr-FR"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a:t>1.2 </a:t>
            </a:r>
            <a:r>
              <a:rPr lang="en-US" sz="2000" dirty="0"/>
              <a:t>Loi applicable en l'absence de choix</a:t>
            </a:r>
            <a:endParaRPr lang="fr-FR" sz="2000" dirty="0"/>
          </a:p>
        </p:txBody>
      </p:sp>
      <p:sp>
        <p:nvSpPr>
          <p:cNvPr id="3" name="Espace réservé du contenu 2"/>
          <p:cNvSpPr>
            <a:spLocks noGrp="1"/>
          </p:cNvSpPr>
          <p:nvPr>
            <p:ph idx="1"/>
          </p:nvPr>
        </p:nvSpPr>
        <p:spPr>
          <a:xfrm>
            <a:off x="611560" y="2015733"/>
            <a:ext cx="8352927" cy="3450613"/>
          </a:xfrm>
        </p:spPr>
        <p:txBody>
          <a:bodyPr>
            <a:normAutofit/>
          </a:bodyPr>
          <a:lstStyle/>
          <a:p>
            <a:pPr algn="just"/>
            <a:r>
              <a:rPr lang="en-US" sz="1800" dirty="0"/>
              <a:t>2. « Lorsque le contrat n'est pas visé au paragraphe 1 ou lorsque les éléments du contrat relèvent de plusieurs des points a) à h) du paragraphe 1, le contrat est régi par la loi du pays où la partie tenue d'exécuter la </a:t>
            </a:r>
            <a:r>
              <a:rPr lang="en-US" sz="1800" u="sng" dirty="0"/>
              <a:t>prestation caractéristique </a:t>
            </a:r>
            <a:r>
              <a:rPr lang="en-US" sz="1800" dirty="0"/>
              <a:t>du contrat a sa </a:t>
            </a:r>
            <a:r>
              <a:rPr lang="fr-FR" sz="1800" dirty="0" err="1"/>
              <a:t>résidence</a:t>
            </a:r>
            <a:r>
              <a:rPr lang="en-US" sz="1800" dirty="0"/>
              <a:t> habituelle</a:t>
            </a:r>
            <a:r>
              <a:rPr lang="fr-FR" sz="1800" dirty="0"/>
              <a:t>. » Rome 1, art. 4.2</a:t>
            </a:r>
          </a:p>
          <a:p>
            <a:pPr algn="just">
              <a:buNone/>
            </a:pPr>
            <a:endParaRPr lang="fr-FR"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000" dirty="0"/>
              <a:t>1.3 Exceptions à Rome 1 : </a:t>
            </a:r>
            <a:r>
              <a:rPr lang="fr-FR" sz="2000" dirty="0" err="1"/>
              <a:t>certaines </a:t>
            </a:r>
            <a:r>
              <a:rPr lang="fr-FR" sz="2000" dirty="0"/>
              <a:t>dispositions </a:t>
            </a:r>
            <a:r>
              <a:rPr lang="fr-FR" sz="2000" dirty="0" err="1"/>
              <a:t>spécifiques </a:t>
            </a:r>
            <a:r>
              <a:rPr lang="fr-FR" sz="2000" dirty="0"/>
              <a:t>pour </a:t>
            </a:r>
            <a:r>
              <a:rPr lang="fr-FR" sz="2000" dirty="0" err="1"/>
              <a:t>certaines catégories </a:t>
            </a:r>
            <a:r>
              <a:rPr lang="fr-FR" sz="2000" dirty="0"/>
              <a:t>de </a:t>
            </a:r>
            <a:r>
              <a:rPr lang="fr-FR" sz="2000" dirty="0" err="1"/>
              <a:t>contrats</a:t>
            </a:r>
            <a:endParaRPr lang="fr-FR" sz="2000" dirty="0"/>
          </a:p>
        </p:txBody>
      </p:sp>
      <p:sp>
        <p:nvSpPr>
          <p:cNvPr id="3" name="Espace réservé du contenu 2"/>
          <p:cNvSpPr>
            <a:spLocks noGrp="1"/>
          </p:cNvSpPr>
          <p:nvPr>
            <p:ph idx="1"/>
          </p:nvPr>
        </p:nvSpPr>
        <p:spPr>
          <a:xfrm>
            <a:off x="179513" y="2015733"/>
            <a:ext cx="8856984" cy="4037747"/>
          </a:xfrm>
        </p:spPr>
        <p:txBody>
          <a:bodyPr>
            <a:normAutofit fontScale="25000" lnSpcReduction="20000"/>
          </a:bodyPr>
          <a:lstStyle/>
          <a:p>
            <a:r>
              <a:rPr lang="fr-FR" sz="6400" dirty="0" err="1"/>
              <a:t>Contrats </a:t>
            </a:r>
            <a:r>
              <a:rPr lang="fr-FR" sz="6400" dirty="0"/>
              <a:t>de </a:t>
            </a:r>
            <a:r>
              <a:rPr lang="fr-FR" sz="6400" dirty="0" err="1"/>
              <a:t>transport </a:t>
            </a:r>
            <a:r>
              <a:rPr lang="fr-FR" sz="6400" dirty="0"/>
              <a:t>(art. 5)</a:t>
            </a:r>
          </a:p>
          <a:p>
            <a:r>
              <a:rPr lang="fr-FR" sz="6400" dirty="0" err="1"/>
              <a:t>Contrats d'assurance </a:t>
            </a:r>
            <a:r>
              <a:rPr lang="fr-FR" sz="6400" dirty="0"/>
              <a:t>(art. 7)</a:t>
            </a:r>
          </a:p>
          <a:p>
            <a:pPr>
              <a:buNone/>
            </a:pPr>
            <a:endParaRPr lang="fr-FR" sz="6400" dirty="0"/>
          </a:p>
          <a:p>
            <a:r>
              <a:rPr lang="fr-FR" sz="6400" b="1" dirty="0" err="1"/>
              <a:t>Contrats individuels de travail </a:t>
            </a:r>
            <a:r>
              <a:rPr lang="fr-FR" sz="6400" b="1" dirty="0"/>
              <a:t>(art. 8)</a:t>
            </a:r>
          </a:p>
          <a:p>
            <a:r>
              <a:rPr lang="en-US" sz="6400" dirty="0"/>
              <a:t>1. Le contrat individuel de travail est régi par la loi choisie par les parties conformément à l'article 3. Ce choix de la loi ne peut toutefois avoir pour effet de priver le travailleur de la protection que lui accordent les dispositions auxquelles il ne peut être dérogé par convention en vertu de la loi qui, à défaut de choix, aurait été applicable en vertu des paragraphes 2, 3 et 4 du présent article.</a:t>
            </a:r>
          </a:p>
          <a:p>
            <a:r>
              <a:rPr lang="en-US" sz="6400" dirty="0"/>
              <a:t>2. Dans la mesure où la loi applicable au contrat individuel de travail n'a pas été choisie par les parties, le contrat est régi par la loi du pays dans lequel ou, à défaut, à partir duquel le travailleur effectue habituellement son travail en exécution du contrat. Le pays où le travail est habituellement effectué n'est pas réputé avoir changé si le travailleur est employé temporairement dans un autre pays.</a:t>
            </a:r>
          </a:p>
          <a:p>
            <a:pPr>
              <a:buNone/>
            </a:pPr>
            <a:endParaRPr lang="fr-FR" sz="8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err="1"/>
              <a:t> contrats de travail </a:t>
            </a:r>
            <a:r>
              <a:rPr lang="fr-FR" sz="2000" dirty="0"/>
              <a:t>à Rome 1, </a:t>
            </a:r>
            <a:r>
              <a:rPr lang="fr-FR" sz="2000" dirty="0" err="1"/>
              <a:t>poursuite </a:t>
            </a:r>
          </a:p>
        </p:txBody>
      </p:sp>
      <p:sp>
        <p:nvSpPr>
          <p:cNvPr id="3" name="Espace réservé du contenu 2"/>
          <p:cNvSpPr>
            <a:spLocks noGrp="1"/>
          </p:cNvSpPr>
          <p:nvPr>
            <p:ph idx="1"/>
          </p:nvPr>
        </p:nvSpPr>
        <p:spPr>
          <a:xfrm>
            <a:off x="539552" y="2015733"/>
            <a:ext cx="8604447" cy="3450613"/>
          </a:xfrm>
        </p:spPr>
        <p:txBody>
          <a:bodyPr>
            <a:normAutofit/>
          </a:bodyPr>
          <a:lstStyle/>
          <a:p>
            <a:r>
              <a:rPr lang="en-US" sz="1800" dirty="0"/>
              <a:t>3. Lorsque la loi applicable ne peut être déterminée conformément au paragraphe 2, le contrat est régi par la loi du pays où </a:t>
            </a:r>
            <a:r>
              <a:rPr lang="fr-FR" sz="1800" dirty="0" err="1"/>
              <a:t>est situé </a:t>
            </a:r>
            <a:r>
              <a:rPr lang="en-US" sz="1800" dirty="0"/>
              <a:t>le lieu d'activité par l'intermédiaire duquel le travailleur </a:t>
            </a:r>
            <a:r>
              <a:rPr lang="fr-FR" sz="1800" dirty="0" err="1"/>
              <a:t>a été engagé</a:t>
            </a:r>
            <a:endParaRPr lang="en-US" sz="1800" dirty="0"/>
          </a:p>
          <a:p>
            <a:r>
              <a:rPr lang="en-US" sz="1800" dirty="0"/>
              <a:t>4. Lorsque l'ensemble des circonstances fait apparaître que le contrat présente un lien plus étroit avec un pays autre que celui indiqué aux paragraphes 2 ou 3, la loi de cet autre pays </a:t>
            </a:r>
            <a:r>
              <a:rPr lang="fr-FR" sz="1800" dirty="0" err="1"/>
              <a:t>s'applique</a:t>
            </a:r>
            <a:r>
              <a:rPr lang="fr-FR" sz="1800" dirty="0"/>
              <a:t>.</a:t>
            </a:r>
          </a:p>
          <a:p>
            <a:endParaRPr lang="fr-F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a:t>L'exception des </a:t>
            </a:r>
            <a:r>
              <a:rPr lang="fr-FR" sz="2000" dirty="0" err="1"/>
              <a:t>contrats conclus avec </a:t>
            </a:r>
            <a:r>
              <a:rPr lang="fr-FR" sz="2000" dirty="0"/>
              <a:t>des consommateurs</a:t>
            </a:r>
          </a:p>
        </p:txBody>
      </p:sp>
      <p:sp>
        <p:nvSpPr>
          <p:cNvPr id="3" name="Espace réservé du contenu 2"/>
          <p:cNvSpPr>
            <a:spLocks noGrp="1"/>
          </p:cNvSpPr>
          <p:nvPr>
            <p:ph idx="1"/>
          </p:nvPr>
        </p:nvSpPr>
        <p:spPr>
          <a:xfrm>
            <a:off x="827584" y="2060848"/>
            <a:ext cx="7776864" cy="3450613"/>
          </a:xfrm>
        </p:spPr>
        <p:txBody>
          <a:bodyPr>
            <a:normAutofit fontScale="77500" lnSpcReduction="20000"/>
          </a:bodyPr>
          <a:lstStyle/>
          <a:p>
            <a:r>
              <a:rPr lang="fr-FR" sz="2000" i="1" dirty="0"/>
              <a:t>Rome 1Article 6, </a:t>
            </a:r>
            <a:r>
              <a:rPr lang="fr-FR" sz="2000" b="1" dirty="0" err="1"/>
              <a:t>Contrats conclus avec des </a:t>
            </a:r>
            <a:r>
              <a:rPr lang="fr-FR" sz="2000" b="1" dirty="0"/>
              <a:t>consommateurs</a:t>
            </a:r>
          </a:p>
          <a:p>
            <a:r>
              <a:rPr lang="en-US" sz="2000" dirty="0"/>
              <a:t>1. Sans préjudice des articles 5 et 7, un contrat conclu par une personne physique pour un but qui peut être considéré comme étranger à son activité commerciale ou professionnelle (le consommateur) avec une autre personne agissant dans l'exercice de son activité commerciale ou professionnelle (le professionnel) est régi par la loi du pays où le consommateur a sa résidence habituelle, à condition que le </a:t>
            </a:r>
            <a:r>
              <a:rPr lang="fr-FR" sz="2000" dirty="0"/>
              <a:t>professionnel :</a:t>
            </a:r>
          </a:p>
          <a:p>
            <a:r>
              <a:rPr lang="en-US" sz="2000" dirty="0"/>
              <a:t>(a) exerce ses activités commerciales ou professionnelles dans le pays où le consommateur a sa résidence habituelle, ou </a:t>
            </a:r>
          </a:p>
          <a:p>
            <a:r>
              <a:rPr lang="en-US" sz="2000" dirty="0"/>
              <a:t>b) par tout moyen, dirige ces activités vers ce pays ou vers plusieurs pays, dont ce pays, et le contrat entre dans le cadre de ces activités.</a:t>
            </a:r>
            <a:endParaRPr lang="fr-FR"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err="1"/>
              <a:t>Contrats conclus avec des </a:t>
            </a:r>
            <a:r>
              <a:rPr lang="fr-FR" sz="2000" dirty="0"/>
              <a:t>consommateurs, </a:t>
            </a:r>
            <a:r>
              <a:rPr lang="fr-FR" sz="2000" dirty="0" err="1"/>
              <a:t>suite</a:t>
            </a:r>
            <a:endParaRPr lang="fr-FR" sz="2000" dirty="0"/>
          </a:p>
        </p:txBody>
      </p:sp>
      <p:sp>
        <p:nvSpPr>
          <p:cNvPr id="3" name="Espace réservé du contenu 2"/>
          <p:cNvSpPr>
            <a:spLocks noGrp="1"/>
          </p:cNvSpPr>
          <p:nvPr>
            <p:ph idx="1"/>
          </p:nvPr>
        </p:nvSpPr>
        <p:spPr>
          <a:xfrm>
            <a:off x="611560" y="2015733"/>
            <a:ext cx="8424935" cy="3450613"/>
          </a:xfrm>
        </p:spPr>
        <p:txBody>
          <a:bodyPr>
            <a:normAutofit/>
          </a:bodyPr>
          <a:lstStyle/>
          <a:p>
            <a:r>
              <a:rPr lang="en-US" sz="1800" dirty="0"/>
              <a:t>2. Nonobstant le paragraphe 1, les parties peuvent choisir la loi applicable à un contrat qui remplit les conditions du paragraphe 1, conformément à l'article 3. Ce choix ne peut toutefois avoir pour effet de priver le consommateur de la protection qui lui est accordée par des dispositions auxquelles il ne peut être dérogé par convention en vertu de la loi qui, en l'absence de choix, aurait été applicable sur la base du </a:t>
            </a:r>
            <a:r>
              <a:rPr lang="fr-FR" sz="1800" dirty="0" err="1"/>
              <a:t>paragraphe</a:t>
            </a:r>
            <a:r>
              <a:rPr lang="fr-FR" sz="1800" dirty="0"/>
              <a:t>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a:t>2. </a:t>
            </a:r>
            <a:r>
              <a:rPr lang="fr-FR" sz="2000" dirty="0" err="1"/>
              <a:t>Quel </a:t>
            </a:r>
            <a:r>
              <a:rPr lang="fr-FR" sz="2000" dirty="0"/>
              <a:t>forum, </a:t>
            </a:r>
            <a:r>
              <a:rPr lang="fr-FR" sz="2000" dirty="0" err="1"/>
              <a:t>quelle </a:t>
            </a:r>
            <a:r>
              <a:rPr lang="fr-FR" sz="2000" dirty="0"/>
              <a:t>juridiction pour le </a:t>
            </a:r>
            <a:r>
              <a:rPr lang="fr-FR" sz="2000" dirty="0" err="1"/>
              <a:t>règlement </a:t>
            </a:r>
            <a:r>
              <a:rPr lang="fr-FR" sz="2000" dirty="0"/>
              <a:t>des litiges </a:t>
            </a:r>
            <a:r>
              <a:rPr lang="fr-FR" sz="2000" dirty="0" err="1"/>
              <a:t>contractuels </a:t>
            </a:r>
            <a:r>
              <a:rPr lang="fr-FR" sz="2000" dirty="0"/>
              <a:t>?</a:t>
            </a:r>
          </a:p>
        </p:txBody>
      </p:sp>
      <p:sp>
        <p:nvSpPr>
          <p:cNvPr id="3" name="Espace réservé du contenu 2"/>
          <p:cNvSpPr>
            <a:spLocks noGrp="1"/>
          </p:cNvSpPr>
          <p:nvPr>
            <p:ph idx="1"/>
          </p:nvPr>
        </p:nvSpPr>
        <p:spPr>
          <a:xfrm>
            <a:off x="539552" y="2015733"/>
            <a:ext cx="8424935" cy="4037747"/>
          </a:xfrm>
        </p:spPr>
        <p:txBody>
          <a:bodyPr>
            <a:normAutofit fontScale="70000" lnSpcReduction="20000"/>
          </a:bodyPr>
          <a:lstStyle/>
          <a:p>
            <a:r>
              <a:rPr lang="fr-FR" sz="2000" dirty="0"/>
              <a:t>La solution </a:t>
            </a:r>
            <a:r>
              <a:rPr lang="fr-FR" sz="2000" dirty="0" err="1"/>
              <a:t>classique </a:t>
            </a:r>
            <a:r>
              <a:rPr lang="fr-FR" sz="2000" dirty="0"/>
              <a:t>: en </a:t>
            </a:r>
            <a:r>
              <a:rPr lang="fr-FR" sz="2000" dirty="0" err="1"/>
              <a:t>vertu </a:t>
            </a:r>
            <a:r>
              <a:rPr lang="fr-FR" sz="2000" dirty="0"/>
              <a:t>de </a:t>
            </a:r>
            <a:r>
              <a:rPr lang="fr-FR" sz="2000" dirty="0" err="1"/>
              <a:t>la souveraineté</a:t>
            </a:r>
            <a:r>
              <a:rPr lang="fr-FR" sz="2000" dirty="0"/>
              <a:t> des États, la question de </a:t>
            </a:r>
            <a:r>
              <a:rPr lang="fr-FR" sz="2000" dirty="0" err="1"/>
              <a:t>la compétence</a:t>
            </a:r>
            <a:r>
              <a:rPr lang="fr-FR" sz="2000" dirty="0"/>
              <a:t> des tribunaux dans un cas </a:t>
            </a:r>
            <a:r>
              <a:rPr lang="fr-FR" sz="2000" dirty="0" err="1"/>
              <a:t>particulier est tranchée </a:t>
            </a:r>
            <a:r>
              <a:rPr lang="fr-FR" sz="2000" dirty="0"/>
              <a:t>par </a:t>
            </a:r>
            <a:r>
              <a:rPr lang="fr-FR" sz="2000" dirty="0" err="1"/>
              <a:t>le droit</a:t>
            </a:r>
            <a:r>
              <a:rPr lang="fr-FR" sz="2000" dirty="0"/>
              <a:t> de </a:t>
            </a:r>
            <a:r>
              <a:rPr lang="fr-FR" sz="2000" dirty="0" err="1"/>
              <a:t>chaque </a:t>
            </a:r>
            <a:r>
              <a:rPr lang="fr-FR" sz="2000" dirty="0"/>
              <a:t>État.</a:t>
            </a:r>
          </a:p>
          <a:p>
            <a:r>
              <a:rPr lang="fr-FR" sz="2000" dirty="0" err="1"/>
              <a:t>De nombreuses législations</a:t>
            </a:r>
            <a:r>
              <a:rPr lang="fr-FR" sz="2000" dirty="0"/>
              <a:t> nationales </a:t>
            </a:r>
            <a:r>
              <a:rPr lang="fr-FR" sz="2000" dirty="0" err="1"/>
              <a:t>reconnaissent </a:t>
            </a:r>
            <a:r>
              <a:rPr lang="fr-FR" sz="2000" dirty="0"/>
              <a:t>un </a:t>
            </a:r>
            <a:r>
              <a:rPr lang="fr-FR" sz="2000" dirty="0" err="1"/>
              <a:t>privilège </a:t>
            </a:r>
            <a:r>
              <a:rPr lang="fr-FR" sz="2000" dirty="0"/>
              <a:t>de </a:t>
            </a:r>
            <a:r>
              <a:rPr lang="fr-FR" sz="2000" dirty="0" err="1"/>
              <a:t>juridiction </a:t>
            </a:r>
            <a:r>
              <a:rPr lang="fr-FR" sz="2000" dirty="0"/>
              <a:t>à </a:t>
            </a:r>
            <a:r>
              <a:rPr lang="fr-FR" sz="2000" dirty="0" err="1"/>
              <a:t>leurs ressortissants </a:t>
            </a:r>
            <a:r>
              <a:rPr lang="fr-FR" sz="2000" dirty="0"/>
              <a:t>: </a:t>
            </a:r>
            <a:r>
              <a:rPr lang="fr-FR" sz="2000" dirty="0" err="1"/>
              <a:t>ceux-ci peuvent </a:t>
            </a:r>
            <a:r>
              <a:rPr lang="fr-FR" sz="2000" dirty="0"/>
              <a:t>poursuivre </a:t>
            </a:r>
            <a:r>
              <a:rPr lang="fr-FR" sz="2000" dirty="0" err="1"/>
              <a:t>leur cocontractant </a:t>
            </a:r>
            <a:r>
              <a:rPr lang="fr-FR" sz="2000" dirty="0"/>
              <a:t>(</a:t>
            </a:r>
            <a:r>
              <a:rPr lang="fr-FR" sz="2000" dirty="0" err="1"/>
              <a:t>quel que soit le lieu de résidence </a:t>
            </a:r>
            <a:r>
              <a:rPr lang="fr-FR" sz="2000" dirty="0"/>
              <a:t>ou </a:t>
            </a:r>
            <a:r>
              <a:rPr lang="fr-FR" sz="2000" dirty="0" err="1"/>
              <a:t>la nationalité de ce dernier</a:t>
            </a:r>
            <a:r>
              <a:rPr lang="fr-FR" sz="2000" dirty="0"/>
              <a:t>) devant </a:t>
            </a:r>
            <a:r>
              <a:rPr lang="fr-FR" sz="2000" dirty="0" err="1"/>
              <a:t>leurs </a:t>
            </a:r>
            <a:r>
              <a:rPr lang="fr-FR" sz="2000" dirty="0"/>
              <a:t>tribunaux nationaux (</a:t>
            </a:r>
            <a:r>
              <a:rPr lang="fr-FR" sz="2000" dirty="0" err="1"/>
              <a:t>dans </a:t>
            </a:r>
            <a:r>
              <a:rPr lang="fr-FR" sz="2000" dirty="0"/>
              <a:t>leur pays d'origine).</a:t>
            </a:r>
          </a:p>
          <a:p>
            <a:r>
              <a:rPr lang="fr-FR" sz="2000" dirty="0"/>
              <a:t>Une exception à </a:t>
            </a:r>
            <a:r>
              <a:rPr lang="fr-FR" sz="2000" dirty="0" err="1"/>
              <a:t>la souveraineté</a:t>
            </a:r>
            <a:r>
              <a:rPr lang="fr-FR" sz="2000" dirty="0"/>
              <a:t> des États et </a:t>
            </a:r>
            <a:r>
              <a:rPr lang="fr-FR" sz="2000" dirty="0" err="1"/>
              <a:t>au privilège </a:t>
            </a:r>
            <a:r>
              <a:rPr lang="fr-FR" sz="2000" dirty="0"/>
              <a:t>accordé </a:t>
            </a:r>
            <a:r>
              <a:rPr lang="fr-FR" sz="2000" dirty="0" err="1"/>
              <a:t>aux ressortissants nationaux </a:t>
            </a:r>
            <a:r>
              <a:rPr lang="fr-FR" sz="2000" dirty="0"/>
              <a:t>: </a:t>
            </a:r>
            <a:r>
              <a:rPr lang="fr-FR" sz="2000" dirty="0" err="1"/>
              <a:t>le règlement </a:t>
            </a:r>
            <a:r>
              <a:rPr lang="fr-FR" sz="2000" dirty="0"/>
              <a:t>(CE) n° 44/2001 du Conseil du 22 </a:t>
            </a:r>
            <a:r>
              <a:rPr lang="fr-FR" sz="2000" dirty="0" err="1"/>
              <a:t>décembre</a:t>
            </a:r>
            <a:r>
              <a:rPr lang="fr-FR" sz="2000" dirty="0"/>
              <a:t> 2000 concernant </a:t>
            </a:r>
            <a:r>
              <a:rPr lang="fr-FR" sz="2000" dirty="0" err="1"/>
              <a:t>la compétence judiciaire</a:t>
            </a:r>
            <a:r>
              <a:rPr lang="fr-FR" sz="2000" dirty="0"/>
              <a:t>, la reconnaissance et </a:t>
            </a:r>
            <a:r>
              <a:rPr lang="fr-FR" sz="2000" dirty="0" err="1"/>
              <a:t>l'exécution </a:t>
            </a:r>
            <a:r>
              <a:rPr lang="fr-FR" sz="2000" dirty="0"/>
              <a:t>des </a:t>
            </a:r>
            <a:r>
              <a:rPr lang="fr-FR" sz="2000" dirty="0" err="1"/>
              <a:t>décisions </a:t>
            </a:r>
            <a:r>
              <a:rPr lang="fr-FR" sz="2000" dirty="0"/>
              <a:t>en </a:t>
            </a:r>
            <a:r>
              <a:rPr lang="fr-FR" sz="2000" dirty="0" err="1"/>
              <a:t>matière</a:t>
            </a:r>
            <a:r>
              <a:rPr lang="fr-FR" sz="2000" dirty="0"/>
              <a:t> civile et commerciale, </a:t>
            </a:r>
            <a:r>
              <a:rPr lang="fr-FR" sz="2000" dirty="0" err="1"/>
              <a:t>applicable </a:t>
            </a:r>
            <a:r>
              <a:rPr lang="fr-FR" sz="2000" u="sng" dirty="0"/>
              <a:t>dans l'UE (Bruxelles I)</a:t>
            </a:r>
          </a:p>
          <a:p>
            <a:r>
              <a:rPr lang="fr-FR" sz="2000" dirty="0" err="1"/>
              <a:t>Modifié </a:t>
            </a:r>
            <a:r>
              <a:rPr lang="fr-FR" sz="2000" dirty="0"/>
              <a:t>par le règlement 1215/2012, applicable depuis le 10 </a:t>
            </a:r>
            <a:r>
              <a:rPr lang="fr-FR" sz="2000" dirty="0" err="1"/>
              <a:t>janvier</a:t>
            </a:r>
            <a:r>
              <a:rPr lang="fr-FR" sz="2000" dirty="0"/>
              <a:t> 2015.</a:t>
            </a:r>
          </a:p>
          <a:p>
            <a:r>
              <a:rPr lang="fr-FR" sz="2000" dirty="0" err="1"/>
              <a:t>Supprime </a:t>
            </a:r>
            <a:r>
              <a:rPr lang="fr-FR" sz="2000" dirty="0"/>
              <a:t>le </a:t>
            </a:r>
            <a:r>
              <a:rPr lang="fr-FR" sz="2000" dirty="0" err="1"/>
              <a:t>privilège </a:t>
            </a:r>
            <a:r>
              <a:rPr lang="fr-FR" sz="2000" dirty="0"/>
              <a:t>des </a:t>
            </a:r>
            <a:r>
              <a:rPr lang="fr-FR" sz="2000" dirty="0" err="1"/>
              <a:t>ressortissants</a:t>
            </a:r>
            <a:endParaRPr lang="fr-FR" sz="2000" dirty="0"/>
          </a:p>
          <a:p>
            <a:r>
              <a:rPr lang="fr-FR" sz="2000" dirty="0"/>
              <a:t>Impose le </a:t>
            </a:r>
            <a:r>
              <a:rPr lang="fr-FR" sz="2000" dirty="0" err="1"/>
              <a:t>principe </a:t>
            </a:r>
            <a:r>
              <a:rPr lang="fr-FR" sz="2000" dirty="0"/>
              <a:t>de </a:t>
            </a:r>
            <a:r>
              <a:rPr lang="fr-FR" sz="2000" dirty="0" err="1"/>
              <a:t>la compétence </a:t>
            </a:r>
            <a:r>
              <a:rPr lang="fr-FR" sz="2000" dirty="0"/>
              <a:t>du tribunal </a:t>
            </a:r>
            <a:r>
              <a:rPr lang="fr-FR" sz="2000" dirty="0" err="1"/>
              <a:t>situé </a:t>
            </a:r>
            <a:r>
              <a:rPr lang="fr-FR" sz="2000" dirty="0"/>
              <a:t>dans le pays </a:t>
            </a:r>
            <a:r>
              <a:rPr lang="fr-FR" sz="2000" dirty="0" err="1"/>
              <a:t>où </a:t>
            </a:r>
            <a:r>
              <a:rPr lang="fr-FR" sz="2000" dirty="0"/>
              <a:t>le </a:t>
            </a:r>
            <a:r>
              <a:rPr lang="fr-FR" sz="2000" u="sng" dirty="0" err="1"/>
              <a:t>défendeur </a:t>
            </a:r>
            <a:r>
              <a:rPr lang="fr-FR" sz="2000" dirty="0"/>
              <a:t>a </a:t>
            </a:r>
            <a:r>
              <a:rPr lang="fr-FR" sz="2000" dirty="0" err="1"/>
              <a:t>sa résidence</a:t>
            </a:r>
            <a:r>
              <a:rPr lang="fr-FR" sz="2000" dirty="0"/>
              <a:t>, si le </a:t>
            </a:r>
            <a:r>
              <a:rPr lang="fr-FR" sz="2000" dirty="0" err="1"/>
              <a:t>défendeur </a:t>
            </a:r>
            <a:r>
              <a:rPr lang="fr-FR" sz="2000" dirty="0"/>
              <a:t>a </a:t>
            </a:r>
            <a:r>
              <a:rPr lang="fr-FR" sz="2000" dirty="0" err="1"/>
              <a:t>sa résidence sur </a:t>
            </a:r>
            <a:r>
              <a:rPr lang="fr-FR" sz="2000" dirty="0"/>
              <a:t>le </a:t>
            </a:r>
            <a:r>
              <a:rPr lang="fr-FR" sz="2000" dirty="0" err="1"/>
              <a:t>territoire </a:t>
            </a:r>
            <a:r>
              <a:rPr lang="fr-FR" sz="2000" dirty="0"/>
              <a:t>d'un des États </a:t>
            </a:r>
            <a:r>
              <a:rPr lang="fr-FR" sz="2000" dirty="0" err="1"/>
              <a:t>membres </a:t>
            </a:r>
            <a:r>
              <a:rPr lang="fr-FR" sz="2000" dirty="0"/>
              <a:t>de l'UE.</a:t>
            </a:r>
          </a:p>
          <a:p>
            <a:endParaRPr lang="fr-FR"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000" dirty="0" err="1"/>
              <a:t>Quel </a:t>
            </a:r>
            <a:r>
              <a:rPr lang="fr-FR" sz="2000" dirty="0"/>
              <a:t>forum, </a:t>
            </a:r>
            <a:r>
              <a:rPr lang="fr-FR" sz="2000" dirty="0" err="1"/>
              <a:t>quelle </a:t>
            </a:r>
            <a:r>
              <a:rPr lang="fr-FR" sz="2000" dirty="0"/>
              <a:t>juridiction pour le </a:t>
            </a:r>
            <a:r>
              <a:rPr lang="fr-FR" sz="2000" dirty="0" err="1"/>
              <a:t>règlement </a:t>
            </a:r>
            <a:r>
              <a:rPr lang="fr-FR" sz="2000" dirty="0"/>
              <a:t>des litiges </a:t>
            </a:r>
            <a:r>
              <a:rPr lang="fr-FR" sz="2000" dirty="0" err="1"/>
              <a:t>contractuels </a:t>
            </a:r>
            <a:r>
              <a:rPr lang="fr-FR" sz="2000" dirty="0"/>
              <a:t>? </a:t>
            </a:r>
            <a:r>
              <a:rPr lang="fr-FR" sz="2000" dirty="0" err="1"/>
              <a:t>Suite</a:t>
            </a:r>
            <a:endParaRPr lang="fr-FR" sz="2000" dirty="0"/>
          </a:p>
        </p:txBody>
      </p:sp>
      <p:sp>
        <p:nvSpPr>
          <p:cNvPr id="3" name="Espace réservé du contenu 2"/>
          <p:cNvSpPr>
            <a:spLocks noGrp="1"/>
          </p:cNvSpPr>
          <p:nvPr>
            <p:ph idx="1"/>
          </p:nvPr>
        </p:nvSpPr>
        <p:spPr>
          <a:xfrm>
            <a:off x="323528" y="2015733"/>
            <a:ext cx="8568951" cy="3861539"/>
          </a:xfrm>
        </p:spPr>
        <p:txBody>
          <a:bodyPr>
            <a:normAutofit fontScale="77500" lnSpcReduction="20000"/>
          </a:bodyPr>
          <a:lstStyle/>
          <a:p>
            <a:r>
              <a:rPr lang="fr-FR" sz="2000" dirty="0"/>
              <a:t>Mais </a:t>
            </a:r>
            <a:r>
              <a:rPr lang="fr-FR" sz="2000" dirty="0" err="1"/>
              <a:t>ce </a:t>
            </a:r>
            <a:r>
              <a:rPr lang="fr-FR" sz="2000" dirty="0"/>
              <a:t>n'</a:t>
            </a:r>
            <a:r>
              <a:rPr lang="fr-FR" sz="2000" dirty="0" err="1"/>
              <a:t>est </a:t>
            </a:r>
            <a:r>
              <a:rPr lang="fr-FR" sz="2000" dirty="0"/>
              <a:t>pas la </a:t>
            </a:r>
            <a:r>
              <a:rPr lang="fr-FR" sz="2000" dirty="0" err="1"/>
              <a:t>seule possibilité</a:t>
            </a:r>
            <a:r>
              <a:rPr lang="fr-FR" sz="2000" dirty="0"/>
              <a:t>...</a:t>
            </a:r>
          </a:p>
          <a:p>
            <a:r>
              <a:rPr lang="fr-FR" sz="2000" dirty="0" err="1"/>
              <a:t>Le règlement </a:t>
            </a:r>
            <a:r>
              <a:rPr lang="fr-FR" sz="2000" dirty="0"/>
              <a:t>(CE) n° 44/2001 du Conseil du 22 </a:t>
            </a:r>
            <a:r>
              <a:rPr lang="fr-FR" sz="2000" dirty="0" err="1"/>
              <a:t>décembre</a:t>
            </a:r>
            <a:r>
              <a:rPr lang="fr-FR" sz="2000" dirty="0"/>
              <a:t> 2000 concernant la compétence judiciaire... </a:t>
            </a:r>
            <a:r>
              <a:rPr lang="fr-FR" sz="2000" dirty="0" err="1"/>
              <a:t>prévoit également que </a:t>
            </a:r>
            <a:r>
              <a:rPr lang="fr-FR" sz="2000" dirty="0"/>
              <a:t>:</a:t>
            </a:r>
          </a:p>
          <a:p>
            <a:r>
              <a:rPr lang="fr-FR" sz="2000" dirty="0"/>
              <a:t>Une </a:t>
            </a:r>
            <a:r>
              <a:rPr lang="fr-FR" sz="2000" dirty="0" err="1"/>
              <a:t>personne domiciliée </a:t>
            </a:r>
            <a:r>
              <a:rPr lang="fr-FR" sz="2000" dirty="0"/>
              <a:t>dans un État </a:t>
            </a:r>
            <a:r>
              <a:rPr lang="fr-FR" sz="2000" dirty="0" err="1"/>
              <a:t>membre peut être attrait </a:t>
            </a:r>
            <a:r>
              <a:rPr lang="fr-FR" sz="2000" dirty="0"/>
              <a:t>dans un</a:t>
            </a:r>
            <a:r>
              <a:rPr lang="fr-FR" sz="2000" dirty="0" err="1"/>
              <a:t> autre </a:t>
            </a:r>
            <a:r>
              <a:rPr lang="fr-FR" sz="2000" dirty="0"/>
              <a:t>État </a:t>
            </a:r>
            <a:r>
              <a:rPr lang="fr-FR" sz="2000" dirty="0" err="1"/>
              <a:t>membre </a:t>
            </a:r>
            <a:r>
              <a:rPr lang="fr-FR" sz="2000" dirty="0"/>
              <a:t>:</a:t>
            </a:r>
          </a:p>
          <a:p>
            <a:r>
              <a:rPr lang="fr-FR" sz="2000" dirty="0"/>
              <a:t>1. a) </a:t>
            </a:r>
            <a:r>
              <a:rPr lang="fr-FR" sz="2000" u="sng" dirty="0"/>
              <a:t>en </a:t>
            </a:r>
            <a:r>
              <a:rPr lang="fr-FR" sz="2000" u="sng" dirty="0" err="1"/>
              <a:t>matière </a:t>
            </a:r>
            <a:r>
              <a:rPr lang="fr-FR" sz="2000" b="1" dirty="0" err="1"/>
              <a:t>contractuelle</a:t>
            </a:r>
            <a:r>
              <a:rPr lang="fr-FR" sz="2000" b="1" dirty="0"/>
              <a:t>, </a:t>
            </a:r>
            <a:r>
              <a:rPr lang="fr-FR" sz="2000" dirty="0"/>
              <a:t>devant les tribunaux du lieu d'exécution de l'obligation en cause ;</a:t>
            </a:r>
          </a:p>
          <a:p>
            <a:r>
              <a:rPr lang="fr-FR" sz="2000" dirty="0"/>
              <a:t>(b) aux </a:t>
            </a:r>
            <a:r>
              <a:rPr lang="fr-FR" sz="2000" dirty="0" err="1"/>
              <a:t>fins </a:t>
            </a:r>
            <a:r>
              <a:rPr lang="fr-FR" sz="2000" dirty="0"/>
              <a:t>de la</a:t>
            </a:r>
            <a:r>
              <a:rPr lang="fr-FR" sz="2000" dirty="0" err="1"/>
              <a:t> présente </a:t>
            </a:r>
            <a:r>
              <a:rPr lang="fr-FR" sz="2000" dirty="0"/>
              <a:t>disposition et </a:t>
            </a:r>
            <a:r>
              <a:rPr lang="fr-FR" sz="2000" dirty="0" err="1"/>
              <a:t>sauf convention contraire</a:t>
            </a:r>
            <a:r>
              <a:rPr lang="fr-FR" sz="2000" dirty="0"/>
              <a:t>, le lieu d'exécution de l'obligation en question </a:t>
            </a:r>
            <a:r>
              <a:rPr lang="fr-FR" sz="2000" dirty="0" err="1"/>
              <a:t>est </a:t>
            </a:r>
            <a:r>
              <a:rPr lang="fr-FR" sz="2000" dirty="0"/>
              <a:t>:</a:t>
            </a:r>
          </a:p>
          <a:p>
            <a:r>
              <a:rPr lang="fr-FR" sz="2000" dirty="0"/>
              <a:t>- dans le cas de la vente de </a:t>
            </a:r>
            <a:r>
              <a:rPr lang="fr-FR" sz="2000" dirty="0" err="1"/>
              <a:t>biens</a:t>
            </a:r>
            <a:r>
              <a:rPr lang="fr-FR" sz="2000" dirty="0"/>
              <a:t>, le lieu dans un État </a:t>
            </a:r>
            <a:r>
              <a:rPr lang="fr-FR" sz="2000" dirty="0" err="1"/>
              <a:t>membre où</a:t>
            </a:r>
            <a:r>
              <a:rPr lang="fr-FR" sz="2000" dirty="0"/>
              <a:t>, </a:t>
            </a:r>
            <a:r>
              <a:rPr lang="fr-FR" sz="2000" dirty="0" err="1"/>
              <a:t>en vertu </a:t>
            </a:r>
            <a:r>
              <a:rPr lang="fr-FR" sz="2000" dirty="0"/>
              <a:t>du </a:t>
            </a:r>
            <a:r>
              <a:rPr lang="fr-FR" sz="2000" dirty="0" err="1"/>
              <a:t>contrat</a:t>
            </a:r>
            <a:r>
              <a:rPr lang="fr-FR" sz="2000" dirty="0"/>
              <a:t>, </a:t>
            </a:r>
            <a:r>
              <a:rPr lang="fr-FR" sz="2000" u="sng" dirty="0"/>
              <a:t>les </a:t>
            </a:r>
            <a:r>
              <a:rPr lang="fr-FR" sz="2000" u="sng" dirty="0" err="1"/>
              <a:t>biens ont été livrés </a:t>
            </a:r>
            <a:r>
              <a:rPr lang="fr-FR" sz="2000" u="sng" dirty="0"/>
              <a:t>ou auraient dû être </a:t>
            </a:r>
            <a:r>
              <a:rPr lang="fr-FR" sz="2000" u="sng" dirty="0" err="1"/>
              <a:t>livrés</a:t>
            </a:r>
            <a:r>
              <a:rPr lang="fr-FR" sz="2000" dirty="0"/>
              <a:t>,</a:t>
            </a:r>
          </a:p>
          <a:p>
            <a:r>
              <a:rPr lang="fr-FR" sz="2000" dirty="0"/>
              <a:t>- en cas de prestation de services, le lieu dans un État </a:t>
            </a:r>
            <a:r>
              <a:rPr lang="fr-FR" sz="2000" dirty="0" err="1"/>
              <a:t>membre où</a:t>
            </a:r>
            <a:r>
              <a:rPr lang="fr-FR" sz="2000" dirty="0"/>
              <a:t>, </a:t>
            </a:r>
            <a:r>
              <a:rPr lang="fr-FR" sz="2000" dirty="0" err="1"/>
              <a:t>en vertu </a:t>
            </a:r>
            <a:r>
              <a:rPr lang="fr-FR" sz="2000" dirty="0"/>
              <a:t>du </a:t>
            </a:r>
            <a:r>
              <a:rPr lang="fr-FR" sz="2000" dirty="0" err="1"/>
              <a:t>contrat</a:t>
            </a:r>
            <a:r>
              <a:rPr lang="fr-FR" sz="2000" dirty="0"/>
              <a:t>, </a:t>
            </a:r>
            <a:r>
              <a:rPr lang="fr-FR" sz="2000" u="sng" dirty="0"/>
              <a:t>les services </a:t>
            </a:r>
            <a:r>
              <a:rPr lang="fr-FR" sz="2000" u="sng" dirty="0" err="1"/>
              <a:t>ont été fournis </a:t>
            </a:r>
            <a:r>
              <a:rPr lang="fr-FR" sz="2000" u="sng" dirty="0"/>
              <a:t>ou auraient dû être </a:t>
            </a:r>
            <a:r>
              <a:rPr lang="fr-FR" sz="2000" u="sng" dirty="0" err="1"/>
              <a:t>fournis</a:t>
            </a:r>
            <a:r>
              <a:rPr lang="fr-FR" sz="2000" dirty="0"/>
              <a:t>.</a:t>
            </a:r>
          </a:p>
          <a:p>
            <a:endParaRPr lang="fr-FR"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91680" y="692696"/>
            <a:ext cx="6571343" cy="1049235"/>
          </a:xfrm>
        </p:spPr>
        <p:txBody>
          <a:bodyPr>
            <a:normAutofit/>
          </a:bodyPr>
          <a:lstStyle/>
          <a:p>
            <a:r>
              <a:rPr lang="fr-FR" sz="2000" dirty="0" err="1"/>
              <a:t>Contrats conclus avec </a:t>
            </a:r>
            <a:r>
              <a:rPr lang="fr-FR" sz="2000" dirty="0"/>
              <a:t>les consommateurs et </a:t>
            </a:r>
            <a:r>
              <a:rPr lang="fr-FR" sz="2000" dirty="0" err="1"/>
              <a:t>compétence juridictionnelle</a:t>
            </a:r>
            <a:endParaRPr lang="fr-FR" sz="2000" dirty="0"/>
          </a:p>
        </p:txBody>
      </p:sp>
      <p:sp>
        <p:nvSpPr>
          <p:cNvPr id="3" name="Espace réservé du contenu 2"/>
          <p:cNvSpPr>
            <a:spLocks noGrp="1"/>
          </p:cNvSpPr>
          <p:nvPr>
            <p:ph idx="1"/>
          </p:nvPr>
        </p:nvSpPr>
        <p:spPr>
          <a:xfrm>
            <a:off x="251521" y="2015733"/>
            <a:ext cx="8712968" cy="3861539"/>
          </a:xfrm>
        </p:spPr>
        <p:txBody>
          <a:bodyPr>
            <a:normAutofit/>
          </a:bodyPr>
          <a:lstStyle/>
          <a:p>
            <a:r>
              <a:rPr lang="fr-FR" sz="1400" dirty="0" err="1"/>
              <a:t>Compétence </a:t>
            </a:r>
            <a:r>
              <a:rPr lang="fr-FR" sz="1400" dirty="0"/>
              <a:t>en matière de </a:t>
            </a:r>
            <a:r>
              <a:rPr lang="fr-FR" sz="1400" b="1" dirty="0" err="1"/>
              <a:t>contrats</a:t>
            </a:r>
            <a:r>
              <a:rPr lang="fr-FR" sz="1400" b="1" dirty="0"/>
              <a:t> conclus avec des consommateurs</a:t>
            </a:r>
          </a:p>
          <a:p>
            <a:r>
              <a:rPr lang="fr-FR" sz="1400" dirty="0"/>
              <a:t>Article 15</a:t>
            </a:r>
          </a:p>
          <a:p>
            <a:r>
              <a:rPr lang="fr-FR" sz="1400" dirty="0"/>
              <a:t>1. En </a:t>
            </a:r>
            <a:r>
              <a:rPr lang="fr-FR" sz="1400" dirty="0" err="1"/>
              <a:t>matière </a:t>
            </a:r>
            <a:r>
              <a:rPr lang="fr-FR" sz="1400" dirty="0"/>
              <a:t>de </a:t>
            </a:r>
            <a:r>
              <a:rPr lang="fr-FR" sz="1400" dirty="0" err="1"/>
              <a:t>contrats conclus </a:t>
            </a:r>
            <a:r>
              <a:rPr lang="fr-FR" sz="1400" dirty="0"/>
              <a:t>par une </a:t>
            </a:r>
            <a:r>
              <a:rPr lang="fr-FR" sz="1400" dirty="0" err="1"/>
              <a:t>personne</a:t>
            </a:r>
            <a:r>
              <a:rPr lang="fr-FR" sz="1400" dirty="0"/>
              <a:t>, le consommateur, à des </a:t>
            </a:r>
            <a:r>
              <a:rPr lang="fr-FR" sz="1400" dirty="0" err="1"/>
              <a:t>fins qui ne relèvent pas de son activité commerciale </a:t>
            </a:r>
            <a:r>
              <a:rPr lang="fr-FR" sz="1400" dirty="0"/>
              <a:t>ou professionnelle, </a:t>
            </a:r>
            <a:r>
              <a:rPr lang="fr-FR" sz="1400" dirty="0" err="1"/>
              <a:t>la compétence est déterminée </a:t>
            </a:r>
            <a:r>
              <a:rPr lang="fr-FR" sz="1400" dirty="0"/>
              <a:t>par la</a:t>
            </a:r>
            <a:r>
              <a:rPr lang="fr-FR" sz="1400" dirty="0" err="1"/>
              <a:t> présente </a:t>
            </a:r>
            <a:r>
              <a:rPr lang="fr-FR" sz="1400" dirty="0"/>
              <a:t>section, </a:t>
            </a:r>
            <a:r>
              <a:rPr lang="fr-FR" sz="1400" dirty="0" err="1"/>
              <a:t>sans préjudice </a:t>
            </a:r>
            <a:r>
              <a:rPr lang="fr-FR" sz="1400" dirty="0"/>
              <a:t>de l'article 4 et du point 5 de l'article 5, si :</a:t>
            </a:r>
          </a:p>
          <a:p>
            <a:r>
              <a:rPr lang="fr-FR" sz="1400" dirty="0"/>
              <a:t>a) </a:t>
            </a:r>
            <a:r>
              <a:rPr lang="fr-FR" sz="1400" dirty="0" err="1"/>
              <a:t>il s'agit </a:t>
            </a:r>
            <a:r>
              <a:rPr lang="fr-FR" sz="1400" dirty="0"/>
              <a:t>d'un </a:t>
            </a:r>
            <a:r>
              <a:rPr lang="fr-FR" sz="1400" dirty="0" err="1"/>
              <a:t>contrat </a:t>
            </a:r>
            <a:r>
              <a:rPr lang="fr-FR" sz="1400" dirty="0"/>
              <a:t>de vente de </a:t>
            </a:r>
            <a:r>
              <a:rPr lang="fr-FR" sz="1400" dirty="0" err="1"/>
              <a:t>biens </a:t>
            </a:r>
            <a:r>
              <a:rPr lang="fr-FR" sz="1400" dirty="0"/>
              <a:t>à </a:t>
            </a:r>
            <a:r>
              <a:rPr lang="fr-FR" sz="1400" dirty="0" err="1"/>
              <a:t>crédit avec paiement échelonné </a:t>
            </a:r>
            <a:r>
              <a:rPr lang="fr-FR" sz="1400" dirty="0"/>
              <a:t>; ou</a:t>
            </a:r>
          </a:p>
          <a:p>
            <a:r>
              <a:rPr lang="fr-FR" sz="1400" dirty="0"/>
              <a:t>b) </a:t>
            </a:r>
            <a:r>
              <a:rPr lang="fr-FR" sz="1400" dirty="0" err="1"/>
              <a:t>il s'agit </a:t>
            </a:r>
            <a:r>
              <a:rPr lang="fr-FR" sz="1400" dirty="0"/>
              <a:t>d'un </a:t>
            </a:r>
            <a:r>
              <a:rPr lang="fr-FR" sz="1400" dirty="0" err="1"/>
              <a:t>contrat </a:t>
            </a:r>
            <a:r>
              <a:rPr lang="fr-FR" sz="1400" dirty="0"/>
              <a:t>de </a:t>
            </a:r>
            <a:r>
              <a:rPr lang="fr-FR" sz="1400" dirty="0" err="1"/>
              <a:t>prêt remboursable </a:t>
            </a:r>
            <a:r>
              <a:rPr lang="fr-FR" sz="1400" dirty="0"/>
              <a:t>par </a:t>
            </a:r>
            <a:r>
              <a:rPr lang="fr-FR" sz="1400" dirty="0" err="1"/>
              <a:t>versements échel</a:t>
            </a:r>
            <a:r>
              <a:rPr lang="fr-FR" sz="1400" dirty="0"/>
              <a:t>onnés ou de </a:t>
            </a:r>
            <a:r>
              <a:rPr lang="fr-FR" sz="1400" dirty="0" err="1"/>
              <a:t>toute autre forme </a:t>
            </a:r>
            <a:r>
              <a:rPr lang="fr-FR" sz="1400" dirty="0"/>
              <a:t>de </a:t>
            </a:r>
            <a:r>
              <a:rPr lang="fr-FR" sz="1400" dirty="0" err="1"/>
              <a:t>crédit </a:t>
            </a:r>
            <a:r>
              <a:rPr lang="fr-FR" sz="1400" dirty="0"/>
              <a:t>destiné à financer la vente de </a:t>
            </a:r>
            <a:r>
              <a:rPr lang="fr-FR" sz="1400" dirty="0" err="1"/>
              <a:t>biens </a:t>
            </a:r>
            <a:r>
              <a:rPr lang="fr-FR" sz="1400" dirty="0"/>
              <a:t>; ou</a:t>
            </a:r>
          </a:p>
          <a:p>
            <a:r>
              <a:rPr lang="fr-FR" sz="1400" dirty="0"/>
              <a:t>c) dans tous les </a:t>
            </a:r>
            <a:r>
              <a:rPr lang="fr-FR" sz="1400" dirty="0" err="1"/>
              <a:t>autres </a:t>
            </a:r>
            <a:r>
              <a:rPr lang="fr-FR" sz="1400" dirty="0"/>
              <a:t>cas, le </a:t>
            </a:r>
            <a:r>
              <a:rPr lang="fr-FR" sz="1400" dirty="0" err="1"/>
              <a:t>contrat </a:t>
            </a:r>
            <a:r>
              <a:rPr lang="fr-FR" sz="1400" dirty="0"/>
              <a:t>a été </a:t>
            </a:r>
            <a:r>
              <a:rPr lang="fr-FR" sz="1400" dirty="0" err="1"/>
              <a:t>conclu avec </a:t>
            </a:r>
            <a:r>
              <a:rPr lang="fr-FR" sz="1400" dirty="0"/>
              <a:t>une </a:t>
            </a:r>
            <a:r>
              <a:rPr lang="fr-FR" sz="1400" dirty="0" err="1"/>
              <a:t>personne qui exerce des activités </a:t>
            </a:r>
            <a:r>
              <a:rPr lang="fr-FR" sz="1400" dirty="0"/>
              <a:t>commerciales ou </a:t>
            </a:r>
            <a:r>
              <a:rPr lang="fr-FR" sz="1400" dirty="0" err="1"/>
              <a:t>professionnelles </a:t>
            </a:r>
            <a:r>
              <a:rPr lang="fr-FR" sz="1400" dirty="0"/>
              <a:t>dans l'État </a:t>
            </a:r>
            <a:r>
              <a:rPr lang="fr-FR" sz="1400" dirty="0" err="1"/>
              <a:t>membre </a:t>
            </a:r>
            <a:r>
              <a:rPr lang="fr-FR" sz="1400" dirty="0"/>
              <a:t>où </a:t>
            </a:r>
            <a:r>
              <a:rPr lang="fr-FR" sz="1400" dirty="0" err="1"/>
              <a:t>le consommateur </a:t>
            </a:r>
            <a:r>
              <a:rPr lang="fr-FR" sz="1400" dirty="0"/>
              <a:t>a son domicile ou, par </a:t>
            </a:r>
            <a:r>
              <a:rPr lang="fr-FR" sz="1400" dirty="0" err="1"/>
              <a:t>tout moyen</a:t>
            </a:r>
            <a:r>
              <a:rPr lang="fr-FR" sz="1400" dirty="0"/>
              <a:t>, dirige </a:t>
            </a:r>
            <a:r>
              <a:rPr lang="fr-FR" sz="1400" dirty="0" err="1"/>
              <a:t>ces activités </a:t>
            </a:r>
            <a:r>
              <a:rPr lang="fr-FR" sz="1400" dirty="0"/>
              <a:t>vers </a:t>
            </a:r>
            <a:r>
              <a:rPr lang="fr-FR" sz="1400" dirty="0" err="1"/>
              <a:t>cet </a:t>
            </a:r>
            <a:r>
              <a:rPr lang="fr-FR" sz="1400" dirty="0"/>
              <a:t>État </a:t>
            </a:r>
            <a:r>
              <a:rPr lang="fr-FR" sz="1400" dirty="0" err="1"/>
              <a:t>membre </a:t>
            </a:r>
            <a:r>
              <a:rPr lang="fr-FR" sz="1400" dirty="0"/>
              <a:t>ou vers </a:t>
            </a:r>
            <a:r>
              <a:rPr lang="fr-FR" sz="1400" dirty="0" err="1"/>
              <a:t>plusieurs </a:t>
            </a:r>
            <a:r>
              <a:rPr lang="fr-FR" sz="1400" dirty="0"/>
              <a:t>États, </a:t>
            </a:r>
            <a:r>
              <a:rPr lang="fr-FR" sz="1400" dirty="0" err="1"/>
              <a:t>dont cet </a:t>
            </a:r>
            <a:r>
              <a:rPr lang="fr-FR" sz="1400" dirty="0"/>
              <a:t>État </a:t>
            </a:r>
            <a:r>
              <a:rPr lang="fr-FR" sz="1400" dirty="0" err="1"/>
              <a:t>membre</a:t>
            </a:r>
            <a:r>
              <a:rPr lang="fr-FR" sz="1400" dirty="0"/>
              <a:t>, et le </a:t>
            </a:r>
            <a:r>
              <a:rPr lang="fr-FR" sz="1400" dirty="0" err="1"/>
              <a:t>contrat entre dans </a:t>
            </a:r>
            <a:r>
              <a:rPr lang="fr-FR" sz="1400" dirty="0"/>
              <a:t>le cadre de </a:t>
            </a:r>
            <a:r>
              <a:rPr lang="fr-FR" sz="1400" dirty="0" err="1"/>
              <a:t>ces activités</a:t>
            </a:r>
            <a:r>
              <a:rPr lang="fr-FR" sz="1400" dirty="0"/>
              <a:t>.</a:t>
            </a:r>
          </a:p>
          <a:p>
            <a:endParaRPr lang="fr-FR"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err="1"/>
              <a:t>Contrats conclus avec </a:t>
            </a:r>
            <a:r>
              <a:rPr lang="fr-FR" sz="2000" dirty="0"/>
              <a:t>les consommateurs et </a:t>
            </a:r>
            <a:r>
              <a:rPr lang="fr-FR" sz="2000" dirty="0" err="1"/>
              <a:t>compétence juridictionnelle </a:t>
            </a:r>
            <a:r>
              <a:rPr lang="fr-FR" sz="2000" dirty="0"/>
              <a:t>(</a:t>
            </a:r>
            <a:r>
              <a:rPr lang="fr-FR" sz="2000" dirty="0" err="1"/>
              <a:t>suite</a:t>
            </a:r>
            <a:r>
              <a:rPr lang="fr-FR" sz="2000" dirty="0"/>
              <a:t>)</a:t>
            </a:r>
          </a:p>
        </p:txBody>
      </p:sp>
      <p:sp>
        <p:nvSpPr>
          <p:cNvPr id="3" name="Espace réservé du contenu 2"/>
          <p:cNvSpPr>
            <a:spLocks noGrp="1"/>
          </p:cNvSpPr>
          <p:nvPr>
            <p:ph idx="1"/>
          </p:nvPr>
        </p:nvSpPr>
        <p:spPr>
          <a:xfrm>
            <a:off x="395536" y="2015733"/>
            <a:ext cx="8568951" cy="3450613"/>
          </a:xfrm>
        </p:spPr>
        <p:txBody>
          <a:bodyPr>
            <a:normAutofit/>
          </a:bodyPr>
          <a:lstStyle/>
          <a:p>
            <a:r>
              <a:rPr lang="fr-FR" sz="1800" dirty="0"/>
              <a:t>Article 16</a:t>
            </a:r>
          </a:p>
          <a:p>
            <a:r>
              <a:rPr lang="fr-FR" sz="1800" dirty="0"/>
              <a:t>1. Le consommateur </a:t>
            </a:r>
            <a:r>
              <a:rPr lang="fr-FR" sz="1800" dirty="0" err="1"/>
              <a:t>peut intenter une action contre </a:t>
            </a:r>
            <a:r>
              <a:rPr lang="fr-FR" sz="1800" dirty="0"/>
              <a:t>l</a:t>
            </a:r>
            <a:r>
              <a:rPr lang="fr-FR" sz="1800" dirty="0" err="1"/>
              <a:t>'autre </a:t>
            </a:r>
            <a:r>
              <a:rPr lang="fr-FR" sz="1800" dirty="0"/>
              <a:t>partie au </a:t>
            </a:r>
            <a:r>
              <a:rPr lang="fr-FR" sz="1800" dirty="0" err="1"/>
              <a:t>contrat </a:t>
            </a:r>
            <a:r>
              <a:rPr lang="fr-FR" sz="1800" u="sng" dirty="0" err="1"/>
              <a:t>soit </a:t>
            </a:r>
            <a:r>
              <a:rPr lang="fr-FR" sz="1800" dirty="0"/>
              <a:t>devant les tribunaux de l'État </a:t>
            </a:r>
            <a:r>
              <a:rPr lang="fr-FR" sz="1800" dirty="0" err="1"/>
              <a:t>membre </a:t>
            </a:r>
            <a:r>
              <a:rPr lang="fr-FR" sz="1800" dirty="0"/>
              <a:t>dans </a:t>
            </a:r>
            <a:r>
              <a:rPr lang="fr-FR" sz="1800" dirty="0" err="1"/>
              <a:t>lequel cette </a:t>
            </a:r>
            <a:r>
              <a:rPr lang="fr-FR" sz="1800" dirty="0"/>
              <a:t>partie </a:t>
            </a:r>
            <a:r>
              <a:rPr lang="fr-FR" sz="1800" dirty="0" err="1"/>
              <a:t>a son domicile</a:t>
            </a:r>
            <a:r>
              <a:rPr lang="fr-FR" sz="1800" dirty="0"/>
              <a:t>, soit devant les tribunaux du lieu </a:t>
            </a:r>
            <a:r>
              <a:rPr lang="fr-FR" sz="1800" dirty="0" err="1"/>
              <a:t>où </a:t>
            </a:r>
            <a:r>
              <a:rPr lang="fr-FR" sz="1800" dirty="0"/>
              <a:t>le consommateur </a:t>
            </a:r>
            <a:r>
              <a:rPr lang="fr-FR" sz="1800" dirty="0" err="1"/>
              <a:t>a son domicile</a:t>
            </a:r>
            <a:r>
              <a:rPr lang="fr-FR" sz="1800" dirty="0"/>
              <a:t>.</a:t>
            </a:r>
          </a:p>
          <a:p>
            <a:r>
              <a:rPr lang="fr-FR" sz="1800" dirty="0"/>
              <a:t>2. </a:t>
            </a:r>
            <a:r>
              <a:rPr lang="fr-FR" sz="1800" u="sng" dirty="0"/>
              <a:t>Les tribunaux de l'État </a:t>
            </a:r>
            <a:r>
              <a:rPr lang="fr-FR" sz="1800" u="sng" dirty="0" err="1"/>
              <a:t>membre </a:t>
            </a:r>
            <a:r>
              <a:rPr lang="fr-FR" sz="1800" u="sng" dirty="0"/>
              <a:t>dans </a:t>
            </a:r>
            <a:r>
              <a:rPr lang="fr-FR" sz="1800" u="sng" dirty="0" err="1"/>
              <a:t>lequel </a:t>
            </a:r>
            <a:r>
              <a:rPr lang="fr-FR" sz="1800" u="sng" dirty="0"/>
              <a:t>le consommateur </a:t>
            </a:r>
            <a:r>
              <a:rPr lang="fr-FR" sz="1800" u="sng" dirty="0" err="1"/>
              <a:t>est domicilié </a:t>
            </a:r>
            <a:r>
              <a:rPr lang="fr-FR" sz="1800" u="sng" dirty="0"/>
              <a:t>sont </a:t>
            </a:r>
            <a:r>
              <a:rPr lang="fr-FR" sz="1800" u="sng" dirty="0" err="1"/>
              <a:t>seuls </a:t>
            </a:r>
            <a:r>
              <a:rPr lang="fr-FR" sz="1800" u="sng" dirty="0"/>
              <a:t>compétents pour connaître</a:t>
            </a:r>
            <a:r>
              <a:rPr lang="fr-FR" sz="1800" dirty="0" err="1"/>
              <a:t> des actions intentées contre </a:t>
            </a:r>
            <a:r>
              <a:rPr lang="fr-FR" sz="1800" dirty="0"/>
              <a:t>un consommateur par </a:t>
            </a:r>
            <a:r>
              <a:rPr lang="fr-FR" sz="1800" dirty="0" err="1"/>
              <a:t>l'autre </a:t>
            </a:r>
            <a:r>
              <a:rPr lang="fr-FR" sz="1800" dirty="0"/>
              <a:t>partie au </a:t>
            </a:r>
            <a:r>
              <a:rPr lang="fr-FR" sz="1800" dirty="0" err="1"/>
              <a:t>contrat.</a:t>
            </a:r>
            <a:endParaRPr lang="fr-FR" sz="1800" u="sng"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err="1"/>
              <a:t>Exécution </a:t>
            </a:r>
            <a:r>
              <a:rPr lang="fr-FR" sz="2000" dirty="0"/>
              <a:t>?</a:t>
            </a:r>
          </a:p>
        </p:txBody>
      </p:sp>
      <p:sp>
        <p:nvSpPr>
          <p:cNvPr id="3" name="Espace réservé du contenu 2"/>
          <p:cNvSpPr>
            <a:spLocks noGrp="1"/>
          </p:cNvSpPr>
          <p:nvPr>
            <p:ph idx="1"/>
          </p:nvPr>
        </p:nvSpPr>
        <p:spPr>
          <a:xfrm>
            <a:off x="395536" y="2015733"/>
            <a:ext cx="8640959" cy="3450613"/>
          </a:xfrm>
        </p:spPr>
        <p:txBody>
          <a:bodyPr>
            <a:normAutofit/>
          </a:bodyPr>
          <a:lstStyle/>
          <a:p>
            <a:r>
              <a:rPr lang="fr-FR" sz="1800" dirty="0" err="1"/>
              <a:t>Lorsque le règlement </a:t>
            </a:r>
            <a:r>
              <a:rPr lang="fr-FR" sz="1800" dirty="0"/>
              <a:t>(CE) n° 44/2001 du Conseil du 22 </a:t>
            </a:r>
            <a:r>
              <a:rPr lang="fr-FR" sz="1800" dirty="0" err="1"/>
              <a:t>décembre</a:t>
            </a:r>
            <a:r>
              <a:rPr lang="fr-FR" sz="1800" dirty="0"/>
              <a:t> 2000 concernant la compétence judiciaire</a:t>
            </a:r>
            <a:r>
              <a:rPr lang="fr-FR" sz="1800" dirty="0" err="1"/>
              <a:t>... s'applique</a:t>
            </a:r>
            <a:r>
              <a:rPr lang="fr-FR" sz="1800" dirty="0"/>
              <a:t>, </a:t>
            </a:r>
            <a:r>
              <a:rPr lang="fr-FR" sz="1800" dirty="0" err="1"/>
              <a:t>toute décision rendue </a:t>
            </a:r>
            <a:r>
              <a:rPr lang="fr-FR" sz="1800" dirty="0"/>
              <a:t>dans un État </a:t>
            </a:r>
            <a:r>
              <a:rPr lang="fr-FR" sz="1800" dirty="0" err="1"/>
              <a:t>membre </a:t>
            </a:r>
            <a:r>
              <a:rPr lang="fr-FR" sz="1800" dirty="0"/>
              <a:t>de l'UE </a:t>
            </a:r>
            <a:r>
              <a:rPr lang="fr-FR" sz="1800" dirty="0" err="1"/>
              <a:t>est considérée </a:t>
            </a:r>
            <a:r>
              <a:rPr lang="fr-FR" sz="1800" dirty="0"/>
              <a:t>comme </a:t>
            </a:r>
            <a:r>
              <a:rPr lang="fr-FR" sz="1800" dirty="0" err="1"/>
              <a:t>valable </a:t>
            </a:r>
            <a:r>
              <a:rPr lang="fr-FR" sz="1800" dirty="0"/>
              <a:t>et </a:t>
            </a:r>
            <a:r>
              <a:rPr lang="fr-FR" sz="1800" dirty="0" err="1"/>
              <a:t>dûment exécutée </a:t>
            </a:r>
            <a:r>
              <a:rPr lang="fr-FR" sz="1800" dirty="0"/>
              <a:t>par </a:t>
            </a:r>
            <a:r>
              <a:rPr lang="fr-FR" sz="1800" dirty="0" err="1"/>
              <a:t>toute autorité</a:t>
            </a:r>
            <a:r>
              <a:rPr lang="fr-FR" sz="1800" dirty="0"/>
              <a:t> d'un autre État membre de l'UE.</a:t>
            </a:r>
          </a:p>
          <a:p>
            <a:r>
              <a:rPr lang="fr-FR" sz="1800" dirty="0" err="1"/>
              <a:t>Il existe </a:t>
            </a:r>
            <a:r>
              <a:rPr lang="fr-FR" sz="1800" dirty="0"/>
              <a:t>une </a:t>
            </a:r>
            <a:r>
              <a:rPr lang="fr-FR" sz="1800" dirty="0" err="1"/>
              <a:t>seule </a:t>
            </a:r>
            <a:r>
              <a:rPr lang="fr-FR" sz="1800" dirty="0"/>
              <a:t>exception, rare dans la pratique, </a:t>
            </a:r>
            <a:r>
              <a:rPr lang="fr-FR" sz="1800" dirty="0" err="1"/>
              <a:t>lorsque </a:t>
            </a:r>
            <a:r>
              <a:rPr lang="fr-FR" sz="1800" dirty="0"/>
              <a:t>la </a:t>
            </a:r>
            <a:r>
              <a:rPr lang="fr-FR" sz="1800" dirty="0" err="1"/>
              <a:t>décision est manifestement contraire </a:t>
            </a:r>
            <a:r>
              <a:rPr lang="fr-FR" sz="1800" dirty="0"/>
              <a:t>à </a:t>
            </a:r>
            <a:r>
              <a:rPr lang="fr-FR" sz="1800" dirty="0" err="1"/>
              <a:t>l'ordre</a:t>
            </a:r>
            <a:r>
              <a:rPr lang="fr-FR" sz="1800" dirty="0"/>
              <a:t> public de l'État dans </a:t>
            </a:r>
            <a:r>
              <a:rPr lang="fr-FR" sz="1800" dirty="0" err="1"/>
              <a:t>lequel elle doit être exécutée.</a:t>
            </a:r>
            <a:endParaRPr lang="fr-FR"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a:t>Clause attributive de </a:t>
            </a:r>
            <a:r>
              <a:rPr lang="fr-FR" sz="2000" dirty="0" err="1"/>
              <a:t>compétence</a:t>
            </a:r>
            <a:endParaRPr lang="fr-FR" sz="2000" dirty="0"/>
          </a:p>
        </p:txBody>
      </p:sp>
      <p:sp>
        <p:nvSpPr>
          <p:cNvPr id="3" name="Espace réservé du contenu 2"/>
          <p:cNvSpPr>
            <a:spLocks noGrp="1"/>
          </p:cNvSpPr>
          <p:nvPr>
            <p:ph idx="1"/>
          </p:nvPr>
        </p:nvSpPr>
        <p:spPr>
          <a:xfrm>
            <a:off x="323528" y="2015733"/>
            <a:ext cx="8640959" cy="4509611"/>
          </a:xfrm>
        </p:spPr>
        <p:txBody>
          <a:bodyPr>
            <a:noAutofit/>
          </a:bodyPr>
          <a:lstStyle/>
          <a:p>
            <a:r>
              <a:rPr lang="fr-FR" sz="1600" dirty="0"/>
              <a:t>Dans </a:t>
            </a:r>
            <a:r>
              <a:rPr lang="fr-FR" sz="1600" dirty="0" err="1"/>
              <a:t>les contrats</a:t>
            </a:r>
            <a:r>
              <a:rPr lang="fr-FR" sz="1600" dirty="0"/>
              <a:t> internationaux, peut-on </a:t>
            </a:r>
            <a:r>
              <a:rPr lang="fr-FR" sz="1600" dirty="0" err="1"/>
              <a:t>éviter </a:t>
            </a:r>
            <a:r>
              <a:rPr lang="fr-FR" sz="1600" dirty="0"/>
              <a:t>la </a:t>
            </a:r>
            <a:r>
              <a:rPr lang="fr-FR" sz="1600" dirty="0" err="1"/>
              <a:t>désignation </a:t>
            </a:r>
            <a:r>
              <a:rPr lang="fr-FR" sz="1600" dirty="0"/>
              <a:t>d'un juge (tribunal) par le simple </a:t>
            </a:r>
            <a:r>
              <a:rPr lang="fr-FR" sz="1600" dirty="0" err="1"/>
              <a:t>effet </a:t>
            </a:r>
            <a:r>
              <a:rPr lang="fr-FR" sz="1600" dirty="0"/>
              <a:t>des </a:t>
            </a:r>
            <a:r>
              <a:rPr lang="fr-FR" sz="1600" dirty="0" err="1"/>
              <a:t>règles contenues </a:t>
            </a:r>
            <a:r>
              <a:rPr lang="fr-FR" sz="1600" dirty="0"/>
              <a:t>dans le </a:t>
            </a:r>
            <a:r>
              <a:rPr lang="fr-FR" sz="1600" dirty="0" err="1"/>
              <a:t>règlement européen </a:t>
            </a:r>
            <a:r>
              <a:rPr lang="fr-FR" sz="1600" dirty="0"/>
              <a:t>?</a:t>
            </a:r>
          </a:p>
          <a:p>
            <a:r>
              <a:rPr lang="fr-FR" sz="1600" dirty="0" err="1"/>
              <a:t>Inclure </a:t>
            </a:r>
            <a:r>
              <a:rPr lang="fr-FR" sz="1600" dirty="0"/>
              <a:t>une disposition prévoyant la </a:t>
            </a:r>
            <a:r>
              <a:rPr lang="fr-FR" sz="1600" dirty="0" err="1"/>
              <a:t>désignation </a:t>
            </a:r>
            <a:r>
              <a:rPr lang="fr-FR" sz="1600" dirty="0"/>
              <a:t>d'une juridiction </a:t>
            </a:r>
            <a:r>
              <a:rPr lang="fr-FR" sz="1600" dirty="0" err="1"/>
              <a:t>spécifique </a:t>
            </a:r>
            <a:r>
              <a:rPr lang="fr-FR" sz="1600" dirty="0"/>
              <a:t>: clause attributive de </a:t>
            </a:r>
            <a:r>
              <a:rPr lang="fr-FR" sz="1600" dirty="0" err="1"/>
              <a:t>compétence</a:t>
            </a:r>
            <a:endParaRPr lang="fr-FR" sz="1600" dirty="0"/>
          </a:p>
          <a:p>
            <a:r>
              <a:rPr lang="fr-FR" sz="1600" dirty="0" err="1"/>
              <a:t>Valable</a:t>
            </a:r>
            <a:endParaRPr lang="fr-FR" sz="1600" dirty="0"/>
          </a:p>
          <a:p>
            <a:r>
              <a:rPr lang="fr-FR" sz="1600" dirty="0"/>
              <a:t>La clause attributive de </a:t>
            </a:r>
            <a:r>
              <a:rPr lang="fr-FR" sz="1600" dirty="0" err="1"/>
              <a:t>compétence est applicable </a:t>
            </a:r>
            <a:r>
              <a:rPr lang="fr-FR" sz="1600" dirty="0"/>
              <a:t>dans </a:t>
            </a:r>
            <a:r>
              <a:rPr lang="fr-FR" sz="1600" dirty="0" err="1"/>
              <a:t>tous </a:t>
            </a:r>
            <a:r>
              <a:rPr lang="fr-FR" sz="1600" dirty="0"/>
              <a:t>les États </a:t>
            </a:r>
            <a:r>
              <a:rPr lang="fr-FR" sz="1600" dirty="0" err="1"/>
              <a:t>membres </a:t>
            </a:r>
            <a:r>
              <a:rPr lang="fr-FR" sz="1600" dirty="0"/>
              <a:t>de l'UE : aucun tribunal de </a:t>
            </a:r>
            <a:r>
              <a:rPr lang="fr-FR" sz="1600" dirty="0" err="1"/>
              <a:t>ces </a:t>
            </a:r>
            <a:r>
              <a:rPr lang="fr-FR" sz="1600" dirty="0"/>
              <a:t>États </a:t>
            </a:r>
            <a:r>
              <a:rPr lang="fr-FR" sz="1600" dirty="0" err="1"/>
              <a:t>ne peut être saisi </a:t>
            </a:r>
            <a:r>
              <a:rPr lang="fr-FR" sz="1600" dirty="0"/>
              <a:t>de l'affaire</a:t>
            </a:r>
          </a:p>
          <a:p>
            <a:r>
              <a:rPr lang="fr-FR" sz="1600" dirty="0"/>
              <a:t>Exceptions : aucune clause de </a:t>
            </a:r>
            <a:r>
              <a:rPr lang="fr-FR" sz="1600" dirty="0" err="1"/>
              <a:t>compétence </a:t>
            </a:r>
            <a:r>
              <a:rPr lang="fr-FR" sz="1600" dirty="0"/>
              <a:t>dans :</a:t>
            </a:r>
          </a:p>
          <a:p>
            <a:r>
              <a:rPr lang="fr-FR" sz="1600" dirty="0" err="1"/>
              <a:t>Contrat de travail</a:t>
            </a:r>
            <a:endParaRPr lang="fr-FR" sz="1600" dirty="0"/>
          </a:p>
          <a:p>
            <a:r>
              <a:rPr lang="fr-FR" sz="1600" dirty="0" err="1"/>
              <a:t>Contrat d'assurance</a:t>
            </a:r>
            <a:endParaRPr lang="fr-FR" sz="1600" dirty="0"/>
          </a:p>
          <a:p>
            <a:r>
              <a:rPr lang="fr-FR" sz="1600" dirty="0" err="1"/>
              <a:t>Contrat</a:t>
            </a:r>
            <a:r>
              <a:rPr lang="fr-FR" sz="1600" dirty="0"/>
              <a:t> de consommation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000" dirty="0"/>
              <a:t>3. Arbitrage</a:t>
            </a:r>
          </a:p>
        </p:txBody>
      </p:sp>
      <p:sp>
        <p:nvSpPr>
          <p:cNvPr id="3" name="Espace réservé du contenu 2"/>
          <p:cNvSpPr>
            <a:spLocks noGrp="1"/>
          </p:cNvSpPr>
          <p:nvPr>
            <p:ph idx="1"/>
          </p:nvPr>
        </p:nvSpPr>
        <p:spPr>
          <a:xfrm>
            <a:off x="395537" y="2015733"/>
            <a:ext cx="8208912" cy="4437603"/>
          </a:xfrm>
        </p:spPr>
        <p:txBody>
          <a:bodyPr>
            <a:noAutofit/>
          </a:bodyPr>
          <a:lstStyle/>
          <a:p>
            <a:r>
              <a:rPr lang="fr-FR" sz="1600" dirty="0" err="1"/>
              <a:t>Qu'est-ce que c'est </a:t>
            </a:r>
            <a:r>
              <a:rPr lang="fr-FR" sz="1600"/>
              <a:t>? </a:t>
            </a:r>
            <a:endParaRPr lang="fr-FR" sz="1600" dirty="0"/>
          </a:p>
          <a:p>
            <a:r>
              <a:rPr lang="fr-FR" sz="1600" dirty="0" err="1"/>
              <a:t>Avantages</a:t>
            </a:r>
            <a:endParaRPr lang="fr-FR" sz="1600" dirty="0"/>
          </a:p>
          <a:p>
            <a:r>
              <a:rPr lang="fr-FR" sz="1600" dirty="0" err="1"/>
              <a:t>Inconvénients</a:t>
            </a:r>
            <a:endParaRPr lang="fr-FR" sz="1600" dirty="0"/>
          </a:p>
          <a:p>
            <a:r>
              <a:rPr lang="fr-FR" sz="1600" dirty="0"/>
              <a:t>Arbitrage </a:t>
            </a:r>
            <a:r>
              <a:rPr lang="fr-FR" sz="1600" dirty="0" err="1"/>
              <a:t>institutionnel</a:t>
            </a:r>
          </a:p>
          <a:p>
            <a:r>
              <a:rPr lang="fr-FR" sz="1600" dirty="0"/>
              <a:t>Arbitrage « ad hoc »</a:t>
            </a:r>
          </a:p>
          <a:p>
            <a:r>
              <a:rPr lang="fr-FR" sz="1600" dirty="0"/>
              <a:t>Paris, 1er forum d'arbitrage au monde</a:t>
            </a:r>
          </a:p>
          <a:p>
            <a:r>
              <a:rPr lang="fr-FR" sz="1600" dirty="0"/>
              <a:t>Clause d'arbitrage</a:t>
            </a:r>
          </a:p>
          <a:p>
            <a:r>
              <a:rPr lang="fr-FR" sz="1600" dirty="0"/>
              <a:t>Contenu</a:t>
            </a:r>
          </a:p>
          <a:p>
            <a:r>
              <a:rPr lang="fr-FR" sz="1600" dirty="0" err="1"/>
              <a:t>Efficacité </a:t>
            </a:r>
            <a:r>
              <a:rPr lang="fr-FR" sz="1600" dirty="0"/>
              <a:t>de l'arbitrage </a:t>
            </a:r>
            <a:r>
              <a:rPr lang="fr-FR" sz="1600" dirty="0" err="1"/>
              <a:t>au sein de </a:t>
            </a:r>
            <a:r>
              <a:rPr lang="fr-FR" sz="1600" dirty="0"/>
              <a:t>l'UE</a:t>
            </a:r>
          </a:p>
          <a:p>
            <a:r>
              <a:rPr lang="fr-FR" sz="1600" dirty="0" err="1"/>
              <a:t>En dehors </a:t>
            </a:r>
            <a:r>
              <a:rPr lang="fr-FR" sz="1600" dirty="0"/>
              <a:t>de l'UE : Convention de New York sur l'arbitrage,  10 </a:t>
            </a:r>
            <a:r>
              <a:rPr lang="fr-FR" sz="1600" dirty="0" err="1"/>
              <a:t>juin</a:t>
            </a:r>
            <a:r>
              <a:rPr lang="fr-FR" sz="1600" dirty="0"/>
              <a:t> 1958</a:t>
            </a:r>
          </a:p>
        </p:txBody>
      </p:sp>
    </p:spTree>
  </p:cSld>
  <p:clrMapOvr>
    <a:masterClrMapping/>
  </p:clrMapOvr>
</p:sld>
</file>

<file path=ppt/theme/theme1.xml><?xml version="1.0" encoding="utf-8"?>
<a:theme xmlns:a="http://schemas.openxmlformats.org/drawingml/2006/main" name="Galerie">
  <a:themeElements>
    <a:clrScheme name="Galerie">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ie">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ie">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382</TotalTime>
  <Words>1919</Words>
  <Application>Microsoft Office PowerPoint</Application>
  <PresentationFormat>Affichage à l'écran (4:3)</PresentationFormat>
  <Paragraphs>100</Paragraphs>
  <Slides>17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Arial</vt:lpstr>
      <vt:lpstr>Calibri</vt:lpstr>
      <vt:lpstr>Gill Sans MT</vt:lpstr>
      <vt:lpstr>Galerie</vt:lpstr>
      <vt:lpstr>Contrats internationaux  principaux aspects juridiques</vt:lpstr>
      <vt:lpstr>Questions clés</vt:lpstr>
      <vt:lpstr>1. Quelle loi s'applique à un contrat international ?</vt:lpstr>
      <vt:lpstr>1.1 Liberté de choisir la loi applicable à un contrat international</vt:lpstr>
      <vt:lpstr>1.2 Droit applicable en l'absence de choix</vt:lpstr>
      <vt:lpstr>1.2 Loi applicable en l'absence de choix</vt:lpstr>
      <vt:lpstr>1.3 Exceptions à Rome 1 : certaines dispositions spécifiques pour certaines catégories de contrats</vt:lpstr>
      <vt:lpstr> contrats de travail à Rome 1, poursuite </vt:lpstr>
      <vt:lpstr>L'exception des contrats conclus avec des consommateurs</vt:lpstr>
      <vt:lpstr>Contrats conclus avec des consommateurs, suite</vt:lpstr>
      <vt:lpstr>2. Quel forum, quelle juridiction pour le règlement des litiges contractuels ?</vt:lpstr>
      <vt:lpstr>Quel forum, quelle juridiction pour le règlement des litiges contractuels ? Suite</vt:lpstr>
      <vt:lpstr>Contrats conclus avec les consommateurs et compétence juridictionnelle</vt:lpstr>
      <vt:lpstr>Contrats conclus avec les consommateurs et compétence juridictionnelle (suite)</vt:lpstr>
      <vt:lpstr>Exécution ?</vt:lpstr>
      <vt:lpstr>Clause attributive de compétence</vt:lpstr>
      <vt:lpstr>3. Arbitrage</vt:lpstr>
    </vt:vector>
  </TitlesOfParts>
  <Company>CCIP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contract  Legal key issues</dc:title>
  <dc:creator>USER</dc:creator>
  <cp:keywords>, docId:706CCA5BCDD18B888F1FD48DCB789DB8</cp:keywords>
  <cp:lastModifiedBy>CORRUBLE Philippe</cp:lastModifiedBy>
  <cp:revision>63</cp:revision>
  <dcterms:created xsi:type="dcterms:W3CDTF">2014-08-30T07:48:26Z</dcterms:created>
  <dcterms:modified xsi:type="dcterms:W3CDTF">2025-08-25T15:51:25Z</dcterms:modified>
</cp:coreProperties>
</file>