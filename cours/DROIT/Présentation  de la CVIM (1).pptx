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2" r:id="rId1"/>
  </p:sldMasterIdLst>
  <p:sldIdLst>
    <p:sldId id="256" r:id="rId2"/>
    <p:sldId id="257" r:id="rId3"/>
    <p:sldId id="261" r:id="rId4"/>
    <p:sldId id="258" r:id="rId5"/>
    <p:sldId id="259" r:id="rId6"/>
    <p:sldId id="260"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1" d="100"/>
          <a:sy n="81" d="100"/>
        </p:scale>
        <p:origin x="72" y="124"/>
      </p:cViewPr>
      <p:guideLst/>
    </p:cSldViewPr>
  </p:slideViewPr>
  <p:notesTextViewPr>
    <p:cViewPr>
      <p:scale>
        <a:sx n="1" d="1"/>
        <a:sy n="1" d="1"/>
      </p:scale>
      <p:origin x="0" y="0"/>
    </p:cViewPr>
  </p:notesTextViewPr>
  <p:sorterViewPr>
    <p:cViewPr>
      <p:scale>
        <a:sx n="100" d="100"/>
        <a:sy n="100" d="100"/>
      </p:scale>
      <p:origin x="0" y="-228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fr-FR"/>
              <a:t>Modifiez le style du titre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lvl1pPr algn="l">
              <a:defRPr/>
            </a:lvl1pPr>
          </a:lstStyle>
          <a:p>
            <a:fld id="{684F439A-2F43-42F2-8EA2-7B6653C351F0}" type="datetimeFigureOut">
              <a:rPr lang="fr-FR" smtClean="0"/>
              <a:t>25/08/2025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150244-4BB0-4C51-84BD-047DDBA18E81}" type="slidenum">
              <a:rPr lang="fr-FR" smtClean="0"/>
              <a:t>‹N°›</a:t>
            </a:fld>
            <a:endParaRPr lang="fr-F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2949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84F439A-2F43-42F2-8EA2-7B6653C351F0}" type="datetimeFigureOut">
              <a:rPr lang="fr-FR" smtClean="0"/>
              <a:t>25/08/2025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150244-4BB0-4C51-84BD-047DDBA18E81}" type="slidenum">
              <a:rPr lang="fr-FR" smtClean="0"/>
              <a:t>‹N°›</a:t>
            </a:fld>
            <a:endParaRPr lang="fr-FR"/>
          </a:p>
        </p:txBody>
      </p:sp>
    </p:spTree>
    <p:extLst>
      <p:ext uri="{BB962C8B-B14F-4D97-AF65-F5344CB8AC3E}">
        <p14:creationId xmlns:p14="http://schemas.microsoft.com/office/powerpoint/2010/main" val="1879403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fr-FR"/>
              <a:t>Modifiez le style du titre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684F439A-2F43-42F2-8EA2-7B6653C351F0}" type="datetimeFigureOut">
              <a:rPr lang="fr-FR" smtClean="0"/>
              <a:t>25/08/2025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150244-4BB0-4C51-84BD-047DDBA18E81}" type="slidenum">
              <a:rPr lang="fr-FR" smtClean="0"/>
              <a:t>‹N°›</a:t>
            </a:fld>
            <a:endParaRPr lang="fr-F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1934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fr-FR"/>
              <a:t>Modifiez le style du titre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684F439A-2F43-42F2-8EA2-7B6653C351F0}" type="datetimeFigureOut">
              <a:rPr lang="fr-FR" smtClean="0"/>
              <a:t>25/08/2025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9150244-4BB0-4C51-84BD-047DDBA18E81}" type="slidenum">
              <a:rPr lang="fr-FR" smtClean="0"/>
              <a:t>‹N°›</a:t>
            </a:fld>
            <a:endParaRPr lang="fr-FR"/>
          </a:p>
        </p:txBody>
      </p:sp>
    </p:spTree>
    <p:extLst>
      <p:ext uri="{BB962C8B-B14F-4D97-AF65-F5344CB8AC3E}">
        <p14:creationId xmlns:p14="http://schemas.microsoft.com/office/powerpoint/2010/main" val="2653201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024128" y="2967788"/>
            <a:ext cx="4754880" cy="33415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fr-FR"/>
              <a:t>Cliquez pour modifier les styles du texte du masque</a:t>
            </a:r>
          </a:p>
        </p:txBody>
      </p:sp>
      <p:sp>
        <p:nvSpPr>
          <p:cNvPr id="6" name="Content Placeholder 5"/>
          <p:cNvSpPr>
            <a:spLocks noGrp="1"/>
          </p:cNvSpPr>
          <p:nvPr>
            <p:ph sz="quarter" idx="4"/>
          </p:nvPr>
        </p:nvSpPr>
        <p:spPr>
          <a:xfrm>
            <a:off x="5990888" y="2967788"/>
            <a:ext cx="4754880" cy="33415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684F439A-2F43-42F2-8EA2-7B6653C351F0}" type="datetimeFigureOut">
              <a:rPr lang="fr-FR" smtClean="0"/>
              <a:t>25/08/2025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9150244-4BB0-4C51-84BD-047DDBA18E81}" type="slidenum">
              <a:rPr lang="fr-FR" smtClean="0"/>
              <a:t>‹N°›</a:t>
            </a:fld>
            <a:endParaRPr lang="fr-FR"/>
          </a:p>
        </p:txBody>
      </p:sp>
    </p:spTree>
    <p:extLst>
      <p:ext uri="{BB962C8B-B14F-4D97-AF65-F5344CB8AC3E}">
        <p14:creationId xmlns:p14="http://schemas.microsoft.com/office/powerpoint/2010/main" val="755151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84F439A-2F43-42F2-8EA2-7B6653C351F0}" type="datetimeFigureOut">
              <a:rPr lang="fr-FR" smtClean="0"/>
              <a:t>25/08/2025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19150244-4BB0-4C51-84BD-047DDBA18E81}" type="slidenum">
              <a:rPr lang="fr-FR" smtClean="0"/>
              <a:t>‹N°›</a:t>
            </a:fld>
            <a:endParaRPr lang="fr-FR"/>
          </a:p>
        </p:txBody>
      </p:sp>
    </p:spTree>
    <p:extLst>
      <p:ext uri="{BB962C8B-B14F-4D97-AF65-F5344CB8AC3E}">
        <p14:creationId xmlns:p14="http://schemas.microsoft.com/office/powerpoint/2010/main" val="37493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4F439A-2F43-42F2-8EA2-7B6653C351F0}" type="datetimeFigureOut">
              <a:rPr lang="fr-FR" smtClean="0"/>
              <a:t>25/08/2025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9150244-4BB0-4C51-84BD-047DDBA18E81}" type="slidenum">
              <a:rPr lang="fr-FR" smtClean="0"/>
              <a:t>‹N°›</a:t>
            </a:fld>
            <a:endParaRPr lang="fr-FR"/>
          </a:p>
        </p:txBody>
      </p:sp>
    </p:spTree>
    <p:extLst>
      <p:ext uri="{BB962C8B-B14F-4D97-AF65-F5344CB8AC3E}">
        <p14:creationId xmlns:p14="http://schemas.microsoft.com/office/powerpoint/2010/main" val="3236541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fr-FR"/>
              <a:t>Modifiez le style du titre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684F439A-2F43-42F2-8EA2-7B6653C351F0}" type="datetimeFigureOut">
              <a:rPr lang="fr-FR" smtClean="0"/>
              <a:t>25/08/2025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9150244-4BB0-4C51-84BD-047DDBA18E81}" type="slidenum">
              <a:rPr lang="fr-FR" smtClean="0"/>
              <a:t>‹N°›</a:t>
            </a:fld>
            <a:endParaRPr lang="fr-FR"/>
          </a:p>
        </p:txBody>
      </p:sp>
    </p:spTree>
    <p:extLst>
      <p:ext uri="{BB962C8B-B14F-4D97-AF65-F5344CB8AC3E}">
        <p14:creationId xmlns:p14="http://schemas.microsoft.com/office/powerpoint/2010/main" val="1522743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fr-FR"/>
              <a:t>Modifiez le style du titre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684F439A-2F43-42F2-8EA2-7B6653C351F0}" type="datetimeFigureOut">
              <a:rPr lang="fr-FR" smtClean="0"/>
              <a:t>25/08/2025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9150244-4BB0-4C51-84BD-047DDBA18E81}" type="slidenum">
              <a:rPr lang="fr-FR" smtClean="0"/>
              <a:t>‹N°›</a:t>
            </a:fld>
            <a:endParaRPr lang="fr-FR"/>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2039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84F439A-2F43-42F2-8EA2-7B6653C351F0}" type="datetimeFigureOut">
              <a:rPr lang="fr-FR" smtClean="0"/>
              <a:t>25/08/2025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150244-4BB0-4C51-84BD-047DDBA18E81}" type="slidenum">
              <a:rPr lang="fr-FR" smtClean="0"/>
              <a:t>‹N°›</a:t>
            </a:fld>
            <a:endParaRPr lang="fr-FR"/>
          </a:p>
        </p:txBody>
      </p:sp>
    </p:spTree>
    <p:extLst>
      <p:ext uri="{BB962C8B-B14F-4D97-AF65-F5344CB8AC3E}">
        <p14:creationId xmlns:p14="http://schemas.microsoft.com/office/powerpoint/2010/main" val="1470905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fr-FR"/>
              <a:t>Modifiez le style du titre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84F439A-2F43-42F2-8EA2-7B6653C351F0}" type="datetimeFigureOut">
              <a:rPr lang="fr-FR" smtClean="0"/>
              <a:t>25/08/2025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150244-4BB0-4C51-84BD-047DDBA18E81}" type="slidenum">
              <a:rPr lang="fr-FR" smtClean="0"/>
              <a:t>‹N°›</a:t>
            </a:fld>
            <a:endParaRPr lang="fr-FR"/>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8122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84F439A-2F43-42F2-8EA2-7B6653C351F0}" type="datetimeFigureOut">
              <a:rPr lang="fr-FR" smtClean="0"/>
              <a:t>25/08/2025</a:t>
            </a:fld>
            <a:endParaRPr lang="fr-FR"/>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fr-F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9150244-4BB0-4C51-84BD-047DDBA18E81}" type="slidenum">
              <a:rPr lang="fr-FR" smtClean="0"/>
              <a:t>‹N°›</a:t>
            </a:fld>
            <a:endParaRPr lang="fr-FR"/>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544448"/>
      </p:ext>
    </p:extLst>
  </p:cSld>
  <p:clrMap bg1="lt1" tx1="dk1" bg2="lt2" tx2="dk2" accent1="accent1" accent2="accent2" accent3="accent3" accent4="accent4" accent5="accent5" accent6="accent6" hlink="hlink" folHlink="folHlink"/>
  <p:sldLayoutIdLst>
    <p:sldLayoutId id="2147483933" r:id="rId1"/>
    <p:sldLayoutId id="2147483934" r:id="rId2"/>
    <p:sldLayoutId id="2147483935" r:id="rId3"/>
    <p:sldLayoutId id="2147483936" r:id="rId4"/>
    <p:sldLayoutId id="2147483937" r:id="rId5"/>
    <p:sldLayoutId id="2147483938" r:id="rId6"/>
    <p:sldLayoutId id="2147483939" r:id="rId7"/>
    <p:sldLayoutId id="2147483940" r:id="rId8"/>
    <p:sldLayoutId id="2147483941" r:id="rId9"/>
    <p:sldLayoutId id="2147483942" r:id="rId10"/>
    <p:sldLayoutId id="2147483943"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en.wikipedia.org/wiki/United_Nations_Convention_on_Contracts_for_the_International_Sale_of_Goods#cite_note-95"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en.wikipedia.org/wiki/Uniform_Commercial_Code_adoptio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en.wikipedia.org/wiki/Reservation_(law)"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en.wikipedia.org/wiki/United_Nations_Convention_on_Contracts_for_the_International_Sale_of_Goods#cite_note-58"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540FAC9-3505-49ED-9B06-A0F8C14853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79B3CD-E329-42F5-B136-BA1F37EC05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5464" y="484632"/>
            <a:ext cx="7453538" cy="58809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endParaRPr>
          </a:p>
        </p:txBody>
      </p:sp>
      <p:sp>
        <p:nvSpPr>
          <p:cNvPr id="2" name="Titre 1">
            <a:extLst>
              <a:ext uri="{FF2B5EF4-FFF2-40B4-BE49-F238E27FC236}">
                <a16:creationId xmlns:a16="http://schemas.microsoft.com/office/drawing/2014/main" id="{61E0A68E-5EF0-969E-6E2D-DD7258E6BD5A}"/>
              </a:ext>
            </a:extLst>
          </p:cNvPr>
          <p:cNvSpPr>
            <a:spLocks noGrp="1"/>
          </p:cNvSpPr>
          <p:nvPr>
            <p:ph type="ctrTitle"/>
          </p:nvPr>
        </p:nvSpPr>
        <p:spPr>
          <a:xfrm>
            <a:off x="990096" y="977900"/>
            <a:ext cx="6539558" cy="3327734"/>
          </a:xfrm>
        </p:spPr>
        <p:txBody>
          <a:bodyPr anchor="b">
            <a:normAutofit/>
          </a:bodyPr>
          <a:lstStyle/>
          <a:p>
            <a:r>
              <a:rPr lang="fr-FR" sz="5400"/>
              <a:t>La Convention de Vienne sur la vente internationale de marchandises</a:t>
            </a:r>
          </a:p>
        </p:txBody>
      </p:sp>
      <p:sp>
        <p:nvSpPr>
          <p:cNvPr id="3" name="Sous-titre 2">
            <a:extLst>
              <a:ext uri="{FF2B5EF4-FFF2-40B4-BE49-F238E27FC236}">
                <a16:creationId xmlns:a16="http://schemas.microsoft.com/office/drawing/2014/main" id="{9B3B5A74-15C2-C27B-16CC-4719C0F235C9}"/>
              </a:ext>
            </a:extLst>
          </p:cNvPr>
          <p:cNvSpPr>
            <a:spLocks noGrp="1"/>
          </p:cNvSpPr>
          <p:nvPr>
            <p:ph type="subTitle" idx="1"/>
          </p:nvPr>
        </p:nvSpPr>
        <p:spPr>
          <a:xfrm>
            <a:off x="990096" y="4621235"/>
            <a:ext cx="6539558" cy="1225028"/>
          </a:xfrm>
        </p:spPr>
        <p:txBody>
          <a:bodyPr anchor="t">
            <a:normAutofit/>
          </a:bodyPr>
          <a:lstStyle/>
          <a:p>
            <a:pPr algn="r"/>
            <a:r>
              <a:rPr lang="fr-FR" sz="2000"/>
              <a:t>Pr. Philippe Corruble</a:t>
            </a:r>
          </a:p>
        </p:txBody>
      </p:sp>
      <p:cxnSp>
        <p:nvCxnSpPr>
          <p:cNvPr id="12" name="Straight Connector 11">
            <a:extLst>
              <a:ext uri="{FF2B5EF4-FFF2-40B4-BE49-F238E27FC236}">
                <a16:creationId xmlns:a16="http://schemas.microsoft.com/office/drawing/2014/main" id="{51B042EF-3024-4C57-B282-1B30607FB7C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58680" y="4476657"/>
            <a:ext cx="5370974"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A0B4097-B645-43E0-A2B5-B8D688E74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9870" y="484632"/>
            <a:ext cx="3584224" cy="58809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endParaRPr>
          </a:p>
        </p:txBody>
      </p:sp>
    </p:spTree>
    <p:extLst>
      <p:ext uri="{BB962C8B-B14F-4D97-AF65-F5344CB8AC3E}">
        <p14:creationId xmlns:p14="http://schemas.microsoft.com/office/powerpoint/2010/main" val="440456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67CFD3-23B7-010E-57A5-A55876840CFE}"/>
              </a:ext>
            </a:extLst>
          </p:cNvPr>
          <p:cNvSpPr>
            <a:spLocks noGrp="1"/>
          </p:cNvSpPr>
          <p:nvPr>
            <p:ph type="title"/>
          </p:nvPr>
        </p:nvSpPr>
        <p:spPr>
          <a:xfrm>
            <a:off x="1024128" y="585216"/>
            <a:ext cx="6066818" cy="1499616"/>
          </a:xfrm>
        </p:spPr>
        <p:txBody>
          <a:bodyPr>
            <a:normAutofit/>
          </a:bodyPr>
          <a:lstStyle/>
          <a:p>
            <a:r>
              <a:rPr lang="fr-FR">
                <a:latin typeface="Garamond" panose="02020404030301010803" pitchFamily="18" charset="0"/>
              </a:rPr>
              <a:t>Qu'est-ce que </a:t>
            </a:r>
            <a:r>
              <a:rPr lang="fr-FR">
                <a:latin typeface="Garamond" panose="02020404030301010803" pitchFamily="18" charset="0"/>
                <a:cs typeface="Arial" panose="020B0604020202020204" pitchFamily="34" charset="0"/>
              </a:rPr>
              <a:t>la CISG </a:t>
            </a:r>
            <a:r>
              <a:rPr lang="fr-FR">
                <a:latin typeface="Garamond" panose="02020404030301010803" pitchFamily="18" charset="0"/>
              </a:rPr>
              <a:t>?</a:t>
            </a:r>
          </a:p>
        </p:txBody>
      </p:sp>
      <p:sp>
        <p:nvSpPr>
          <p:cNvPr id="3" name="Espace réservé du contenu 2">
            <a:extLst>
              <a:ext uri="{FF2B5EF4-FFF2-40B4-BE49-F238E27FC236}">
                <a16:creationId xmlns:a16="http://schemas.microsoft.com/office/drawing/2014/main" id="{BED7C398-E3DA-4FFC-7450-81E272C95BA9}"/>
              </a:ext>
            </a:extLst>
          </p:cNvPr>
          <p:cNvSpPr>
            <a:spLocks noGrp="1"/>
          </p:cNvSpPr>
          <p:nvPr>
            <p:ph idx="1"/>
          </p:nvPr>
        </p:nvSpPr>
        <p:spPr>
          <a:xfrm>
            <a:off x="1024128" y="2286000"/>
            <a:ext cx="6066818" cy="4023360"/>
          </a:xfrm>
        </p:spPr>
        <p:txBody>
          <a:bodyPr>
            <a:normAutofit/>
          </a:bodyPr>
          <a:lstStyle/>
          <a:p>
            <a:r>
              <a:rPr lang="en-US" sz="900" b="1"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La Convention des Nations Unies sur les contrats de vente internationale de marchandises </a:t>
            </a:r>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a:t>
            </a:r>
            <a:r>
              <a:rPr lang="en-US" sz="900" b="1"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CISG</a:t>
            </a:r>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 parfois appelée </a:t>
            </a:r>
            <a:r>
              <a:rPr lang="en-US" sz="900" b="1"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Convention de Vienne</a:t>
            </a:r>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 est un traité multilatéral qui établit un cadre uniforme pour le commerce international.</a:t>
            </a:r>
            <a:endParaRPr lang="en-US" sz="900" kern="0" baseline="3000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endParaRPr>
          </a:p>
          <a:p>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En décembre 2023, elle avait été ratifiée par</a:t>
            </a:r>
            <a:r>
              <a:rPr lang="en-US" sz="900" b="1"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 97 pays</a:t>
            </a:r>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 </a:t>
            </a:r>
            <a:r>
              <a:rPr lang="en-US" sz="900" b="1"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représentant les deux tiers du commerce mondial.</a:t>
            </a:r>
          </a:p>
          <a:p>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La CISG facilite le commerce international  en supprimant les obstacles juridiques entre les États parties   (appelés « États contractants ») et en fournissant des règles uniformes qui régissent la plupart des aspects d'une transaction commerciale, tels que :</a:t>
            </a:r>
          </a:p>
          <a:p>
            <a:pPr lvl="1"/>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la formation des contrats </a:t>
            </a:r>
          </a:p>
          <a:p>
            <a:pPr lvl="1"/>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les modes de livraison</a:t>
            </a:r>
          </a:p>
          <a:p>
            <a:pPr lvl="1"/>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les obligations des parties</a:t>
            </a:r>
          </a:p>
          <a:p>
            <a:pPr lvl="1"/>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et </a:t>
            </a:r>
            <a:r>
              <a:rPr lang="en-US" sz="900" kern="0">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les recours </a:t>
            </a:r>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en cas de </a:t>
            </a:r>
            <a:r>
              <a:rPr lang="en-US" sz="900" kern="0">
                <a:highlight>
                  <a:srgbClr val="FFFFFF"/>
                </a:highlight>
                <a:latin typeface="Garamond" panose="02020404030301010803" pitchFamily="18" charset="0"/>
                <a:ea typeface="Times New Roman" panose="02020603050405020304" pitchFamily="18" charset="0"/>
                <a:cs typeface="Times New Roman" panose="02020603050405020304" pitchFamily="18" charset="0"/>
              </a:rPr>
              <a:t>rupture de </a:t>
            </a:r>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contrat </a:t>
            </a:r>
          </a:p>
          <a:p>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Sauf </a:t>
            </a:r>
            <a:r>
              <a:rPr lang="en-US" sz="900" kern="0">
                <a:highlight>
                  <a:srgbClr val="FFFFFF"/>
                </a:highlight>
                <a:latin typeface="Garamond" panose="02020404030301010803" pitchFamily="18" charset="0"/>
                <a:ea typeface="Times New Roman" panose="02020603050405020304" pitchFamily="18" charset="0"/>
                <a:cs typeface="Times New Roman" panose="02020603050405020304" pitchFamily="18" charset="0"/>
              </a:rPr>
              <a:t>exclusion expresse </a:t>
            </a:r>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dans le contrat, l'</a:t>
            </a:r>
            <a:r>
              <a:rPr lang="en-US" sz="900" kern="0" baseline="30000">
                <a:highlight>
                  <a:srgbClr val="FFFFFF"/>
                </a:highlight>
                <a:latin typeface="Garamond" panose="02020404030301010803" pitchFamily="18" charset="0"/>
                <a:ea typeface="Times New Roman" panose="02020603050405020304" pitchFamily="18" charset="0"/>
                <a:cs typeface="Times New Roman" panose="02020603050405020304" pitchFamily="18" charset="0"/>
              </a:rPr>
              <a:t>[</a:t>
            </a:r>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 , la convention est automatiquement intégrée dans le </a:t>
            </a:r>
            <a:r>
              <a:rPr lang="en-US" sz="900" kern="0">
                <a:highlight>
                  <a:srgbClr val="FFFFFF"/>
                </a:highlight>
                <a:latin typeface="Garamond" panose="02020404030301010803" pitchFamily="18" charset="0"/>
                <a:ea typeface="Times New Roman" panose="02020603050405020304" pitchFamily="18" charset="0"/>
                <a:cs typeface="Times New Roman" panose="02020603050405020304" pitchFamily="18" charset="0"/>
              </a:rPr>
              <a:t>droit interne </a:t>
            </a:r>
            <a:r>
              <a:rPr lang="en-US" sz="9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des États contractants et s'applique directement aux transactions de marchandises entre leurs ressortissants.</a:t>
            </a:r>
          </a:p>
          <a:p>
            <a:r>
              <a:rPr lang="en-US" sz="900" kern="0">
                <a:effectLst/>
                <a:latin typeface="Garamond" panose="02020404030301010803" pitchFamily="18" charset="0"/>
                <a:ea typeface="Times New Roman" panose="02020603050405020304" pitchFamily="18" charset="0"/>
              </a:rPr>
              <a:t>La CVIM est « rédigée dans un langage commercial clair », ce qui permet aux juges de la rendre applicable à toute une série de situations de vente.</a:t>
            </a:r>
            <a:endParaRPr lang="en-US" sz="900" kern="0" baseline="30000">
              <a:effectLst/>
              <a:latin typeface="Garamond" panose="02020404030301010803" pitchFamily="18" charset="0"/>
              <a:ea typeface="Times New Roman" panose="02020603050405020304" pitchFamily="18" charset="0"/>
            </a:endParaRPr>
          </a:p>
          <a:p>
            <a:r>
              <a:rPr lang="en-US" sz="900" kern="0">
                <a:effectLst/>
                <a:latin typeface="Garamond" panose="02020404030301010803" pitchFamily="18" charset="0"/>
                <a:ea typeface="Times New Roman" panose="02020603050405020304" pitchFamily="18" charset="0"/>
              </a:rPr>
              <a:t>Il a été dit que « le style rédactionnel est clair et la formulation simple, sans clauses subordonnées complexes », et que « le sens général » peut être compris dès la première lecture, sans qu'il soit nécessaire d'être un expert en vente.</a:t>
            </a:r>
            <a:endParaRPr lang="fr-FR" sz="900">
              <a:latin typeface="Garamond" panose="02020404030301010803" pitchFamily="18" charset="0"/>
            </a:endParaRPr>
          </a:p>
        </p:txBody>
      </p:sp>
      <p:pic>
        <p:nvPicPr>
          <p:cNvPr id="5" name="Picture 4" descr="Front steps and columns of a majestic city building">
            <a:extLst>
              <a:ext uri="{FF2B5EF4-FFF2-40B4-BE49-F238E27FC236}">
                <a16:creationId xmlns:a16="http://schemas.microsoft.com/office/drawing/2014/main" id="{EFC41572-3401-9B45-84EC-6E431F1B5269}"/>
              </a:ext>
            </a:extLst>
          </p:cNvPr>
          <p:cNvPicPr>
            <a:picLocks noChangeAspect="1"/>
          </p:cNvPicPr>
          <p:nvPr/>
        </p:nvPicPr>
        <p:blipFill rotWithShape="1">
          <a:blip r:embed="rId2"/>
          <a:srcRect l="31534" r="23307" b="-1"/>
          <a:stretch/>
        </p:blipFill>
        <p:spPr>
          <a:xfrm>
            <a:off x="7552266" y="10"/>
            <a:ext cx="4639733" cy="6857990"/>
          </a:xfrm>
          <a:prstGeom prst="rect">
            <a:avLst/>
          </a:prstGeom>
        </p:spPr>
      </p:pic>
    </p:spTree>
    <p:extLst>
      <p:ext uri="{BB962C8B-B14F-4D97-AF65-F5344CB8AC3E}">
        <p14:creationId xmlns:p14="http://schemas.microsoft.com/office/powerpoint/2010/main" val="3021705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6C776A-D34D-A405-8713-FEC64A333666}"/>
              </a:ext>
            </a:extLst>
          </p:cNvPr>
          <p:cNvSpPr>
            <a:spLocks noGrp="1"/>
          </p:cNvSpPr>
          <p:nvPr>
            <p:ph type="title"/>
          </p:nvPr>
        </p:nvSpPr>
        <p:spPr>
          <a:xfrm>
            <a:off x="1024128" y="585216"/>
            <a:ext cx="8018272" cy="1499616"/>
          </a:xfrm>
        </p:spPr>
        <p:txBody>
          <a:bodyPr>
            <a:normAutofit/>
          </a:bodyPr>
          <a:lstStyle/>
          <a:p>
            <a:r>
              <a:rPr lang="fr-FR" sz="2000" dirty="0">
                <a:latin typeface="Garamond" panose="02020404030301010803" pitchFamily="18" charset="0"/>
              </a:rPr>
              <a:t>Champ d'application de la CVIM (application </a:t>
            </a:r>
            <a:r>
              <a:rPr lang="fr-FR" sz="2000" dirty="0" err="1">
                <a:latin typeface="Garamond" panose="02020404030301010803" pitchFamily="18" charset="0"/>
              </a:rPr>
              <a:t>géographique</a:t>
            </a:r>
            <a:r>
              <a:rPr lang="fr-FR" sz="2000" dirty="0">
                <a:latin typeface="Garamond" panose="02020404030301010803" pitchFamily="18" charset="0"/>
              </a:rPr>
              <a:t>)</a:t>
            </a:r>
          </a:p>
        </p:txBody>
      </p:sp>
      <p:sp>
        <p:nvSpPr>
          <p:cNvPr id="3" name="Espace réservé du contenu 2">
            <a:extLst>
              <a:ext uri="{FF2B5EF4-FFF2-40B4-BE49-F238E27FC236}">
                <a16:creationId xmlns:a16="http://schemas.microsoft.com/office/drawing/2014/main" id="{3C9883A7-D19E-73A4-B001-16900C88D3F6}"/>
              </a:ext>
            </a:extLst>
          </p:cNvPr>
          <p:cNvSpPr>
            <a:spLocks noGrp="1"/>
          </p:cNvSpPr>
          <p:nvPr>
            <p:ph idx="1"/>
          </p:nvPr>
        </p:nvSpPr>
        <p:spPr>
          <a:xfrm>
            <a:off x="1024128" y="2286000"/>
            <a:ext cx="8018271" cy="4023360"/>
          </a:xfrm>
        </p:spPr>
        <p:txBody>
          <a:bodyPr>
            <a:normAutofit/>
          </a:bodyPr>
          <a:lstStyle/>
          <a:p>
            <a:pPr>
              <a:spcBef>
                <a:spcPts val="600"/>
              </a:spcBef>
              <a:spcAft>
                <a:spcPts val="800"/>
              </a:spcAft>
            </a:pPr>
            <a:r>
              <a:rPr lang="en-US" sz="19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La CVIM s'applique aux contrats de vente de marchandises entre des parties dont les sièges sont situés dans des États différents, lorsque ces États sont des États contractants (article 1(1)(a)). </a:t>
            </a:r>
          </a:p>
          <a:p>
            <a:pPr>
              <a:spcBef>
                <a:spcPts val="600"/>
              </a:spcBef>
              <a:spcAft>
                <a:spcPts val="800"/>
              </a:spcAft>
            </a:pPr>
            <a:r>
              <a:rPr lang="en-US" sz="19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Compte tenu du nombre important d'États contractants, il s'agit là de la voie habituelle pour l'applicabilité de la CVIM.</a:t>
            </a:r>
            <a:endParaRPr lang="fr-FR" sz="1900" kern="100" dirty="0">
              <a:effectLst/>
              <a:highlight>
                <a:srgbClr val="FFFFFF"/>
              </a:highlight>
              <a:latin typeface="Garamond" panose="02020404030301010803" pitchFamily="18" charset="0"/>
              <a:ea typeface="Aptos" panose="020B0004020202020204" pitchFamily="34" charset="0"/>
              <a:cs typeface="Times New Roman" panose="02020603050405020304" pitchFamily="18" charset="0"/>
            </a:endParaRPr>
          </a:p>
          <a:p>
            <a:r>
              <a:rPr lang="en-US" sz="1900" kern="0" dirty="0">
                <a:effectLst/>
                <a:latin typeface="Garamond" panose="02020404030301010803" pitchFamily="18" charset="0"/>
                <a:ea typeface="Times New Roman" panose="02020603050405020304" pitchFamily="18" charset="0"/>
              </a:rPr>
              <a:t>La CVIM s'applique également si les parties sont situées dans des pays différents (qui ne doivent pas nécessairement être des États contractants) et que les règles de conflit de lois conduisent à l'application de la loi d'un État contractant.</a:t>
            </a:r>
            <a:r>
              <a:rPr lang="en-US" sz="1900" kern="0" baseline="30000" dirty="0">
                <a:latin typeface="Garamond" panose="02020404030301010803" pitchFamily="18" charset="0"/>
                <a:ea typeface="Times New Roman" panose="02020603050405020304" pitchFamily="18" charset="0"/>
              </a:rPr>
              <a:t>[</a:t>
            </a:r>
            <a:r>
              <a:rPr lang="en-US" sz="1900" kern="0" dirty="0">
                <a:effectLst/>
                <a:latin typeface="Garamond" panose="02020404030301010803" pitchFamily="18" charset="0"/>
                <a:ea typeface="Times New Roman" panose="02020603050405020304" pitchFamily="18" charset="0"/>
              </a:rPr>
              <a:t> Par exemple, un contrat entre un commerçant japonais et un commerçant brésilien peut contenir une clause prévoyant que l'arbitrage se fera à Sydney selon le droit australien</a:t>
            </a:r>
            <a:r>
              <a:rPr lang="en-US" sz="1900" kern="0" baseline="30000" dirty="0">
                <a:latin typeface="Garamond" panose="02020404030301010803" pitchFamily="18" charset="0"/>
                <a:ea typeface="Times New Roman" panose="02020603050405020304" pitchFamily="18" charset="0"/>
              </a:rPr>
              <a:t>[</a:t>
            </a:r>
            <a:r>
              <a:rPr lang="en-US" sz="1900" kern="0" dirty="0">
                <a:effectLst/>
                <a:latin typeface="Garamond" panose="02020404030301010803" pitchFamily="18" charset="0"/>
                <a:ea typeface="Times New Roman" panose="02020603050405020304" pitchFamily="18" charset="0"/>
              </a:rPr>
              <a:t> , avec pour conséquence que la CVIM s'appliquera. </a:t>
            </a:r>
          </a:p>
          <a:p>
            <a:r>
              <a:rPr lang="en-US" sz="1900" kern="0" dirty="0">
                <a:effectLst/>
                <a:latin typeface="Garamond" panose="02020404030301010803" pitchFamily="18" charset="0"/>
                <a:ea typeface="Times New Roman" panose="02020603050405020304" pitchFamily="18" charset="0"/>
              </a:rPr>
              <a:t>Un certain nombre d'États ont déclaré qu'ils ne seraient pas liés par cette condition. Voir par exemple le cas des États-Unis.</a:t>
            </a:r>
            <a:endParaRPr lang="fr-FR" sz="1900" dirty="0">
              <a:latin typeface="Garamond" panose="02020404030301010803" pitchFamily="18" charset="0"/>
            </a:endParaRPr>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6457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81A9B6-26D0-FEE3-3FF4-7E9381C57A70}"/>
              </a:ext>
            </a:extLst>
          </p:cNvPr>
          <p:cNvSpPr>
            <a:spLocks noGrp="1"/>
          </p:cNvSpPr>
          <p:nvPr>
            <p:ph type="title"/>
          </p:nvPr>
        </p:nvSpPr>
        <p:spPr>
          <a:xfrm>
            <a:off x="1024128" y="585216"/>
            <a:ext cx="6066818" cy="1499616"/>
          </a:xfrm>
        </p:spPr>
        <p:txBody>
          <a:bodyPr>
            <a:normAutofit/>
          </a:bodyPr>
          <a:lstStyle/>
          <a:p>
            <a:r>
              <a:rPr lang="fr-FR" sz="3500">
                <a:latin typeface="Garamond" panose="02020404030301010803" pitchFamily="18" charset="0"/>
              </a:rPr>
              <a:t>Pays </a:t>
            </a:r>
            <a:r>
              <a:rPr lang="fr-FR" sz="3500" err="1">
                <a:latin typeface="Garamond" panose="02020404030301010803" pitchFamily="18" charset="0"/>
              </a:rPr>
              <a:t>n'ayant </a:t>
            </a:r>
            <a:r>
              <a:rPr lang="fr-FR" sz="3500">
                <a:latin typeface="Garamond" panose="02020404030301010803" pitchFamily="18" charset="0"/>
              </a:rPr>
              <a:t>pas </a:t>
            </a:r>
            <a:r>
              <a:rPr lang="fr-FR" sz="3500" err="1">
                <a:latin typeface="Garamond" panose="02020404030301010803" pitchFamily="18" charset="0"/>
              </a:rPr>
              <a:t>ratifié </a:t>
            </a:r>
            <a:r>
              <a:rPr lang="fr-FR" sz="3500">
                <a:latin typeface="Garamond" panose="02020404030301010803" pitchFamily="18" charset="0"/>
              </a:rPr>
              <a:t>la CVIM</a:t>
            </a:r>
          </a:p>
        </p:txBody>
      </p:sp>
      <p:sp>
        <p:nvSpPr>
          <p:cNvPr id="3" name="Espace réservé du contenu 2">
            <a:extLst>
              <a:ext uri="{FF2B5EF4-FFF2-40B4-BE49-F238E27FC236}">
                <a16:creationId xmlns:a16="http://schemas.microsoft.com/office/drawing/2014/main" id="{508BAC3F-1C94-04F5-E000-A37765F851C6}"/>
              </a:ext>
            </a:extLst>
          </p:cNvPr>
          <p:cNvSpPr>
            <a:spLocks noGrp="1"/>
          </p:cNvSpPr>
          <p:nvPr>
            <p:ph idx="1"/>
          </p:nvPr>
        </p:nvSpPr>
        <p:spPr>
          <a:xfrm>
            <a:off x="1024128" y="2286000"/>
            <a:ext cx="6066818" cy="4023360"/>
          </a:xfrm>
        </p:spPr>
        <p:txBody>
          <a:bodyPr>
            <a:normAutofit/>
          </a:bodyPr>
          <a:lstStyle/>
          <a:p>
            <a:pPr>
              <a:spcBef>
                <a:spcPts val="600"/>
              </a:spcBef>
              <a:spcAft>
                <a:spcPts val="800"/>
              </a:spcAft>
            </a:pPr>
            <a:r>
              <a:rPr lang="en-US" sz="1500" kern="0" dirty="0">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L'Inde, l'Afrique du Sud</a:t>
            </a:r>
            <a:r>
              <a:rPr lang="en-US" sz="15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 </a:t>
            </a:r>
            <a:r>
              <a:rPr lang="en-US" sz="1500" kern="0" dirty="0">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le Nigeria </a:t>
            </a:r>
            <a:r>
              <a:rPr lang="en-US" sz="15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et le </a:t>
            </a:r>
            <a:r>
              <a:rPr lang="en-US" sz="1500" kern="0" dirty="0">
                <a:highlight>
                  <a:srgbClr val="FFFFFF"/>
                </a:highlight>
                <a:latin typeface="Garamond" panose="02020404030301010803" pitchFamily="18" charset="0"/>
                <a:ea typeface="Times New Roman" panose="02020603050405020304" pitchFamily="18" charset="0"/>
                <a:cs typeface="Times New Roman" panose="02020603050405020304" pitchFamily="18" charset="0"/>
              </a:rPr>
              <a:t>Royaume-Uni </a:t>
            </a:r>
            <a:r>
              <a:rPr lang="en-US" sz="15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sont les principaux pays commerçants qui n'ont pas encore ratifié la CISG.</a:t>
            </a:r>
            <a:endParaRPr lang="fr-FR" sz="1500" kern="100" dirty="0">
              <a:effectLst/>
              <a:highlight>
                <a:srgbClr val="FFFFFF"/>
              </a:highlight>
              <a:latin typeface="Garamond" panose="02020404030301010803" pitchFamily="18" charset="0"/>
              <a:ea typeface="Aptos" panose="020B0004020202020204" pitchFamily="34" charset="0"/>
              <a:cs typeface="Times New Roman" panose="02020603050405020304" pitchFamily="18" charset="0"/>
            </a:endParaRPr>
          </a:p>
          <a:p>
            <a:pPr>
              <a:spcBef>
                <a:spcPts val="600"/>
              </a:spcBef>
              <a:spcAft>
                <a:spcPts val="800"/>
              </a:spcAft>
            </a:pPr>
            <a:r>
              <a:rPr lang="en-US" sz="15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L'absence du Royaume-Uni, juridiction de premier plan en matière de </a:t>
            </a:r>
            <a:r>
              <a:rPr lang="en-US" sz="1500" kern="0" dirty="0">
                <a:highlight>
                  <a:srgbClr val="FFFFFF"/>
                </a:highlight>
                <a:latin typeface="Garamond" panose="02020404030301010803" pitchFamily="18" charset="0"/>
                <a:ea typeface="Times New Roman" panose="02020603050405020304" pitchFamily="18" charset="0"/>
                <a:cs typeface="Times New Roman" panose="02020603050405020304" pitchFamily="18" charset="0"/>
              </a:rPr>
              <a:t>choix de la loi </a:t>
            </a:r>
            <a:r>
              <a:rPr lang="en-US" sz="15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applicable aux contrats commerciaux internationaux, a été attribuée à divers facteurs, notamment : </a:t>
            </a:r>
          </a:p>
          <a:p>
            <a:pPr lvl="1">
              <a:spcBef>
                <a:spcPts val="600"/>
              </a:spcBef>
              <a:spcAft>
                <a:spcPts val="800"/>
              </a:spcAft>
            </a:pPr>
            <a:r>
              <a:rPr lang="en-US" sz="15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le fait que le gouvernement ne considère pas sa ratification comme une priorité législative,</a:t>
            </a:r>
          </a:p>
          <a:p>
            <a:pPr lvl="1">
              <a:spcBef>
                <a:spcPts val="600"/>
              </a:spcBef>
              <a:spcAft>
                <a:spcPts val="800"/>
              </a:spcAft>
            </a:pPr>
            <a:r>
              <a:rPr lang="en-US" sz="15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le manque d'intérêt des entreprises pour soutenir la ratification, </a:t>
            </a:r>
          </a:p>
          <a:p>
            <a:pPr lvl="1">
              <a:spcBef>
                <a:spcPts val="600"/>
              </a:spcBef>
              <a:spcAft>
                <a:spcPts val="800"/>
              </a:spcAft>
            </a:pPr>
            <a:r>
              <a:rPr lang="en-US" sz="15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l'opposition d'un certain nombre </a:t>
            </a:r>
            <a:r>
              <a:rPr lang="en-US" sz="1500" kern="0" dirty="0" err="1">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d'organisations</a:t>
            </a:r>
            <a:r>
              <a:rPr lang="en-US" sz="15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 importantes et influentes, </a:t>
            </a:r>
          </a:p>
          <a:p>
            <a:pPr lvl="1">
              <a:spcBef>
                <a:spcPts val="600"/>
              </a:spcBef>
              <a:spcAft>
                <a:spcPts val="800"/>
              </a:spcAft>
            </a:pPr>
            <a:r>
              <a:rPr lang="en-US" sz="15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le manque de ressources publiques,</a:t>
            </a:r>
          </a:p>
          <a:p>
            <a:pPr lvl="1">
              <a:spcBef>
                <a:spcPts val="600"/>
              </a:spcBef>
              <a:spcAft>
                <a:spcPts val="800"/>
              </a:spcAft>
            </a:pPr>
            <a:r>
              <a:rPr lang="en-US" sz="15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 et le risque que Londres perde son avantage en matière d'arbitrage et de contentieux internationaux.</a:t>
            </a:r>
            <a:r>
              <a:rPr lang="en-US" sz="1500" u="none" strike="noStrike" kern="0" baseline="3000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hlinkClick r:id="rId2"/>
              </a:rPr>
              <a:t>[94]</a:t>
            </a:r>
            <a:r>
              <a:rPr lang="en-US" sz="15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 En 2020, le gouvernement britannique a fait savoir qu'il n'avait pas l'intention d'adhérer à la CISG.</a:t>
            </a:r>
            <a:endParaRPr lang="fr-FR" sz="1500" kern="100" dirty="0">
              <a:effectLst/>
              <a:highlight>
                <a:srgbClr val="FFFFFF"/>
              </a:highlight>
              <a:latin typeface="Garamond" panose="02020404030301010803" pitchFamily="18" charset="0"/>
              <a:ea typeface="Aptos" panose="020B0004020202020204" pitchFamily="34" charset="0"/>
              <a:cs typeface="Times New Roman" panose="02020603050405020304" pitchFamily="18" charset="0"/>
            </a:endParaRPr>
          </a:p>
          <a:p>
            <a:endParaRPr lang="fr-FR" sz="1500" dirty="0"/>
          </a:p>
        </p:txBody>
      </p:sp>
      <p:pic>
        <p:nvPicPr>
          <p:cNvPr id="13" name="Picture 4" descr="Front steps and columns of a majestic city building">
            <a:extLst>
              <a:ext uri="{FF2B5EF4-FFF2-40B4-BE49-F238E27FC236}">
                <a16:creationId xmlns:a16="http://schemas.microsoft.com/office/drawing/2014/main" id="{E67AD3C6-BE53-30B8-3540-FC6A83A77214}"/>
              </a:ext>
            </a:extLst>
          </p:cNvPr>
          <p:cNvPicPr>
            <a:picLocks noChangeAspect="1"/>
          </p:cNvPicPr>
          <p:nvPr/>
        </p:nvPicPr>
        <p:blipFill rotWithShape="1">
          <a:blip r:embed="rId3"/>
          <a:srcRect l="26246" r="28594" b="-1"/>
          <a:stretch/>
        </p:blipFill>
        <p:spPr>
          <a:xfrm>
            <a:off x="7552266" y="10"/>
            <a:ext cx="4639733" cy="6857990"/>
          </a:xfrm>
          <a:prstGeom prst="rect">
            <a:avLst/>
          </a:prstGeom>
        </p:spPr>
      </p:pic>
    </p:spTree>
    <p:extLst>
      <p:ext uri="{BB962C8B-B14F-4D97-AF65-F5344CB8AC3E}">
        <p14:creationId xmlns:p14="http://schemas.microsoft.com/office/powerpoint/2010/main" val="973366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3A4AC7-7871-7F33-070D-F7018FFE896A}"/>
              </a:ext>
            </a:extLst>
          </p:cNvPr>
          <p:cNvSpPr>
            <a:spLocks noGrp="1"/>
          </p:cNvSpPr>
          <p:nvPr>
            <p:ph type="title"/>
          </p:nvPr>
        </p:nvSpPr>
        <p:spPr>
          <a:xfrm>
            <a:off x="1024128" y="585216"/>
            <a:ext cx="8018272" cy="1499616"/>
          </a:xfrm>
        </p:spPr>
        <p:txBody>
          <a:bodyPr>
            <a:normAutofit/>
          </a:bodyPr>
          <a:lstStyle/>
          <a:p>
            <a:r>
              <a:rPr lang="fr-FR">
                <a:latin typeface="Garamond" panose="02020404030301010803" pitchFamily="18" charset="0"/>
              </a:rPr>
              <a:t>Le cas des États-Unis</a:t>
            </a:r>
          </a:p>
        </p:txBody>
      </p:sp>
      <p:sp>
        <p:nvSpPr>
          <p:cNvPr id="3" name="Espace réservé du contenu 2">
            <a:extLst>
              <a:ext uri="{FF2B5EF4-FFF2-40B4-BE49-F238E27FC236}">
                <a16:creationId xmlns:a16="http://schemas.microsoft.com/office/drawing/2014/main" id="{23A8F4B3-C57C-9DAA-0F19-52BCC92D065E}"/>
              </a:ext>
            </a:extLst>
          </p:cNvPr>
          <p:cNvSpPr>
            <a:spLocks noGrp="1"/>
          </p:cNvSpPr>
          <p:nvPr>
            <p:ph idx="1"/>
          </p:nvPr>
        </p:nvSpPr>
        <p:spPr>
          <a:xfrm>
            <a:off x="1024128" y="2286000"/>
            <a:ext cx="8018271" cy="4023360"/>
          </a:xfrm>
        </p:spPr>
        <p:txBody>
          <a:bodyPr>
            <a:normAutofit/>
          </a:bodyPr>
          <a:lstStyle/>
          <a:p>
            <a:r>
              <a:rPr lang="en-US" sz="1700" kern="0">
                <a:effectLst/>
                <a:latin typeface="Garamond" panose="02020404030301010803" pitchFamily="18" charset="0"/>
                <a:ea typeface="Times New Roman" panose="02020603050405020304" pitchFamily="18" charset="0"/>
              </a:rPr>
              <a:t>Aux États-Unis, les 50 États ont, à des degrés divers, </a:t>
            </a:r>
            <a:r>
              <a:rPr lang="en-US" sz="1700" u="none" strike="noStrike" kern="0">
                <a:effectLst/>
                <a:latin typeface="Garamond" panose="02020404030301010803" pitchFamily="18" charset="0"/>
                <a:ea typeface="Times New Roman" panose="02020603050405020304" pitchFamily="18" charset="0"/>
                <a:hlinkClick r:id="rId2" tooltip="Uniform Commercial Code adoption"/>
              </a:rPr>
              <a:t>adopté </a:t>
            </a:r>
            <a:r>
              <a:rPr lang="en-US" sz="1700" kern="0">
                <a:effectLst/>
                <a:latin typeface="Garamond" panose="02020404030301010803" pitchFamily="18" charset="0"/>
                <a:ea typeface="Times New Roman" panose="02020603050405020304" pitchFamily="18" charset="0"/>
              </a:rPr>
              <a:t>une législation commune appelée « </a:t>
            </a:r>
            <a:r>
              <a:rPr lang="en-US" sz="1700" kern="0">
                <a:latin typeface="Garamond" panose="02020404030301010803" pitchFamily="18" charset="0"/>
                <a:ea typeface="Times New Roman" panose="02020603050405020304" pitchFamily="18" charset="0"/>
              </a:rPr>
              <a:t>Uniform Commercial Code » </a:t>
            </a:r>
            <a:r>
              <a:rPr lang="en-US" sz="1700" kern="0">
                <a:effectLst/>
                <a:latin typeface="Garamond" panose="02020404030301010803" pitchFamily="18" charset="0"/>
                <a:ea typeface="Times New Roman" panose="02020603050405020304" pitchFamily="18" charset="0"/>
              </a:rPr>
              <a:t>(UCC</a:t>
            </a:r>
            <a:r>
              <a:rPr lang="en-US" sz="1700" kern="0">
                <a:latin typeface="Garamond" panose="02020404030301010803" pitchFamily="18" charset="0"/>
                <a:ea typeface="Times New Roman" panose="02020603050405020304" pitchFamily="18" charset="0"/>
              </a:rPr>
              <a:t>).</a:t>
            </a:r>
            <a:endParaRPr lang="en-US" sz="1700" u="none" strike="noStrike" kern="0">
              <a:effectLst/>
              <a:latin typeface="Garamond" panose="02020404030301010803" pitchFamily="18" charset="0"/>
              <a:ea typeface="Times New Roman" panose="02020603050405020304" pitchFamily="18" charset="0"/>
            </a:endParaRPr>
          </a:p>
          <a:p>
            <a:r>
              <a:rPr lang="en-US" sz="1700" kern="0">
                <a:effectLst/>
                <a:latin typeface="Garamond" panose="02020404030301010803" pitchFamily="18" charset="0"/>
                <a:ea typeface="Times New Roman" panose="02020603050405020304" pitchFamily="18" charset="0"/>
              </a:rPr>
              <a:t>L'UCC diffère de la CVIM à certains égards, notamment dans les domaines suivants :</a:t>
            </a:r>
            <a:endParaRPr lang="en-US" sz="1700" kern="0">
              <a:latin typeface="Garamond" panose="02020404030301010803" pitchFamily="18" charset="0"/>
              <a:ea typeface="Times New Roman" panose="02020603050405020304" pitchFamily="18" charset="0"/>
            </a:endParaRPr>
          </a:p>
          <a:p>
            <a:r>
              <a:rPr lang="en-US" sz="1700" kern="0">
                <a:effectLst/>
                <a:latin typeface="Garamond" panose="02020404030301010803" pitchFamily="18" charset="0"/>
                <a:ea typeface="Times New Roman" panose="02020603050405020304" pitchFamily="18" charset="0"/>
              </a:rPr>
              <a:t>Conflit de formulaires : en vertu de la CVIM, une réponse à une offre qui se présente comme une acceptation, mais qui comporte des ajouts, des limitations ou d'autres modifications, est généralement considérée comme un rejet et une contre-offre. L'UCC, en revanche, tente d'éviter la « bataille des formulaires » qui peut résulter d'une telle règle et permet à une expression d'acceptation d'être valable, à moins que l'acceptation ne stipule qu'elle est subordonnée à l'accord de l'offrant sur les conditions supplémentaires ou différentes contenues dans l'acceptation.</a:t>
            </a:r>
          </a:p>
          <a:p>
            <a:r>
              <a:rPr lang="en-US" sz="1700" kern="0">
                <a:effectLst/>
                <a:latin typeface="Garamond" panose="02020404030301010803" pitchFamily="18" charset="0"/>
                <a:ea typeface="Times New Roman" panose="02020603050405020304" pitchFamily="18" charset="0"/>
              </a:rPr>
              <a:t>Exigence écrite – Sauf indication contraire d'un État ratifiant, la CVIM n'exige pas que le contrat de vente soit consigné par écrit. En vertu de </a:t>
            </a:r>
            <a:r>
              <a:rPr lang="en-US" sz="1700" kern="0">
                <a:latin typeface="Garamond" panose="02020404030301010803" pitchFamily="18" charset="0"/>
                <a:ea typeface="Times New Roman" panose="02020603050405020304" pitchFamily="18" charset="0"/>
              </a:rPr>
              <a:t>la loi sur la fraude </a:t>
            </a:r>
            <a:r>
              <a:rPr lang="en-US" sz="1700" kern="0">
                <a:effectLst/>
                <a:latin typeface="Garamond" panose="02020404030301010803" pitchFamily="18" charset="0"/>
                <a:ea typeface="Times New Roman" panose="02020603050405020304" pitchFamily="18" charset="0"/>
              </a:rPr>
              <a:t>de l'UCC (héritée de la common law), les contrats de vente de marchandises d'une valeur supérieure ou égale à 500 dollars ne sont généralement pas exécutoires s'ils ne sont pas consignés par écrit.</a:t>
            </a:r>
          </a:p>
          <a:p>
            <a:endParaRPr lang="fr-FR" sz="1700">
              <a:latin typeface="Garamond" panose="02020404030301010803" pitchFamily="18" charset="0"/>
            </a:endParaRPr>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7380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3F2B4D-A4C5-AB53-921A-982798ADA197}"/>
              </a:ext>
            </a:extLst>
          </p:cNvPr>
          <p:cNvSpPr>
            <a:spLocks noGrp="1"/>
          </p:cNvSpPr>
          <p:nvPr>
            <p:ph type="title"/>
          </p:nvPr>
        </p:nvSpPr>
        <p:spPr>
          <a:xfrm>
            <a:off x="1024128" y="585216"/>
            <a:ext cx="6066818" cy="1499616"/>
          </a:xfrm>
        </p:spPr>
        <p:txBody>
          <a:bodyPr>
            <a:normAutofit/>
          </a:bodyPr>
          <a:lstStyle/>
          <a:p>
            <a:r>
              <a:rPr lang="fr-FR" sz="2000" dirty="0" err="1">
                <a:latin typeface="Garamond" panose="02020404030301010803" pitchFamily="18" charset="0"/>
              </a:rPr>
              <a:t>Réserves</a:t>
            </a:r>
            <a:r>
              <a:rPr lang="fr-FR" sz="2000" dirty="0">
                <a:latin typeface="Garamond" panose="02020404030301010803" pitchFamily="18" charset="0"/>
              </a:rPr>
              <a:t> des États-Unis (article 95 de la CVIM)</a:t>
            </a:r>
          </a:p>
        </p:txBody>
      </p:sp>
      <p:sp>
        <p:nvSpPr>
          <p:cNvPr id="3" name="Espace réservé du contenu 2">
            <a:extLst>
              <a:ext uri="{FF2B5EF4-FFF2-40B4-BE49-F238E27FC236}">
                <a16:creationId xmlns:a16="http://schemas.microsoft.com/office/drawing/2014/main" id="{ED85A58E-FC51-9A03-4BB1-376160EA3801}"/>
              </a:ext>
            </a:extLst>
          </p:cNvPr>
          <p:cNvSpPr>
            <a:spLocks noGrp="1"/>
          </p:cNvSpPr>
          <p:nvPr>
            <p:ph idx="1"/>
          </p:nvPr>
        </p:nvSpPr>
        <p:spPr>
          <a:xfrm>
            <a:off x="1024128" y="2286000"/>
            <a:ext cx="6066818" cy="4023360"/>
          </a:xfrm>
        </p:spPr>
        <p:txBody>
          <a:bodyPr>
            <a:normAutofit/>
          </a:bodyPr>
          <a:lstStyle/>
          <a:p>
            <a:pPr>
              <a:spcBef>
                <a:spcPts val="600"/>
              </a:spcBef>
              <a:spcAft>
                <a:spcPts val="800"/>
              </a:spcAft>
            </a:pPr>
            <a:r>
              <a:rPr lang="en-US" sz="19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Parmi les </a:t>
            </a:r>
            <a:r>
              <a:rPr lang="en-US" sz="1900" u="sng" strike="noStrike"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hlinkClick r:id="rId2" tooltip="Reservation (law)">
                  <a:extLst>
                    <a:ext uri="{A12FA001-AC4F-418D-AE19-62706E023703}">
                      <ahyp:hlinkClr xmlns:ahyp="http://schemas.microsoft.com/office/drawing/2018/hyperlinkcolor" val="tx"/>
                    </a:ext>
                  </a:extLst>
                </a:hlinkClick>
              </a:rPr>
              <a:t>réserves</a:t>
            </a:r>
            <a:r>
              <a:rPr lang="en-US" sz="19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 émises par les États-Unis à l'égard de la CVIM figure la disposition selon laquelle la CVIM ne s'applique qu'aux contrats conclus entre des parties situées dans d'autres États contractants de la CVIM, une réserve autorisée par la CVIM à l'article 95. </a:t>
            </a:r>
          </a:p>
          <a:p>
            <a:pPr>
              <a:spcBef>
                <a:spcPts val="600"/>
              </a:spcBef>
              <a:spcAft>
                <a:spcPts val="800"/>
              </a:spcAft>
            </a:pPr>
            <a:r>
              <a:rPr lang="en-US" sz="19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Par conséquent, dans les contrats </a:t>
            </a:r>
            <a:r>
              <a:rPr lang="en-US" sz="1900" i="1"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internationaux </a:t>
            </a:r>
            <a:r>
              <a:rPr lang="en-US" sz="19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de vente de marchandises entre une </a:t>
            </a:r>
            <a:r>
              <a:rPr lang="en-US" sz="1900" kern="0" dirty="0">
                <a:highlight>
                  <a:srgbClr val="FFFFFF"/>
                </a:highlight>
                <a:latin typeface="Garamond" panose="02020404030301010803" pitchFamily="18" charset="0"/>
                <a:ea typeface="Times New Roman" panose="02020603050405020304" pitchFamily="18" charset="0"/>
                <a:cs typeface="Times New Roman" panose="02020603050405020304" pitchFamily="18" charset="0"/>
              </a:rPr>
              <a:t>entité américaine </a:t>
            </a:r>
            <a:r>
              <a:rPr lang="en-US" sz="19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et une entité d'un État contractant, la CVIM s'applique à moins que la clause </a:t>
            </a:r>
            <a:r>
              <a:rPr lang="en-US" sz="1900" kern="0" dirty="0">
                <a:highlight>
                  <a:srgbClr val="FFFFFF"/>
                </a:highlight>
                <a:latin typeface="Garamond" panose="02020404030301010803" pitchFamily="18" charset="0"/>
                <a:ea typeface="Times New Roman" panose="02020603050405020304" pitchFamily="18" charset="0"/>
                <a:cs typeface="Times New Roman" panose="02020603050405020304" pitchFamily="18" charset="0"/>
              </a:rPr>
              <a:t>de choix de la loi </a:t>
            </a:r>
            <a:r>
              <a:rPr lang="en-US" sz="1900" kern="0" dirty="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applicable au contrat n'exclue expressément les dispositions de la CVIM.</a:t>
            </a:r>
            <a:endParaRPr lang="fr-FR" sz="1900" kern="100" dirty="0">
              <a:effectLst/>
              <a:highlight>
                <a:srgbClr val="FFFFFF"/>
              </a:highlight>
              <a:latin typeface="Garamond" panose="02020404030301010803" pitchFamily="18" charset="0"/>
              <a:ea typeface="Aptos" panose="020B0004020202020204" pitchFamily="34" charset="0"/>
              <a:cs typeface="Times New Roman" panose="02020603050405020304" pitchFamily="18" charset="0"/>
            </a:endParaRPr>
          </a:p>
          <a:p>
            <a:r>
              <a:rPr lang="en-US" sz="1900" kern="0" dirty="0">
                <a:effectLst/>
                <a:latin typeface="Garamond" panose="02020404030301010803" pitchFamily="18" charset="0"/>
                <a:ea typeface="Times New Roman" panose="02020603050405020304" pitchFamily="18" charset="0"/>
              </a:rPr>
              <a:t>À l'inverse, dans les contrats « internationaux » de vente de marchandises entre une entité américaine et une entité d'un État non contractant, qui seront jugés par un tribunal américain, la CVIM ne s'appliquera pas et le contrat sera régi par le droit interne applicable conformément aux règles de droit international privé.</a:t>
            </a:r>
            <a:endParaRPr lang="fr-FR" sz="1900" dirty="0">
              <a:latin typeface="Garamond" panose="02020404030301010803" pitchFamily="18" charset="0"/>
            </a:endParaRPr>
          </a:p>
        </p:txBody>
      </p:sp>
      <p:pic>
        <p:nvPicPr>
          <p:cNvPr id="5" name="Picture 4" descr="Front steps and columns of a majestic city building">
            <a:extLst>
              <a:ext uri="{FF2B5EF4-FFF2-40B4-BE49-F238E27FC236}">
                <a16:creationId xmlns:a16="http://schemas.microsoft.com/office/drawing/2014/main" id="{E039F358-4C52-0BCB-3698-8AD598F843F5}"/>
              </a:ext>
            </a:extLst>
          </p:cNvPr>
          <p:cNvPicPr>
            <a:picLocks noChangeAspect="1"/>
          </p:cNvPicPr>
          <p:nvPr/>
        </p:nvPicPr>
        <p:blipFill rotWithShape="1">
          <a:blip r:embed="rId3"/>
          <a:srcRect l="26246" r="28594" b="-1"/>
          <a:stretch/>
        </p:blipFill>
        <p:spPr>
          <a:xfrm>
            <a:off x="7552266" y="10"/>
            <a:ext cx="4639733" cy="6857990"/>
          </a:xfrm>
          <a:prstGeom prst="rect">
            <a:avLst/>
          </a:prstGeom>
        </p:spPr>
      </p:pic>
    </p:spTree>
    <p:extLst>
      <p:ext uri="{BB962C8B-B14F-4D97-AF65-F5344CB8AC3E}">
        <p14:creationId xmlns:p14="http://schemas.microsoft.com/office/powerpoint/2010/main" val="1056110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79C047-58FE-4BFE-47CB-6BC9D5AFF50D}"/>
              </a:ext>
            </a:extLst>
          </p:cNvPr>
          <p:cNvSpPr>
            <a:spLocks noGrp="1"/>
          </p:cNvSpPr>
          <p:nvPr>
            <p:ph type="title"/>
          </p:nvPr>
        </p:nvSpPr>
        <p:spPr>
          <a:xfrm>
            <a:off x="838200" y="365126"/>
            <a:ext cx="10515600" cy="801824"/>
          </a:xfrm>
        </p:spPr>
        <p:txBody>
          <a:bodyPr>
            <a:normAutofit/>
          </a:bodyPr>
          <a:lstStyle/>
          <a:p>
            <a:r>
              <a:rPr lang="fr-FR" sz="2000" dirty="0">
                <a:latin typeface="Garamond" panose="02020404030301010803" pitchFamily="18" charset="0"/>
              </a:rPr>
              <a:t>Champ d'application (2) et exclusions </a:t>
            </a:r>
            <a:r>
              <a:rPr lang="fr-FR" sz="2000" dirty="0" err="1">
                <a:latin typeface="Garamond" panose="02020404030301010803" pitchFamily="18" charset="0"/>
              </a:rPr>
              <a:t>spécifiques</a:t>
            </a:r>
          </a:p>
        </p:txBody>
      </p:sp>
      <p:sp>
        <p:nvSpPr>
          <p:cNvPr id="3" name="Espace réservé du contenu 2">
            <a:extLst>
              <a:ext uri="{FF2B5EF4-FFF2-40B4-BE49-F238E27FC236}">
                <a16:creationId xmlns:a16="http://schemas.microsoft.com/office/drawing/2014/main" id="{E8FE4963-01E4-6DF4-0EB2-D428F4EB539F}"/>
              </a:ext>
            </a:extLst>
          </p:cNvPr>
          <p:cNvSpPr>
            <a:spLocks noGrp="1"/>
          </p:cNvSpPr>
          <p:nvPr>
            <p:ph idx="1"/>
          </p:nvPr>
        </p:nvSpPr>
        <p:spPr>
          <a:xfrm>
            <a:off x="838200" y="1489166"/>
            <a:ext cx="10515600" cy="5181600"/>
          </a:xfrm>
        </p:spPr>
        <p:txBody>
          <a:bodyPr>
            <a:normAutofit/>
          </a:bodyPr>
          <a:lstStyle/>
          <a:p>
            <a:r>
              <a:rPr lang="en-US" sz="1800" kern="0" dirty="0">
                <a:effectLst/>
                <a:latin typeface="Garamond" panose="02020404030301010803" pitchFamily="18" charset="0"/>
                <a:ea typeface="Times New Roman" panose="02020603050405020304" pitchFamily="18" charset="0"/>
              </a:rPr>
              <a:t>La CVIM s'applique uniquement aux marchandises et produits commerciaux</a:t>
            </a:r>
          </a:p>
          <a:p>
            <a:r>
              <a:rPr lang="en-US" sz="1800" kern="0" dirty="0">
                <a:effectLst/>
                <a:latin typeface="Garamond" panose="02020404030301010803" pitchFamily="18" charset="0"/>
                <a:ea typeface="Times New Roman" panose="02020603050405020304" pitchFamily="18" charset="0"/>
              </a:rPr>
              <a:t>À quelques exceptions près</a:t>
            </a:r>
            <a:r>
              <a:rPr lang="en-US" sz="1800" b="1" kern="0" dirty="0">
                <a:effectLst/>
                <a:latin typeface="Garamond" panose="02020404030301010803" pitchFamily="18" charset="0"/>
                <a:ea typeface="Times New Roman" panose="02020603050405020304" pitchFamily="18" charset="0"/>
              </a:rPr>
              <a:t>, elle </a:t>
            </a:r>
            <a:r>
              <a:rPr lang="en-US" sz="1800" b="1" u="sng" kern="0" dirty="0">
                <a:effectLst/>
                <a:latin typeface="Garamond" panose="02020404030301010803" pitchFamily="18" charset="0"/>
                <a:ea typeface="Times New Roman" panose="02020603050405020304" pitchFamily="18" charset="0"/>
              </a:rPr>
              <a:t>ne s'applique pas aux biens personnels, familiaux ou domestiques</a:t>
            </a:r>
          </a:p>
          <a:p>
            <a:r>
              <a:rPr lang="en-US" sz="1800" kern="0" dirty="0">
                <a:effectLst/>
                <a:latin typeface="Garamond" panose="02020404030301010803" pitchFamily="18" charset="0"/>
                <a:ea typeface="Times New Roman" panose="02020603050405020304" pitchFamily="18" charset="0"/>
              </a:rPr>
              <a:t>Elle ne s'applique pas non plus aux enchères, aux navires, aux aéronefs, aux biens incorporels et aux services</a:t>
            </a:r>
          </a:p>
          <a:p>
            <a:r>
              <a:rPr lang="en-US" sz="1800" kern="0" dirty="0">
                <a:effectLst/>
                <a:latin typeface="Garamond" panose="02020404030301010803" pitchFamily="18" charset="0"/>
                <a:ea typeface="Times New Roman" panose="02020603050405020304" pitchFamily="18" charset="0"/>
              </a:rPr>
              <a:t>Il est important de noter que </a:t>
            </a:r>
            <a:r>
              <a:rPr lang="en-US" sz="1800" b="1" kern="0" dirty="0">
                <a:effectLst/>
                <a:latin typeface="Garamond" panose="02020404030301010803" pitchFamily="18" charset="0"/>
                <a:ea typeface="Times New Roman" panose="02020603050405020304" pitchFamily="18" charset="0"/>
              </a:rPr>
              <a:t>les parties à un contrat </a:t>
            </a:r>
            <a:r>
              <a:rPr lang="en-US" sz="1800" b="1" u="sng" kern="0" dirty="0">
                <a:effectLst/>
                <a:latin typeface="Garamond" panose="02020404030301010803" pitchFamily="18" charset="0"/>
                <a:ea typeface="Times New Roman" panose="02020603050405020304" pitchFamily="18" charset="0"/>
              </a:rPr>
              <a:t>peuvent exclure ou modifier l'application de la CVIM</a:t>
            </a:r>
          </a:p>
          <a:p>
            <a:r>
              <a:rPr lang="en-US" sz="1800" kern="0" dirty="0">
                <a:effectLst/>
                <a:latin typeface="Garamond" panose="02020404030301010803" pitchFamily="18" charset="0"/>
                <a:ea typeface="Times New Roman" panose="02020603050405020304" pitchFamily="18" charset="0"/>
              </a:rPr>
              <a:t>La CVIM, par définition, ne régit pas tous les aspects des contrats de vente auxquels elle s'applique.</a:t>
            </a:r>
            <a:r>
              <a:rPr lang="en-US" sz="1800" kern="0" baseline="30000" dirty="0">
                <a:solidFill>
                  <a:srgbClr val="467886"/>
                </a:solidFill>
                <a:latin typeface="Garamond" panose="02020404030301010803" pitchFamily="18" charset="0"/>
                <a:ea typeface="Times New Roman" panose="02020603050405020304" pitchFamily="18" charset="0"/>
              </a:rPr>
              <a:t>[</a:t>
            </a:r>
          </a:p>
          <a:p>
            <a:r>
              <a:rPr lang="en-US" sz="1800" kern="0" dirty="0">
                <a:effectLst/>
                <a:latin typeface="Garamond" panose="02020404030301010803" pitchFamily="18" charset="0"/>
                <a:ea typeface="Times New Roman" panose="02020603050405020304" pitchFamily="18" charset="0"/>
              </a:rPr>
              <a:t>Les questions énumérées à son article 4 doivent être régies par le droit </a:t>
            </a:r>
            <a:r>
              <a:rPr lang="en-US" sz="1800" kern="0" dirty="0">
                <a:latin typeface="Garamond" panose="02020404030301010803" pitchFamily="18" charset="0"/>
                <a:ea typeface="Times New Roman" panose="02020603050405020304" pitchFamily="18" charset="0"/>
              </a:rPr>
              <a:t>national</a:t>
            </a:r>
            <a:r>
              <a:rPr lang="en-US" sz="1800" kern="0" dirty="0">
                <a:effectLst/>
                <a:latin typeface="Garamond" panose="02020404030301010803" pitchFamily="18" charset="0"/>
                <a:ea typeface="Times New Roman" panose="02020603050405020304" pitchFamily="18" charset="0"/>
              </a:rPr>
              <a:t> applicable, en tenant dûment compte des règles de conflit de lois applicables au for</a:t>
            </a:r>
          </a:p>
          <a:p>
            <a:pPr algn="l"/>
            <a:r>
              <a:rPr lang="fr-FR" sz="1800" b="0" i="1" u="none" strike="noStrike" baseline="0" dirty="0">
                <a:latin typeface="Garamond" panose="02020404030301010803" pitchFamily="18" charset="0"/>
              </a:rPr>
              <a:t>Article 4 de la CVIM :</a:t>
            </a:r>
          </a:p>
          <a:p>
            <a:pPr algn="l"/>
            <a:r>
              <a:rPr lang="en-US" sz="1800" b="0" i="0" u="none" strike="noStrike" baseline="0" dirty="0">
                <a:latin typeface="Garamond" panose="02020404030301010803" pitchFamily="18" charset="0"/>
              </a:rPr>
              <a:t>« La présente Convention régit uniquement la formation du contrat de vente et les droits et obligations du vendeur et de l'acheteur découlant d'un tel </a:t>
            </a:r>
            <a:r>
              <a:rPr lang="fr-FR" sz="1800" b="0" i="0" u="none" strike="noStrike" baseline="0" dirty="0" err="1">
                <a:latin typeface="Garamond" panose="02020404030301010803" pitchFamily="18" charset="0"/>
              </a:rPr>
              <a:t>contrat</a:t>
            </a:r>
            <a:r>
              <a:rPr lang="fr-FR" sz="1800" b="0" i="0" u="none" strike="noStrike" baseline="0" dirty="0">
                <a:latin typeface="Garamond" panose="02020404030301010803" pitchFamily="18" charset="0"/>
              </a:rPr>
              <a:t>. </a:t>
            </a:r>
            <a:r>
              <a:rPr lang="en-US" sz="1800" b="0" i="0" u="none" strike="noStrike" baseline="0" dirty="0">
                <a:latin typeface="Garamond" panose="02020404030301010803" pitchFamily="18" charset="0"/>
              </a:rPr>
              <a:t>En particulier, sauf disposition contraire expresse de la présente </a:t>
            </a:r>
            <a:r>
              <a:rPr lang="en-US" sz="1800" b="0" i="0" u="none" strike="noStrike" baseline="0" dirty="0" err="1">
                <a:latin typeface="Garamond" panose="02020404030301010803" pitchFamily="18" charset="0"/>
              </a:rPr>
              <a:t>Convention, elle </a:t>
            </a:r>
            <a:r>
              <a:rPr lang="en-US" sz="1800" b="0" i="0" u="none" strike="noStrike" baseline="0" dirty="0">
                <a:latin typeface="Garamond" panose="02020404030301010803" pitchFamily="18" charset="0"/>
              </a:rPr>
              <a:t>ne porte pas sur :</a:t>
            </a:r>
          </a:p>
          <a:p>
            <a:pPr algn="l"/>
            <a:r>
              <a:rPr lang="en-US" sz="1800" b="0" i="1" u="none" strike="noStrike" baseline="0" dirty="0">
                <a:latin typeface="Garamond" panose="02020404030301010803" pitchFamily="18" charset="0"/>
              </a:rPr>
              <a:t>a</a:t>
            </a:r>
            <a:r>
              <a:rPr lang="en-US" sz="1800" b="1" i="1" u="none" strike="noStrike" baseline="0" dirty="0">
                <a:latin typeface="Garamond" panose="02020404030301010803" pitchFamily="18" charset="0"/>
              </a:rPr>
              <a:t>) </a:t>
            </a:r>
            <a:r>
              <a:rPr lang="en-US" sz="1800" b="1" i="0" u="none" strike="noStrike" baseline="0" dirty="0">
                <a:latin typeface="Garamond" panose="02020404030301010803" pitchFamily="18" charset="0"/>
              </a:rPr>
              <a:t>la validité du contrat ou de l'une de ses dispositions </a:t>
            </a:r>
            <a:r>
              <a:rPr lang="en-US" sz="1800" b="0" i="0" u="none" strike="noStrike" baseline="0" dirty="0">
                <a:latin typeface="Garamond" panose="02020404030301010803" pitchFamily="18" charset="0"/>
              </a:rPr>
              <a:t>ou de tout </a:t>
            </a:r>
            <a:r>
              <a:rPr lang="fr-FR" sz="1800" b="0" i="0" u="none" strike="noStrike" baseline="0" dirty="0">
                <a:latin typeface="Garamond" panose="02020404030301010803" pitchFamily="18" charset="0"/>
              </a:rPr>
              <a:t>usage ;</a:t>
            </a:r>
          </a:p>
          <a:p>
            <a:pPr algn="l"/>
            <a:r>
              <a:rPr lang="en-US" sz="1800" b="0" i="1" u="none" strike="noStrike" baseline="0" dirty="0">
                <a:latin typeface="Garamond" panose="02020404030301010803" pitchFamily="18" charset="0"/>
              </a:rPr>
              <a:t>(b) </a:t>
            </a:r>
            <a:r>
              <a:rPr lang="en-US" sz="1800" b="0" i="0" u="none" strike="noStrike" baseline="0" dirty="0">
                <a:latin typeface="Garamond" panose="02020404030301010803" pitchFamily="18" charset="0"/>
              </a:rPr>
              <a:t>l'effet que le contrat peut avoir sur </a:t>
            </a:r>
            <a:r>
              <a:rPr lang="en-US" sz="1800" b="1" i="0" u="none" strike="noStrike" baseline="0" dirty="0">
                <a:latin typeface="Garamond" panose="02020404030301010803" pitchFamily="18" charset="0"/>
              </a:rPr>
              <a:t>la propriété des </a:t>
            </a:r>
            <a:r>
              <a:rPr lang="fr-FR" sz="1800" b="1" i="0" u="none" strike="noStrike" baseline="0" dirty="0" err="1">
                <a:latin typeface="Garamond" panose="02020404030301010803" pitchFamily="18" charset="0"/>
              </a:rPr>
              <a:t>marchandises vendues</a:t>
            </a:r>
            <a:r>
              <a:rPr lang="fr-FR" sz="1800" b="0" i="0" u="none" strike="noStrike" baseline="0" dirty="0">
                <a:latin typeface="Garamond" panose="02020404030301010803" pitchFamily="18" charset="0"/>
              </a:rPr>
              <a:t>. »</a:t>
            </a:r>
            <a:endParaRPr lang="en-US" sz="1800" kern="0" dirty="0">
              <a:effectLst/>
              <a:latin typeface="Garamond" panose="02020404030301010803" pitchFamily="18" charset="0"/>
              <a:ea typeface="Times New Roman" panose="02020603050405020304" pitchFamily="18" charset="0"/>
            </a:endParaRPr>
          </a:p>
        </p:txBody>
      </p:sp>
    </p:spTree>
    <p:extLst>
      <p:ext uri="{BB962C8B-B14F-4D97-AF65-F5344CB8AC3E}">
        <p14:creationId xmlns:p14="http://schemas.microsoft.com/office/powerpoint/2010/main" val="1383569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4B2E834-EE09-897D-A316-4999284C3A66}"/>
              </a:ext>
            </a:extLst>
          </p:cNvPr>
          <p:cNvSpPr>
            <a:spLocks noGrp="1"/>
          </p:cNvSpPr>
          <p:nvPr>
            <p:ph type="title"/>
          </p:nvPr>
        </p:nvSpPr>
        <p:spPr>
          <a:xfrm>
            <a:off x="964788" y="804333"/>
            <a:ext cx="3391900" cy="5249334"/>
          </a:xfrm>
        </p:spPr>
        <p:txBody>
          <a:bodyPr>
            <a:normAutofit/>
          </a:bodyPr>
          <a:lstStyle/>
          <a:p>
            <a:pPr algn="r"/>
            <a:r>
              <a:rPr lang="fr-FR" sz="2000" dirty="0">
                <a:latin typeface="Garamond" panose="02020404030301010803" pitchFamily="18" charset="0"/>
              </a:rPr>
              <a:t>Formation du </a:t>
            </a:r>
            <a:r>
              <a:rPr lang="fr-FR" sz="2000" dirty="0" err="1">
                <a:latin typeface="Garamond" panose="02020404030301010803" pitchFamily="18" charset="0"/>
              </a:rPr>
              <a:t>contrat avec </a:t>
            </a:r>
            <a:r>
              <a:rPr lang="fr-FR" sz="2000" dirty="0">
                <a:latin typeface="Garamond" panose="02020404030301010803" pitchFamily="18" charset="0"/>
              </a:rPr>
              <a:t>CISG</a:t>
            </a:r>
          </a:p>
        </p:txBody>
      </p:sp>
      <p:cxnSp>
        <p:nvCxnSpPr>
          <p:cNvPr id="13"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E2B743D0-6D8A-8396-96C1-D6FFEFD02900}"/>
              </a:ext>
            </a:extLst>
          </p:cNvPr>
          <p:cNvSpPr>
            <a:spLocks noGrp="1"/>
          </p:cNvSpPr>
          <p:nvPr>
            <p:ph idx="1"/>
          </p:nvPr>
        </p:nvSpPr>
        <p:spPr>
          <a:xfrm>
            <a:off x="4999330" y="804333"/>
            <a:ext cx="6257721" cy="5249334"/>
          </a:xfrm>
        </p:spPr>
        <p:txBody>
          <a:bodyPr anchor="ctr">
            <a:normAutofit/>
          </a:bodyPr>
          <a:lstStyle/>
          <a:p>
            <a:r>
              <a:rPr lang="en-US" sz="1500" kern="0">
                <a:effectLst/>
                <a:latin typeface="Garamond" panose="02020404030301010803" pitchFamily="18" charset="0"/>
                <a:ea typeface="Times New Roman" panose="02020603050405020304" pitchFamily="18" charset="0"/>
              </a:rPr>
              <a:t>Une offre de contrat doit être adressée à une personne, décrire les marchandises, leur quantité et leur prix, et indiquer l'intention de l'offrant d'être lié par l'acceptation.</a:t>
            </a:r>
          </a:p>
          <a:p>
            <a:r>
              <a:rPr lang="en-US" sz="1500" kern="0">
                <a:effectLst/>
                <a:latin typeface="Garamond" panose="02020404030301010803" pitchFamily="18" charset="0"/>
                <a:ea typeface="Times New Roman" panose="02020603050405020304" pitchFamily="18" charset="0"/>
              </a:rPr>
              <a:t>En outre, en l'absence de prix explicite ou de procédure permettant de déterminer implicitement le prix, les parties sont réputées avoir convenu d'un prix basé sur celui qui est généralement pratiqué au moment de la conclusion du contrat pour des biens similaires vendus dans des circonstances comparables</a:t>
            </a:r>
          </a:p>
          <a:p>
            <a:pPr>
              <a:spcBef>
                <a:spcPts val="600"/>
              </a:spcBef>
              <a:spcAft>
                <a:spcPts val="800"/>
              </a:spcAft>
            </a:pPr>
            <a:r>
              <a:rPr lang="en-US" sz="15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En règle générale, une offre peut être révoquée à condition que le retrait parvienne au destinataire avant ou au moment de l'offre, ou avant que le destinataire n'ait envoyé son acceptation. Certaines offres ne peuvent être révoquées, par exemple lorsque le destinataire s'est raisonnablement fondé sur le caractère irrévocable de l'offre. </a:t>
            </a:r>
          </a:p>
          <a:p>
            <a:pPr>
              <a:spcBef>
                <a:spcPts val="600"/>
              </a:spcBef>
              <a:spcAft>
                <a:spcPts val="800"/>
              </a:spcAft>
            </a:pPr>
            <a:r>
              <a:rPr lang="en-US" sz="1500" kern="0">
                <a:effectLst/>
                <a:highlight>
                  <a:srgbClr val="FFFFFF"/>
                </a:highlight>
                <a:latin typeface="Garamond" panose="02020404030301010803" pitchFamily="18" charset="0"/>
                <a:ea typeface="Times New Roman" panose="02020603050405020304" pitchFamily="18" charset="0"/>
                <a:cs typeface="Times New Roman" panose="02020603050405020304" pitchFamily="18" charset="0"/>
              </a:rPr>
              <a:t>La CVIM exige un acte positif pour indiquer l'acceptation ; le silence ou l'inaction ne constituent pas une acceptation.</a:t>
            </a:r>
            <a:endParaRPr lang="fr-FR" sz="1500" kern="100">
              <a:effectLst/>
              <a:highlight>
                <a:srgbClr val="FFFFFF"/>
              </a:highlight>
              <a:latin typeface="Garamond" panose="02020404030301010803" pitchFamily="18" charset="0"/>
              <a:ea typeface="Aptos" panose="020B0004020202020204" pitchFamily="34" charset="0"/>
              <a:cs typeface="Times New Roman" panose="02020603050405020304" pitchFamily="18" charset="0"/>
            </a:endParaRPr>
          </a:p>
          <a:p>
            <a:r>
              <a:rPr lang="en-US" sz="1500" kern="0">
                <a:effectLst/>
                <a:latin typeface="Garamond" panose="02020404030301010803" pitchFamily="18" charset="0"/>
                <a:ea typeface="Times New Roman" panose="02020603050405020304" pitchFamily="18" charset="0"/>
              </a:rPr>
              <a:t>La CVIM tente de résoudre la situation courante dans laquelle la réponse du destinataire à une offre accepte l'offre initiale, mais tente de modifier les conditions. </a:t>
            </a:r>
          </a:p>
          <a:p>
            <a:r>
              <a:rPr lang="en-US" sz="1500" kern="0">
                <a:effectLst/>
                <a:latin typeface="Garamond" panose="02020404030301010803" pitchFamily="18" charset="0"/>
                <a:ea typeface="Times New Roman" panose="02020603050405020304" pitchFamily="18" charset="0"/>
              </a:rPr>
              <a:t>La CVIM stipule que toute modification des conditions initiales constitue un rejet de l'offre — il s'agit d'une </a:t>
            </a:r>
            <a:r>
              <a:rPr lang="en-US" sz="1500" kern="0">
                <a:latin typeface="Garamond" panose="02020404030301010803" pitchFamily="18" charset="0"/>
                <a:ea typeface="Times New Roman" panose="02020603050405020304" pitchFamily="18" charset="0"/>
              </a:rPr>
              <a:t>contre-offre </a:t>
            </a:r>
            <a:r>
              <a:rPr lang="en-US" sz="1500" kern="0">
                <a:effectLst/>
                <a:latin typeface="Garamond" panose="02020404030301010803" pitchFamily="18" charset="0"/>
                <a:ea typeface="Times New Roman" panose="02020603050405020304" pitchFamily="18" charset="0"/>
              </a:rPr>
              <a:t>—, sauf si les conditions modifiées ne changent pas de manière substantielle les termes de l'offre. </a:t>
            </a:r>
          </a:p>
          <a:p>
            <a:r>
              <a:rPr lang="en-US" sz="1500" kern="0">
                <a:effectLst/>
                <a:latin typeface="Garamond" panose="02020404030301010803" pitchFamily="18" charset="0"/>
                <a:ea typeface="Times New Roman" panose="02020603050405020304" pitchFamily="18" charset="0"/>
              </a:rPr>
              <a:t>Les modifications apportées au prix, au paiement, à la qualité, à la quantité, à la livraison, à la responsabilité des parties et aux conditions </a:t>
            </a:r>
            <a:r>
              <a:rPr lang="en-US" sz="1500" kern="0">
                <a:latin typeface="Garamond" panose="02020404030301010803" pitchFamily="18" charset="0"/>
                <a:ea typeface="Times New Roman" panose="02020603050405020304" pitchFamily="18" charset="0"/>
              </a:rPr>
              <a:t>d'arbitrage </a:t>
            </a:r>
            <a:r>
              <a:rPr lang="en-US" sz="1500" kern="0">
                <a:effectLst/>
                <a:latin typeface="Garamond" panose="02020404030301010803" pitchFamily="18" charset="0"/>
                <a:ea typeface="Times New Roman" panose="02020603050405020304" pitchFamily="18" charset="0"/>
              </a:rPr>
              <a:t>peuvent toutes modifier de manière substantielle les termes de l'offre.</a:t>
            </a:r>
            <a:endParaRPr lang="fr-FR" sz="1500">
              <a:latin typeface="Garamond" panose="02020404030301010803" pitchFamily="18" charset="0"/>
            </a:endParaRPr>
          </a:p>
        </p:txBody>
      </p:sp>
    </p:spTree>
    <p:extLst>
      <p:ext uri="{BB962C8B-B14F-4D97-AF65-F5344CB8AC3E}">
        <p14:creationId xmlns:p14="http://schemas.microsoft.com/office/powerpoint/2010/main" val="514947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8FD6369-2871-3402-151A-12FD325B9FE8}"/>
              </a:ext>
            </a:extLst>
          </p:cNvPr>
          <p:cNvSpPr>
            <a:spLocks noGrp="1"/>
          </p:cNvSpPr>
          <p:nvPr>
            <p:ph type="title"/>
          </p:nvPr>
        </p:nvSpPr>
        <p:spPr>
          <a:xfrm>
            <a:off x="964788" y="804333"/>
            <a:ext cx="3391900" cy="5249334"/>
          </a:xfrm>
        </p:spPr>
        <p:txBody>
          <a:bodyPr>
            <a:normAutofit/>
          </a:bodyPr>
          <a:lstStyle/>
          <a:p>
            <a:pPr algn="r"/>
            <a:r>
              <a:rPr lang="fr-FR" sz="2000" dirty="0">
                <a:latin typeface="Garamond" panose="02020404030301010803" pitchFamily="18" charset="0"/>
              </a:rPr>
              <a:t>Obligations du vendeur </a:t>
            </a:r>
            <a:r>
              <a:rPr lang="fr-FR" sz="2000" dirty="0" err="1">
                <a:latin typeface="Garamond" panose="02020404030301010803" pitchFamily="18" charset="0"/>
              </a:rPr>
              <a:t>en vertu de </a:t>
            </a:r>
            <a:r>
              <a:rPr lang="fr-FR" sz="2000" dirty="0">
                <a:latin typeface="Garamond" panose="02020404030301010803" pitchFamily="18" charset="0"/>
              </a:rPr>
              <a:t>la CVIM</a:t>
            </a:r>
          </a:p>
        </p:txBody>
      </p:sp>
      <p:cxnSp>
        <p:nvCxnSpPr>
          <p:cNvPr id="13"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13E0640A-4C61-A4B4-4140-7D1D1CC0CFB2}"/>
              </a:ext>
            </a:extLst>
          </p:cNvPr>
          <p:cNvSpPr>
            <a:spLocks noGrp="1"/>
          </p:cNvSpPr>
          <p:nvPr>
            <p:ph idx="1"/>
          </p:nvPr>
        </p:nvSpPr>
        <p:spPr>
          <a:xfrm>
            <a:off x="4999330" y="804332"/>
            <a:ext cx="6806585" cy="5860627"/>
          </a:xfrm>
        </p:spPr>
        <p:txBody>
          <a:bodyPr anchor="ctr">
            <a:normAutofit/>
          </a:bodyPr>
          <a:lstStyle/>
          <a:p>
            <a:r>
              <a:rPr lang="en-US" sz="1600" kern="0" dirty="0">
                <a:effectLst/>
                <a:latin typeface="Garamond" panose="02020404030301010803" pitchFamily="18" charset="0"/>
                <a:ea typeface="Times New Roman" panose="02020603050405020304" pitchFamily="18" charset="0"/>
              </a:rPr>
              <a:t>Le vendeur doit livrer les marchandises, remettre tous les documents s'y rapportant et transférer la propriété des marchandises, conformément au contrat.</a:t>
            </a:r>
          </a:p>
          <a:p>
            <a:r>
              <a:rPr lang="en-US" sz="1600" kern="0" dirty="0">
                <a:effectLst/>
                <a:latin typeface="Garamond" panose="02020404030301010803" pitchFamily="18" charset="0"/>
                <a:ea typeface="Times New Roman" panose="02020603050405020304" pitchFamily="18" charset="0"/>
              </a:rPr>
              <a:t>Les marchandises doivent être conformes à la qualité, à la quantité et à la description requises par le contrat, être emballées de manière appropriée et convenir à l'usage prévu.</a:t>
            </a:r>
            <a:endParaRPr lang="en-US" sz="1600" kern="0" baseline="30000" dirty="0">
              <a:latin typeface="Garamond" panose="02020404030301010803" pitchFamily="18" charset="0"/>
              <a:ea typeface="Times New Roman" panose="02020603050405020304" pitchFamily="18" charset="0"/>
            </a:endParaRPr>
          </a:p>
          <a:p>
            <a:r>
              <a:rPr lang="en-US" sz="1600" kern="0" dirty="0">
                <a:effectLst/>
                <a:latin typeface="Garamond" panose="02020404030301010803" pitchFamily="18" charset="0"/>
                <a:ea typeface="Times New Roman" panose="02020603050405020304" pitchFamily="18" charset="0"/>
              </a:rPr>
              <a:t>Le vendeur est tenu de livrer des marchandises qui ne font pas l'objet de réclamations de </a:t>
            </a:r>
            <a:r>
              <a:rPr lang="en-US" sz="1600" kern="0" dirty="0">
                <a:latin typeface="Garamond" panose="02020404030301010803" pitchFamily="18" charset="0"/>
                <a:ea typeface="Times New Roman" panose="02020603050405020304" pitchFamily="18" charset="0"/>
              </a:rPr>
              <a:t>tiers </a:t>
            </a:r>
            <a:r>
              <a:rPr lang="en-US" sz="1600" kern="0" dirty="0">
                <a:effectLst/>
                <a:latin typeface="Garamond" panose="02020404030301010803" pitchFamily="18" charset="0"/>
                <a:ea typeface="Times New Roman" panose="02020603050405020304" pitchFamily="18" charset="0"/>
              </a:rPr>
              <a:t>pour violation de droits </a:t>
            </a:r>
            <a:r>
              <a:rPr lang="en-US" sz="1600" kern="0" dirty="0">
                <a:latin typeface="Garamond" panose="02020404030301010803" pitchFamily="18" charset="0"/>
                <a:ea typeface="Times New Roman" panose="02020603050405020304" pitchFamily="18" charset="0"/>
              </a:rPr>
              <a:t>de propriété </a:t>
            </a:r>
            <a:r>
              <a:rPr lang="en-US" sz="1600" kern="0" dirty="0">
                <a:effectLst/>
                <a:latin typeface="Garamond" panose="02020404030301010803" pitchFamily="18" charset="0"/>
                <a:ea typeface="Times New Roman" panose="02020603050405020304" pitchFamily="18" charset="0"/>
              </a:rPr>
              <a:t>industrielle ou </a:t>
            </a:r>
            <a:r>
              <a:rPr lang="en-US" sz="1600" kern="0" dirty="0">
                <a:latin typeface="Garamond" panose="02020404030301010803" pitchFamily="18" charset="0"/>
                <a:ea typeface="Times New Roman" panose="02020603050405020304" pitchFamily="18" charset="0"/>
              </a:rPr>
              <a:t>intellectuelle </a:t>
            </a:r>
            <a:r>
              <a:rPr lang="en-US" sz="1600" kern="0" dirty="0">
                <a:effectLst/>
                <a:latin typeface="Garamond" panose="02020404030301010803" pitchFamily="18" charset="0"/>
                <a:ea typeface="Times New Roman" panose="02020603050405020304" pitchFamily="18" charset="0"/>
              </a:rPr>
              <a:t>dans l'État où les marchandises doivent être vendues</a:t>
            </a:r>
          </a:p>
          <a:p>
            <a:r>
              <a:rPr lang="en-US" sz="1600" kern="0" dirty="0">
                <a:effectLst/>
                <a:latin typeface="Garamond" panose="02020404030301010803" pitchFamily="18" charset="0"/>
                <a:ea typeface="Times New Roman" panose="02020603050405020304" pitchFamily="18" charset="0"/>
              </a:rPr>
              <a:t>La CVIM décrit le moment où le risque passe du vendeur à l'acheteur</a:t>
            </a:r>
            <a:r>
              <a:rPr lang="en-US" sz="1600" kern="0" baseline="30000" dirty="0">
                <a:latin typeface="Garamond" panose="02020404030301010803" pitchFamily="18" charset="0"/>
                <a:ea typeface="Times New Roman" panose="02020603050405020304" pitchFamily="18" charset="0"/>
              </a:rPr>
              <a:t>[</a:t>
            </a:r>
            <a:r>
              <a:rPr lang="en-US" sz="1600" kern="0" dirty="0">
                <a:effectLst/>
                <a:latin typeface="Garamond" panose="02020404030301010803" pitchFamily="18" charset="0"/>
                <a:ea typeface="Times New Roman" panose="02020603050405020304" pitchFamily="18" charset="0"/>
              </a:rPr>
              <a:t> , mais il a été observé que, dans la pratique, la plupart des contrats définissent assez précisément les obligations de livraison du vendeur en adoptant un terme d'expédition établi, tel que </a:t>
            </a:r>
            <a:r>
              <a:rPr lang="en-US" sz="1600" kern="0" dirty="0">
                <a:latin typeface="Garamond" panose="02020404030301010803" pitchFamily="18" charset="0"/>
                <a:ea typeface="Times New Roman" panose="02020603050405020304" pitchFamily="18" charset="0"/>
              </a:rPr>
              <a:t>FOB </a:t>
            </a:r>
            <a:r>
              <a:rPr lang="en-US" sz="1600" kern="0" dirty="0">
                <a:effectLst/>
                <a:latin typeface="Garamond" panose="02020404030301010803" pitchFamily="18" charset="0"/>
                <a:ea typeface="Times New Roman" panose="02020603050405020304" pitchFamily="18" charset="0"/>
              </a:rPr>
              <a:t>et </a:t>
            </a:r>
            <a:r>
              <a:rPr lang="en-US" sz="1600" kern="0" dirty="0">
                <a:latin typeface="Garamond" panose="02020404030301010803" pitchFamily="18" charset="0"/>
                <a:ea typeface="Times New Roman" panose="02020603050405020304" pitchFamily="18" charset="0"/>
              </a:rPr>
              <a:t>CIF</a:t>
            </a:r>
          </a:p>
          <a:p>
            <a:r>
              <a:rPr lang="fr-FR" sz="1600" b="0" i="1" u="none" strike="noStrike" baseline="0" dirty="0">
                <a:latin typeface="Times-Italic"/>
              </a:rPr>
              <a:t>Article 36 de la CVIM :</a:t>
            </a:r>
          </a:p>
          <a:p>
            <a:r>
              <a:rPr lang="en-US" sz="1600" b="0" i="0" u="none" strike="noStrike" baseline="0" dirty="0">
                <a:latin typeface="Garamond" panose="02020404030301010803" pitchFamily="18" charset="0"/>
              </a:rPr>
              <a:t>« (1) Le vendeur est responsable, conformément au contrat et </a:t>
            </a:r>
            <a:r>
              <a:rPr lang="fr-FR" sz="1600" b="0" i="0" u="none" strike="noStrike" baseline="0" dirty="0">
                <a:latin typeface="Garamond" panose="02020404030301010803" pitchFamily="18" charset="0"/>
              </a:rPr>
              <a:t>à la présente Convention, </a:t>
            </a:r>
            <a:r>
              <a:rPr lang="en-US" sz="1600" b="0" i="0" u="none" strike="noStrike" baseline="0" dirty="0">
                <a:latin typeface="Garamond" panose="02020404030301010803" pitchFamily="18" charset="0"/>
              </a:rPr>
              <a:t>de tout défaut de conformité existant au moment où le risque est transféré à l'acheteur, même si le défaut de conformité </a:t>
            </a:r>
            <a:r>
              <a:rPr lang="fr-FR" sz="1600" b="0" i="0" u="none" strike="noStrike" baseline="0" dirty="0" err="1">
                <a:latin typeface="Garamond" panose="02020404030301010803" pitchFamily="18" charset="0"/>
              </a:rPr>
              <a:t>n'apparaît qu'après ce </a:t>
            </a:r>
            <a:r>
              <a:rPr lang="fr-FR" sz="1600" b="0" i="0" u="none" strike="noStrike" baseline="0" dirty="0">
                <a:latin typeface="Garamond" panose="02020404030301010803" pitchFamily="18" charset="0"/>
              </a:rPr>
              <a:t>moment.</a:t>
            </a:r>
          </a:p>
          <a:p>
            <a:r>
              <a:rPr lang="en-US" sz="1600" b="0" i="0" u="none" strike="noStrike" baseline="0" dirty="0">
                <a:latin typeface="Garamond" panose="02020404030301010803" pitchFamily="18" charset="0"/>
              </a:rPr>
              <a:t>(2) Le vendeur est également responsable du défaut de conformité qui survient après le moment indiqué au paragraphe précédent et qui résulte d'une violation de l'une de ses obligations, y compris d'une violation de toute garantie que les marchandises resteront, pendant un certain temps, aptes à l'usage normal ou à un usage particulier, ou qu'elles conserveront les qualités ou caractéristiques spécifiées. »</a:t>
            </a:r>
            <a:endParaRPr lang="en-US" sz="1600" u="none" strike="noStrike" kern="0" dirty="0">
              <a:effectLst/>
              <a:latin typeface="Garamond" panose="02020404030301010803" pitchFamily="18" charset="0"/>
              <a:ea typeface="Times New Roman" panose="02020603050405020304" pitchFamily="18" charset="0"/>
            </a:endParaRPr>
          </a:p>
        </p:txBody>
      </p:sp>
    </p:spTree>
    <p:extLst>
      <p:ext uri="{BB962C8B-B14F-4D97-AF65-F5344CB8AC3E}">
        <p14:creationId xmlns:p14="http://schemas.microsoft.com/office/powerpoint/2010/main" val="781410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DE552C-9C8D-7F74-DD88-797C2737A6D6}"/>
              </a:ext>
            </a:extLst>
          </p:cNvPr>
          <p:cNvSpPr>
            <a:spLocks noGrp="1"/>
          </p:cNvSpPr>
          <p:nvPr>
            <p:ph type="title"/>
          </p:nvPr>
        </p:nvSpPr>
        <p:spPr>
          <a:xfrm>
            <a:off x="1024128" y="585216"/>
            <a:ext cx="8018272" cy="1499616"/>
          </a:xfrm>
        </p:spPr>
        <p:txBody>
          <a:bodyPr>
            <a:normAutofit/>
          </a:bodyPr>
          <a:lstStyle/>
          <a:p>
            <a:r>
              <a:rPr lang="fr-FR">
                <a:latin typeface="Garamond" panose="02020404030301010803" pitchFamily="18" charset="0"/>
              </a:rPr>
              <a:t>Obligations de l'</a:t>
            </a:r>
            <a:r>
              <a:rPr lang="fr-FR" err="1">
                <a:latin typeface="Garamond" panose="02020404030301010803" pitchFamily="18" charset="0"/>
              </a:rPr>
              <a:t>acheteur</a:t>
            </a:r>
            <a:endParaRPr lang="fr-FR">
              <a:latin typeface="Garamond" panose="02020404030301010803" pitchFamily="18" charset="0"/>
            </a:endParaRPr>
          </a:p>
        </p:txBody>
      </p:sp>
      <p:sp>
        <p:nvSpPr>
          <p:cNvPr id="3" name="Espace réservé du contenu 2">
            <a:extLst>
              <a:ext uri="{FF2B5EF4-FFF2-40B4-BE49-F238E27FC236}">
                <a16:creationId xmlns:a16="http://schemas.microsoft.com/office/drawing/2014/main" id="{473ADBC4-A249-FE1F-2F93-49C5DB3A8958}"/>
              </a:ext>
            </a:extLst>
          </p:cNvPr>
          <p:cNvSpPr>
            <a:spLocks noGrp="1"/>
          </p:cNvSpPr>
          <p:nvPr>
            <p:ph idx="1"/>
          </p:nvPr>
        </p:nvSpPr>
        <p:spPr>
          <a:xfrm>
            <a:off x="1024128" y="2286000"/>
            <a:ext cx="8018271" cy="4023360"/>
          </a:xfrm>
        </p:spPr>
        <p:txBody>
          <a:bodyPr>
            <a:normAutofit/>
          </a:bodyPr>
          <a:lstStyle/>
          <a:p>
            <a:r>
              <a:rPr lang="en-US" sz="1500" kern="0">
                <a:effectLst/>
                <a:latin typeface="Garamond" panose="02020404030301010803" pitchFamily="18" charset="0"/>
                <a:ea typeface="Times New Roman" panose="02020603050405020304" pitchFamily="18" charset="0"/>
              </a:rPr>
              <a:t>L'acheteur est tenu d'examiner rapidement les marchandises</a:t>
            </a:r>
          </a:p>
          <a:p>
            <a:r>
              <a:rPr lang="en-US" sz="1500" b="0" i="0" u="none" strike="noStrike" baseline="0">
                <a:latin typeface="Garamond" panose="02020404030301010803" pitchFamily="18" charset="0"/>
              </a:rPr>
              <a:t>L'acheteur perd le droit de se prévaloir d'un défaut de conformité des marchandises s'il ne notifie pas au vendeur la nature du défaut de conformité dans un délai raisonnable après l'avoir découvert ou</a:t>
            </a:r>
          </a:p>
          <a:p>
            <a:r>
              <a:rPr lang="en-US" sz="1500" b="0" i="0" u="none" strike="noStrike" baseline="0">
                <a:latin typeface="Garamond" panose="02020404030301010803" pitchFamily="18" charset="0"/>
              </a:rPr>
              <a:t>aurait dû la constater</a:t>
            </a:r>
          </a:p>
          <a:p>
            <a:r>
              <a:rPr lang="en-US" sz="1500" b="0" i="0" u="none" strike="noStrike" baseline="0">
                <a:latin typeface="Garamond" panose="02020404030301010803" pitchFamily="18" charset="0"/>
              </a:rPr>
              <a:t>En tout état de cause, l'acheteur perd le droit d'invoquer un défaut de conformité des biens s'il ne le notifie pas au vendeur au plus tard dans un délai de deux ans à compter de la date à laquelle les biens ont été effectivement remis à l'acheteur, à moins que ce délai ne soit incompatible avec un </a:t>
            </a:r>
            <a:r>
              <a:rPr lang="fr-FR" sz="1500" b="0" i="0" u="none" strike="noStrike" baseline="0" err="1">
                <a:latin typeface="Garamond" panose="02020404030301010803" pitchFamily="18" charset="0"/>
              </a:rPr>
              <a:t>délai </a:t>
            </a:r>
            <a:r>
              <a:rPr lang="fr-FR" sz="1500" b="0" i="0" u="none" strike="noStrike" baseline="0">
                <a:latin typeface="Garamond" panose="02020404030301010803" pitchFamily="18" charset="0"/>
              </a:rPr>
              <a:t>de </a:t>
            </a:r>
            <a:r>
              <a:rPr lang="fr-FR" sz="1500" b="0" i="0" u="none" strike="noStrike" baseline="0" err="1">
                <a:latin typeface="Garamond" panose="02020404030301010803" pitchFamily="18" charset="0"/>
              </a:rPr>
              <a:t>garantie </a:t>
            </a:r>
            <a:r>
              <a:rPr lang="en-US" sz="1500" b="0" i="0" u="none" strike="noStrike" baseline="0">
                <a:latin typeface="Garamond" panose="02020404030301010803" pitchFamily="18" charset="0"/>
              </a:rPr>
              <a:t>contractuel</a:t>
            </a:r>
            <a:r>
              <a:rPr lang="fr-FR" sz="1500" b="0" i="0" u="none" strike="noStrike" baseline="0">
                <a:latin typeface="Garamond" panose="02020404030301010803" pitchFamily="18" charset="0"/>
              </a:rPr>
              <a:t>.</a:t>
            </a:r>
          </a:p>
          <a:p>
            <a:r>
              <a:rPr lang="en-US" sz="1500" b="0" i="0" u="none" strike="noStrike" baseline="0">
                <a:latin typeface="Garamond" panose="02020404030301010803" pitchFamily="18" charset="0"/>
              </a:rPr>
              <a:t>L'obligation de l'acheteur de payer le prix comprend l'exécution des mesures et le respect des formalités nécessaires, en vertu du contrat ou de la loi ou de la réglementation, pour permettre le paiement.</a:t>
            </a:r>
          </a:p>
          <a:p>
            <a:r>
              <a:rPr lang="en-US" sz="1500" b="0" i="0" u="none" strike="noStrike" baseline="0">
                <a:latin typeface="Garamond" panose="02020404030301010803" pitchFamily="18" charset="0"/>
              </a:rPr>
              <a:t>Lorsqu'un contrat a été valablement conclu mais ne fixe pas ou ne prévoit pas expressément ou implicitement le prix, </a:t>
            </a:r>
            <a:r>
              <a:rPr lang="en-US" sz="1500" b="1" i="0" u="none" strike="noStrike" baseline="0">
                <a:latin typeface="Garamond" panose="02020404030301010803" pitchFamily="18" charset="0"/>
              </a:rPr>
              <a:t>les parties sont réputées, sauf indication contraire, avoir fait référence implicitement au prix généralement pratiqué au moment de la conclusion du contrat pour des biens vendus dans des circonstances comparables </a:t>
            </a:r>
            <a:r>
              <a:rPr lang="en-US" sz="1500" b="0" i="0" u="none" strike="noStrike" baseline="0">
                <a:latin typeface="Garamond" panose="02020404030301010803" pitchFamily="18" charset="0"/>
              </a:rPr>
              <a:t>dans le </a:t>
            </a:r>
            <a:r>
              <a:rPr lang="fr-FR" sz="1500" b="0" i="0" u="none" strike="noStrike" baseline="0" err="1">
                <a:latin typeface="Garamond" panose="02020404030301010803" pitchFamily="18" charset="0"/>
              </a:rPr>
              <a:t>commerce concerné</a:t>
            </a:r>
            <a:r>
              <a:rPr lang="fr-FR" sz="1500" b="0" i="0" u="none" strike="noStrike" baseline="0">
                <a:latin typeface="Garamond" panose="02020404030301010803" pitchFamily="18" charset="0"/>
              </a:rPr>
              <a:t>.</a:t>
            </a:r>
          </a:p>
          <a:p>
            <a:endParaRPr lang="en-US" sz="1500" kern="0">
              <a:effectLst/>
              <a:latin typeface="Garamond" panose="02020404030301010803" pitchFamily="18" charset="0"/>
              <a:ea typeface="Times New Roman" panose="02020603050405020304" pitchFamily="18" charset="0"/>
            </a:endParaRPr>
          </a:p>
          <a:p>
            <a:pPr marL="0" indent="0">
              <a:buNone/>
            </a:pPr>
            <a:endParaRPr lang="en-US" sz="1500" kern="0">
              <a:latin typeface="Arial" panose="020B0604020202020204" pitchFamily="34" charset="0"/>
              <a:ea typeface="Times New Roman" panose="02020603050405020304" pitchFamily="18" charset="0"/>
            </a:endParaRPr>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9631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22DC0F-3A01-D6C1-2F9E-A223FB9EAA47}"/>
              </a:ext>
            </a:extLst>
          </p:cNvPr>
          <p:cNvSpPr>
            <a:spLocks noGrp="1"/>
          </p:cNvSpPr>
          <p:nvPr>
            <p:ph type="title"/>
          </p:nvPr>
        </p:nvSpPr>
        <p:spPr/>
        <p:txBody>
          <a:bodyPr>
            <a:normAutofit/>
          </a:bodyPr>
          <a:lstStyle/>
          <a:p>
            <a:r>
              <a:rPr lang="fr-FR" sz="2000" dirty="0" err="1">
                <a:latin typeface="Garamond" panose="02020404030301010803" pitchFamily="18" charset="0"/>
              </a:rPr>
              <a:t>Paiement </a:t>
            </a:r>
            <a:r>
              <a:rPr lang="fr-FR" sz="2000" dirty="0">
                <a:latin typeface="Garamond" panose="02020404030301010803" pitchFamily="18" charset="0"/>
              </a:rPr>
              <a:t>du </a:t>
            </a:r>
            <a:r>
              <a:rPr lang="fr-FR" sz="2000" dirty="0" err="1">
                <a:latin typeface="Garamond" panose="02020404030301010803" pitchFamily="18" charset="0"/>
              </a:rPr>
              <a:t>prix</a:t>
            </a:r>
            <a:endParaRPr lang="fr-FR" sz="2000" dirty="0">
              <a:latin typeface="Garamond" panose="02020404030301010803" pitchFamily="18" charset="0"/>
            </a:endParaRPr>
          </a:p>
        </p:txBody>
      </p:sp>
      <p:sp>
        <p:nvSpPr>
          <p:cNvPr id="3" name="Espace réservé du contenu 2">
            <a:extLst>
              <a:ext uri="{FF2B5EF4-FFF2-40B4-BE49-F238E27FC236}">
                <a16:creationId xmlns:a16="http://schemas.microsoft.com/office/drawing/2014/main" id="{60A7F431-77E0-744A-9279-F460CCB536CF}"/>
              </a:ext>
            </a:extLst>
          </p:cNvPr>
          <p:cNvSpPr>
            <a:spLocks noGrp="1"/>
          </p:cNvSpPr>
          <p:nvPr>
            <p:ph idx="1"/>
          </p:nvPr>
        </p:nvSpPr>
        <p:spPr>
          <a:xfrm>
            <a:off x="2589212" y="1663337"/>
            <a:ext cx="8915400" cy="4247885"/>
          </a:xfrm>
        </p:spPr>
        <p:txBody>
          <a:bodyPr>
            <a:normAutofit fontScale="92500" lnSpcReduction="20000"/>
          </a:bodyPr>
          <a:lstStyle/>
          <a:p>
            <a:pPr algn="l"/>
            <a:r>
              <a:rPr lang="en-US" sz="1800" b="0" i="0" u="none" strike="noStrike" baseline="0" dirty="0">
                <a:latin typeface="Garamond" panose="02020404030301010803" pitchFamily="18" charset="0"/>
              </a:rPr>
              <a:t>Si l'acheteur n'est pas tenu de payer le prix en un autre lieu déterminé, il doit le payer au vendeur :</a:t>
            </a:r>
          </a:p>
          <a:p>
            <a:pPr algn="l"/>
            <a:r>
              <a:rPr lang="en-US" sz="1800" b="0" i="1" u="none" strike="noStrike" baseline="0" dirty="0">
                <a:latin typeface="Garamond" panose="02020404030301010803" pitchFamily="18" charset="0"/>
              </a:rPr>
              <a:t>(a) </a:t>
            </a:r>
            <a:r>
              <a:rPr lang="en-US" sz="1800" b="0" i="0" u="none" strike="noStrike" baseline="0" dirty="0">
                <a:latin typeface="Garamond" panose="02020404030301010803" pitchFamily="18" charset="0"/>
              </a:rPr>
              <a:t>au siège social du vendeur ; ou</a:t>
            </a:r>
          </a:p>
          <a:p>
            <a:pPr algn="l"/>
            <a:r>
              <a:rPr lang="en-US" sz="1800" b="0" i="1" u="none" strike="noStrike" baseline="0" dirty="0">
                <a:latin typeface="Garamond" panose="02020404030301010803" pitchFamily="18" charset="0"/>
              </a:rPr>
              <a:t>(b) </a:t>
            </a:r>
            <a:r>
              <a:rPr lang="en-US" sz="1800" b="0" i="0" u="none" strike="noStrike" baseline="0" dirty="0">
                <a:latin typeface="Garamond" panose="02020404030301010803" pitchFamily="18" charset="0"/>
              </a:rPr>
              <a:t>si le paiement doit être effectué contre remise des marchandises ou des documents, au lieu où la remise a lieu.</a:t>
            </a:r>
          </a:p>
          <a:p>
            <a:pPr algn="l"/>
            <a:r>
              <a:rPr lang="fr-FR" sz="1800" b="0" i="1" u="none" strike="noStrike" baseline="0" dirty="0">
                <a:latin typeface="Garamond" panose="02020404030301010803" pitchFamily="18" charset="0"/>
              </a:rPr>
              <a:t>Article 58</a:t>
            </a:r>
          </a:p>
          <a:p>
            <a:pPr algn="l"/>
            <a:r>
              <a:rPr lang="en-US" sz="1800" b="0" i="0" u="none" strike="noStrike" baseline="0" dirty="0">
                <a:latin typeface="Garamond" panose="02020404030301010803" pitchFamily="18" charset="0"/>
              </a:rPr>
              <a:t>(1) Si l'acheteur n'est pas tenu de payer le prix à un autre moment déterminé, il doit le payer lorsque le vendeur met à la disposition de l'acheteur, conformément au contrat et à la présente Convention, soit les marchandises, soit les documents qui en permettent la disposition. </a:t>
            </a:r>
          </a:p>
          <a:p>
            <a:pPr algn="l"/>
            <a:r>
              <a:rPr lang="en-US" sz="1800" b="0" i="0" u="none" strike="noStrike" baseline="0" dirty="0">
                <a:latin typeface="Garamond" panose="02020404030301010803" pitchFamily="18" charset="0"/>
              </a:rPr>
              <a:t>Le vendeur peut subordonner la remise des marchandises ou des documents au paiement.</a:t>
            </a:r>
          </a:p>
          <a:p>
            <a:pPr algn="l"/>
            <a:r>
              <a:rPr lang="en-US" sz="1800" b="0" i="0" u="none" strike="noStrike" baseline="0" dirty="0">
                <a:latin typeface="Garamond" panose="02020404030301010803" pitchFamily="18" charset="0"/>
              </a:rPr>
              <a:t>(2) Si le contrat comporte le transport des marchandises, le vendeur peut </a:t>
            </a:r>
            <a:r>
              <a:rPr lang="fr-FR" sz="1800" b="0" i="0" u="none" strike="noStrike" baseline="0" dirty="0">
                <a:latin typeface="Garamond" panose="02020404030301010803" pitchFamily="18" charset="0"/>
              </a:rPr>
              <a:t>expédier </a:t>
            </a:r>
            <a:r>
              <a:rPr lang="en-US" sz="1800" b="0" i="0" u="none" strike="noStrike" baseline="0" dirty="0">
                <a:latin typeface="Garamond" panose="02020404030301010803" pitchFamily="18" charset="0"/>
              </a:rPr>
              <a:t>les marchandises à des conditions telles que les marchandises ou les documents qui en disposent ne soient remis à l'acheteur que contre paiement </a:t>
            </a:r>
            <a:r>
              <a:rPr lang="fr-FR" sz="1800" b="0" i="0" u="none" strike="noStrike" baseline="0" dirty="0">
                <a:latin typeface="Garamond" panose="02020404030301010803" pitchFamily="18" charset="0"/>
              </a:rPr>
              <a:t>du </a:t>
            </a:r>
            <a:r>
              <a:rPr lang="fr-FR" sz="1800" b="0" i="0" u="none" strike="noStrike" baseline="0" dirty="0" err="1">
                <a:latin typeface="Garamond" panose="02020404030301010803" pitchFamily="18" charset="0"/>
              </a:rPr>
              <a:t>prix</a:t>
            </a:r>
            <a:r>
              <a:rPr lang="fr-FR" sz="1800" b="0" i="0" u="none" strike="noStrike" baseline="0" dirty="0">
                <a:latin typeface="Garamond" panose="02020404030301010803" pitchFamily="18" charset="0"/>
              </a:rPr>
              <a:t>.</a:t>
            </a:r>
          </a:p>
          <a:p>
            <a:pPr algn="l"/>
            <a:r>
              <a:rPr lang="en-US" sz="1800" b="0" i="0" u="none" strike="noStrike" baseline="0" dirty="0">
                <a:latin typeface="Garamond" panose="02020404030301010803" pitchFamily="18" charset="0"/>
              </a:rPr>
              <a:t>3) L'acheteur n'est pas tenu de payer le prix avant d'avoir eu la </a:t>
            </a:r>
            <a:r>
              <a:rPr lang="fr-FR" sz="1800" b="0" i="0" u="none" strike="noStrike" baseline="0" dirty="0" err="1">
                <a:latin typeface="Garamond" panose="02020404030301010803" pitchFamily="18" charset="0"/>
              </a:rPr>
              <a:t>possibilité </a:t>
            </a:r>
            <a:r>
              <a:rPr lang="en-US" sz="1800" b="0" i="0" u="none" strike="noStrike" baseline="0" dirty="0">
                <a:latin typeface="Garamond" panose="02020404030301010803" pitchFamily="18" charset="0"/>
              </a:rPr>
              <a:t>d'examiner les marchandises, à moins que les modalités de livraison ou de paiement convenues par les parties ne soient incompatibles avec </a:t>
            </a:r>
            <a:r>
              <a:rPr lang="fr-FR" sz="1800" b="0" i="0" u="none" strike="noStrike" baseline="0" dirty="0">
                <a:latin typeface="Garamond" panose="02020404030301010803" pitchFamily="18" charset="0"/>
              </a:rPr>
              <a:t>cette </a:t>
            </a:r>
            <a:r>
              <a:rPr lang="fr-FR" sz="1800" b="0" i="0" u="none" strike="noStrike" baseline="0" dirty="0" err="1">
                <a:latin typeface="Garamond" panose="02020404030301010803" pitchFamily="18" charset="0"/>
              </a:rPr>
              <a:t>possibilité</a:t>
            </a:r>
            <a:r>
              <a:rPr lang="fr-FR" sz="1800" dirty="0">
                <a:latin typeface="Garamond" panose="02020404030301010803" pitchFamily="18" charset="0"/>
              </a:rPr>
              <a:t>.</a:t>
            </a:r>
            <a:endParaRPr lang="fr-FR" dirty="0">
              <a:latin typeface="Garamond" panose="02020404030301010803" pitchFamily="18" charset="0"/>
            </a:endParaRPr>
          </a:p>
        </p:txBody>
      </p:sp>
    </p:spTree>
    <p:extLst>
      <p:ext uri="{BB962C8B-B14F-4D97-AF65-F5344CB8AC3E}">
        <p14:creationId xmlns:p14="http://schemas.microsoft.com/office/powerpoint/2010/main" val="3358106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109556B-EAE9-4435-B409-0519F2CBDB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52267" cy="6858000"/>
          </a:xfrm>
          <a:prstGeom prst="rect">
            <a:avLst/>
          </a:prstGeom>
          <a:solidFill>
            <a:srgbClr val="846F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7C7814F-3226-56BE-035D-895DF13A8429}"/>
              </a:ext>
            </a:extLst>
          </p:cNvPr>
          <p:cNvSpPr>
            <a:spLocks noGrp="1"/>
          </p:cNvSpPr>
          <p:nvPr>
            <p:ph type="title"/>
          </p:nvPr>
        </p:nvSpPr>
        <p:spPr>
          <a:xfrm>
            <a:off x="1024128" y="585216"/>
            <a:ext cx="6007027" cy="1499616"/>
          </a:xfrm>
        </p:spPr>
        <p:txBody>
          <a:bodyPr>
            <a:normAutofit/>
          </a:bodyPr>
          <a:lstStyle/>
          <a:p>
            <a:r>
              <a:rPr lang="fr-FR" sz="3900">
                <a:solidFill>
                  <a:srgbClr val="FFFFFF"/>
                </a:solidFill>
                <a:latin typeface="Garamond" panose="02020404030301010803" pitchFamily="18" charset="0"/>
              </a:rPr>
              <a:t>Recours en cas de rupture de contrat</a:t>
            </a:r>
          </a:p>
        </p:txBody>
      </p:sp>
      <p:cxnSp>
        <p:nvCxnSpPr>
          <p:cNvPr id="11" name="Straight Connector 10">
            <a:extLst>
              <a:ext uri="{FF2B5EF4-FFF2-40B4-BE49-F238E27FC236}">
                <a16:creationId xmlns:a16="http://schemas.microsoft.com/office/drawing/2014/main" id="{5814CCBE-423E-41B2-A9F3-82679F490E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854505B6-50C1-AE93-15A3-88E34EF144F1}"/>
              </a:ext>
            </a:extLst>
          </p:cNvPr>
          <p:cNvSpPr>
            <a:spLocks noGrp="1"/>
          </p:cNvSpPr>
          <p:nvPr>
            <p:ph idx="1"/>
          </p:nvPr>
        </p:nvSpPr>
        <p:spPr>
          <a:xfrm>
            <a:off x="1024128" y="2286000"/>
            <a:ext cx="6007027" cy="4023360"/>
          </a:xfrm>
        </p:spPr>
        <p:txBody>
          <a:bodyPr>
            <a:normAutofit/>
          </a:bodyPr>
          <a:lstStyle/>
          <a:p>
            <a:r>
              <a:rPr lang="en-US" sz="1400" kern="0">
                <a:solidFill>
                  <a:srgbClr val="FFFFFF"/>
                </a:solidFill>
                <a:effectLst/>
                <a:latin typeface="Arial" panose="020B0604020202020204" pitchFamily="34" charset="0"/>
                <a:ea typeface="Times New Roman" panose="02020603050405020304" pitchFamily="18" charset="0"/>
              </a:rPr>
              <a:t>Les recours de l'acheteur et du vendeur dépendent de la nature de la violation du contrat. </a:t>
            </a:r>
          </a:p>
          <a:p>
            <a:r>
              <a:rPr lang="en-US" sz="1400" kern="0">
                <a:solidFill>
                  <a:srgbClr val="FFFFFF"/>
                </a:solidFill>
                <a:effectLst/>
                <a:latin typeface="Arial" panose="020B0604020202020204" pitchFamily="34" charset="0"/>
                <a:ea typeface="Times New Roman" panose="02020603050405020304" pitchFamily="18" charset="0"/>
              </a:rPr>
              <a:t>Si la violation est fondamentale, l'autre partie est alors privée de manière substantielle de ce qu'elle s'attendait à recevoir en vertu du contrat.</a:t>
            </a:r>
          </a:p>
          <a:p>
            <a:r>
              <a:rPr lang="en-US" sz="1400" kern="0">
                <a:solidFill>
                  <a:srgbClr val="FFFFFF"/>
                </a:solidFill>
                <a:effectLst/>
                <a:latin typeface="Arial" panose="020B0604020202020204" pitchFamily="34" charset="0"/>
                <a:ea typeface="Times New Roman" panose="02020603050405020304" pitchFamily="18" charset="0"/>
              </a:rPr>
              <a:t>À condition qu'un test objectif démontre que la violation n'était pas prévisible, le contrat peut être annulé (</a:t>
            </a:r>
            <a:r>
              <a:rPr lang="en-US" sz="1400" kern="0" baseline="30000">
                <a:solidFill>
                  <a:srgbClr val="FFFFFF"/>
                </a:solidFill>
                <a:latin typeface="Arial" panose="020B0604020202020204" pitchFamily="34" charset="0"/>
                <a:ea typeface="Times New Roman" panose="02020603050405020304" pitchFamily="18" charset="0"/>
              </a:rPr>
              <a:t>[</a:t>
            </a:r>
            <a:r>
              <a:rPr lang="en-US" sz="1400" kern="0">
                <a:solidFill>
                  <a:srgbClr val="FFFFFF"/>
                </a:solidFill>
                <a:effectLst/>
                <a:latin typeface="Arial" panose="020B0604020202020204" pitchFamily="34" charset="0"/>
                <a:ea typeface="Times New Roman" panose="02020603050405020304" pitchFamily="18" charset="0"/>
              </a:rPr>
              <a:t> ) et la partie lésée peut réclamer des dommages-intérêts</a:t>
            </a:r>
            <a:r>
              <a:rPr lang="en-US" sz="1400" kern="0">
                <a:solidFill>
                  <a:srgbClr val="FFFFFF"/>
                </a:solidFill>
                <a:latin typeface="Arial" panose="020B0604020202020204" pitchFamily="34" charset="0"/>
                <a:ea typeface="Times New Roman" panose="02020603050405020304" pitchFamily="18" charset="0"/>
              </a:rPr>
              <a:t>.</a:t>
            </a:r>
          </a:p>
          <a:p>
            <a:r>
              <a:rPr lang="en-US" sz="1400" kern="0">
                <a:solidFill>
                  <a:srgbClr val="FFFFFF"/>
                </a:solidFill>
                <a:effectLst/>
                <a:latin typeface="Arial" panose="020B0604020202020204" pitchFamily="34" charset="0"/>
                <a:ea typeface="Times New Roman" panose="02020603050405020304" pitchFamily="18" charset="0"/>
              </a:rPr>
              <a:t>Si la violation n'est pas fondamentale, le contrat n'est pas annulé et des recours peuvent être exercés, notamment une demande de dommages-intérêts, l'exécution en nature et l'ajustement du prix.</a:t>
            </a:r>
          </a:p>
          <a:p>
            <a:r>
              <a:rPr lang="en-US" sz="1400" kern="0">
                <a:solidFill>
                  <a:srgbClr val="FFFFFF"/>
                </a:solidFill>
                <a:effectLst/>
                <a:latin typeface="Arial" panose="020B0604020202020204" pitchFamily="34" charset="0"/>
                <a:ea typeface="Times New Roman" panose="02020603050405020304" pitchFamily="18" charset="0"/>
              </a:rPr>
              <a:t>La CVIM exonère une partie de sa responsabilité à l'égard d'une demande de dommages-intérêts lorsque l'inexécution est imputable à un empêchement indépendant de la volonté de la partie ou d'un sous-traitant tiers et qui ne pouvait être raisonnablement prévu.</a:t>
            </a:r>
            <a:r>
              <a:rPr lang="en-US" sz="1400" u="none" strike="noStrike" kern="0" baseline="30000">
                <a:solidFill>
                  <a:srgbClr val="FFFFFF"/>
                </a:solidFill>
                <a:effectLst/>
                <a:latin typeface="Arial" panose="020B0604020202020204" pitchFamily="34" charset="0"/>
                <a:ea typeface="Times New Roman" panose="02020603050405020304" pitchFamily="18" charset="0"/>
                <a:hlinkClick r:id="rId2"/>
              </a:rPr>
              <a:t>[57]</a:t>
            </a:r>
            <a:r>
              <a:rPr lang="en-US" sz="1400" kern="0">
                <a:solidFill>
                  <a:srgbClr val="FFFFFF"/>
                </a:solidFill>
                <a:effectLst/>
                <a:latin typeface="Arial" panose="020B0604020202020204" pitchFamily="34" charset="0"/>
                <a:ea typeface="Times New Roman" panose="02020603050405020304" pitchFamily="18" charset="0"/>
              </a:rPr>
              <a:t> Un tel événement extérieur peut être qualifié ailleurs de </a:t>
            </a:r>
            <a:r>
              <a:rPr lang="en-US" sz="1400" i="1" kern="0">
                <a:solidFill>
                  <a:srgbClr val="FFFFFF"/>
                </a:solidFill>
                <a:latin typeface="Arial" panose="020B0604020202020204" pitchFamily="34" charset="0"/>
                <a:ea typeface="Times New Roman" panose="02020603050405020304" pitchFamily="18" charset="0"/>
              </a:rPr>
              <a:t>force majeure </a:t>
            </a:r>
            <a:r>
              <a:rPr lang="en-US" sz="1400" kern="0">
                <a:solidFill>
                  <a:srgbClr val="FFFFFF"/>
                </a:solidFill>
                <a:effectLst/>
                <a:latin typeface="Arial" panose="020B0604020202020204" pitchFamily="34" charset="0"/>
                <a:ea typeface="Times New Roman" panose="02020603050405020304" pitchFamily="18" charset="0"/>
              </a:rPr>
              <a:t>ou d'impossibilité d'exécution du contrat.</a:t>
            </a:r>
          </a:p>
          <a:p>
            <a:endParaRPr lang="fr-FR" sz="1400">
              <a:solidFill>
                <a:srgbClr val="FFFFFF"/>
              </a:solidFill>
            </a:endParaRPr>
          </a:p>
        </p:txBody>
      </p:sp>
      <p:pic>
        <p:nvPicPr>
          <p:cNvPr id="12" name="Picture 4" descr="Pen placed on top of a signature line">
            <a:extLst>
              <a:ext uri="{FF2B5EF4-FFF2-40B4-BE49-F238E27FC236}">
                <a16:creationId xmlns:a16="http://schemas.microsoft.com/office/drawing/2014/main" id="{4084CB92-E69E-6AC0-043A-CAC5A667A9D7}"/>
              </a:ext>
            </a:extLst>
          </p:cNvPr>
          <p:cNvPicPr>
            <a:picLocks noChangeAspect="1"/>
          </p:cNvPicPr>
          <p:nvPr/>
        </p:nvPicPr>
        <p:blipFill rotWithShape="1">
          <a:blip r:embed="rId3"/>
          <a:srcRect l="52367" r="2473" b="-1"/>
          <a:stretch/>
        </p:blipFill>
        <p:spPr>
          <a:xfrm>
            <a:off x="7552266" y="10"/>
            <a:ext cx="4639734" cy="6857990"/>
          </a:xfrm>
          <a:prstGeom prst="rect">
            <a:avLst/>
          </a:prstGeom>
        </p:spPr>
      </p:pic>
    </p:spTree>
    <p:extLst>
      <p:ext uri="{BB962C8B-B14F-4D97-AF65-F5344CB8AC3E}">
        <p14:creationId xmlns:p14="http://schemas.microsoft.com/office/powerpoint/2010/main" val="34925868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égral">
  <a:themeElements>
    <a:clrScheme name="Inté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é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é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103</TotalTime>
  <Words>2243</Words>
  <Application>Microsoft Office PowerPoint</Application>
  <PresentationFormat>Grand écran</PresentationFormat>
  <Paragraphs>84</Paragraphs>
  <Slides>12</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12</vt:i4>
      </vt:variant>
    </vt:vector>
  </HeadingPairs>
  <TitlesOfParts>
    <vt:vector size="19" baseType="lpstr">
      <vt:lpstr>Arial</vt:lpstr>
      <vt:lpstr>Garamond</vt:lpstr>
      <vt:lpstr>Times-Italic</vt:lpstr>
      <vt:lpstr>Tw Cen MT</vt:lpstr>
      <vt:lpstr>Tw Cen MT Condensed</vt:lpstr>
      <vt:lpstr>Wingdings 3</vt:lpstr>
      <vt:lpstr>Intégral</vt:lpstr>
      <vt:lpstr>La Convention de Vienne sur la vente internationale de marchandises</vt:lpstr>
      <vt:lpstr>Qu'est-ce que la CISG ?</vt:lpstr>
      <vt:lpstr>Champ d'application de la CVIM (application géographique)</vt:lpstr>
      <vt:lpstr>Pays n'ayant pas ratifié la CVIM</vt:lpstr>
      <vt:lpstr>Le cas des États-Unis</vt:lpstr>
      <vt:lpstr>Réserves des États-Unis (article 95 de la CVIM)</vt:lpstr>
      <vt:lpstr>Champ d'application (2) et exclusions spécifiques</vt:lpstr>
      <vt:lpstr>Formation du contrat avec CISG</vt:lpstr>
      <vt:lpstr>Obligations du vendeur en vertu de la CVIM</vt:lpstr>
      <vt:lpstr>Obligations de l'acheteur</vt:lpstr>
      <vt:lpstr>Paiement du prix</vt:lpstr>
      <vt:lpstr>Recours en cas de rupture de contrat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Viena Convention on the international sale of goods</dc:title>
  <dc:creator>CORRUBLE Philippe</dc:creator>
  <cp:keywords>, docId:3C31E9C6336D6195538AC7560A0821A9</cp:keywords>
  <cp:lastModifiedBy>CORRUBLE Philippe</cp:lastModifiedBy>
  <cp:revision>11</cp:revision>
  <dcterms:created xsi:type="dcterms:W3CDTF">2024-04-17T06:35:27Z</dcterms:created>
  <dcterms:modified xsi:type="dcterms:W3CDTF">2025-08-25T15:56:27Z</dcterms:modified>
</cp:coreProperties>
</file>