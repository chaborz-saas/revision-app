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78" r:id="rId2"/>
    <p:sldId id="279" r:id="rId3"/>
    <p:sldId id="263" r:id="rId4"/>
    <p:sldId id="258" r:id="rId5"/>
    <p:sldId id="265" r:id="rId6"/>
    <p:sldId id="262" r:id="rId7"/>
    <p:sldId id="266" r:id="rId8"/>
    <p:sldId id="267" r:id="rId9"/>
    <p:sldId id="269" r:id="rId10"/>
    <p:sldId id="287" r:id="rId11"/>
    <p:sldId id="285" r:id="rId12"/>
    <p:sldId id="270" r:id="rId13"/>
    <p:sldId id="280" r:id="rId14"/>
    <p:sldId id="286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72474" autoAdjust="0"/>
  </p:normalViewPr>
  <p:slideViewPr>
    <p:cSldViewPr snapToGrid="0">
      <p:cViewPr varScale="1">
        <p:scale>
          <a:sx n="53" d="100"/>
          <a:sy n="53" d="100"/>
        </p:scale>
        <p:origin x="11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ID Samy" userId="736cc5f9-46a0-4af7-bed7-d2831b5f1024" providerId="ADAL" clId="{3915C4EE-BA9F-4856-96A7-4460C4FDF735}"/>
    <pc:docChg chg="custSel modSld">
      <pc:chgData name="BELAID Samy" userId="736cc5f9-46a0-4af7-bed7-d2831b5f1024" providerId="ADAL" clId="{3915C4EE-BA9F-4856-96A7-4460C4FDF735}" dt="2025-10-01T13:13:00.202" v="11" actId="20577"/>
      <pc:docMkLst>
        <pc:docMk/>
      </pc:docMkLst>
      <pc:sldChg chg="modNotesTx">
        <pc:chgData name="BELAID Samy" userId="736cc5f9-46a0-4af7-bed7-d2831b5f1024" providerId="ADAL" clId="{3915C4EE-BA9F-4856-96A7-4460C4FDF735}" dt="2025-10-01T13:12:44.455" v="9" actId="20577"/>
        <pc:sldMkLst>
          <pc:docMk/>
          <pc:sldMk cId="2696816841" sldId="270"/>
        </pc:sldMkLst>
      </pc:sldChg>
      <pc:sldChg chg="modNotesTx">
        <pc:chgData name="BELAID Samy" userId="736cc5f9-46a0-4af7-bed7-d2831b5f1024" providerId="ADAL" clId="{3915C4EE-BA9F-4856-96A7-4460C4FDF735}" dt="2025-10-01T13:11:49.285" v="3" actId="313"/>
        <pc:sldMkLst>
          <pc:docMk/>
          <pc:sldMk cId="2368530859" sldId="272"/>
        </pc:sldMkLst>
      </pc:sldChg>
      <pc:sldChg chg="modNotesTx">
        <pc:chgData name="BELAID Samy" userId="736cc5f9-46a0-4af7-bed7-d2831b5f1024" providerId="ADAL" clId="{3915C4EE-BA9F-4856-96A7-4460C4FDF735}" dt="2025-10-01T13:13:00.202" v="11" actId="20577"/>
        <pc:sldMkLst>
          <pc:docMk/>
          <pc:sldMk cId="1138803276" sldId="286"/>
        </pc:sldMkLst>
      </pc:sldChg>
    </pc:docChg>
  </pc:docChgLst>
  <pc:docChgLst>
    <pc:chgData name="CHANEY Damien" userId="40ca76e2-3dc1-426f-9037-c2eff4784f3c" providerId="ADAL" clId="{F621395C-B0E3-4A9D-9DD1-6916CA1FB895}"/>
    <pc:docChg chg="modSld">
      <pc:chgData name="CHANEY Damien" userId="40ca76e2-3dc1-426f-9037-c2eff4784f3c" providerId="ADAL" clId="{F621395C-B0E3-4A9D-9DD1-6916CA1FB895}" dt="2022-08-29T20:27:28.308" v="3" actId="20577"/>
      <pc:docMkLst>
        <pc:docMk/>
      </pc:docMkLst>
      <pc:sldChg chg="modSp mod">
        <pc:chgData name="CHANEY Damien" userId="40ca76e2-3dc1-426f-9037-c2eff4784f3c" providerId="ADAL" clId="{F621395C-B0E3-4A9D-9DD1-6916CA1FB895}" dt="2022-08-29T20:27:28.308" v="3" actId="20577"/>
        <pc:sldMkLst>
          <pc:docMk/>
          <pc:sldMk cId="347249020" sldId="256"/>
        </pc:sldMkLst>
      </pc:sldChg>
    </pc:docChg>
  </pc:docChgLst>
  <pc:docChgLst>
    <pc:chgData name="Damien CHANEY" userId="40ca76e2-3dc1-426f-9037-c2eff4784f3c" providerId="ADAL" clId="{906416B4-EBEF-4E8F-BD56-B5C700B17FFF}"/>
    <pc:docChg chg="modSld">
      <pc:chgData name="Damien CHANEY" userId="40ca76e2-3dc1-426f-9037-c2eff4784f3c" providerId="ADAL" clId="{906416B4-EBEF-4E8F-BD56-B5C700B17FFF}" dt="2021-09-13T14:49:32.994" v="3" actId="20577"/>
      <pc:docMkLst>
        <pc:docMk/>
      </pc:docMkLst>
      <pc:sldChg chg="modSp mod">
        <pc:chgData name="Damien CHANEY" userId="40ca76e2-3dc1-426f-9037-c2eff4784f3c" providerId="ADAL" clId="{906416B4-EBEF-4E8F-BD56-B5C700B17FFF}" dt="2021-09-13T14:49:32.994" v="3" actId="20577"/>
        <pc:sldMkLst>
          <pc:docMk/>
          <pc:sldMk cId="347249020" sldId="256"/>
        </pc:sldMkLst>
      </pc:sldChg>
    </pc:docChg>
  </pc:docChgLst>
  <pc:docChgLst>
    <pc:chgData name="CHANEY Damien" userId="40ca76e2-3dc1-426f-9037-c2eff4784f3c" providerId="ADAL" clId="{E5AD48F6-7728-47B9-B127-87D0C4C5FE36}"/>
    <pc:docChg chg="delSld modSld">
      <pc:chgData name="CHANEY Damien" userId="40ca76e2-3dc1-426f-9037-c2eff4784f3c" providerId="ADAL" clId="{E5AD48F6-7728-47B9-B127-87D0C4C5FE36}" dt="2023-08-28T12:16:13.660" v="7" actId="47"/>
      <pc:docMkLst>
        <pc:docMk/>
      </pc:docMkLst>
      <pc:sldChg chg="del">
        <pc:chgData name="CHANEY Damien" userId="40ca76e2-3dc1-426f-9037-c2eff4784f3c" providerId="ADAL" clId="{E5AD48F6-7728-47B9-B127-87D0C4C5FE36}" dt="2023-08-25T10:36:57.209" v="0" actId="47"/>
        <pc:sldMkLst>
          <pc:docMk/>
          <pc:sldMk cId="347249020" sldId="256"/>
        </pc:sldMkLst>
      </pc:sldChg>
      <pc:sldChg chg="del">
        <pc:chgData name="CHANEY Damien" userId="40ca76e2-3dc1-426f-9037-c2eff4784f3c" providerId="ADAL" clId="{E5AD48F6-7728-47B9-B127-87D0C4C5FE36}" dt="2023-08-28T12:16:13.660" v="7" actId="47"/>
        <pc:sldMkLst>
          <pc:docMk/>
          <pc:sldMk cId="3291350195" sldId="257"/>
        </pc:sldMkLst>
      </pc:sldChg>
      <pc:sldChg chg="modSp mod">
        <pc:chgData name="CHANEY Damien" userId="40ca76e2-3dc1-426f-9037-c2eff4784f3c" providerId="ADAL" clId="{E5AD48F6-7728-47B9-B127-87D0C4C5FE36}" dt="2023-08-25T10:37:00.809" v="3" actId="20577"/>
        <pc:sldMkLst>
          <pc:docMk/>
          <pc:sldMk cId="889972408" sldId="278"/>
        </pc:sldMkLst>
      </pc:sldChg>
      <pc:sldChg chg="modSp mod">
        <pc:chgData name="CHANEY Damien" userId="40ca76e2-3dc1-426f-9037-c2eff4784f3c" providerId="ADAL" clId="{E5AD48F6-7728-47B9-B127-87D0C4C5FE36}" dt="2023-08-25T10:37:05.081" v="6" actId="20577"/>
        <pc:sldMkLst>
          <pc:docMk/>
          <pc:sldMk cId="1203350802" sldId="279"/>
        </pc:sldMkLst>
      </pc:sldChg>
    </pc:docChg>
  </pc:docChgLst>
  <pc:docChgLst>
    <pc:chgData name="CHANEY Damien" userId="40ca76e2-3dc1-426f-9037-c2eff4784f3c" providerId="ADAL" clId="{6A5CE7B2-06A3-47DE-80F8-E2726A7D0F84}"/>
    <pc:docChg chg="delSld modSld">
      <pc:chgData name="CHANEY Damien" userId="40ca76e2-3dc1-426f-9037-c2eff4784f3c" providerId="ADAL" clId="{6A5CE7B2-06A3-47DE-80F8-E2726A7D0F84}" dt="2024-09-06T12:41:17.164" v="10" actId="47"/>
      <pc:docMkLst>
        <pc:docMk/>
      </pc:docMkLst>
      <pc:sldChg chg="addSp modSp modAnim">
        <pc:chgData name="CHANEY Damien" userId="40ca76e2-3dc1-426f-9037-c2eff4784f3c" providerId="ADAL" clId="{6A5CE7B2-06A3-47DE-80F8-E2726A7D0F84}" dt="2024-08-28T15:17:02.934" v="9"/>
        <pc:sldMkLst>
          <pc:docMk/>
          <pc:sldMk cId="1160660120" sldId="265"/>
        </pc:sldMkLst>
      </pc:sldChg>
      <pc:sldChg chg="del">
        <pc:chgData name="CHANEY Damien" userId="40ca76e2-3dc1-426f-9037-c2eff4784f3c" providerId="ADAL" clId="{6A5CE7B2-06A3-47DE-80F8-E2726A7D0F84}" dt="2024-09-06T12:41:17.164" v="10" actId="47"/>
        <pc:sldMkLst>
          <pc:docMk/>
          <pc:sldMk cId="2083615636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74F7C-FAB4-4613-B392-1480A3136C99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8ED6E-D8B2-4CDC-BF19-4D466E3CE2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8644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Équilibre entre valeur pour le consommateur et valeur pour</a:t>
            </a:r>
            <a:r>
              <a:rPr lang="fr-FR" baseline="0" dirty="0"/>
              <a:t> l’entreprise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200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Différence entre qualité et satisfaction (cas d’un film au cinéma)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131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</a:t>
            </a:r>
            <a:r>
              <a:rPr lang="fr-FR" dirty="0" err="1"/>
              <a:t>disneyland</a:t>
            </a:r>
            <a:r>
              <a:rPr lang="fr-FR" dirty="0"/>
              <a:t>, ils </a:t>
            </a:r>
            <a:r>
              <a:rPr lang="fr-FR" dirty="0" err="1"/>
              <a:t>surévaleuent</a:t>
            </a:r>
            <a:r>
              <a:rPr lang="fr-FR" dirty="0"/>
              <a:t> </a:t>
            </a:r>
            <a:r>
              <a:rPr lang="fr-FR" dirty="0" err="1"/>
              <a:t>systémtiquement</a:t>
            </a:r>
            <a:r>
              <a:rPr lang="fr-FR" dirty="0"/>
              <a:t> le temps d’attente des manèges pour créer une agréable surprise sur le temps est finalement moindre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4207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133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Réclamations</a:t>
            </a:r>
          </a:p>
          <a:p>
            <a:r>
              <a:rPr lang="fr-FR" dirty="0"/>
              <a:t>Niveau </a:t>
            </a:r>
            <a:r>
              <a:rPr lang="fr-FR" dirty="0" err="1"/>
              <a:t>élévé</a:t>
            </a:r>
            <a:r>
              <a:rPr lang="fr-FR" baseline="0" dirty="0"/>
              <a:t> de réclamations, augmentation de plaintes, concentration des plaintes sur un produit ou services particuliers</a:t>
            </a:r>
          </a:p>
          <a:p>
            <a:r>
              <a:rPr lang="fr-FR" baseline="0" dirty="0"/>
              <a:t>+ : le client vient à vous</a:t>
            </a:r>
          </a:p>
          <a:p>
            <a:r>
              <a:rPr lang="fr-FR" baseline="0" dirty="0"/>
              <a:t>_ imparfait: tous les clients insatisfaits ne sa plaignent pas</a:t>
            </a:r>
          </a:p>
          <a:p>
            <a:endParaRPr lang="fr-FR" baseline="0" dirty="0"/>
          </a:p>
          <a:p>
            <a:r>
              <a:rPr lang="fr-FR" baseline="0" dirty="0"/>
              <a:t>Taux de défection: taux d’attrition </a:t>
            </a:r>
            <a:r>
              <a:rPr lang="fr-FR" baseline="0" dirty="0" err="1"/>
              <a:t>élévée</a:t>
            </a:r>
            <a:r>
              <a:rPr lang="fr-FR" baseline="0" dirty="0"/>
              <a:t> = insatisfaction</a:t>
            </a:r>
          </a:p>
          <a:p>
            <a:r>
              <a:rPr lang="fr-FR" baseline="0" dirty="0"/>
              <a:t>+ : facile à obtenir</a:t>
            </a:r>
          </a:p>
          <a:p>
            <a:pPr marL="171450" indent="-171450">
              <a:buFontTx/>
              <a:buChar char="-"/>
            </a:pPr>
            <a:r>
              <a:rPr lang="fr-FR" baseline="0" dirty="0"/>
              <a:t>: mais c’est une conséquence, pas une cause</a:t>
            </a:r>
          </a:p>
          <a:p>
            <a:pPr marL="0" indent="0">
              <a:buFontTx/>
              <a:buNone/>
            </a:pPr>
            <a:endParaRPr lang="fr-FR" baseline="0" dirty="0"/>
          </a:p>
          <a:p>
            <a:pPr marL="0" indent="0">
              <a:buFontTx/>
              <a:buNone/>
            </a:pPr>
            <a:r>
              <a:rPr lang="fr-FR" baseline="0" dirty="0"/>
              <a:t>Avis clients</a:t>
            </a:r>
          </a:p>
          <a:p>
            <a:pPr marL="0" indent="0">
              <a:buFontTx/>
              <a:buNone/>
            </a:pPr>
            <a:r>
              <a:rPr lang="fr-FR" baseline="0" dirty="0"/>
              <a:t>+ facile à obtenir, </a:t>
            </a:r>
          </a:p>
          <a:p>
            <a:pPr marL="0" indent="0">
              <a:buFontTx/>
              <a:buNone/>
            </a:pPr>
            <a:r>
              <a:rPr lang="fr-FR" baseline="0" dirty="0"/>
              <a:t>- : public, à double tranchant</a:t>
            </a:r>
          </a:p>
          <a:p>
            <a:endParaRPr lang="fr-FR" baseline="0" dirty="0"/>
          </a:p>
          <a:p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22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/>
              <a:t>Les clients satisfaits s’expriment rarement</a:t>
            </a:r>
          </a:p>
          <a:p>
            <a:r>
              <a:rPr lang="fr-FR" baseline="0" dirty="0"/>
              <a:t>95% des clients mécontents n’expriment pas spontanément leur opinion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1939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/>
              <a:t>Limité aux services et à la distribution</a:t>
            </a:r>
          </a:p>
          <a:p>
            <a:endParaRPr lang="fr-FR" baseline="0" dirty="0"/>
          </a:p>
          <a:p>
            <a:r>
              <a:rPr lang="fr-FR" baseline="0" dirty="0"/>
              <a:t>Testé le service</a:t>
            </a:r>
          </a:p>
          <a:p>
            <a:r>
              <a:rPr lang="fr-FR" baseline="0" dirty="0"/>
              <a:t>Parfois simulation de situations problématiques pour voir comme cela est géré</a:t>
            </a:r>
          </a:p>
          <a:p>
            <a:endParaRPr lang="fr-FR" baseline="0" dirty="0"/>
          </a:p>
          <a:p>
            <a:r>
              <a:rPr lang="fr-FR" baseline="0" dirty="0"/>
              <a:t>Ex Holiday Inn: mise en place d’une politique de clients mystère. Tous les hôtels sont évalués par des clients mystère sur 14 critères (accueil, enregistrement, chambre, etc.).</a:t>
            </a:r>
          </a:p>
          <a:p>
            <a:r>
              <a:rPr lang="fr-FR" baseline="0" dirty="0"/>
              <a:t>Inconvénient : peu </a:t>
            </a:r>
            <a:r>
              <a:rPr lang="fr-FR" baseline="0" dirty="0" err="1"/>
              <a:t>généralisagble</a:t>
            </a:r>
            <a:r>
              <a:rPr lang="fr-FR" baseline="0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978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106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retenir un client coûterait jusqu’à cinq fois moins cher que d’en conquérir un nouveau ». 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cabinet Bain &amp; Cie a par exemple montré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qu’augmenter la rétention des meilleurs clients de 5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entraînait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hausse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 résultats économiques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25% à 55%.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Volatile = stabilité</a:t>
            </a:r>
          </a:p>
          <a:p>
            <a:endParaRPr lang="fr-FR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majorité des clients qui contactent le service client sont des clients nouveaux ou récents, qui ne sont pas encore habitués à vos services.</a:t>
            </a:r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13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/>
              <a:t>Notion très utilisée, beaucoup étudiée mais complexe</a:t>
            </a:r>
          </a:p>
          <a:p>
            <a:endParaRPr lang="fr-FR" baseline="0" dirty="0"/>
          </a:p>
          <a:p>
            <a:r>
              <a:rPr lang="fr-FR" baseline="0" dirty="0"/>
              <a:t>Fidélité relative: si sur 100 litres d’eau, un client achète 40l d’Evian, on peut déjà dire qu’il est fidèle</a:t>
            </a:r>
          </a:p>
          <a:p>
            <a:r>
              <a:rPr lang="fr-FR" baseline="0" dirty="0"/>
              <a:t>Donc on ne cherche pas seulement à rendre le client fidèle, mais aussi à augmenter la fidélité</a:t>
            </a:r>
          </a:p>
          <a:p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834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6562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 taux de fidélité client correspond au </a:t>
            </a:r>
            <a:r>
              <a:rPr lang="fr-F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rapport entre le nombre de clients fidèles et le nombre total de clients</a:t>
            </a:r>
          </a:p>
          <a:p>
            <a:endParaRPr lang="fr-FR" b="1" i="0" baseline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r>
              <a:rPr lang="fr-FR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pour un produit donné, la part de marché de la marque chez les consommateurs</a:t>
            </a:r>
            <a:r>
              <a:rPr lang="fr-F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Le taux de nourriture est une notion également appelée “part de client” qui se </a:t>
            </a:r>
            <a:r>
              <a:rPr lang="fr-FR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rapproche </a:t>
            </a:r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623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/>
              <a:t>Fidélité objective: ne permet pas d’apprécier la solidité de la fidélité</a:t>
            </a:r>
          </a:p>
          <a:p>
            <a:r>
              <a:rPr lang="fr-FR" baseline="0" dirty="0"/>
              <a:t>Exemple arrivée de Free qui a montré que les clients Orange, </a:t>
            </a:r>
            <a:r>
              <a:rPr lang="fr-FR" baseline="0" dirty="0" err="1"/>
              <a:t>sfr</a:t>
            </a:r>
            <a:r>
              <a:rPr lang="fr-FR" baseline="0" dirty="0"/>
              <a:t>, </a:t>
            </a:r>
            <a:r>
              <a:rPr lang="fr-FR" baseline="0" dirty="0" err="1"/>
              <a:t>bouygues</a:t>
            </a:r>
            <a:r>
              <a:rPr lang="fr-FR" baseline="0" dirty="0"/>
              <a:t> n’était pas attaché et restait (comportement) uniquement en l’absence d’alternatives</a:t>
            </a:r>
          </a:p>
          <a:p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074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/>
              <a:t>Cause de la fidélité passive: </a:t>
            </a:r>
          </a:p>
          <a:p>
            <a:r>
              <a:rPr lang="fr-FR" baseline="0" dirty="0"/>
              <a:t>Inertie du client: paresse, coût de changement trop élevé (passer de </a:t>
            </a:r>
            <a:r>
              <a:rPr lang="fr-FR" baseline="0" dirty="0" err="1"/>
              <a:t>windows</a:t>
            </a:r>
            <a:r>
              <a:rPr lang="fr-FR" baseline="0" dirty="0"/>
              <a:t> à mac)</a:t>
            </a:r>
          </a:p>
          <a:p>
            <a:r>
              <a:rPr lang="fr-FR" baseline="0" dirty="0"/>
              <a:t>Risque perçu trop important: crainte de faire un mauvais choix</a:t>
            </a:r>
          </a:p>
          <a:p>
            <a:r>
              <a:rPr lang="fr-FR" baseline="0" dirty="0"/>
              <a:t>Fidélité forcée: pas le choix (</a:t>
            </a:r>
            <a:r>
              <a:rPr lang="fr-FR" baseline="0" dirty="0" err="1"/>
              <a:t>sncf</a:t>
            </a:r>
            <a:r>
              <a:rPr lang="fr-FR" baseline="0" dirty="0"/>
              <a:t>), pas de produits concurrents, ou contrat à résilier qu’à un certain moment de l’année</a:t>
            </a:r>
          </a:p>
          <a:p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641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77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7676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/>
              <a:t>Satisfaction/préférence </a:t>
            </a:r>
            <a:r>
              <a:rPr lang="fr-FR" baseline="0" dirty="0">
                <a:sym typeface="Wingdings" panose="05000000000000000000" pitchFamily="2" charset="2"/>
              </a:rPr>
              <a:t> </a:t>
            </a:r>
            <a:r>
              <a:rPr lang="fr-FR" baseline="0" dirty="0" err="1">
                <a:sym typeface="Wingdings" panose="05000000000000000000" pitchFamily="2" charset="2"/>
              </a:rPr>
              <a:t>enquete</a:t>
            </a:r>
            <a:r>
              <a:rPr lang="fr-FR" baseline="0" dirty="0">
                <a:sym typeface="Wingdings" panose="05000000000000000000" pitchFamily="2" charset="2"/>
              </a:rPr>
              <a:t> de satisfaction</a:t>
            </a:r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72371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/>
              <a:t>Très satisfait: cas de Xerox un client très satisfait vaut 10 plus qu’un client satisfait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439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/>
              <a:t>Automobiles, ordi perso: forte concurrence, pas de cout de changement, </a:t>
            </a:r>
          </a:p>
          <a:p>
            <a:r>
              <a:rPr lang="fr-FR" baseline="0" dirty="0"/>
              <a:t>Téléphone fixe: peu d’alternatives, cout de changement élevé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8ED6E-D8B2-4CDC-BF19-4D466E3CE20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8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lien satisfaction/fidélité</a:t>
            </a:r>
          </a:p>
        </p:txBody>
      </p:sp>
      <p:sp>
        <p:nvSpPr>
          <p:cNvPr id="4" name="Pentagone 3"/>
          <p:cNvSpPr/>
          <p:nvPr/>
        </p:nvSpPr>
        <p:spPr>
          <a:xfrm>
            <a:off x="1052286" y="2830286"/>
            <a:ext cx="2300514" cy="235131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Qualité</a:t>
            </a:r>
          </a:p>
        </p:txBody>
      </p:sp>
      <p:sp>
        <p:nvSpPr>
          <p:cNvPr id="5" name="Pentagone 4"/>
          <p:cNvSpPr/>
          <p:nvPr/>
        </p:nvSpPr>
        <p:spPr>
          <a:xfrm>
            <a:off x="3628577" y="2830286"/>
            <a:ext cx="2300514" cy="235131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Satisfaction</a:t>
            </a:r>
          </a:p>
        </p:txBody>
      </p:sp>
      <p:sp>
        <p:nvSpPr>
          <p:cNvPr id="6" name="Pentagone 5"/>
          <p:cNvSpPr/>
          <p:nvPr/>
        </p:nvSpPr>
        <p:spPr>
          <a:xfrm>
            <a:off x="6204868" y="2830286"/>
            <a:ext cx="2300514" cy="235131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Fidélité</a:t>
            </a:r>
          </a:p>
        </p:txBody>
      </p:sp>
      <p:sp>
        <p:nvSpPr>
          <p:cNvPr id="7" name="Pentagone 6"/>
          <p:cNvSpPr/>
          <p:nvPr/>
        </p:nvSpPr>
        <p:spPr>
          <a:xfrm>
            <a:off x="8781159" y="2830286"/>
            <a:ext cx="2300514" cy="235131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Profit</a:t>
            </a:r>
          </a:p>
        </p:txBody>
      </p:sp>
      <p:sp>
        <p:nvSpPr>
          <p:cNvPr id="8" name="Flèche droite 7"/>
          <p:cNvSpPr/>
          <p:nvPr/>
        </p:nvSpPr>
        <p:spPr>
          <a:xfrm>
            <a:off x="1052286" y="5263243"/>
            <a:ext cx="10384971" cy="1153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Value </a:t>
            </a:r>
            <a:r>
              <a:rPr lang="fr-FR" i="1" dirty="0"/>
              <a:t>for</a:t>
            </a:r>
            <a:r>
              <a:rPr lang="fr-FR" dirty="0"/>
              <a:t> the </a:t>
            </a:r>
            <a:r>
              <a:rPr lang="fr-FR" dirty="0" err="1"/>
              <a:t>customer</a:t>
            </a:r>
            <a:r>
              <a:rPr lang="fr-FR" dirty="0"/>
              <a:t>                                                                                  Value </a:t>
            </a:r>
            <a:r>
              <a:rPr lang="fr-FR" i="1" dirty="0" err="1"/>
              <a:t>from</a:t>
            </a:r>
            <a:r>
              <a:rPr lang="fr-FR" dirty="0"/>
              <a:t> the </a:t>
            </a:r>
            <a:r>
              <a:rPr lang="fr-FR" dirty="0" err="1"/>
              <a:t>customer</a:t>
            </a:r>
            <a:endParaRPr lang="fr-FR" dirty="0"/>
          </a:p>
        </p:txBody>
      </p:sp>
      <p:sp>
        <p:nvSpPr>
          <p:cNvPr id="9" name="Espace réservé du contenu 2"/>
          <p:cNvSpPr>
            <a:spLocks noGrp="1"/>
          </p:cNvSpPr>
          <p:nvPr>
            <p:ph idx="1"/>
          </p:nvPr>
        </p:nvSpPr>
        <p:spPr>
          <a:xfrm>
            <a:off x="1371600" y="1926772"/>
            <a:ext cx="9601200" cy="3581400"/>
          </a:xfrm>
        </p:spPr>
        <p:txBody>
          <a:bodyPr/>
          <a:lstStyle/>
          <a:p>
            <a:r>
              <a:rPr lang="fr-FR" dirty="0"/>
              <a:t>La chaine qualité-profit</a:t>
            </a:r>
          </a:p>
        </p:txBody>
      </p:sp>
    </p:spTree>
    <p:extLst>
      <p:ext uri="{BB962C8B-B14F-4D97-AF65-F5344CB8AC3E}">
        <p14:creationId xmlns:p14="http://schemas.microsoft.com/office/powerpoint/2010/main" val="88997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lien satisfaction/fidélité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3"/>
          <a:srcRect l="39213" t="32208" r="27836" b="9563"/>
          <a:stretch/>
        </p:blipFill>
        <p:spPr>
          <a:xfrm>
            <a:off x="3661347" y="1363377"/>
            <a:ext cx="5527623" cy="549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5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satisfaction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Qu’est-ce que la satisfaction? </a:t>
            </a:r>
          </a:p>
          <a:p>
            <a:pPr marL="530352" lvl="1" indent="0">
              <a:buNone/>
            </a:pPr>
            <a:r>
              <a:rPr lang="fr-FR" dirty="0">
                <a:sym typeface="Wingdings" panose="05000000000000000000" pitchFamily="2" charset="2"/>
              </a:rPr>
              <a:t> Sentiment de plaisir ou de déplaisir qui naît de la comparaison entre des attentes préalables et une expérience de consommation</a:t>
            </a:r>
            <a:endParaRPr lang="fr-FR" dirty="0"/>
          </a:p>
        </p:txBody>
      </p:sp>
      <p:pic>
        <p:nvPicPr>
          <p:cNvPr id="1026" name="Picture 2" descr="10 Astuces Pour Accroître La Satisfaction Client - CallCenterIleMaurice.co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63" b="22604"/>
          <a:stretch/>
        </p:blipFill>
        <p:spPr bwMode="auto">
          <a:xfrm>
            <a:off x="4572000" y="3809999"/>
            <a:ext cx="7620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75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modèle d’Oliver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05551" y="3289739"/>
            <a:ext cx="2333297" cy="788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Expérience de consommation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05551" y="4535215"/>
            <a:ext cx="2333297" cy="788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Attentes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39503" y="3584027"/>
            <a:ext cx="2333297" cy="151349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Satisfaction: </a:t>
            </a:r>
          </a:p>
          <a:p>
            <a:pPr algn="ctr"/>
            <a:r>
              <a:rPr lang="fr-FR" sz="1400" dirty="0"/>
              <a:t>expérience &gt; attentes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Insatisfaction: </a:t>
            </a:r>
          </a:p>
          <a:p>
            <a:pPr algn="ctr"/>
            <a:r>
              <a:rPr lang="fr-FR" sz="1400" dirty="0"/>
              <a:t>expérience &lt; attentes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005551" y="1612024"/>
            <a:ext cx="2333297" cy="788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Intentions d’achat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4944" y="3946634"/>
            <a:ext cx="2333297" cy="7882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Attitudes</a:t>
            </a:r>
          </a:p>
        </p:txBody>
      </p:sp>
      <p:cxnSp>
        <p:nvCxnSpPr>
          <p:cNvPr id="9" name="Connecteur droit avec flèche 8"/>
          <p:cNvCxnSpPr>
            <a:stCxn id="3" idx="3"/>
            <a:endCxn id="5" idx="1"/>
          </p:cNvCxnSpPr>
          <p:nvPr/>
        </p:nvCxnSpPr>
        <p:spPr>
          <a:xfrm>
            <a:off x="7338848" y="3683877"/>
            <a:ext cx="1300655" cy="65689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4" idx="3"/>
            <a:endCxn id="5" idx="1"/>
          </p:cNvCxnSpPr>
          <p:nvPr/>
        </p:nvCxnSpPr>
        <p:spPr>
          <a:xfrm flipV="1">
            <a:off x="7338848" y="4340772"/>
            <a:ext cx="1300655" cy="58858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>
            <a:stCxn id="6" idx="2"/>
            <a:endCxn id="3" idx="0"/>
          </p:cNvCxnSpPr>
          <p:nvPr/>
        </p:nvCxnSpPr>
        <p:spPr>
          <a:xfrm>
            <a:off x="6172200" y="2400300"/>
            <a:ext cx="0" cy="88943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rme libre 15"/>
          <p:cNvSpPr/>
          <p:nvPr/>
        </p:nvSpPr>
        <p:spPr>
          <a:xfrm>
            <a:off x="2743200" y="1864426"/>
            <a:ext cx="2327564" cy="2066306"/>
          </a:xfrm>
          <a:custGeom>
            <a:avLst/>
            <a:gdLst>
              <a:gd name="connsiteX0" fmla="*/ 11875 w 2327564"/>
              <a:gd name="connsiteY0" fmla="*/ 2066306 h 2066306"/>
              <a:gd name="connsiteX1" fmla="*/ 0 w 2327564"/>
              <a:gd name="connsiteY1" fmla="*/ 11875 h 2066306"/>
              <a:gd name="connsiteX2" fmla="*/ 2327564 w 2327564"/>
              <a:gd name="connsiteY2" fmla="*/ 0 h 206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7564" h="2066306">
                <a:moveTo>
                  <a:pt x="11875" y="2066306"/>
                </a:moveTo>
                <a:cubicBezTo>
                  <a:pt x="7917" y="1381496"/>
                  <a:pt x="3958" y="696685"/>
                  <a:pt x="0" y="11875"/>
                </a:cubicBezTo>
                <a:lnTo>
                  <a:pt x="2327564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orme libre 16"/>
          <p:cNvSpPr/>
          <p:nvPr/>
        </p:nvSpPr>
        <p:spPr>
          <a:xfrm>
            <a:off x="2766951" y="4726379"/>
            <a:ext cx="2256311" cy="380011"/>
          </a:xfrm>
          <a:custGeom>
            <a:avLst/>
            <a:gdLst>
              <a:gd name="connsiteX0" fmla="*/ 0 w 2256311"/>
              <a:gd name="connsiteY0" fmla="*/ 0 h 380011"/>
              <a:gd name="connsiteX1" fmla="*/ 0 w 2256311"/>
              <a:gd name="connsiteY1" fmla="*/ 0 h 380011"/>
              <a:gd name="connsiteX2" fmla="*/ 11875 w 2256311"/>
              <a:gd name="connsiteY2" fmla="*/ 380011 h 380011"/>
              <a:gd name="connsiteX3" fmla="*/ 2256311 w 2256311"/>
              <a:gd name="connsiteY3" fmla="*/ 368135 h 380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6311" h="380011">
                <a:moveTo>
                  <a:pt x="0" y="0"/>
                </a:moveTo>
                <a:lnTo>
                  <a:pt x="0" y="0"/>
                </a:lnTo>
                <a:cubicBezTo>
                  <a:pt x="13672" y="300801"/>
                  <a:pt x="11875" y="174081"/>
                  <a:pt x="11875" y="380011"/>
                </a:cubicBezTo>
                <a:lnTo>
                  <a:pt x="2256311" y="368135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orme libre 17"/>
          <p:cNvSpPr/>
          <p:nvPr/>
        </p:nvSpPr>
        <p:spPr>
          <a:xfrm>
            <a:off x="1983179" y="4298868"/>
            <a:ext cx="9535886" cy="2018805"/>
          </a:xfrm>
          <a:custGeom>
            <a:avLst/>
            <a:gdLst>
              <a:gd name="connsiteX0" fmla="*/ 9001496 w 9535886"/>
              <a:gd name="connsiteY0" fmla="*/ 11875 h 2018805"/>
              <a:gd name="connsiteX1" fmla="*/ 9535886 w 9535886"/>
              <a:gd name="connsiteY1" fmla="*/ 0 h 2018805"/>
              <a:gd name="connsiteX2" fmla="*/ 9512135 w 9535886"/>
              <a:gd name="connsiteY2" fmla="*/ 2018805 h 2018805"/>
              <a:gd name="connsiteX3" fmla="*/ 11876 w 9535886"/>
              <a:gd name="connsiteY3" fmla="*/ 2006929 h 2018805"/>
              <a:gd name="connsiteX4" fmla="*/ 0 w 9535886"/>
              <a:gd name="connsiteY4" fmla="*/ 439387 h 201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35886" h="2018805">
                <a:moveTo>
                  <a:pt x="9001496" y="11875"/>
                </a:moveTo>
                <a:lnTo>
                  <a:pt x="9535886" y="0"/>
                </a:lnTo>
                <a:lnTo>
                  <a:pt x="9512135" y="2018805"/>
                </a:lnTo>
                <a:lnTo>
                  <a:pt x="11876" y="2006929"/>
                </a:lnTo>
                <a:cubicBezTo>
                  <a:pt x="7917" y="1484415"/>
                  <a:pt x="3959" y="961901"/>
                  <a:pt x="0" y="439387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89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satisfaction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Qu’est-ce que la satisfaction? 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FR" dirty="0">
                <a:sym typeface="Wingdings" panose="05000000000000000000" pitchFamily="2" charset="2"/>
              </a:rPr>
              <a:t>	 Sentiment de plaisir ou de déplaisir qui naît de la comparaison entre des 	attentes préalables et une expérience de consommation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Attention au risque de </a:t>
            </a:r>
            <a:r>
              <a:rPr lang="fr-FR" dirty="0" err="1"/>
              <a:t>surpromesse</a:t>
            </a:r>
            <a:r>
              <a:rPr lang="fr-FR" dirty="0"/>
              <a:t> </a:t>
            </a:r>
          </a:p>
          <a:p>
            <a:endParaRPr lang="fr-FR" dirty="0"/>
          </a:p>
          <a:p>
            <a:endParaRPr lang="fr-FR" dirty="0"/>
          </a:p>
          <a:p>
            <a:pPr marL="530352" lvl="1" indent="0">
              <a:buNone/>
            </a:pPr>
            <a:endParaRPr lang="fr-FR" dirty="0"/>
          </a:p>
        </p:txBody>
      </p:sp>
      <p:pic>
        <p:nvPicPr>
          <p:cNvPr id="4" name="Picture 2" descr="Les attractions avec les temps d'attente les plus longs à Walt Disney World  – Le monde de Disne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429" y="3755571"/>
            <a:ext cx="4136571" cy="310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vraison Amazon : 5 conseils pour réceptionner vos commandes dans les temps  et à coup sûr">
            <a:extLst>
              <a:ext uri="{FF2B5EF4-FFF2-40B4-BE49-F238E27FC236}">
                <a16:creationId xmlns:a16="http://schemas.microsoft.com/office/drawing/2014/main" id="{29935762-B6DF-B925-BB03-59E36F137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773" y="4809506"/>
            <a:ext cx="3072741" cy="204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66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satisfaction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Bien distinguer les sources d’insatisfaction et les sources de satisfaction</a:t>
            </a:r>
          </a:p>
          <a:p>
            <a:endParaRPr lang="fr-FR" dirty="0"/>
          </a:p>
          <a:p>
            <a:pPr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Trois niveaux d’attente: </a:t>
            </a: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	- Les attentes minimales</a:t>
            </a: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	- Les attentes espérées</a:t>
            </a: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	- Les attentes inespérées</a:t>
            </a:r>
            <a:endParaRPr lang="fr-FR" dirty="0"/>
          </a:p>
        </p:txBody>
      </p:sp>
      <p:pic>
        <p:nvPicPr>
          <p:cNvPr id="2050" name="Picture 2" descr="Customer expectations, customer journey, customer satisfaction, increased  customer, level customer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2" y="2808969"/>
            <a:ext cx="3929289" cy="392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44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satisfaction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la satisfaction (ou l’insatisfaction) des clients:</a:t>
            </a:r>
          </a:p>
          <a:p>
            <a:pPr lvl="1"/>
            <a:r>
              <a:rPr lang="fr-FR" dirty="0"/>
              <a:t>Les réclamations (off et online)</a:t>
            </a:r>
          </a:p>
          <a:p>
            <a:pPr lvl="1"/>
            <a:r>
              <a:rPr lang="fr-FR" dirty="0"/>
              <a:t>Le taux de défection des clients</a:t>
            </a:r>
          </a:p>
          <a:p>
            <a:pPr lvl="1"/>
            <a:r>
              <a:rPr lang="fr-FR" dirty="0"/>
              <a:t>Les avis des clients sur Internet</a:t>
            </a:r>
          </a:p>
          <a:p>
            <a:pPr lvl="1"/>
            <a:endParaRPr lang="fr-FR" dirty="0"/>
          </a:p>
        </p:txBody>
      </p:sp>
      <p:pic>
        <p:nvPicPr>
          <p:cNvPr id="2050" name="Picture 2" descr="https://www.forbes.fr/wp-content/uploads/2019/11/lien_generateur_davis-1080x6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143" y="4457296"/>
            <a:ext cx="3860800" cy="214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ipAdvisor « un avis » qui vous veut du bien - Agence formatweb ® Pari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767744"/>
            <a:ext cx="5480504" cy="1523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30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satisfaction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la satisfaction (ou l’insatisfaction) des clients:</a:t>
            </a:r>
          </a:p>
          <a:p>
            <a:pPr lvl="1"/>
            <a:r>
              <a:rPr lang="fr-FR" dirty="0"/>
              <a:t>Les réclamations (off et online)</a:t>
            </a:r>
          </a:p>
          <a:p>
            <a:pPr lvl="1"/>
            <a:r>
              <a:rPr lang="fr-FR" dirty="0"/>
              <a:t>Le taux de défection des clients</a:t>
            </a:r>
          </a:p>
          <a:p>
            <a:pPr lvl="1"/>
            <a:r>
              <a:rPr lang="fr-FR" dirty="0"/>
              <a:t>Les avis des clients sur Internet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Les enquêtes de satisfaction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560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satisfaction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la satisfaction (ou l’insatisfaction) des clients:</a:t>
            </a:r>
          </a:p>
          <a:p>
            <a:pPr lvl="1"/>
            <a:r>
              <a:rPr lang="fr-FR" dirty="0"/>
              <a:t>Les réclamations (off et online)</a:t>
            </a:r>
          </a:p>
          <a:p>
            <a:pPr lvl="1"/>
            <a:r>
              <a:rPr lang="fr-FR" dirty="0"/>
              <a:t>Le taux de défection des clients</a:t>
            </a:r>
          </a:p>
          <a:p>
            <a:pPr lvl="1"/>
            <a:r>
              <a:rPr lang="fr-FR" dirty="0"/>
              <a:t>Les avis des clients sur Internet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Les enquêtes de satisfaction</a:t>
            </a:r>
          </a:p>
          <a:p>
            <a:pPr lvl="1"/>
            <a:r>
              <a:rPr lang="fr-FR" dirty="0"/>
              <a:t>Le client mystère</a:t>
            </a:r>
          </a:p>
          <a:p>
            <a:pPr lvl="1"/>
            <a:endParaRPr lang="fr-FR" dirty="0"/>
          </a:p>
        </p:txBody>
      </p:sp>
      <p:pic>
        <p:nvPicPr>
          <p:cNvPr id="5122" name="Picture 2" descr="Devenir client mystère, une idée qui marche toujours en 20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41900"/>
            <a:ext cx="63831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oliday Inn — Wikipé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574" y="4362137"/>
            <a:ext cx="3091819" cy="216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36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satisfaction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la satisfaction (ou l’insatisfaction) des clients:</a:t>
            </a:r>
          </a:p>
          <a:p>
            <a:pPr lvl="1"/>
            <a:r>
              <a:rPr lang="fr-FR" dirty="0"/>
              <a:t>Les réclamations (off et online)</a:t>
            </a:r>
          </a:p>
          <a:p>
            <a:pPr lvl="1"/>
            <a:r>
              <a:rPr lang="fr-FR" dirty="0"/>
              <a:t>Le taux de défection des clients</a:t>
            </a:r>
          </a:p>
          <a:p>
            <a:pPr lvl="1"/>
            <a:r>
              <a:rPr lang="fr-FR" dirty="0"/>
              <a:t>Les avis des clients sur Internet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Les enquêtes de satisfaction</a:t>
            </a:r>
          </a:p>
          <a:p>
            <a:pPr lvl="1"/>
            <a:r>
              <a:rPr lang="fr-FR" dirty="0"/>
              <a:t>Le client mystère</a:t>
            </a:r>
          </a:p>
          <a:p>
            <a:pPr lvl="1"/>
            <a:endParaRPr lang="fr-FR" dirty="0"/>
          </a:p>
        </p:txBody>
      </p:sp>
      <p:sp>
        <p:nvSpPr>
          <p:cNvPr id="4" name="Accolade fermante 3">
            <a:extLst>
              <a:ext uri="{FF2B5EF4-FFF2-40B4-BE49-F238E27FC236}">
                <a16:creationId xmlns:a16="http://schemas.microsoft.com/office/drawing/2014/main" id="{F118CEF8-3D8A-4346-89B5-A80ADE78B294}"/>
              </a:ext>
            </a:extLst>
          </p:cNvPr>
          <p:cNvSpPr/>
          <p:nvPr/>
        </p:nvSpPr>
        <p:spPr>
          <a:xfrm>
            <a:off x="6096000" y="2671763"/>
            <a:ext cx="461963" cy="118586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ccolade fermante 6">
            <a:extLst>
              <a:ext uri="{FF2B5EF4-FFF2-40B4-BE49-F238E27FC236}">
                <a16:creationId xmlns:a16="http://schemas.microsoft.com/office/drawing/2014/main" id="{E7508BA6-8E56-40B1-B437-E401AAF17854}"/>
              </a:ext>
            </a:extLst>
          </p:cNvPr>
          <p:cNvSpPr/>
          <p:nvPr/>
        </p:nvSpPr>
        <p:spPr>
          <a:xfrm>
            <a:off x="6017418" y="4076700"/>
            <a:ext cx="461963" cy="118586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AB828F7-304A-4588-AB7A-AB87D29C8A7C}"/>
              </a:ext>
            </a:extLst>
          </p:cNvPr>
          <p:cNvSpPr txBox="1"/>
          <p:nvPr/>
        </p:nvSpPr>
        <p:spPr>
          <a:xfrm>
            <a:off x="7029451" y="3064639"/>
            <a:ext cx="22434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i="1" dirty="0">
                <a:solidFill>
                  <a:schemeClr val="tx2"/>
                </a:solidFill>
              </a:rPr>
              <a:t>Mesures</a:t>
            </a:r>
            <a:r>
              <a:rPr lang="fr-FR" dirty="0"/>
              <a:t> </a:t>
            </a:r>
            <a:r>
              <a:rPr lang="fr-FR" sz="2000" i="1" dirty="0">
                <a:solidFill>
                  <a:schemeClr val="tx2"/>
                </a:solidFill>
              </a:rPr>
              <a:t>indirectes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89CD2B-4B88-4B25-BE82-3CC2E15437B1}"/>
              </a:ext>
            </a:extLst>
          </p:cNvPr>
          <p:cNvSpPr txBox="1"/>
          <p:nvPr/>
        </p:nvSpPr>
        <p:spPr>
          <a:xfrm>
            <a:off x="7029450" y="4430330"/>
            <a:ext cx="2102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i="1" dirty="0">
                <a:solidFill>
                  <a:schemeClr val="tx2"/>
                </a:solidFill>
              </a:rPr>
              <a:t>Mesures</a:t>
            </a:r>
            <a:r>
              <a:rPr lang="fr-FR" dirty="0"/>
              <a:t> </a:t>
            </a:r>
            <a:r>
              <a:rPr lang="fr-FR" sz="2000" i="1" dirty="0">
                <a:solidFill>
                  <a:schemeClr val="tx2"/>
                </a:solidFill>
              </a:rPr>
              <a:t>directes</a:t>
            </a:r>
          </a:p>
        </p:txBody>
      </p:sp>
    </p:spTree>
    <p:extLst>
      <p:ext uri="{BB962C8B-B14F-4D97-AF65-F5344CB8AC3E}">
        <p14:creationId xmlns:p14="http://schemas.microsoft.com/office/powerpoint/2010/main" val="289750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5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avantages d’un client fidèle</a:t>
            </a:r>
          </a:p>
          <a:p>
            <a:pPr lvl="1"/>
            <a:r>
              <a:rPr lang="fr-FR" dirty="0"/>
              <a:t>Fidéliser ses clients coûte moins cher que d’en acquérir de nouveaux</a:t>
            </a:r>
          </a:p>
          <a:p>
            <a:pPr lvl="1"/>
            <a:r>
              <a:rPr lang="fr-FR" dirty="0"/>
              <a:t>Un client fidèle achète plus que les autres</a:t>
            </a:r>
          </a:p>
          <a:p>
            <a:pPr lvl="1"/>
            <a:r>
              <a:rPr lang="fr-FR" dirty="0"/>
              <a:t>Un client fidélisé est moins volatile</a:t>
            </a:r>
          </a:p>
          <a:p>
            <a:pPr lvl="1"/>
            <a:r>
              <a:rPr lang="fr-FR" dirty="0"/>
              <a:t>Un client fidèle va faire du bouche-à-oreille</a:t>
            </a:r>
          </a:p>
          <a:p>
            <a:pPr lvl="1"/>
            <a:r>
              <a:rPr lang="fr-FR" dirty="0"/>
              <a:t>Un client fidèle contribue à réduire les coûts de support</a:t>
            </a:r>
          </a:p>
          <a:p>
            <a:pPr marL="530352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116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Qu’est-ce que la fidélité?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fr-FR" dirty="0"/>
              <a:t>fidélité absolue et fidélité relative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fr-FR" dirty="0"/>
          </a:p>
          <a:p>
            <a:pPr marL="530352" lvl="1" indent="0">
              <a:buNone/>
            </a:pPr>
            <a:endParaRPr lang="fr-FR" dirty="0"/>
          </a:p>
        </p:txBody>
      </p:sp>
      <p:pic>
        <p:nvPicPr>
          <p:cNvPr id="7176" name="Picture 8" descr="Comparatif Opérateurs de téléphonie mobile 2020 - UFC-Que Chois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861" y="4034518"/>
            <a:ext cx="2239282" cy="223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Eau minérale 50cl | OTri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127" y="3309256"/>
            <a:ext cx="3526534" cy="321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81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L’échelle de la fidélité</a:t>
            </a:r>
          </a:p>
        </p:txBody>
      </p:sp>
      <p:pic>
        <p:nvPicPr>
          <p:cNvPr id="12290" name="Picture 2" descr="The ladder of Loyalty. Here is a good summery of something that is so basic  that we tend to forget it sometim… | Marketing models, Client relationship,  Relationship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/>
        </p:blipFill>
        <p:spPr bwMode="auto">
          <a:xfrm>
            <a:off x="1981198" y="1524000"/>
            <a:ext cx="8657771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08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Qu’est-ce que la fidélité?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FR" dirty="0">
                <a:sym typeface="Wingdings" panose="05000000000000000000" pitchFamily="2" charset="2"/>
              </a:rPr>
              <a:t>	</a:t>
            </a:r>
            <a:r>
              <a:rPr lang="fr-FR" dirty="0"/>
              <a:t> fidélité absolue et fidélité relative</a:t>
            </a:r>
          </a:p>
          <a:p>
            <a:endParaRPr lang="fr-FR" dirty="0"/>
          </a:p>
          <a:p>
            <a:r>
              <a:rPr lang="fr-FR" dirty="0"/>
              <a:t>Les mesures de la fidélité</a:t>
            </a:r>
          </a:p>
          <a:p>
            <a:pPr lvl="1"/>
            <a:r>
              <a:rPr lang="fr-FR" dirty="0"/>
              <a:t>Le taux de fidélité</a:t>
            </a:r>
          </a:p>
          <a:p>
            <a:pPr lvl="1"/>
            <a:r>
              <a:rPr lang="fr-FR" dirty="0"/>
              <a:t>Le taux d’attrition </a:t>
            </a:r>
          </a:p>
          <a:p>
            <a:pPr lvl="1"/>
            <a:r>
              <a:rPr lang="fr-FR" dirty="0"/>
              <a:t>Le taux de nourriture (ou part de client)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880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types de fidélité</a:t>
            </a:r>
          </a:p>
          <a:p>
            <a:pPr lvl="1"/>
            <a:r>
              <a:rPr lang="fr-FR" dirty="0"/>
              <a:t>Fidélité objective et fidélité subjective</a:t>
            </a:r>
          </a:p>
          <a:p>
            <a:pPr lvl="2"/>
            <a:r>
              <a:rPr lang="fr-FR" dirty="0"/>
              <a:t>Fidélité objective = comportements effectifs</a:t>
            </a:r>
          </a:p>
          <a:p>
            <a:pPr lvl="2"/>
            <a:r>
              <a:rPr lang="fr-FR" dirty="0"/>
              <a:t>Fidélité subjective  = attitudes mentales</a:t>
            </a:r>
          </a:p>
        </p:txBody>
      </p:sp>
      <p:pic>
        <p:nvPicPr>
          <p:cNvPr id="8194" name="Picture 2" descr="Résultats 2012 : SFR et Bouygues pénalisés par l'arrivée de Free Mobi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1" y="3708400"/>
            <a:ext cx="4724399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90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types de fidélité</a:t>
            </a:r>
          </a:p>
          <a:p>
            <a:pPr lvl="1"/>
            <a:r>
              <a:rPr lang="fr-FR" dirty="0"/>
              <a:t>Fidélité objective et fidélité subjective</a:t>
            </a:r>
          </a:p>
          <a:p>
            <a:pPr lvl="1"/>
            <a:endParaRPr lang="fr-FR" dirty="0"/>
          </a:p>
          <a:p>
            <a:pPr marL="530352" lvl="1" indent="0">
              <a:buNone/>
            </a:pPr>
            <a:r>
              <a:rPr lang="fr-FR" dirty="0">
                <a:sym typeface="Wingdings" panose="05000000000000000000" pitchFamily="2" charset="2"/>
              </a:rPr>
              <a:t> Matrice de f</a:t>
            </a:r>
            <a:r>
              <a:rPr lang="fr-FR" dirty="0"/>
              <a:t>idélité 	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246584"/>
              </p:ext>
            </p:extLst>
          </p:nvPr>
        </p:nvGraphicFramePr>
        <p:xfrm>
          <a:off x="778327" y="4472940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436920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92448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058265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615945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Fidélité subjective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626454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Attitude négative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Attitude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74618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Fidélité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Achats répétés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Fidélité passive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Fidélité</a:t>
                      </a:r>
                      <a:r>
                        <a:rPr lang="fr-FR" b="1" baseline="0" dirty="0"/>
                        <a:t> active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51801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Achats non répétés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Absence</a:t>
                      </a:r>
                      <a:r>
                        <a:rPr lang="fr-FR" b="1" baseline="0" dirty="0"/>
                        <a:t> de fidélité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430357"/>
                  </a:ext>
                </a:extLst>
              </a:tr>
            </a:tbl>
          </a:graphicData>
        </a:graphic>
      </p:graphicFrame>
      <p:sp>
        <p:nvSpPr>
          <p:cNvPr id="4" name="Flèche vers le haut 9">
            <a:extLst>
              <a:ext uri="{FF2B5EF4-FFF2-40B4-BE49-F238E27FC236}">
                <a16:creationId xmlns:a16="http://schemas.microsoft.com/office/drawing/2014/main" id="{6D01FC6D-8EBF-A3C1-5890-1DF6C934E4E7}"/>
              </a:ext>
            </a:extLst>
          </p:cNvPr>
          <p:cNvSpPr/>
          <p:nvPr/>
        </p:nvSpPr>
        <p:spPr>
          <a:xfrm rot="16200000">
            <a:off x="8975018" y="4979671"/>
            <a:ext cx="682171" cy="76925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A4847FA-9441-6A4B-8EE0-96011230F25F}"/>
              </a:ext>
            </a:extLst>
          </p:cNvPr>
          <p:cNvSpPr txBox="1"/>
          <p:nvPr/>
        </p:nvSpPr>
        <p:spPr>
          <a:xfrm>
            <a:off x="9988777" y="5179634"/>
            <a:ext cx="1160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Confiance</a:t>
            </a:r>
          </a:p>
        </p:txBody>
      </p:sp>
    </p:spTree>
    <p:extLst>
      <p:ext uri="{BB962C8B-B14F-4D97-AF65-F5344CB8AC3E}">
        <p14:creationId xmlns:p14="http://schemas.microsoft.com/office/powerpoint/2010/main" val="236853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relation satisfaction-fidélité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Principe de base: plus un client est satisfait, plus il a de chances d’être fidèle… </a:t>
            </a:r>
          </a:p>
          <a:p>
            <a:endParaRPr lang="fr-FR" dirty="0"/>
          </a:p>
          <a:p>
            <a:r>
              <a:rPr lang="fr-FR" dirty="0"/>
              <a:t>… mais la satisfaction ne conduit pas nécessairement à la fidélité</a:t>
            </a:r>
          </a:p>
          <a:p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988456" y="4076700"/>
            <a:ext cx="3831771" cy="1567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Aux USA, </a:t>
            </a:r>
            <a:r>
              <a:rPr lang="fr-FR" sz="4400" dirty="0"/>
              <a:t>90% </a:t>
            </a:r>
            <a:r>
              <a:rPr lang="fr-FR" dirty="0"/>
              <a:t>des automobilistes sont satisfaits de leur marque de voiture…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1884" y="4076700"/>
            <a:ext cx="3831771" cy="1567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… mais seulement  </a:t>
            </a:r>
            <a:r>
              <a:rPr lang="fr-FR" sz="4400" dirty="0"/>
              <a:t>35% </a:t>
            </a:r>
            <a:r>
              <a:rPr lang="fr-FR" dirty="0"/>
              <a:t>la remplacent par une voiture de même marque</a:t>
            </a:r>
          </a:p>
        </p:txBody>
      </p:sp>
    </p:spTree>
    <p:extLst>
      <p:ext uri="{BB962C8B-B14F-4D97-AF65-F5344CB8AC3E}">
        <p14:creationId xmlns:p14="http://schemas.microsoft.com/office/powerpoint/2010/main" val="21739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relation satisfaction-fidélité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71600" y="2171700"/>
            <a:ext cx="9601200" cy="3581400"/>
          </a:xfrm>
        </p:spPr>
        <p:txBody>
          <a:bodyPr/>
          <a:lstStyle/>
          <a:p>
            <a:r>
              <a:rPr lang="fr-FR" dirty="0"/>
              <a:t>Pourquoi un client satisfait peut être infidèle?</a:t>
            </a:r>
          </a:p>
          <a:p>
            <a:pPr lvl="1"/>
            <a:r>
              <a:rPr lang="fr-FR" dirty="0"/>
              <a:t>Sollicitations d’autres marques</a:t>
            </a:r>
          </a:p>
          <a:p>
            <a:pPr lvl="1"/>
            <a:endParaRPr lang="fr-FR" dirty="0"/>
          </a:p>
        </p:txBody>
      </p:sp>
      <p:pic>
        <p:nvPicPr>
          <p:cNvPr id="9218" name="Picture 2" descr="Ventes Flash Orange : le Huawei P30 Pro à partir de seulement 209,90€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147" y="4076700"/>
            <a:ext cx="4520925" cy="250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85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relation satisfaction-fidélité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Pourquoi un client satisfait peut être infidèle?</a:t>
            </a:r>
          </a:p>
          <a:p>
            <a:pPr lvl="1"/>
            <a:r>
              <a:rPr lang="fr-FR" dirty="0"/>
              <a:t>Sollicitations d’autres marques</a:t>
            </a:r>
          </a:p>
          <a:p>
            <a:pPr lvl="1"/>
            <a:r>
              <a:rPr lang="fr-FR" dirty="0"/>
              <a:t>Satisfaction ne veut pas dire préférence</a:t>
            </a:r>
          </a:p>
          <a:p>
            <a:pPr lvl="1"/>
            <a:r>
              <a:rPr lang="fr-FR" dirty="0"/>
              <a:t>Recherche de variété</a:t>
            </a:r>
          </a:p>
          <a:p>
            <a:pPr marL="530352" lvl="1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  <p:pic>
        <p:nvPicPr>
          <p:cNvPr id="4098" name="Picture 2" descr="Une forte envie de nouveauté? - PDF Téléchargement Gratu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0" y="4671781"/>
            <a:ext cx="6445250" cy="218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88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relation satisfaction-fidélité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positions extrêmes en termes de satisfaction sont souvent prédictives de la fidélité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/>
          <a:srcRect l="40491" t="29935" r="25279" b="26525"/>
          <a:stretch/>
        </p:blipFill>
        <p:spPr>
          <a:xfrm>
            <a:off x="3927422" y="2803160"/>
            <a:ext cx="5216577" cy="3732551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818151" y="3897443"/>
            <a:ext cx="849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fidélité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5686054" y="6467843"/>
            <a:ext cx="133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Satisfaction</a:t>
            </a:r>
          </a:p>
        </p:txBody>
      </p:sp>
    </p:spTree>
    <p:extLst>
      <p:ext uri="{BB962C8B-B14F-4D97-AF65-F5344CB8AC3E}">
        <p14:creationId xmlns:p14="http://schemas.microsoft.com/office/powerpoint/2010/main" val="397757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relation satisfaction-fidélité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lien satisfaction-fidélité selon le secteur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37836" t="32557" r="28426" b="26350"/>
          <a:stretch/>
        </p:blipFill>
        <p:spPr>
          <a:xfrm>
            <a:off x="3477718" y="2616318"/>
            <a:ext cx="6026046" cy="412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8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TM10001105[[fn=Rogner]]</Template>
  <TotalTime>6687</TotalTime>
  <Words>1102</Words>
  <Application>Microsoft Office PowerPoint</Application>
  <PresentationFormat>Grand écran</PresentationFormat>
  <Paragraphs>193</Paragraphs>
  <Slides>21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Franklin Gothic Book</vt:lpstr>
      <vt:lpstr>Wingdings</vt:lpstr>
      <vt:lpstr>Crop</vt:lpstr>
      <vt:lpstr>Le lien satisfaction/fidélité</vt:lpstr>
      <vt:lpstr>Le lien satisfaction/fidélité</vt:lpstr>
      <vt:lpstr>La satisfaction</vt:lpstr>
      <vt:lpstr>Le modèle d’Oliver</vt:lpstr>
      <vt:lpstr>La satisfaction</vt:lpstr>
      <vt:lpstr>La satisfaction</vt:lpstr>
      <vt:lpstr>La satisfaction</vt:lpstr>
      <vt:lpstr>La satisfaction</vt:lpstr>
      <vt:lpstr>La satisfaction</vt:lpstr>
      <vt:lpstr>La satisfaction</vt:lpstr>
      <vt:lpstr>La fidélité</vt:lpstr>
      <vt:lpstr>La fidélité</vt:lpstr>
      <vt:lpstr>L’échelle de la fidélité</vt:lpstr>
      <vt:lpstr>La fidélité</vt:lpstr>
      <vt:lpstr>La fidélité</vt:lpstr>
      <vt:lpstr>La fidélité</vt:lpstr>
      <vt:lpstr>La relation satisfaction-fidélité</vt:lpstr>
      <vt:lpstr>La relation satisfaction-fidélité</vt:lpstr>
      <vt:lpstr>La relation satisfaction-fidélité</vt:lpstr>
      <vt:lpstr>La relation satisfaction-fidélité</vt:lpstr>
      <vt:lpstr>La relation satisfaction-fidélité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relationnel</dc:title>
  <dc:creator>CHANEY Damien</dc:creator>
  <cp:lastModifiedBy>BELAID Samy</cp:lastModifiedBy>
  <cp:revision>90</cp:revision>
  <dcterms:created xsi:type="dcterms:W3CDTF">2020-08-27T09:28:28Z</dcterms:created>
  <dcterms:modified xsi:type="dcterms:W3CDTF">2025-10-01T13:13:04Z</dcterms:modified>
</cp:coreProperties>
</file>