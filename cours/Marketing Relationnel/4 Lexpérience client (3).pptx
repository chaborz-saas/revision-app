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0.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3.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20.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2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22.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1"/>
  </p:notesMasterIdLst>
  <p:sldIdLst>
    <p:sldId id="256" r:id="rId2"/>
    <p:sldId id="303" r:id="rId3"/>
    <p:sldId id="263" r:id="rId4"/>
    <p:sldId id="308" r:id="rId5"/>
    <p:sldId id="311" r:id="rId6"/>
    <p:sldId id="288" r:id="rId7"/>
    <p:sldId id="306" r:id="rId8"/>
    <p:sldId id="307" r:id="rId9"/>
    <p:sldId id="316" r:id="rId10"/>
    <p:sldId id="282" r:id="rId11"/>
    <p:sldId id="318" r:id="rId12"/>
    <p:sldId id="339" r:id="rId13"/>
    <p:sldId id="262" r:id="rId14"/>
    <p:sldId id="337" r:id="rId15"/>
    <p:sldId id="338" r:id="rId16"/>
    <p:sldId id="336" r:id="rId17"/>
    <p:sldId id="302" r:id="rId18"/>
    <p:sldId id="329" r:id="rId19"/>
    <p:sldId id="283" r:id="rId20"/>
    <p:sldId id="289" r:id="rId21"/>
    <p:sldId id="330" r:id="rId22"/>
    <p:sldId id="276" r:id="rId23"/>
    <p:sldId id="301" r:id="rId24"/>
    <p:sldId id="285" r:id="rId25"/>
    <p:sldId id="305" r:id="rId26"/>
    <p:sldId id="333" r:id="rId27"/>
    <p:sldId id="334" r:id="rId28"/>
    <p:sldId id="309" r:id="rId29"/>
    <p:sldId id="33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EY Damien" initials="CD" lastIdx="2" clrIdx="0">
    <p:extLst>
      <p:ext uri="{19B8F6BF-5375-455C-9EA6-DF929625EA0E}">
        <p15:presenceInfo xmlns:p15="http://schemas.microsoft.com/office/powerpoint/2012/main" userId="S::dchaney@em-normandie.fr::40ca76e2-3dc1-426f-9037-c2eff4784f3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67146" autoAdjust="0"/>
  </p:normalViewPr>
  <p:slideViewPr>
    <p:cSldViewPr snapToGrid="0">
      <p:cViewPr varScale="1">
        <p:scale>
          <a:sx n="50" d="100"/>
          <a:sy n="50" d="100"/>
        </p:scale>
        <p:origin x="1236" y="52"/>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EY Damien" userId="40ca76e2-3dc1-426f-9037-c2eff4784f3c" providerId="ADAL" clId="{4401AB7B-7EA0-41D1-B530-F042FE6B08E7}"/>
    <pc:docChg chg="custSel addSld delSld modSld">
      <pc:chgData name="CHANEY Damien" userId="40ca76e2-3dc1-426f-9037-c2eff4784f3c" providerId="ADAL" clId="{4401AB7B-7EA0-41D1-B530-F042FE6B08E7}" dt="2023-09-06T07:49:40.044" v="421" actId="20577"/>
      <pc:docMkLst>
        <pc:docMk/>
      </pc:docMkLst>
      <pc:sldChg chg="modSp mod">
        <pc:chgData name="CHANEY Damien" userId="40ca76e2-3dc1-426f-9037-c2eff4784f3c" providerId="ADAL" clId="{4401AB7B-7EA0-41D1-B530-F042FE6B08E7}" dt="2023-08-28T12:52:07.840" v="1" actId="20577"/>
        <pc:sldMkLst>
          <pc:docMk/>
          <pc:sldMk cId="807368609" sldId="256"/>
        </pc:sldMkLst>
      </pc:sldChg>
      <pc:sldChg chg="modSp mod">
        <pc:chgData name="CHANEY Damien" userId="40ca76e2-3dc1-426f-9037-c2eff4784f3c" providerId="ADAL" clId="{4401AB7B-7EA0-41D1-B530-F042FE6B08E7}" dt="2023-08-28T12:56:30.361" v="81" actId="20577"/>
        <pc:sldMkLst>
          <pc:docMk/>
          <pc:sldMk cId="2283732709" sldId="282"/>
        </pc:sldMkLst>
      </pc:sldChg>
      <pc:sldChg chg="modSp del mod">
        <pc:chgData name="CHANEY Damien" userId="40ca76e2-3dc1-426f-9037-c2eff4784f3c" providerId="ADAL" clId="{4401AB7B-7EA0-41D1-B530-F042FE6B08E7}" dt="2023-08-28T12:56:14.995" v="60" actId="47"/>
        <pc:sldMkLst>
          <pc:docMk/>
          <pc:sldMk cId="884050614" sldId="287"/>
        </pc:sldMkLst>
      </pc:sldChg>
      <pc:sldChg chg="modSp mod">
        <pc:chgData name="CHANEY Damien" userId="40ca76e2-3dc1-426f-9037-c2eff4784f3c" providerId="ADAL" clId="{4401AB7B-7EA0-41D1-B530-F042FE6B08E7}" dt="2023-08-28T12:55:55.013" v="27" actId="20577"/>
        <pc:sldMkLst>
          <pc:docMk/>
          <pc:sldMk cId="4007757920" sldId="288"/>
        </pc:sldMkLst>
      </pc:sldChg>
      <pc:sldChg chg="modSp mod">
        <pc:chgData name="CHANEY Damien" userId="40ca76e2-3dc1-426f-9037-c2eff4784f3c" providerId="ADAL" clId="{4401AB7B-7EA0-41D1-B530-F042FE6B08E7}" dt="2023-08-28T12:55:58.560" v="38" actId="20577"/>
        <pc:sldMkLst>
          <pc:docMk/>
          <pc:sldMk cId="1251199309" sldId="306"/>
        </pc:sldMkLst>
      </pc:sldChg>
      <pc:sldChg chg="modSp mod">
        <pc:chgData name="CHANEY Damien" userId="40ca76e2-3dc1-426f-9037-c2eff4784f3c" providerId="ADAL" clId="{4401AB7B-7EA0-41D1-B530-F042FE6B08E7}" dt="2023-08-28T12:56:01.819" v="49" actId="20577"/>
        <pc:sldMkLst>
          <pc:docMk/>
          <pc:sldMk cId="172271237" sldId="307"/>
        </pc:sldMkLst>
      </pc:sldChg>
      <pc:sldChg chg="addSp modSp mod modAnim">
        <pc:chgData name="CHANEY Damien" userId="40ca76e2-3dc1-426f-9037-c2eff4784f3c" providerId="ADAL" clId="{4401AB7B-7EA0-41D1-B530-F042FE6B08E7}" dt="2023-09-06T06:21:40.095" v="145"/>
        <pc:sldMkLst>
          <pc:docMk/>
          <pc:sldMk cId="1996254364" sldId="308"/>
        </pc:sldMkLst>
      </pc:sldChg>
      <pc:sldChg chg="modSp mod">
        <pc:chgData name="CHANEY Damien" userId="40ca76e2-3dc1-426f-9037-c2eff4784f3c" providerId="ADAL" clId="{4401AB7B-7EA0-41D1-B530-F042FE6B08E7}" dt="2023-08-28T12:55:49.924" v="12" actId="20577"/>
        <pc:sldMkLst>
          <pc:docMk/>
          <pc:sldMk cId="3540571321" sldId="311"/>
        </pc:sldMkLst>
      </pc:sldChg>
      <pc:sldChg chg="modSp mod modAnim">
        <pc:chgData name="CHANEY Damien" userId="40ca76e2-3dc1-426f-9037-c2eff4784f3c" providerId="ADAL" clId="{4401AB7B-7EA0-41D1-B530-F042FE6B08E7}" dt="2023-09-06T06:22:39.998" v="244" actId="20577"/>
        <pc:sldMkLst>
          <pc:docMk/>
          <pc:sldMk cId="1693231598" sldId="316"/>
        </pc:sldMkLst>
      </pc:sldChg>
      <pc:sldChg chg="modSp">
        <pc:chgData name="CHANEY Damien" userId="40ca76e2-3dc1-426f-9037-c2eff4784f3c" providerId="ADAL" clId="{4401AB7B-7EA0-41D1-B530-F042FE6B08E7}" dt="2023-09-06T07:49:40.044" v="421" actId="20577"/>
        <pc:sldMkLst>
          <pc:docMk/>
          <pc:sldMk cId="1832370186" sldId="335"/>
        </pc:sldMkLst>
      </pc:sldChg>
      <pc:sldChg chg="modSp">
        <pc:chgData name="CHANEY Damien" userId="40ca76e2-3dc1-426f-9037-c2eff4784f3c" providerId="ADAL" clId="{4401AB7B-7EA0-41D1-B530-F042FE6B08E7}" dt="2023-09-06T06:25:20.330" v="420" actId="20577"/>
        <pc:sldMkLst>
          <pc:docMk/>
          <pc:sldMk cId="3380924313" sldId="337"/>
        </pc:sldMkLst>
      </pc:sldChg>
      <pc:sldChg chg="modSp add modAnim">
        <pc:chgData name="CHANEY Damien" userId="40ca76e2-3dc1-426f-9037-c2eff4784f3c" providerId="ADAL" clId="{4401AB7B-7EA0-41D1-B530-F042FE6B08E7}" dt="2023-09-06T06:24:33.765" v="414" actId="20577"/>
        <pc:sldMkLst>
          <pc:docMk/>
          <pc:sldMk cId="1896222811" sldId="339"/>
        </pc:sldMkLst>
      </pc:sldChg>
    </pc:docChg>
  </pc:docChgLst>
  <pc:docChgLst>
    <pc:chgData name="CHANEY Damien" userId="40ca76e2-3dc1-426f-9037-c2eff4784f3c" providerId="ADAL" clId="{8E52EDB0-6322-4202-BBDD-8CC5DDD7CA95}"/>
    <pc:docChg chg="custSel addSld delSld modSld">
      <pc:chgData name="CHANEY Damien" userId="40ca76e2-3dc1-426f-9037-c2eff4784f3c" providerId="ADAL" clId="{8E52EDB0-6322-4202-BBDD-8CC5DDD7CA95}" dt="2021-10-25T08:04:57.083" v="382" actId="313"/>
      <pc:docMkLst>
        <pc:docMk/>
      </pc:docMkLst>
      <pc:sldChg chg="modSp mod">
        <pc:chgData name="CHANEY Damien" userId="40ca76e2-3dc1-426f-9037-c2eff4784f3c" providerId="ADAL" clId="{8E52EDB0-6322-4202-BBDD-8CC5DDD7CA95}" dt="2021-09-14T14:16:32.470" v="80" actId="20577"/>
        <pc:sldMkLst>
          <pc:docMk/>
          <pc:sldMk cId="4263634624" sldId="257"/>
        </pc:sldMkLst>
      </pc:sldChg>
      <pc:sldChg chg="modSp add mod">
        <pc:chgData name="CHANEY Damien" userId="40ca76e2-3dc1-426f-9037-c2eff4784f3c" providerId="ADAL" clId="{8E52EDB0-6322-4202-BBDD-8CC5DDD7CA95}" dt="2021-09-14T14:19:22.201" v="314" actId="20577"/>
        <pc:sldMkLst>
          <pc:docMk/>
          <pc:sldMk cId="3158652581" sldId="276"/>
        </pc:sldMkLst>
      </pc:sldChg>
      <pc:sldChg chg="modSp add mod">
        <pc:chgData name="CHANEY Damien" userId="40ca76e2-3dc1-426f-9037-c2eff4784f3c" providerId="ADAL" clId="{8E52EDB0-6322-4202-BBDD-8CC5DDD7CA95}" dt="2021-09-14T14:19:24.973" v="317" actId="20577"/>
        <pc:sldMkLst>
          <pc:docMk/>
          <pc:sldMk cId="2982807165" sldId="277"/>
        </pc:sldMkLst>
      </pc:sldChg>
      <pc:sldChg chg="del">
        <pc:chgData name="CHANEY Damien" userId="40ca76e2-3dc1-426f-9037-c2eff4784f3c" providerId="ADAL" clId="{8E52EDB0-6322-4202-BBDD-8CC5DDD7CA95}" dt="2021-09-14T14:17:09.017" v="87" actId="47"/>
        <pc:sldMkLst>
          <pc:docMk/>
          <pc:sldMk cId="74344828" sldId="283"/>
        </pc:sldMkLst>
      </pc:sldChg>
      <pc:sldChg chg="modSp add mod">
        <pc:chgData name="CHANEY Damien" userId="40ca76e2-3dc1-426f-9037-c2eff4784f3c" providerId="ADAL" clId="{8E52EDB0-6322-4202-BBDD-8CC5DDD7CA95}" dt="2021-09-14T14:19:41.333" v="326" actId="20577"/>
        <pc:sldMkLst>
          <pc:docMk/>
          <pc:sldMk cId="4054340051" sldId="285"/>
        </pc:sldMkLst>
      </pc:sldChg>
      <pc:sldChg chg="modSp add mod">
        <pc:chgData name="CHANEY Damien" userId="40ca76e2-3dc1-426f-9037-c2eff4784f3c" providerId="ADAL" clId="{8E52EDB0-6322-4202-BBDD-8CC5DDD7CA95}" dt="2021-09-14T14:18:59.894" v="307" actId="20577"/>
        <pc:sldMkLst>
          <pc:docMk/>
          <pc:sldMk cId="2893872799" sldId="289"/>
        </pc:sldMkLst>
      </pc:sldChg>
      <pc:sldChg chg="del">
        <pc:chgData name="CHANEY Damien" userId="40ca76e2-3dc1-426f-9037-c2eff4784f3c" providerId="ADAL" clId="{8E52EDB0-6322-4202-BBDD-8CC5DDD7CA95}" dt="2021-09-14T14:20:13.058" v="339" actId="47"/>
        <pc:sldMkLst>
          <pc:docMk/>
          <pc:sldMk cId="375181521" sldId="294"/>
        </pc:sldMkLst>
      </pc:sldChg>
      <pc:sldChg chg="addSp delSp modSp mod addCm delCm">
        <pc:chgData name="CHANEY Damien" userId="40ca76e2-3dc1-426f-9037-c2eff4784f3c" providerId="ADAL" clId="{8E52EDB0-6322-4202-BBDD-8CC5DDD7CA95}" dt="2021-10-25T07:20:18.787" v="368" actId="14100"/>
        <pc:sldMkLst>
          <pc:docMk/>
          <pc:sldMk cId="2626557405" sldId="300"/>
        </pc:sldMkLst>
      </pc:sldChg>
      <pc:sldChg chg="del">
        <pc:chgData name="CHANEY Damien" userId="40ca76e2-3dc1-426f-9037-c2eff4784f3c" providerId="ADAL" clId="{8E52EDB0-6322-4202-BBDD-8CC5DDD7CA95}" dt="2021-09-14T14:17:06.705" v="86" actId="47"/>
        <pc:sldMkLst>
          <pc:docMk/>
          <pc:sldMk cId="1246722929" sldId="304"/>
        </pc:sldMkLst>
      </pc:sldChg>
      <pc:sldChg chg="modSp add mod">
        <pc:chgData name="CHANEY Damien" userId="40ca76e2-3dc1-426f-9037-c2eff4784f3c" providerId="ADAL" clId="{8E52EDB0-6322-4202-BBDD-8CC5DDD7CA95}" dt="2021-09-14T14:19:44.625" v="332" actId="20577"/>
        <pc:sldMkLst>
          <pc:docMk/>
          <pc:sldMk cId="997407106" sldId="305"/>
        </pc:sldMkLst>
      </pc:sldChg>
      <pc:sldChg chg="delSp mod">
        <pc:chgData name="CHANEY Damien" userId="40ca76e2-3dc1-426f-9037-c2eff4784f3c" providerId="ADAL" clId="{8E52EDB0-6322-4202-BBDD-8CC5DDD7CA95}" dt="2021-10-25T07:30:39.585" v="378" actId="478"/>
        <pc:sldMkLst>
          <pc:docMk/>
          <pc:sldMk cId="4025654085" sldId="313"/>
        </pc:sldMkLst>
      </pc:sldChg>
      <pc:sldChg chg="modSp">
        <pc:chgData name="CHANEY Damien" userId="40ca76e2-3dc1-426f-9037-c2eff4784f3c" providerId="ADAL" clId="{8E52EDB0-6322-4202-BBDD-8CC5DDD7CA95}" dt="2021-10-25T08:04:57.083" v="382" actId="313"/>
        <pc:sldMkLst>
          <pc:docMk/>
          <pc:sldMk cId="1433169678" sldId="317"/>
        </pc:sldMkLst>
      </pc:sldChg>
      <pc:sldChg chg="modSp add mod">
        <pc:chgData name="CHANEY Damien" userId="40ca76e2-3dc1-426f-9037-c2eff4784f3c" providerId="ADAL" clId="{8E52EDB0-6322-4202-BBDD-8CC5DDD7CA95}" dt="2021-09-14T14:18:52.410" v="300" actId="20577"/>
        <pc:sldMkLst>
          <pc:docMk/>
          <pc:sldMk cId="2288230162" sldId="320"/>
        </pc:sldMkLst>
      </pc:sldChg>
      <pc:sldChg chg="modSp add mod">
        <pc:chgData name="CHANEY Damien" userId="40ca76e2-3dc1-426f-9037-c2eff4784f3c" providerId="ADAL" clId="{8E52EDB0-6322-4202-BBDD-8CC5DDD7CA95}" dt="2021-09-14T14:18:56.759" v="304" actId="20577"/>
        <pc:sldMkLst>
          <pc:docMk/>
          <pc:sldMk cId="133789323" sldId="321"/>
        </pc:sldMkLst>
      </pc:sldChg>
      <pc:sldChg chg="modSp add mod setBg">
        <pc:chgData name="CHANEY Damien" userId="40ca76e2-3dc1-426f-9037-c2eff4784f3c" providerId="ADAL" clId="{8E52EDB0-6322-4202-BBDD-8CC5DDD7CA95}" dt="2021-09-14T14:19:18.859" v="311" actId="1076"/>
        <pc:sldMkLst>
          <pc:docMk/>
          <pc:sldMk cId="3709540872" sldId="322"/>
        </pc:sldMkLst>
      </pc:sldChg>
      <pc:sldChg chg="modSp add mod">
        <pc:chgData name="CHANEY Damien" userId="40ca76e2-3dc1-426f-9037-c2eff4784f3c" providerId="ADAL" clId="{8E52EDB0-6322-4202-BBDD-8CC5DDD7CA95}" dt="2021-09-14T14:19:27.641" v="320" actId="20577"/>
        <pc:sldMkLst>
          <pc:docMk/>
          <pc:sldMk cId="1445236792" sldId="323"/>
        </pc:sldMkLst>
      </pc:sldChg>
      <pc:sldChg chg="modSp add mod">
        <pc:chgData name="CHANEY Damien" userId="40ca76e2-3dc1-426f-9037-c2eff4784f3c" providerId="ADAL" clId="{8E52EDB0-6322-4202-BBDD-8CC5DDD7CA95}" dt="2021-09-14T14:19:31.674" v="323" actId="20577"/>
        <pc:sldMkLst>
          <pc:docMk/>
          <pc:sldMk cId="2056395007" sldId="324"/>
        </pc:sldMkLst>
      </pc:sldChg>
      <pc:sldChg chg="modSp add mod">
        <pc:chgData name="CHANEY Damien" userId="40ca76e2-3dc1-426f-9037-c2eff4784f3c" providerId="ADAL" clId="{8E52EDB0-6322-4202-BBDD-8CC5DDD7CA95}" dt="2021-09-14T14:19:42.772" v="329" actId="20577"/>
        <pc:sldMkLst>
          <pc:docMk/>
          <pc:sldMk cId="4125106298" sldId="325"/>
        </pc:sldMkLst>
      </pc:sldChg>
      <pc:sldChg chg="modSp add mod">
        <pc:chgData name="CHANEY Damien" userId="40ca76e2-3dc1-426f-9037-c2eff4784f3c" providerId="ADAL" clId="{8E52EDB0-6322-4202-BBDD-8CC5DDD7CA95}" dt="2021-09-14T14:19:46.815" v="335" actId="20577"/>
        <pc:sldMkLst>
          <pc:docMk/>
          <pc:sldMk cId="2354654320" sldId="326"/>
        </pc:sldMkLst>
      </pc:sldChg>
      <pc:sldChg chg="modSp add mod">
        <pc:chgData name="CHANEY Damien" userId="40ca76e2-3dc1-426f-9037-c2eff4784f3c" providerId="ADAL" clId="{8E52EDB0-6322-4202-BBDD-8CC5DDD7CA95}" dt="2021-09-14T14:19:48.357" v="338" actId="20577"/>
        <pc:sldMkLst>
          <pc:docMk/>
          <pc:sldMk cId="491172983" sldId="327"/>
        </pc:sldMkLst>
      </pc:sldChg>
      <pc:sldChg chg="add setBg">
        <pc:chgData name="CHANEY Damien" userId="40ca76e2-3dc1-426f-9037-c2eff4784f3c" providerId="ADAL" clId="{8E52EDB0-6322-4202-BBDD-8CC5DDD7CA95}" dt="2021-09-14T14:16:51.048" v="81"/>
        <pc:sldMkLst>
          <pc:docMk/>
          <pc:sldMk cId="2183375290" sldId="328"/>
        </pc:sldMkLst>
      </pc:sldChg>
      <pc:sldChg chg="modSp add mod modAnim modNotesTx">
        <pc:chgData name="CHANEY Damien" userId="40ca76e2-3dc1-426f-9037-c2eff4784f3c" providerId="ADAL" clId="{8E52EDB0-6322-4202-BBDD-8CC5DDD7CA95}" dt="2021-09-14T14:18:49.127" v="296" actId="6549"/>
        <pc:sldMkLst>
          <pc:docMk/>
          <pc:sldMk cId="709680277" sldId="329"/>
        </pc:sldMkLst>
      </pc:sldChg>
    </pc:docChg>
  </pc:docChgLst>
  <pc:docChgLst>
    <pc:chgData name="Damien" userId="40ca76e2-3dc1-426f-9037-c2eff4784f3c" providerId="ADAL" clId="{8E52EDB0-6322-4202-BBDD-8CC5DDD7CA95}"/>
    <pc:docChg chg="custSel delSld modSld">
      <pc:chgData name="Damien" userId="40ca76e2-3dc1-426f-9037-c2eff4784f3c" providerId="ADAL" clId="{8E52EDB0-6322-4202-BBDD-8CC5DDD7CA95}" dt="2021-10-24T20:25:19.228" v="85" actId="1076"/>
      <pc:docMkLst>
        <pc:docMk/>
      </pc:docMkLst>
      <pc:sldChg chg="modSp">
        <pc:chgData name="Damien" userId="40ca76e2-3dc1-426f-9037-c2eff4784f3c" providerId="ADAL" clId="{8E52EDB0-6322-4202-BBDD-8CC5DDD7CA95}" dt="2021-10-24T20:16:55.795" v="80" actId="20577"/>
        <pc:sldMkLst>
          <pc:docMk/>
          <pc:sldMk cId="2893872799" sldId="289"/>
        </pc:sldMkLst>
      </pc:sldChg>
      <pc:sldChg chg="del">
        <pc:chgData name="Damien" userId="40ca76e2-3dc1-426f-9037-c2eff4784f3c" providerId="ADAL" clId="{8E52EDB0-6322-4202-BBDD-8CC5DDD7CA95}" dt="2021-10-24T19:53:42.452" v="0" actId="47"/>
        <pc:sldMkLst>
          <pc:docMk/>
          <pc:sldMk cId="3990621449" sldId="299"/>
        </pc:sldMkLst>
      </pc:sldChg>
      <pc:sldChg chg="del">
        <pc:chgData name="Damien" userId="40ca76e2-3dc1-426f-9037-c2eff4784f3c" providerId="ADAL" clId="{8E52EDB0-6322-4202-BBDD-8CC5DDD7CA95}" dt="2021-10-24T20:04:38.977" v="1" actId="47"/>
        <pc:sldMkLst>
          <pc:docMk/>
          <pc:sldMk cId="3781007298" sldId="301"/>
        </pc:sldMkLst>
      </pc:sldChg>
      <pc:sldChg chg="modSp modNotesTx">
        <pc:chgData name="Damien" userId="40ca76e2-3dc1-426f-9037-c2eff4784f3c" providerId="ADAL" clId="{8E52EDB0-6322-4202-BBDD-8CC5DDD7CA95}" dt="2021-10-24T20:13:30.514" v="68" actId="6549"/>
        <pc:sldMkLst>
          <pc:docMk/>
          <pc:sldMk cId="3432247049" sldId="319"/>
        </pc:sldMkLst>
      </pc:sldChg>
      <pc:sldChg chg="modSp">
        <pc:chgData name="Damien" userId="40ca76e2-3dc1-426f-9037-c2eff4784f3c" providerId="ADAL" clId="{8E52EDB0-6322-4202-BBDD-8CC5DDD7CA95}" dt="2021-10-24T20:25:19.228" v="85" actId="1076"/>
        <pc:sldMkLst>
          <pc:docMk/>
          <pc:sldMk cId="2354654320" sldId="326"/>
        </pc:sldMkLst>
      </pc:sldChg>
    </pc:docChg>
  </pc:docChgLst>
  <pc:docChgLst>
    <pc:chgData name="CHANEY Damien" userId="40ca76e2-3dc1-426f-9037-c2eff4784f3c" providerId="ADAL" clId="{790A3CD2-FFA2-48A5-B193-FF54D38EB4AC}"/>
    <pc:docChg chg="delSld modSld">
      <pc:chgData name="CHANEY Damien" userId="40ca76e2-3dc1-426f-9037-c2eff4784f3c" providerId="ADAL" clId="{790A3CD2-FFA2-48A5-B193-FF54D38EB4AC}" dt="2021-10-28T10:09:49.667" v="39" actId="1035"/>
      <pc:docMkLst>
        <pc:docMk/>
      </pc:docMkLst>
      <pc:sldChg chg="del">
        <pc:chgData name="CHANEY Damien" userId="40ca76e2-3dc1-426f-9037-c2eff4784f3c" providerId="ADAL" clId="{790A3CD2-FFA2-48A5-B193-FF54D38EB4AC}" dt="2021-10-28T10:09:33.778" v="32" actId="47"/>
        <pc:sldMkLst>
          <pc:docMk/>
          <pc:sldMk cId="3034327694" sldId="266"/>
        </pc:sldMkLst>
      </pc:sldChg>
      <pc:sldChg chg="modSp mod">
        <pc:chgData name="CHANEY Damien" userId="40ca76e2-3dc1-426f-9037-c2eff4784f3c" providerId="ADAL" clId="{790A3CD2-FFA2-48A5-B193-FF54D38EB4AC}" dt="2021-10-28T10:09:49.667" v="39" actId="1035"/>
        <pc:sldMkLst>
          <pc:docMk/>
          <pc:sldMk cId="3067027353" sldId="318"/>
        </pc:sldMkLst>
      </pc:sldChg>
      <pc:sldChg chg="del">
        <pc:chgData name="CHANEY Damien" userId="40ca76e2-3dc1-426f-9037-c2eff4784f3c" providerId="ADAL" clId="{790A3CD2-FFA2-48A5-B193-FF54D38EB4AC}" dt="2021-10-28T10:09:26.902" v="31" actId="47"/>
        <pc:sldMkLst>
          <pc:docMk/>
          <pc:sldMk cId="3432247049" sldId="319"/>
        </pc:sldMkLst>
      </pc:sldChg>
      <pc:sldChg chg="modSp mod">
        <pc:chgData name="CHANEY Damien" userId="40ca76e2-3dc1-426f-9037-c2eff4784f3c" providerId="ADAL" clId="{790A3CD2-FFA2-48A5-B193-FF54D38EB4AC}" dt="2021-10-28T10:09:15.215" v="25" actId="6549"/>
        <pc:sldMkLst>
          <pc:docMk/>
          <pc:sldMk cId="2288230162" sldId="320"/>
        </pc:sldMkLst>
      </pc:sldChg>
      <pc:sldChg chg="modSp mod">
        <pc:chgData name="CHANEY Damien" userId="40ca76e2-3dc1-426f-9037-c2eff4784f3c" providerId="ADAL" clId="{790A3CD2-FFA2-48A5-B193-FF54D38EB4AC}" dt="2021-10-28T10:09:22.265" v="30" actId="20577"/>
        <pc:sldMkLst>
          <pc:docMk/>
          <pc:sldMk cId="133789323" sldId="321"/>
        </pc:sldMkLst>
      </pc:sldChg>
      <pc:sldChg chg="modSp modAnim">
        <pc:chgData name="CHANEY Damien" userId="40ca76e2-3dc1-426f-9037-c2eff4784f3c" providerId="ADAL" clId="{790A3CD2-FFA2-48A5-B193-FF54D38EB4AC}" dt="2021-10-28T10:08:57.970" v="23" actId="20577"/>
        <pc:sldMkLst>
          <pc:docMk/>
          <pc:sldMk cId="1445236792" sldId="323"/>
        </pc:sldMkLst>
      </pc:sldChg>
      <pc:sldChg chg="del">
        <pc:chgData name="CHANEY Damien" userId="40ca76e2-3dc1-426f-9037-c2eff4784f3c" providerId="ADAL" clId="{790A3CD2-FFA2-48A5-B193-FF54D38EB4AC}" dt="2021-10-28T10:09:05.983" v="24" actId="47"/>
        <pc:sldMkLst>
          <pc:docMk/>
          <pc:sldMk cId="2056395007" sldId="324"/>
        </pc:sldMkLst>
      </pc:sldChg>
    </pc:docChg>
  </pc:docChgLst>
  <pc:docChgLst>
    <pc:chgData name="BELAID Samy" userId="736cc5f9-46a0-4af7-bed7-d2831b5f1024" providerId="ADAL" clId="{3915C4EE-BA9F-4856-96A7-4460C4FDF735}"/>
    <pc:docChg chg="undo custSel modSld">
      <pc:chgData name="BELAID Samy" userId="736cc5f9-46a0-4af7-bed7-d2831b5f1024" providerId="ADAL" clId="{3915C4EE-BA9F-4856-96A7-4460C4FDF735}" dt="2025-10-08T06:22:13.036" v="60" actId="20577"/>
      <pc:docMkLst>
        <pc:docMk/>
      </pc:docMkLst>
      <pc:sldChg chg="modSp mod modNotesTx">
        <pc:chgData name="BELAID Samy" userId="736cc5f9-46a0-4af7-bed7-d2831b5f1024" providerId="ADAL" clId="{3915C4EE-BA9F-4856-96A7-4460C4FDF735}" dt="2025-10-08T06:17:54.597" v="1" actId="14100"/>
        <pc:sldMkLst>
          <pc:docMk/>
          <pc:sldMk cId="1488601736" sldId="263"/>
        </pc:sldMkLst>
        <pc:picChg chg="mod">
          <ac:chgData name="BELAID Samy" userId="736cc5f9-46a0-4af7-bed7-d2831b5f1024" providerId="ADAL" clId="{3915C4EE-BA9F-4856-96A7-4460C4FDF735}" dt="2025-10-08T06:17:54.597" v="1" actId="14100"/>
          <ac:picMkLst>
            <pc:docMk/>
            <pc:sldMk cId="1488601736" sldId="263"/>
            <ac:picMk id="7" creationId="{00000000-0000-0000-0000-000000000000}"/>
          </ac:picMkLst>
        </pc:picChg>
      </pc:sldChg>
      <pc:sldChg chg="modSp mod">
        <pc:chgData name="BELAID Samy" userId="736cc5f9-46a0-4af7-bed7-d2831b5f1024" providerId="ADAL" clId="{3915C4EE-BA9F-4856-96A7-4460C4FDF735}" dt="2025-10-08T06:18:05.823" v="2" actId="1076"/>
        <pc:sldMkLst>
          <pc:docMk/>
          <pc:sldMk cId="1996254364" sldId="308"/>
        </pc:sldMkLst>
        <pc:spChg chg="mod">
          <ac:chgData name="BELAID Samy" userId="736cc5f9-46a0-4af7-bed7-d2831b5f1024" providerId="ADAL" clId="{3915C4EE-BA9F-4856-96A7-4460C4FDF735}" dt="2025-10-08T06:18:05.823" v="2" actId="1076"/>
          <ac:spMkLst>
            <pc:docMk/>
            <pc:sldMk cId="1996254364" sldId="308"/>
            <ac:spMk id="10" creationId="{ADDB7F2E-EC3C-48C5-858C-7C25D52A27FB}"/>
          </ac:spMkLst>
        </pc:spChg>
      </pc:sldChg>
      <pc:sldChg chg="delSp modSp mod modNotesTx">
        <pc:chgData name="BELAID Samy" userId="736cc5f9-46a0-4af7-bed7-d2831b5f1024" providerId="ADAL" clId="{3915C4EE-BA9F-4856-96A7-4460C4FDF735}" dt="2025-10-08T06:19:57.890" v="6" actId="1076"/>
        <pc:sldMkLst>
          <pc:docMk/>
          <pc:sldMk cId="3540571321" sldId="311"/>
        </pc:sldMkLst>
        <pc:spChg chg="mod">
          <ac:chgData name="BELAID Samy" userId="736cc5f9-46a0-4af7-bed7-d2831b5f1024" providerId="ADAL" clId="{3915C4EE-BA9F-4856-96A7-4460C4FDF735}" dt="2025-10-08T06:19:57.890" v="6" actId="1076"/>
          <ac:spMkLst>
            <pc:docMk/>
            <pc:sldMk cId="3540571321" sldId="311"/>
            <ac:spMk id="4" creationId="{00000000-0000-0000-0000-000000000000}"/>
          </ac:spMkLst>
        </pc:spChg>
        <pc:picChg chg="del">
          <ac:chgData name="BELAID Samy" userId="736cc5f9-46a0-4af7-bed7-d2831b5f1024" providerId="ADAL" clId="{3915C4EE-BA9F-4856-96A7-4460C4FDF735}" dt="2025-10-08T06:19:51.432" v="4" actId="21"/>
          <ac:picMkLst>
            <pc:docMk/>
            <pc:sldMk cId="3540571321" sldId="311"/>
            <ac:picMk id="5" creationId="{00000000-0000-0000-0000-000000000000}"/>
          </ac:picMkLst>
        </pc:picChg>
      </pc:sldChg>
      <pc:sldChg chg="modSp mod">
        <pc:chgData name="BELAID Samy" userId="736cc5f9-46a0-4af7-bed7-d2831b5f1024" providerId="ADAL" clId="{3915C4EE-BA9F-4856-96A7-4460C4FDF735}" dt="2025-10-08T06:20:25.938" v="7" actId="14100"/>
        <pc:sldMkLst>
          <pc:docMk/>
          <pc:sldMk cId="1693231598" sldId="316"/>
        </pc:sldMkLst>
        <pc:spChg chg="mod">
          <ac:chgData name="BELAID Samy" userId="736cc5f9-46a0-4af7-bed7-d2831b5f1024" providerId="ADAL" clId="{3915C4EE-BA9F-4856-96A7-4460C4FDF735}" dt="2025-10-08T06:20:25.938" v="7" actId="14100"/>
          <ac:spMkLst>
            <pc:docMk/>
            <pc:sldMk cId="1693231598" sldId="316"/>
            <ac:spMk id="10" creationId="{F670678C-C02C-4171-B5E5-0142A5010D89}"/>
          </ac:spMkLst>
        </pc:spChg>
      </pc:sldChg>
      <pc:sldChg chg="modSp mod">
        <pc:chgData name="BELAID Samy" userId="736cc5f9-46a0-4af7-bed7-d2831b5f1024" providerId="ADAL" clId="{3915C4EE-BA9F-4856-96A7-4460C4FDF735}" dt="2025-10-08T06:22:13.036" v="60" actId="20577"/>
        <pc:sldMkLst>
          <pc:docMk/>
          <pc:sldMk cId="3067027353" sldId="318"/>
        </pc:sldMkLst>
        <pc:spChg chg="mod">
          <ac:chgData name="BELAID Samy" userId="736cc5f9-46a0-4af7-bed7-d2831b5f1024" providerId="ADAL" clId="{3915C4EE-BA9F-4856-96A7-4460C4FDF735}" dt="2025-10-08T06:22:08.805" v="42" actId="1076"/>
          <ac:spMkLst>
            <pc:docMk/>
            <pc:sldMk cId="3067027353" sldId="318"/>
            <ac:spMk id="2" creationId="{2C99B645-C2FD-484C-A082-086F87C7A918}"/>
          </ac:spMkLst>
        </pc:spChg>
        <pc:spChg chg="mod">
          <ac:chgData name="BELAID Samy" userId="736cc5f9-46a0-4af7-bed7-d2831b5f1024" providerId="ADAL" clId="{3915C4EE-BA9F-4856-96A7-4460C4FDF735}" dt="2025-10-08T06:22:12.705" v="59" actId="14100"/>
          <ac:spMkLst>
            <pc:docMk/>
            <pc:sldMk cId="3067027353" sldId="318"/>
            <ac:spMk id="3" creationId="{D1483A20-B00D-489A-B7AC-3601C6F62A3D}"/>
          </ac:spMkLst>
        </pc:spChg>
        <pc:spChg chg="mod">
          <ac:chgData name="BELAID Samy" userId="736cc5f9-46a0-4af7-bed7-d2831b5f1024" providerId="ADAL" clId="{3915C4EE-BA9F-4856-96A7-4460C4FDF735}" dt="2025-10-08T06:22:13.036" v="60" actId="20577"/>
          <ac:spMkLst>
            <pc:docMk/>
            <pc:sldMk cId="3067027353" sldId="318"/>
            <ac:spMk id="9" creationId="{00000000-0000-0000-0000-000000000000}"/>
          </ac:spMkLst>
        </pc:spChg>
      </pc:sldChg>
    </pc:docChg>
  </pc:docChgLst>
  <pc:docChgLst>
    <pc:chgData name="CHANEY Damien" userId="40ca76e2-3dc1-426f-9037-c2eff4784f3c" providerId="ADAL" clId="{8A99BF4E-DCA3-4334-B4A4-761A2233A544}"/>
    <pc:docChg chg="addSld delSld modSld">
      <pc:chgData name="CHANEY Damien" userId="40ca76e2-3dc1-426f-9037-c2eff4784f3c" providerId="ADAL" clId="{8A99BF4E-DCA3-4334-B4A4-761A2233A544}" dt="2022-08-29T21:41:08.414" v="89" actId="47"/>
      <pc:docMkLst>
        <pc:docMk/>
      </pc:docMkLst>
      <pc:sldChg chg="modSp mod">
        <pc:chgData name="CHANEY Damien" userId="40ca76e2-3dc1-426f-9037-c2eff4784f3c" providerId="ADAL" clId="{8A99BF4E-DCA3-4334-B4A4-761A2233A544}" dt="2022-08-29T21:14:02.638" v="0" actId="20577"/>
        <pc:sldMkLst>
          <pc:docMk/>
          <pc:sldMk cId="4263634624" sldId="257"/>
        </pc:sldMkLst>
      </pc:sldChg>
      <pc:sldChg chg="modSp del mod">
        <pc:chgData name="CHANEY Damien" userId="40ca76e2-3dc1-426f-9037-c2eff4784f3c" providerId="ADAL" clId="{8A99BF4E-DCA3-4334-B4A4-761A2233A544}" dt="2022-08-29T21:41:08.414" v="89" actId="47"/>
        <pc:sldMkLst>
          <pc:docMk/>
          <pc:sldMk cId="3158652581" sldId="276"/>
        </pc:sldMkLst>
      </pc:sldChg>
      <pc:sldChg chg="modSp del mod">
        <pc:chgData name="CHANEY Damien" userId="40ca76e2-3dc1-426f-9037-c2eff4784f3c" providerId="ADAL" clId="{8A99BF4E-DCA3-4334-B4A4-761A2233A544}" dt="2022-08-29T21:41:08.414" v="89" actId="47"/>
        <pc:sldMkLst>
          <pc:docMk/>
          <pc:sldMk cId="2982807165" sldId="277"/>
        </pc:sldMkLst>
      </pc:sldChg>
      <pc:sldChg chg="modSp del mod">
        <pc:chgData name="CHANEY Damien" userId="40ca76e2-3dc1-426f-9037-c2eff4784f3c" providerId="ADAL" clId="{8A99BF4E-DCA3-4334-B4A4-761A2233A544}" dt="2022-08-29T21:41:08.414" v="89" actId="47"/>
        <pc:sldMkLst>
          <pc:docMk/>
          <pc:sldMk cId="4054340051" sldId="285"/>
        </pc:sldMkLst>
      </pc:sldChg>
      <pc:sldChg chg="del">
        <pc:chgData name="CHANEY Damien" userId="40ca76e2-3dc1-426f-9037-c2eff4784f3c" providerId="ADAL" clId="{8A99BF4E-DCA3-4334-B4A4-761A2233A544}" dt="2022-08-29T21:41:08.414" v="89" actId="47"/>
        <pc:sldMkLst>
          <pc:docMk/>
          <pc:sldMk cId="2893872799" sldId="289"/>
        </pc:sldMkLst>
      </pc:sldChg>
      <pc:sldChg chg="modSp del mod">
        <pc:chgData name="CHANEY Damien" userId="40ca76e2-3dc1-426f-9037-c2eff4784f3c" providerId="ADAL" clId="{8A99BF4E-DCA3-4334-B4A4-761A2233A544}" dt="2022-08-29T21:41:08.414" v="89" actId="47"/>
        <pc:sldMkLst>
          <pc:docMk/>
          <pc:sldMk cId="997407106" sldId="305"/>
        </pc:sldMkLst>
      </pc:sldChg>
      <pc:sldChg chg="del">
        <pc:chgData name="CHANEY Damien" userId="40ca76e2-3dc1-426f-9037-c2eff4784f3c" providerId="ADAL" clId="{8A99BF4E-DCA3-4334-B4A4-761A2233A544}" dt="2022-08-29T21:41:08.414" v="89" actId="47"/>
        <pc:sldMkLst>
          <pc:docMk/>
          <pc:sldMk cId="2288230162" sldId="320"/>
        </pc:sldMkLst>
      </pc:sldChg>
      <pc:sldChg chg="del">
        <pc:chgData name="CHANEY Damien" userId="40ca76e2-3dc1-426f-9037-c2eff4784f3c" providerId="ADAL" clId="{8A99BF4E-DCA3-4334-B4A4-761A2233A544}" dt="2022-08-29T21:41:08.414" v="89" actId="47"/>
        <pc:sldMkLst>
          <pc:docMk/>
          <pc:sldMk cId="133789323" sldId="321"/>
        </pc:sldMkLst>
      </pc:sldChg>
      <pc:sldChg chg="del">
        <pc:chgData name="CHANEY Damien" userId="40ca76e2-3dc1-426f-9037-c2eff4784f3c" providerId="ADAL" clId="{8A99BF4E-DCA3-4334-B4A4-761A2233A544}" dt="2022-08-29T21:41:08.414" v="89" actId="47"/>
        <pc:sldMkLst>
          <pc:docMk/>
          <pc:sldMk cId="3709540872" sldId="322"/>
        </pc:sldMkLst>
      </pc:sldChg>
      <pc:sldChg chg="modSp del mod">
        <pc:chgData name="CHANEY Damien" userId="40ca76e2-3dc1-426f-9037-c2eff4784f3c" providerId="ADAL" clId="{8A99BF4E-DCA3-4334-B4A4-761A2233A544}" dt="2022-08-29T21:41:08.414" v="89" actId="47"/>
        <pc:sldMkLst>
          <pc:docMk/>
          <pc:sldMk cId="1445236792" sldId="323"/>
        </pc:sldMkLst>
      </pc:sldChg>
      <pc:sldChg chg="modSp del mod">
        <pc:chgData name="CHANEY Damien" userId="40ca76e2-3dc1-426f-9037-c2eff4784f3c" providerId="ADAL" clId="{8A99BF4E-DCA3-4334-B4A4-761A2233A544}" dt="2022-08-29T21:41:08.414" v="89" actId="47"/>
        <pc:sldMkLst>
          <pc:docMk/>
          <pc:sldMk cId="4125106298" sldId="325"/>
        </pc:sldMkLst>
      </pc:sldChg>
      <pc:sldChg chg="modSp del mod">
        <pc:chgData name="CHANEY Damien" userId="40ca76e2-3dc1-426f-9037-c2eff4784f3c" providerId="ADAL" clId="{8A99BF4E-DCA3-4334-B4A4-761A2233A544}" dt="2022-08-29T21:41:08.414" v="89" actId="47"/>
        <pc:sldMkLst>
          <pc:docMk/>
          <pc:sldMk cId="2354654320" sldId="326"/>
        </pc:sldMkLst>
      </pc:sldChg>
      <pc:sldChg chg="modSp del mod">
        <pc:chgData name="CHANEY Damien" userId="40ca76e2-3dc1-426f-9037-c2eff4784f3c" providerId="ADAL" clId="{8A99BF4E-DCA3-4334-B4A4-761A2233A544}" dt="2022-08-29T21:41:08.414" v="89" actId="47"/>
        <pc:sldMkLst>
          <pc:docMk/>
          <pc:sldMk cId="491172983" sldId="327"/>
        </pc:sldMkLst>
      </pc:sldChg>
      <pc:sldChg chg="del">
        <pc:chgData name="CHANEY Damien" userId="40ca76e2-3dc1-426f-9037-c2eff4784f3c" providerId="ADAL" clId="{8A99BF4E-DCA3-4334-B4A4-761A2233A544}" dt="2022-08-29T21:41:08.414" v="89" actId="47"/>
        <pc:sldMkLst>
          <pc:docMk/>
          <pc:sldMk cId="2183375290" sldId="328"/>
        </pc:sldMkLst>
      </pc:sldChg>
      <pc:sldChg chg="del">
        <pc:chgData name="CHANEY Damien" userId="40ca76e2-3dc1-426f-9037-c2eff4784f3c" providerId="ADAL" clId="{8A99BF4E-DCA3-4334-B4A4-761A2233A544}" dt="2022-08-29T21:41:08.414" v="89" actId="47"/>
        <pc:sldMkLst>
          <pc:docMk/>
          <pc:sldMk cId="709680277" sldId="329"/>
        </pc:sldMkLst>
      </pc:sldChg>
      <pc:sldChg chg="addSp delSp modSp add del modAnim">
        <pc:chgData name="CHANEY Damien" userId="40ca76e2-3dc1-426f-9037-c2eff4784f3c" providerId="ADAL" clId="{8A99BF4E-DCA3-4334-B4A4-761A2233A544}" dt="2022-08-29T21:41:08.414" v="89" actId="47"/>
        <pc:sldMkLst>
          <pc:docMk/>
          <pc:sldMk cId="1941313433" sldId="330"/>
        </pc:sldMkLst>
      </pc:sldChg>
      <pc:sldChg chg="add del">
        <pc:chgData name="CHANEY Damien" userId="40ca76e2-3dc1-426f-9037-c2eff4784f3c" providerId="ADAL" clId="{8A99BF4E-DCA3-4334-B4A4-761A2233A544}" dt="2022-08-29T21:41:08.414" v="89" actId="47"/>
        <pc:sldMkLst>
          <pc:docMk/>
          <pc:sldMk cId="2907907084" sldId="331"/>
        </pc:sldMkLst>
      </pc:sldChg>
    </pc:docChg>
  </pc:docChgLst>
  <pc:docChgLst>
    <pc:chgData name="CHANEY Damien" userId="40ca76e2-3dc1-426f-9037-c2eff4784f3c" providerId="ADAL" clId="{5F8D91D2-F41D-487A-9471-351F0F2D7192}"/>
    <pc:docChg chg="custSel addSld delSld modSld">
      <pc:chgData name="CHANEY Damien" userId="40ca76e2-3dc1-426f-9037-c2eff4784f3c" providerId="ADAL" clId="{5F8D91D2-F41D-487A-9471-351F0F2D7192}" dt="2024-08-29T13:03:57.827" v="306"/>
      <pc:docMkLst>
        <pc:docMk/>
      </pc:docMkLst>
      <pc:sldChg chg="addSp modSp mod modAnim modNotesTx">
        <pc:chgData name="CHANEY Damien" userId="40ca76e2-3dc1-426f-9037-c2eff4784f3c" providerId="ADAL" clId="{5F8D91D2-F41D-487A-9471-351F0F2D7192}" dt="2024-08-29T13:03:57.827" v="306"/>
        <pc:sldMkLst>
          <pc:docMk/>
          <pc:sldMk cId="4054340051" sldId="285"/>
        </pc:sldMkLst>
      </pc:sldChg>
      <pc:sldChg chg="addSp delSp modSp mod delAnim modAnim modNotesTx">
        <pc:chgData name="CHANEY Damien" userId="40ca76e2-3dc1-426f-9037-c2eff4784f3c" providerId="ADAL" clId="{5F8D91D2-F41D-487A-9471-351F0F2D7192}" dt="2024-08-29T12:54:23.321" v="262"/>
        <pc:sldMkLst>
          <pc:docMk/>
          <pc:sldMk cId="3709540872" sldId="330"/>
        </pc:sldMkLst>
      </pc:sldChg>
      <pc:sldChg chg="modSp">
        <pc:chgData name="CHANEY Damien" userId="40ca76e2-3dc1-426f-9037-c2eff4784f3c" providerId="ADAL" clId="{5F8D91D2-F41D-487A-9471-351F0F2D7192}" dt="2024-08-28T15:37:06.701" v="1" actId="113"/>
        <pc:sldMkLst>
          <pc:docMk/>
          <pc:sldMk cId="3380924313" sldId="337"/>
        </pc:sldMkLst>
      </pc:sldChg>
      <pc:sldChg chg="delSp add del mod">
        <pc:chgData name="CHANEY Damien" userId="40ca76e2-3dc1-426f-9037-c2eff4784f3c" providerId="ADAL" clId="{5F8D91D2-F41D-487A-9471-351F0F2D7192}" dt="2024-08-28T15:57:05.201" v="251" actId="47"/>
        <pc:sldMkLst>
          <pc:docMk/>
          <pc:sldMk cId="2354948773" sldId="340"/>
        </pc:sldMkLst>
      </pc:sldChg>
      <pc:sldChg chg="addSp delSp modSp new del mod">
        <pc:chgData name="CHANEY Damien" userId="40ca76e2-3dc1-426f-9037-c2eff4784f3c" providerId="ADAL" clId="{5F8D91D2-F41D-487A-9471-351F0F2D7192}" dt="2024-08-28T15:57:06.353" v="252" actId="47"/>
        <pc:sldMkLst>
          <pc:docMk/>
          <pc:sldMk cId="1554608142" sldId="341"/>
        </pc:sldMkLst>
      </pc:sldChg>
    </pc:docChg>
  </pc:docChgLst>
  <pc:docChgLst>
    <pc:chgData name="TRELOHAN Magali" userId="bc589f69-1c0f-4e08-bf8c-59e9cb5363eb" providerId="ADAL" clId="{05A1F789-65C3-4D1A-976E-95CB87ACD870}"/>
    <pc:docChg chg="modSld">
      <pc:chgData name="TRELOHAN Magali" userId="bc589f69-1c0f-4e08-bf8c-59e9cb5363eb" providerId="ADAL" clId="{05A1F789-65C3-4D1A-976E-95CB87ACD870}" dt="2025-06-24T08:11:28.060" v="3" actId="20577"/>
      <pc:docMkLst>
        <pc:docMk/>
      </pc:docMkLst>
      <pc:sldChg chg="modSp mod">
        <pc:chgData name="TRELOHAN Magali" userId="bc589f69-1c0f-4e08-bf8c-59e9cb5363eb" providerId="ADAL" clId="{05A1F789-65C3-4D1A-976E-95CB87ACD870}" dt="2025-06-24T08:01:53.776" v="2" actId="20577"/>
        <pc:sldMkLst>
          <pc:docMk/>
          <pc:sldMk cId="807368609" sldId="256"/>
        </pc:sldMkLst>
      </pc:sldChg>
      <pc:sldChg chg="modSp mod">
        <pc:chgData name="TRELOHAN Magali" userId="bc589f69-1c0f-4e08-bf8c-59e9cb5363eb" providerId="ADAL" clId="{05A1F789-65C3-4D1A-976E-95CB87ACD870}" dt="2025-06-24T07:10:00.070" v="0" actId="1076"/>
        <pc:sldMkLst>
          <pc:docMk/>
          <pc:sldMk cId="1488601736" sldId="263"/>
        </pc:sldMkLst>
      </pc:sldChg>
      <pc:sldChg chg="modNotesTx">
        <pc:chgData name="TRELOHAN Magali" userId="bc589f69-1c0f-4e08-bf8c-59e9cb5363eb" providerId="ADAL" clId="{05A1F789-65C3-4D1A-976E-95CB87ACD870}" dt="2025-06-24T08:11:28.060" v="3" actId="20577"/>
        <pc:sldMkLst>
          <pc:docMk/>
          <pc:sldMk cId="3540571321" sldId="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68592-176A-4F54-A568-3D39C6FE481F}" type="datetimeFigureOut">
              <a:rPr lang="fr-FR" smtClean="0"/>
              <a:t>08/10/2025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4830C-37F4-4CF9-A58C-6A6657DC959E}" type="slidenum">
              <a:rPr lang="fr-FR" smtClean="0"/>
              <a:t>‹N°›</a:t>
            </a:fld>
            <a:endParaRPr lang="fr-FR"/>
          </a:p>
        </p:txBody>
      </p:sp>
    </p:spTree>
    <p:extLst>
      <p:ext uri="{BB962C8B-B14F-4D97-AF65-F5344CB8AC3E}">
        <p14:creationId xmlns:p14="http://schemas.microsoft.com/office/powerpoint/2010/main" val="750790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igitiz.fr/blog/web-to-store-qu-est-ce-que-c-est/"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igitiz.fr/blog/web-to-store-qu-est-ce-que-c-est/"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igitiz.fr/blog/web-to-store-qu-est-ce-que-c-es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igitiz.fr/blog/web-to-store-qu-est-ce-que-c-est/"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
        <p:nvSpPr>
          <p:cNvPr id="4" name="Espace réservé du numéro de diapositive 3"/>
          <p:cNvSpPr>
            <a:spLocks noGrp="1"/>
          </p:cNvSpPr>
          <p:nvPr>
            <p:ph type="sldNum" sz="quarter" idx="5"/>
          </p:nvPr>
        </p:nvSpPr>
        <p:spPr/>
        <p:txBody>
          <a:bodyPr/>
          <a:lstStyle/>
          <a:p>
            <a:fld id="{6384830C-37F4-4CF9-A58C-6A6657DC959E}" type="slidenum">
              <a:rPr lang="fr-FR" smtClean="0"/>
              <a:t>2</a:t>
            </a:fld>
            <a:endParaRPr lang="fr-FR"/>
          </a:p>
        </p:txBody>
      </p:sp>
    </p:spTree>
    <p:extLst>
      <p:ext uri="{BB962C8B-B14F-4D97-AF65-F5344CB8AC3E}">
        <p14:creationId xmlns:p14="http://schemas.microsoft.com/office/powerpoint/2010/main" val="1542964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Le concept d'expérience client </a:t>
            </a:r>
          </a:p>
          <a:p>
            <a:r>
              <a:rPr lang="fr-FR" dirty="0"/>
              <a:t>Le comportement du consommateur n’a cessé d’évolué. Les consommateurs sont passés par plusieurs phases, d’un déclin de la fidélité à l’imprévisibilité. Face à cette donne, les entreprises ont préconisé une approche personnalisée pour endiguer cette situation défavorable, à partir des années 1980. Ainsi, nous avons assisté au remplacement de l’approche transactionnelle par l’approche relationnelle qui inscrit le client au centre de ses priorités. Les années 1990, les entreprises préconisent une approche centrée sur les émotions et plaisirs attendus par les clients (</a:t>
            </a:r>
            <a:r>
              <a:rPr lang="fr-FR" dirty="0" err="1"/>
              <a:t>Giboreau</a:t>
            </a:r>
            <a:r>
              <a:rPr lang="fr-FR" dirty="0"/>
              <a:t> et Body, 2012). Ils constituent les jalons de l’expérience clients.</a:t>
            </a:r>
          </a:p>
          <a:p>
            <a:endParaRPr lang="fr-FR" dirty="0"/>
          </a:p>
        </p:txBody>
      </p:sp>
      <p:sp>
        <p:nvSpPr>
          <p:cNvPr id="4" name="Espace réservé du numéro de diapositive 3"/>
          <p:cNvSpPr>
            <a:spLocks noGrp="1"/>
          </p:cNvSpPr>
          <p:nvPr>
            <p:ph type="sldNum" sz="quarter" idx="10"/>
          </p:nvPr>
        </p:nvSpPr>
        <p:spPr/>
        <p:txBody>
          <a:bodyPr/>
          <a:lstStyle/>
          <a:p>
            <a:fld id="{6384830C-37F4-4CF9-A58C-6A6657DC959E}" type="slidenum">
              <a:rPr lang="fr-FR" smtClean="0"/>
              <a:t>3</a:t>
            </a:fld>
            <a:endParaRPr lang="fr-FR"/>
          </a:p>
        </p:txBody>
      </p:sp>
    </p:spTree>
    <p:extLst>
      <p:ext uri="{BB962C8B-B14F-4D97-AF65-F5344CB8AC3E}">
        <p14:creationId xmlns:p14="http://schemas.microsoft.com/office/powerpoint/2010/main" val="1185425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concept d'expérience client </a:t>
            </a:r>
          </a:p>
          <a:p>
            <a:r>
              <a:rPr lang="fr-FR" dirty="0"/>
              <a:t>Le comportement du consommateur n’a cessé d’évolué. Les consommateurs sont passés par plusieurs phases, d’un déclin de la fidélité à l’imprévisibilité. Face à cette donne, les entreprises ont préconisé une approche personnalisée pour endiguer cette situation défavorable, à partir des années 1980. Ainsi, nous avons assisté au remplacement de l’approche transactionnelle par l’approche relationnelle qui inscrit le client au centre de ses priorités. Les années 1990, les entreprises préconisent une approche centrée sur les émotions et plaisirs attendus par les clients (</a:t>
            </a:r>
            <a:r>
              <a:rPr lang="fr-FR" dirty="0" err="1"/>
              <a:t>Giboreau</a:t>
            </a:r>
            <a:r>
              <a:rPr lang="fr-FR" dirty="0"/>
              <a:t> et Body, 2012). Ils constituent les jalons de l’expérience clients.</a:t>
            </a:r>
          </a:p>
          <a:p>
            <a:endParaRPr lang="fr-FR" dirty="0"/>
          </a:p>
        </p:txBody>
      </p:sp>
      <p:sp>
        <p:nvSpPr>
          <p:cNvPr id="4" name="Espace réservé du numéro de diapositive 3"/>
          <p:cNvSpPr>
            <a:spLocks noGrp="1"/>
          </p:cNvSpPr>
          <p:nvPr>
            <p:ph type="sldNum" sz="quarter" idx="10"/>
          </p:nvPr>
        </p:nvSpPr>
        <p:spPr/>
        <p:txBody>
          <a:bodyPr/>
          <a:lstStyle/>
          <a:p>
            <a:fld id="{6384830C-37F4-4CF9-A58C-6A6657DC959E}" type="slidenum">
              <a:rPr lang="fr-FR" smtClean="0"/>
              <a:t>4</a:t>
            </a:fld>
            <a:endParaRPr lang="fr-FR"/>
          </a:p>
        </p:txBody>
      </p:sp>
    </p:spTree>
    <p:extLst>
      <p:ext uri="{BB962C8B-B14F-4D97-AF65-F5344CB8AC3E}">
        <p14:creationId xmlns:p14="http://schemas.microsoft.com/office/powerpoint/2010/main" val="1225626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fr-FR" altLang="fr-FR" dirty="0"/>
              <a:t>Le </a:t>
            </a:r>
            <a:r>
              <a:rPr lang="fr-FR" altLang="fr-FR" b="1" dirty="0" err="1"/>
              <a:t>Mutlicanal</a:t>
            </a:r>
            <a:r>
              <a:rPr lang="fr-FR" altLang="fr-FR" dirty="0"/>
              <a:t>:</a:t>
            </a:r>
            <a:r>
              <a:rPr lang="fr-FR" altLang="fr-FR" baseline="0" dirty="0"/>
              <a:t> </a:t>
            </a:r>
            <a:r>
              <a:rPr lang="fr-FR" sz="1200" b="0" i="0" kern="1200" dirty="0">
                <a:solidFill>
                  <a:schemeClr val="tx1"/>
                </a:solidFill>
                <a:effectLst/>
                <a:latin typeface="+mn-lt"/>
                <a:ea typeface="+mn-ea"/>
                <a:cs typeface="+mn-cs"/>
              </a:rPr>
              <a:t>Cette stratégie consiste à recourir à plusieurs canaux de distribution indépendants pour commercialiser un produit ou un service. Le but de cette diversification est de développer votre activité en vous livrant sur de nombreux fronts. En principe, le multicanal est adopté par les magasins physiques qui souhaitent vendre leurs produits sur Internet. Chaque canal de distribution vise donc un segment particulier de consommateurs. Certes, cette particularité rend le multicanal fortement attrayant pour booster votre chiffre d’affaires, cependant elle représente quelques inconvénients. En travaillant en silo, ces différents canaux tendent naturellement à se comporter de manière indépendante. La communication interne perdra alors en efficacité et les ventes pourraient en être pénalisées.</a:t>
            </a:r>
          </a:p>
          <a:p>
            <a:pPr fontAlgn="base"/>
            <a:endParaRPr lang="fr-FR" sz="1200" b="0" i="0" kern="1200" dirty="0">
              <a:solidFill>
                <a:schemeClr val="tx1"/>
              </a:solidFill>
              <a:effectLst/>
              <a:latin typeface="+mn-lt"/>
              <a:ea typeface="+mn-ea"/>
              <a:cs typeface="+mn-cs"/>
            </a:endParaRPr>
          </a:p>
          <a:p>
            <a:pPr fontAlgn="base"/>
            <a:r>
              <a:rPr lang="fr-FR" sz="1200" b="1" i="0" kern="1200" dirty="0">
                <a:solidFill>
                  <a:schemeClr val="tx1"/>
                </a:solidFill>
                <a:effectLst/>
                <a:latin typeface="+mn-lt"/>
                <a:ea typeface="+mn-ea"/>
                <a:cs typeface="+mn-cs"/>
              </a:rPr>
              <a:t>Le cross canal : </a:t>
            </a:r>
            <a:r>
              <a:rPr lang="fr-FR" sz="1200" b="0" i="0" kern="1200" dirty="0">
                <a:solidFill>
                  <a:schemeClr val="tx1"/>
                </a:solidFill>
                <a:effectLst/>
                <a:latin typeface="+mn-lt"/>
                <a:ea typeface="+mn-ea"/>
                <a:cs typeface="+mn-cs"/>
              </a:rPr>
              <a:t>Cette stratégie est la suite logique du multicanal. L’idée est de fluidifier le parcours du consommateur en y intégrant tous les canaux de distribution. En pratique, il s’agit d’offrir à l’acheteur une expérience unique qui leur permet de passer d’un canal à un autre sans difficulté. Pour ce faire, vous devez coordonner ses actions en établissant un processus de distribution bien structuré et cohérent. L’idéal est de créer une certaine complémentarité entre les différents canaux pour mettre le consommateur au cœur d’un réseau interactif.</a:t>
            </a:r>
          </a:p>
          <a:p>
            <a:pPr fontAlgn="base"/>
            <a:r>
              <a:rPr lang="fr-FR" sz="1200" b="0" i="0" kern="1200" dirty="0">
                <a:solidFill>
                  <a:schemeClr val="tx1"/>
                </a:solidFill>
                <a:effectLst/>
                <a:latin typeface="+mn-lt"/>
                <a:ea typeface="+mn-ea"/>
                <a:cs typeface="+mn-cs"/>
              </a:rPr>
              <a:t>Parmi les nombreux exemples de stratégie cross-canal, on peut citer la méthode click-and-</a:t>
            </a:r>
            <a:r>
              <a:rPr lang="fr-FR" sz="1200" b="0" i="0" kern="1200" dirty="0" err="1">
                <a:solidFill>
                  <a:schemeClr val="tx1"/>
                </a:solidFill>
                <a:effectLst/>
                <a:latin typeface="+mn-lt"/>
                <a:ea typeface="+mn-ea"/>
                <a:cs typeface="+mn-cs"/>
              </a:rPr>
              <a:t>collect</a:t>
            </a:r>
            <a:r>
              <a:rPr lang="fr-FR" sz="1200" b="0" i="0" kern="1200" dirty="0">
                <a:solidFill>
                  <a:schemeClr val="tx1"/>
                </a:solidFill>
                <a:effectLst/>
                <a:latin typeface="+mn-lt"/>
                <a:ea typeface="+mn-ea"/>
                <a:cs typeface="+mn-cs"/>
              </a:rPr>
              <a:t> ou </a:t>
            </a:r>
            <a:r>
              <a:rPr lang="fr-FR" sz="1200" b="0" i="0" u="none" strike="noStrike" kern="1200" dirty="0">
                <a:solidFill>
                  <a:schemeClr val="tx1"/>
                </a:solidFill>
                <a:effectLst/>
                <a:latin typeface="+mn-lt"/>
                <a:ea typeface="+mn-ea"/>
                <a:cs typeface="+mn-cs"/>
                <a:hlinkClick r:id="rId3"/>
              </a:rPr>
              <a:t>web to store</a:t>
            </a:r>
            <a:r>
              <a:rPr lang="fr-FR" sz="1200" b="0" i="0" kern="1200" dirty="0">
                <a:solidFill>
                  <a:schemeClr val="tx1"/>
                </a:solidFill>
                <a:effectLst/>
                <a:latin typeface="+mn-lt"/>
                <a:ea typeface="+mn-ea"/>
                <a:cs typeface="+mn-cs"/>
              </a:rPr>
              <a:t>, qui permet à vos clients de passer leurs commandes sur Internet et de les récupérer en magasin. Dans ce cas de figure, ceux-ci effectuent leurs achats via leur téléphone ou leur ordinateur et découvrent l’expérience de se retrouver dans votre boutique physique.</a:t>
            </a:r>
          </a:p>
          <a:p>
            <a:pPr fontAlgn="base"/>
            <a:endParaRPr lang="fr-FR" sz="1200" b="0" i="0" kern="1200" dirty="0">
              <a:solidFill>
                <a:schemeClr val="tx1"/>
              </a:solidFill>
              <a:effectLst/>
              <a:latin typeface="+mn-lt"/>
              <a:ea typeface="+mn-ea"/>
              <a:cs typeface="+mn-cs"/>
            </a:endParaRPr>
          </a:p>
          <a:p>
            <a:pPr fontAlgn="base"/>
            <a:r>
              <a:rPr lang="fr-FR" sz="1400" b="1" i="0" kern="1200" dirty="0">
                <a:solidFill>
                  <a:schemeClr val="tx1"/>
                </a:solidFill>
                <a:effectLst/>
                <a:latin typeface="+mn-lt"/>
                <a:ea typeface="+mn-ea"/>
                <a:cs typeface="+mn-cs"/>
              </a:rPr>
              <a:t> l’</a:t>
            </a:r>
            <a:r>
              <a:rPr lang="fr-FR" sz="1400" b="1" i="0" kern="1200" dirty="0" err="1">
                <a:solidFill>
                  <a:schemeClr val="tx1"/>
                </a:solidFill>
                <a:effectLst/>
                <a:latin typeface="+mn-lt"/>
                <a:ea typeface="+mn-ea"/>
                <a:cs typeface="+mn-cs"/>
              </a:rPr>
              <a:t>omnical</a:t>
            </a:r>
            <a:r>
              <a:rPr lang="fr-FR" sz="1400" b="1" i="0" kern="12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 cette discipline combine les canaux de distribution en une seule et unique expérience. Elle répond au besoin du consommateur d’être partout à la fois. Tout en étant dans votre boutique, celui-ci  s’appuiera sur des applications et outils spécifiques pour s’identifier, connaître les caractéristiques des produits que vous vendez et faire leur achat. Inversement, vous pouvez vous servir des données recueillies pour leur proposer des offres pertinentes et personnalisées.</a:t>
            </a:r>
          </a:p>
          <a:p>
            <a:pPr fontAlgn="base"/>
            <a:r>
              <a:rPr lang="fr-FR" sz="1200" b="0" i="0" kern="1200" dirty="0">
                <a:solidFill>
                  <a:schemeClr val="tx1"/>
                </a:solidFill>
                <a:effectLst/>
                <a:latin typeface="+mn-lt"/>
                <a:ea typeface="+mn-ea"/>
                <a:cs typeface="+mn-cs"/>
              </a:rPr>
              <a:t>Notons que la stratégie </a:t>
            </a:r>
            <a:r>
              <a:rPr lang="fr-FR" sz="1200" b="0" i="0" kern="1200" dirty="0" err="1">
                <a:solidFill>
                  <a:schemeClr val="tx1"/>
                </a:solidFill>
                <a:effectLst/>
                <a:latin typeface="+mn-lt"/>
                <a:ea typeface="+mn-ea"/>
                <a:cs typeface="+mn-cs"/>
              </a:rPr>
              <a:t>ominacal</a:t>
            </a:r>
            <a:r>
              <a:rPr lang="fr-FR" sz="1200" b="0" i="0" kern="1200" dirty="0">
                <a:solidFill>
                  <a:schemeClr val="tx1"/>
                </a:solidFill>
                <a:effectLst/>
                <a:latin typeface="+mn-lt"/>
                <a:ea typeface="+mn-ea"/>
                <a:cs typeface="+mn-cs"/>
              </a:rPr>
              <a:t> permet de passer outre la problématique des silos marketing. Encore mieux, elle vous offre l’opportunité de mieux connaître vos cibles et d’établir une relation de proximité avec celles-ci. A ce stade, l’acheteur bénéficie d’une expérience d’achat inégalée qui reflète l’ADN de votre enseigne.</a:t>
            </a:r>
          </a:p>
          <a:p>
            <a:pPr fontAlgn="base"/>
            <a:endParaRPr lang="fr-FR" sz="1200" b="0" i="0" kern="1200" dirty="0">
              <a:solidFill>
                <a:schemeClr val="tx1"/>
              </a:solidFill>
              <a:effectLst/>
              <a:latin typeface="+mn-lt"/>
              <a:ea typeface="+mn-ea"/>
              <a:cs typeface="+mn-cs"/>
            </a:endParaRPr>
          </a:p>
          <a:p>
            <a:pPr fontAlgn="base"/>
            <a:endParaRPr lang="fr-FR" sz="1200" b="1" i="0" kern="1200" dirty="0">
              <a:solidFill>
                <a:schemeClr val="tx1"/>
              </a:solidFill>
              <a:effectLst/>
              <a:latin typeface="+mn-lt"/>
              <a:ea typeface="+mn-ea"/>
              <a:cs typeface="+mn-cs"/>
            </a:endParaRPr>
          </a:p>
          <a:p>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5</a:t>
            </a:fld>
            <a:endParaRPr lang="fr-FR" altLang="fr-FR">
              <a:latin typeface="Calibri" panose="020F0502020204030204" pitchFamily="34" charset="0"/>
            </a:endParaRPr>
          </a:p>
        </p:txBody>
      </p:sp>
    </p:spTree>
    <p:extLst>
      <p:ext uri="{BB962C8B-B14F-4D97-AF65-F5344CB8AC3E}">
        <p14:creationId xmlns:p14="http://schemas.microsoft.com/office/powerpoint/2010/main" val="1323745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fr-FR" altLang="fr-FR" b="1" dirty="0"/>
              <a:t>Une fiche complémentaire</a:t>
            </a:r>
            <a:r>
              <a:rPr lang="fr-FR" altLang="fr-FR" b="1" baseline="0" dirty="0"/>
              <a:t> a été établie pour illustrer cette diapositive</a:t>
            </a:r>
            <a:r>
              <a:rPr lang="fr-FR" altLang="fr-FR" baseline="0" dirty="0"/>
              <a:t>.</a:t>
            </a:r>
            <a:endParaRPr lang="fr-FR" altLang="fr-FR" dirty="0"/>
          </a:p>
          <a:p>
            <a:pPr fontAlgn="base"/>
            <a:r>
              <a:rPr lang="fr-FR" altLang="fr-FR" dirty="0"/>
              <a:t>Le </a:t>
            </a:r>
            <a:r>
              <a:rPr lang="fr-FR" altLang="fr-FR" b="1" dirty="0" err="1"/>
              <a:t>Mutlicanal</a:t>
            </a:r>
            <a:r>
              <a:rPr lang="fr-FR" altLang="fr-FR" dirty="0"/>
              <a:t>:</a:t>
            </a:r>
            <a:r>
              <a:rPr lang="fr-FR" altLang="fr-FR" baseline="0" dirty="0"/>
              <a:t> </a:t>
            </a:r>
            <a:r>
              <a:rPr lang="fr-FR" sz="1200" b="0" i="0" kern="1200" dirty="0">
                <a:solidFill>
                  <a:schemeClr val="tx1"/>
                </a:solidFill>
                <a:effectLst/>
                <a:latin typeface="+mn-lt"/>
                <a:ea typeface="+mn-ea"/>
                <a:cs typeface="+mn-cs"/>
              </a:rPr>
              <a:t>la base de toute stratégie digitale</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Cette stratégie consiste à recourir à plusieurs canaux de distribution indépendants pour commercialiser un produit ou un service. Le but de cette diversification est de développer votre activité en vous livrant sur de nombreux fronts. En principe, le multicanal est adopté par les magasins physiques qui souhaitent vendre leurs produits sur Internet. Chaque canal de distribution vise donc un segment particulier de consommateurs. Certes, cette particularité rend le multicanal fortement attrayant pour booster votre chiffre d’affaires, cependant elle représente quelques inconvénients. En travaillant en silo, ces différents canaux tendent naturellement à se comporter de manière indépendante. La communication interne perdra alors en efficacité et les ventes pourraient en être pénalisées.</a:t>
            </a:r>
          </a:p>
          <a:p>
            <a:pPr fontAlgn="base"/>
            <a:endParaRPr lang="fr-FR" sz="1200" b="0" i="0" kern="1200" dirty="0">
              <a:solidFill>
                <a:schemeClr val="tx1"/>
              </a:solidFill>
              <a:effectLst/>
              <a:latin typeface="+mn-lt"/>
              <a:ea typeface="+mn-ea"/>
              <a:cs typeface="+mn-cs"/>
            </a:endParaRPr>
          </a:p>
          <a:p>
            <a:pPr fontAlgn="base"/>
            <a:r>
              <a:rPr lang="fr-FR" sz="1200" b="1" i="0" kern="1200" dirty="0">
                <a:solidFill>
                  <a:schemeClr val="tx1"/>
                </a:solidFill>
                <a:effectLst/>
                <a:latin typeface="+mn-lt"/>
                <a:ea typeface="+mn-ea"/>
                <a:cs typeface="+mn-cs"/>
              </a:rPr>
              <a:t>Le cross canal : </a:t>
            </a:r>
            <a:r>
              <a:rPr lang="fr-FR" sz="1200" b="0" i="0" kern="1200" dirty="0">
                <a:solidFill>
                  <a:schemeClr val="tx1"/>
                </a:solidFill>
                <a:effectLst/>
                <a:latin typeface="+mn-lt"/>
                <a:ea typeface="+mn-ea"/>
                <a:cs typeface="+mn-cs"/>
              </a:rPr>
              <a:t>Cette stratégie est la suite logique du multicanal. L’idée est de fluidifier le parcours du consommateur en y intégrant tous les canaux de distribution. En pratique, il s’agit d’offrir à l’acheteur une expérience unique qui leur permet de passer d’un canal à un autre sans difficulté. Pour ce faire, vous devez coordonner ses actions en établissant un processus de distribution bien structuré et cohérent. L’idéal est de créer une certaine complémentarité entre les différents canaux pour mettre le consommateur au cœur d’un réseau interactif.</a:t>
            </a:r>
          </a:p>
          <a:p>
            <a:pPr fontAlgn="base"/>
            <a:r>
              <a:rPr lang="fr-FR" sz="1200" b="0" i="0" kern="1200" dirty="0">
                <a:solidFill>
                  <a:schemeClr val="tx1"/>
                </a:solidFill>
                <a:effectLst/>
                <a:latin typeface="+mn-lt"/>
                <a:ea typeface="+mn-ea"/>
                <a:cs typeface="+mn-cs"/>
              </a:rPr>
              <a:t>Parmi les nombreux exemples de stratégie cross-canal, on peut citer la méthode click-and-</a:t>
            </a:r>
            <a:r>
              <a:rPr lang="fr-FR" sz="1200" b="0" i="0" kern="1200" dirty="0" err="1">
                <a:solidFill>
                  <a:schemeClr val="tx1"/>
                </a:solidFill>
                <a:effectLst/>
                <a:latin typeface="+mn-lt"/>
                <a:ea typeface="+mn-ea"/>
                <a:cs typeface="+mn-cs"/>
              </a:rPr>
              <a:t>collect</a:t>
            </a:r>
            <a:r>
              <a:rPr lang="fr-FR" sz="1200" b="0" i="0" kern="1200" dirty="0">
                <a:solidFill>
                  <a:schemeClr val="tx1"/>
                </a:solidFill>
                <a:effectLst/>
                <a:latin typeface="+mn-lt"/>
                <a:ea typeface="+mn-ea"/>
                <a:cs typeface="+mn-cs"/>
              </a:rPr>
              <a:t> ou </a:t>
            </a:r>
            <a:r>
              <a:rPr lang="fr-FR" sz="1200" b="0" i="0" u="none" strike="noStrike" kern="1200" dirty="0">
                <a:solidFill>
                  <a:schemeClr val="tx1"/>
                </a:solidFill>
                <a:effectLst/>
                <a:latin typeface="+mn-lt"/>
                <a:ea typeface="+mn-ea"/>
                <a:cs typeface="+mn-cs"/>
                <a:hlinkClick r:id="rId3"/>
              </a:rPr>
              <a:t>web to store</a:t>
            </a:r>
            <a:r>
              <a:rPr lang="fr-FR" sz="1200" b="0" i="0" kern="1200" dirty="0">
                <a:solidFill>
                  <a:schemeClr val="tx1"/>
                </a:solidFill>
                <a:effectLst/>
                <a:latin typeface="+mn-lt"/>
                <a:ea typeface="+mn-ea"/>
                <a:cs typeface="+mn-cs"/>
              </a:rPr>
              <a:t>, qui permet à vos clients de passer leurs commandes sur Internet et de les récupérer en magasin. Dans ce cas de figure, ceux-ci effectuent leurs achats via leur téléphone ou leur ordinateur et découvrent l’expérience de se retrouver dans votre boutique physique.</a:t>
            </a:r>
          </a:p>
          <a:p>
            <a:pPr fontAlgn="base"/>
            <a:endParaRPr lang="fr-FR" sz="1200" b="0" i="0" kern="1200" dirty="0">
              <a:solidFill>
                <a:schemeClr val="tx1"/>
              </a:solidFill>
              <a:effectLst/>
              <a:latin typeface="+mn-lt"/>
              <a:ea typeface="+mn-ea"/>
              <a:cs typeface="+mn-cs"/>
            </a:endParaRPr>
          </a:p>
          <a:p>
            <a:pPr fontAlgn="base"/>
            <a:r>
              <a:rPr lang="fr-FR" sz="1400" b="1" i="0" kern="1200" dirty="0">
                <a:solidFill>
                  <a:schemeClr val="tx1"/>
                </a:solidFill>
                <a:effectLst/>
                <a:latin typeface="+mn-lt"/>
                <a:ea typeface="+mn-ea"/>
                <a:cs typeface="+mn-cs"/>
              </a:rPr>
              <a:t> l’</a:t>
            </a:r>
            <a:r>
              <a:rPr lang="fr-FR" sz="1400" b="1" i="0" kern="1200" dirty="0" err="1">
                <a:solidFill>
                  <a:schemeClr val="tx1"/>
                </a:solidFill>
                <a:effectLst/>
                <a:latin typeface="+mn-lt"/>
                <a:ea typeface="+mn-ea"/>
                <a:cs typeface="+mn-cs"/>
              </a:rPr>
              <a:t>omnical</a:t>
            </a:r>
            <a:r>
              <a:rPr lang="fr-FR" sz="1400" b="1" i="0" kern="12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 cette discipline combine les canaux de distribution en une seule et unique expérience. Elle répond au besoin du consommateur d’être partout à la fois. Tout en étant dans votre boutique, celui-ci  s’appuiera sur des applications et outils spécifiques pour s’identifier, connaître les caractéristiques des produits que vous vendez et faire leur achat. Inversement, vous pouvez vous servir des données recueillies pour leur proposer des offres pertinentes et personnalisées.</a:t>
            </a:r>
          </a:p>
          <a:p>
            <a:pPr fontAlgn="base"/>
            <a:r>
              <a:rPr lang="fr-FR" sz="1200" b="0" i="0" kern="1200" dirty="0">
                <a:solidFill>
                  <a:schemeClr val="tx1"/>
                </a:solidFill>
                <a:effectLst/>
                <a:latin typeface="+mn-lt"/>
                <a:ea typeface="+mn-ea"/>
                <a:cs typeface="+mn-cs"/>
              </a:rPr>
              <a:t>Notons que la stratégie </a:t>
            </a:r>
            <a:r>
              <a:rPr lang="fr-FR" sz="1200" b="0" i="0" kern="1200" dirty="0" err="1">
                <a:solidFill>
                  <a:schemeClr val="tx1"/>
                </a:solidFill>
                <a:effectLst/>
                <a:latin typeface="+mn-lt"/>
                <a:ea typeface="+mn-ea"/>
                <a:cs typeface="+mn-cs"/>
              </a:rPr>
              <a:t>ominacal</a:t>
            </a:r>
            <a:r>
              <a:rPr lang="fr-FR" sz="1200" b="0" i="0" kern="1200" dirty="0">
                <a:solidFill>
                  <a:schemeClr val="tx1"/>
                </a:solidFill>
                <a:effectLst/>
                <a:latin typeface="+mn-lt"/>
                <a:ea typeface="+mn-ea"/>
                <a:cs typeface="+mn-cs"/>
              </a:rPr>
              <a:t> permet de passer outre la problématique des silos marketing. Encore mieux, elle vous offre l’opportunité de mieux connaître vos cibles et d’établir une relation de proximité avec celles-ci. A ce stade, l’acheteur bénéficie d’une expérience d’achat inégalée qui reflète l’ADN de votre enseigne.</a:t>
            </a:r>
          </a:p>
          <a:p>
            <a:pPr fontAlgn="base"/>
            <a:endParaRPr lang="fr-FR" sz="1200" b="0" i="0" kern="1200" dirty="0">
              <a:solidFill>
                <a:schemeClr val="tx1"/>
              </a:solidFill>
              <a:effectLst/>
              <a:latin typeface="+mn-lt"/>
              <a:ea typeface="+mn-ea"/>
              <a:cs typeface="+mn-cs"/>
            </a:endParaRPr>
          </a:p>
          <a:p>
            <a:pPr fontAlgn="base"/>
            <a:endParaRPr lang="fr-FR" sz="1200" b="1" i="0" kern="1200" dirty="0">
              <a:solidFill>
                <a:schemeClr val="tx1"/>
              </a:solidFill>
              <a:effectLst/>
              <a:latin typeface="+mn-lt"/>
              <a:ea typeface="+mn-ea"/>
              <a:cs typeface="+mn-cs"/>
            </a:endParaRPr>
          </a:p>
          <a:p>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6</a:t>
            </a:fld>
            <a:endParaRPr lang="fr-FR" altLang="fr-FR">
              <a:latin typeface="Calibri" panose="020F0502020204030204" pitchFamily="34" charset="0"/>
            </a:endParaRPr>
          </a:p>
        </p:txBody>
      </p:sp>
    </p:spTree>
    <p:extLst>
      <p:ext uri="{BB962C8B-B14F-4D97-AF65-F5344CB8AC3E}">
        <p14:creationId xmlns:p14="http://schemas.microsoft.com/office/powerpoint/2010/main" val="466162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fr-FR" altLang="fr-FR" b="1" dirty="0"/>
              <a:t>Une fiche complémentaire</a:t>
            </a:r>
            <a:r>
              <a:rPr lang="fr-FR" altLang="fr-FR" b="1" baseline="0" dirty="0"/>
              <a:t> a été établie pour illustrer cette diapositive</a:t>
            </a:r>
            <a:r>
              <a:rPr lang="fr-FR" altLang="fr-FR" baseline="0" dirty="0"/>
              <a:t>.</a:t>
            </a:r>
            <a:endParaRPr lang="fr-FR" altLang="fr-FR" dirty="0"/>
          </a:p>
          <a:p>
            <a:pPr fontAlgn="base"/>
            <a:r>
              <a:rPr lang="fr-FR" altLang="fr-FR" dirty="0"/>
              <a:t>Le </a:t>
            </a:r>
            <a:r>
              <a:rPr lang="fr-FR" altLang="fr-FR" b="1" dirty="0" err="1"/>
              <a:t>Mutlicanal</a:t>
            </a:r>
            <a:r>
              <a:rPr lang="fr-FR" altLang="fr-FR" dirty="0"/>
              <a:t>:</a:t>
            </a:r>
            <a:r>
              <a:rPr lang="fr-FR" altLang="fr-FR" baseline="0" dirty="0"/>
              <a:t> </a:t>
            </a:r>
            <a:r>
              <a:rPr lang="fr-FR" sz="1200" b="0" i="0" kern="1200" dirty="0">
                <a:solidFill>
                  <a:schemeClr val="tx1"/>
                </a:solidFill>
                <a:effectLst/>
                <a:latin typeface="+mn-lt"/>
                <a:ea typeface="+mn-ea"/>
                <a:cs typeface="+mn-cs"/>
              </a:rPr>
              <a:t>la base de toute stratégie digitale</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Cette stratégie consiste à recourir à plusieurs canaux de distribution indépendants pour commercialiser un produit ou un service. Le but de cette diversification est de développer votre activité en vous livrant sur de nombreux fronts. En principe, le multicanal est adopté par les magasins physiques qui souhaitent vendre leurs produits sur Internet. Chaque canal de distribution vise donc un segment particulier de consommateurs. Certes, cette particularité rend le multicanal fortement attrayant pour booster votre chiffre d’affaires, cependant elle représente quelques inconvénients. En travaillant en silo, ces différents canaux tendent naturellement à se comporter de manière indépendante. La communication interne perdra alors en efficacité et les ventes pourraient en être pénalisées.</a:t>
            </a:r>
          </a:p>
          <a:p>
            <a:pPr fontAlgn="base"/>
            <a:endParaRPr lang="fr-FR" sz="1200" b="0" i="0" kern="1200" dirty="0">
              <a:solidFill>
                <a:schemeClr val="tx1"/>
              </a:solidFill>
              <a:effectLst/>
              <a:latin typeface="+mn-lt"/>
              <a:ea typeface="+mn-ea"/>
              <a:cs typeface="+mn-cs"/>
            </a:endParaRPr>
          </a:p>
          <a:p>
            <a:pPr fontAlgn="base"/>
            <a:r>
              <a:rPr lang="fr-FR" sz="1200" b="1" i="0" kern="1200" dirty="0">
                <a:solidFill>
                  <a:schemeClr val="tx1"/>
                </a:solidFill>
                <a:effectLst/>
                <a:latin typeface="+mn-lt"/>
                <a:ea typeface="+mn-ea"/>
                <a:cs typeface="+mn-cs"/>
              </a:rPr>
              <a:t>Le cross canal : </a:t>
            </a:r>
            <a:r>
              <a:rPr lang="fr-FR" sz="1200" b="0" i="0" kern="1200" dirty="0">
                <a:solidFill>
                  <a:schemeClr val="tx1"/>
                </a:solidFill>
                <a:effectLst/>
                <a:latin typeface="+mn-lt"/>
                <a:ea typeface="+mn-ea"/>
                <a:cs typeface="+mn-cs"/>
              </a:rPr>
              <a:t>Cette stratégie est la suite logique du multicanal. L’idée est de fluidifier le parcours du consommateur en y intégrant tous les canaux de distribution. En pratique, il s’agit d’offrir à l’acheteur une expérience unique qui leur permet de passer d’un canal à un autre sans difficulté. Pour ce faire, vous devez coordonner ses actions en établissant un processus de distribution bien structuré et cohérent. L’idéal est de créer une certaine complémentarité entre les différents canaux pour mettre le consommateur au cœur d’un réseau interactif.</a:t>
            </a:r>
          </a:p>
          <a:p>
            <a:pPr fontAlgn="base"/>
            <a:r>
              <a:rPr lang="fr-FR" sz="1200" b="0" i="0" kern="1200" dirty="0">
                <a:solidFill>
                  <a:schemeClr val="tx1"/>
                </a:solidFill>
                <a:effectLst/>
                <a:latin typeface="+mn-lt"/>
                <a:ea typeface="+mn-ea"/>
                <a:cs typeface="+mn-cs"/>
              </a:rPr>
              <a:t>Parmi les nombreux exemples de stratégie cross-canal, on peut citer la méthode click-and-</a:t>
            </a:r>
            <a:r>
              <a:rPr lang="fr-FR" sz="1200" b="0" i="0" kern="1200" dirty="0" err="1">
                <a:solidFill>
                  <a:schemeClr val="tx1"/>
                </a:solidFill>
                <a:effectLst/>
                <a:latin typeface="+mn-lt"/>
                <a:ea typeface="+mn-ea"/>
                <a:cs typeface="+mn-cs"/>
              </a:rPr>
              <a:t>collect</a:t>
            </a:r>
            <a:r>
              <a:rPr lang="fr-FR" sz="1200" b="0" i="0" kern="1200" dirty="0">
                <a:solidFill>
                  <a:schemeClr val="tx1"/>
                </a:solidFill>
                <a:effectLst/>
                <a:latin typeface="+mn-lt"/>
                <a:ea typeface="+mn-ea"/>
                <a:cs typeface="+mn-cs"/>
              </a:rPr>
              <a:t> ou </a:t>
            </a:r>
            <a:r>
              <a:rPr lang="fr-FR" sz="1200" b="0" i="0" u="none" strike="noStrike" kern="1200" dirty="0">
                <a:solidFill>
                  <a:schemeClr val="tx1"/>
                </a:solidFill>
                <a:effectLst/>
                <a:latin typeface="+mn-lt"/>
                <a:ea typeface="+mn-ea"/>
                <a:cs typeface="+mn-cs"/>
                <a:hlinkClick r:id="rId3"/>
              </a:rPr>
              <a:t>web to store</a:t>
            </a:r>
            <a:r>
              <a:rPr lang="fr-FR" sz="1200" b="0" i="0" kern="1200" dirty="0">
                <a:solidFill>
                  <a:schemeClr val="tx1"/>
                </a:solidFill>
                <a:effectLst/>
                <a:latin typeface="+mn-lt"/>
                <a:ea typeface="+mn-ea"/>
                <a:cs typeface="+mn-cs"/>
              </a:rPr>
              <a:t>, qui permet à vos clients de passer leurs commandes sur Internet et de les récupérer en magasin. Dans ce cas de figure, ceux-ci effectuent leurs achats via leur téléphone ou leur ordinateur et découvrent l’expérience de se retrouver dans votre boutique physique.</a:t>
            </a:r>
          </a:p>
          <a:p>
            <a:pPr fontAlgn="base"/>
            <a:endParaRPr lang="fr-FR" sz="1200" b="0" i="0" kern="1200" dirty="0">
              <a:solidFill>
                <a:schemeClr val="tx1"/>
              </a:solidFill>
              <a:effectLst/>
              <a:latin typeface="+mn-lt"/>
              <a:ea typeface="+mn-ea"/>
              <a:cs typeface="+mn-cs"/>
            </a:endParaRPr>
          </a:p>
          <a:p>
            <a:pPr fontAlgn="base"/>
            <a:r>
              <a:rPr lang="fr-FR" sz="1400" b="1" i="0" kern="1200" dirty="0">
                <a:solidFill>
                  <a:schemeClr val="tx1"/>
                </a:solidFill>
                <a:effectLst/>
                <a:latin typeface="+mn-lt"/>
                <a:ea typeface="+mn-ea"/>
                <a:cs typeface="+mn-cs"/>
              </a:rPr>
              <a:t> l’</a:t>
            </a:r>
            <a:r>
              <a:rPr lang="fr-FR" sz="1400" b="1" i="0" kern="1200" dirty="0" err="1">
                <a:solidFill>
                  <a:schemeClr val="tx1"/>
                </a:solidFill>
                <a:effectLst/>
                <a:latin typeface="+mn-lt"/>
                <a:ea typeface="+mn-ea"/>
                <a:cs typeface="+mn-cs"/>
              </a:rPr>
              <a:t>omnical</a:t>
            </a:r>
            <a:r>
              <a:rPr lang="fr-FR" sz="1400" b="1" i="0" kern="12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 cette discipline combine les canaux de distribution en une seule et unique expérience. Elle répond au besoin du consommateur d’être partout à la fois. Tout en étant dans votre boutique, celui-ci  s’appuiera sur des applications et outils spécifiques pour s’identifier, connaître les caractéristiques des produits que vous vendez et faire leur achat. Inversement, vous pouvez vous servir des données recueillies pour leur proposer des offres pertinentes et personnalisées.</a:t>
            </a:r>
          </a:p>
          <a:p>
            <a:pPr fontAlgn="base"/>
            <a:r>
              <a:rPr lang="fr-FR" sz="1200" b="0" i="0" kern="1200" dirty="0">
                <a:solidFill>
                  <a:schemeClr val="tx1"/>
                </a:solidFill>
                <a:effectLst/>
                <a:latin typeface="+mn-lt"/>
                <a:ea typeface="+mn-ea"/>
                <a:cs typeface="+mn-cs"/>
              </a:rPr>
              <a:t>Notons que la stratégie </a:t>
            </a:r>
            <a:r>
              <a:rPr lang="fr-FR" sz="1200" b="0" i="0" kern="1200" dirty="0" err="1">
                <a:solidFill>
                  <a:schemeClr val="tx1"/>
                </a:solidFill>
                <a:effectLst/>
                <a:latin typeface="+mn-lt"/>
                <a:ea typeface="+mn-ea"/>
                <a:cs typeface="+mn-cs"/>
              </a:rPr>
              <a:t>ominacal</a:t>
            </a:r>
            <a:r>
              <a:rPr lang="fr-FR" sz="1200" b="0" i="0" kern="1200" dirty="0">
                <a:solidFill>
                  <a:schemeClr val="tx1"/>
                </a:solidFill>
                <a:effectLst/>
                <a:latin typeface="+mn-lt"/>
                <a:ea typeface="+mn-ea"/>
                <a:cs typeface="+mn-cs"/>
              </a:rPr>
              <a:t> permet de passer outre la problématique des silos marketing. Encore mieux, elle vous offre l’opportunité de mieux connaître vos cibles et d’établir une relation de proximité avec celles-ci. A ce stade, l’acheteur bénéficie d’une expérience d’achat inégalée qui reflète l’ADN de votre enseigne.</a:t>
            </a:r>
          </a:p>
          <a:p>
            <a:pPr fontAlgn="base"/>
            <a:endParaRPr lang="fr-FR" sz="1200" b="0" i="0" kern="1200" dirty="0">
              <a:solidFill>
                <a:schemeClr val="tx1"/>
              </a:solidFill>
              <a:effectLst/>
              <a:latin typeface="+mn-lt"/>
              <a:ea typeface="+mn-ea"/>
              <a:cs typeface="+mn-cs"/>
            </a:endParaRPr>
          </a:p>
          <a:p>
            <a:pPr fontAlgn="base"/>
            <a:endParaRPr lang="fr-FR" sz="1200" b="1" i="0" kern="1200" dirty="0">
              <a:solidFill>
                <a:schemeClr val="tx1"/>
              </a:solidFill>
              <a:effectLst/>
              <a:latin typeface="+mn-lt"/>
              <a:ea typeface="+mn-ea"/>
              <a:cs typeface="+mn-cs"/>
            </a:endParaRPr>
          </a:p>
          <a:p>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7</a:t>
            </a:fld>
            <a:endParaRPr lang="fr-FR" altLang="fr-FR">
              <a:latin typeface="Calibri" panose="020F0502020204030204" pitchFamily="34" charset="0"/>
            </a:endParaRPr>
          </a:p>
        </p:txBody>
      </p:sp>
    </p:spTree>
    <p:extLst>
      <p:ext uri="{BB962C8B-B14F-4D97-AF65-F5344CB8AC3E}">
        <p14:creationId xmlns:p14="http://schemas.microsoft.com/office/powerpoint/2010/main" val="3156173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fr-FR" altLang="fr-FR" b="1" dirty="0"/>
              <a:t>Une fiche complémentaire</a:t>
            </a:r>
            <a:r>
              <a:rPr lang="fr-FR" altLang="fr-FR" b="1" baseline="0" dirty="0"/>
              <a:t> a été établie pour illustrer cette diapositive</a:t>
            </a:r>
            <a:r>
              <a:rPr lang="fr-FR" altLang="fr-FR" baseline="0" dirty="0"/>
              <a:t>.</a:t>
            </a:r>
            <a:endParaRPr lang="fr-FR" altLang="fr-FR" dirty="0"/>
          </a:p>
          <a:p>
            <a:pPr fontAlgn="base"/>
            <a:r>
              <a:rPr lang="fr-FR" altLang="fr-FR" dirty="0"/>
              <a:t>Le </a:t>
            </a:r>
            <a:r>
              <a:rPr lang="fr-FR" altLang="fr-FR" b="1" dirty="0" err="1"/>
              <a:t>Mutlicanal</a:t>
            </a:r>
            <a:r>
              <a:rPr lang="fr-FR" altLang="fr-FR" dirty="0"/>
              <a:t>:</a:t>
            </a:r>
            <a:r>
              <a:rPr lang="fr-FR" altLang="fr-FR" baseline="0" dirty="0"/>
              <a:t> </a:t>
            </a:r>
            <a:r>
              <a:rPr lang="fr-FR" sz="1200" b="0" i="0" kern="1200" dirty="0">
                <a:solidFill>
                  <a:schemeClr val="tx1"/>
                </a:solidFill>
                <a:effectLst/>
                <a:latin typeface="+mn-lt"/>
                <a:ea typeface="+mn-ea"/>
                <a:cs typeface="+mn-cs"/>
              </a:rPr>
              <a:t>la base de toute stratégie digitale</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Cette stratégie consiste à recourir à plusieurs canaux de distribution indépendants pour commercialiser un produit ou un service. Le but de cette diversification est de développer votre activité en vous livrant sur de nombreux fronts. En principe, le multicanal est adopté par les magasins physiques qui souhaitent vendre leurs produits sur Internet. Chaque canal de distribution vise donc un segment particulier de consommateurs. Certes, cette particularité rend le multicanal fortement attrayant pour booster votre chiffre d’affaires, cependant elle représente quelques inconvénients. En travaillant en silo, ces différents canaux tendent naturellement à se comporter de manière indépendante. La communication interne perdra alors en efficacité et les ventes pourraient en être pénalisées.</a:t>
            </a:r>
          </a:p>
          <a:p>
            <a:pPr fontAlgn="base"/>
            <a:endParaRPr lang="fr-FR" sz="1200" b="0" i="0" kern="1200" dirty="0">
              <a:solidFill>
                <a:schemeClr val="tx1"/>
              </a:solidFill>
              <a:effectLst/>
              <a:latin typeface="+mn-lt"/>
              <a:ea typeface="+mn-ea"/>
              <a:cs typeface="+mn-cs"/>
            </a:endParaRPr>
          </a:p>
          <a:p>
            <a:pPr fontAlgn="base"/>
            <a:r>
              <a:rPr lang="fr-FR" sz="1200" b="1" i="0" kern="1200" dirty="0">
                <a:solidFill>
                  <a:schemeClr val="tx1"/>
                </a:solidFill>
                <a:effectLst/>
                <a:latin typeface="+mn-lt"/>
                <a:ea typeface="+mn-ea"/>
                <a:cs typeface="+mn-cs"/>
              </a:rPr>
              <a:t>Le cross canal : </a:t>
            </a:r>
            <a:r>
              <a:rPr lang="fr-FR" sz="1200" b="0" i="0" kern="1200" dirty="0">
                <a:solidFill>
                  <a:schemeClr val="tx1"/>
                </a:solidFill>
                <a:effectLst/>
                <a:latin typeface="+mn-lt"/>
                <a:ea typeface="+mn-ea"/>
                <a:cs typeface="+mn-cs"/>
              </a:rPr>
              <a:t>Cette stratégie est la suite logique du multicanal. L’idée est de fluidifier le parcours du consommateur en y intégrant tous les canaux de distribution. En pratique, il s’agit d’offrir à l’acheteur une expérience unique qui leur permet de passer d’un canal à un autre sans difficulté. Pour ce faire, vous devez coordonner ses actions en établissant un processus de distribution bien structuré et cohérent. L’idéal est de créer une certaine complémentarité entre les différents canaux pour mettre le consommateur au cœur d’un réseau interactif.</a:t>
            </a:r>
          </a:p>
          <a:p>
            <a:pPr fontAlgn="base"/>
            <a:r>
              <a:rPr lang="fr-FR" sz="1200" b="0" i="0" kern="1200" dirty="0">
                <a:solidFill>
                  <a:schemeClr val="tx1"/>
                </a:solidFill>
                <a:effectLst/>
                <a:latin typeface="+mn-lt"/>
                <a:ea typeface="+mn-ea"/>
                <a:cs typeface="+mn-cs"/>
              </a:rPr>
              <a:t>Parmi les nombreux exemples de stratégie cross-canal, on peut citer la méthode click-and-</a:t>
            </a:r>
            <a:r>
              <a:rPr lang="fr-FR" sz="1200" b="0" i="0" kern="1200" dirty="0" err="1">
                <a:solidFill>
                  <a:schemeClr val="tx1"/>
                </a:solidFill>
                <a:effectLst/>
                <a:latin typeface="+mn-lt"/>
                <a:ea typeface="+mn-ea"/>
                <a:cs typeface="+mn-cs"/>
              </a:rPr>
              <a:t>collect</a:t>
            </a:r>
            <a:r>
              <a:rPr lang="fr-FR" sz="1200" b="0" i="0" kern="1200" dirty="0">
                <a:solidFill>
                  <a:schemeClr val="tx1"/>
                </a:solidFill>
                <a:effectLst/>
                <a:latin typeface="+mn-lt"/>
                <a:ea typeface="+mn-ea"/>
                <a:cs typeface="+mn-cs"/>
              </a:rPr>
              <a:t> ou </a:t>
            </a:r>
            <a:r>
              <a:rPr lang="fr-FR" sz="1200" b="0" i="0" u="none" strike="noStrike" kern="1200" dirty="0">
                <a:solidFill>
                  <a:schemeClr val="tx1"/>
                </a:solidFill>
                <a:effectLst/>
                <a:latin typeface="+mn-lt"/>
                <a:ea typeface="+mn-ea"/>
                <a:cs typeface="+mn-cs"/>
                <a:hlinkClick r:id="rId3"/>
              </a:rPr>
              <a:t>web to store</a:t>
            </a:r>
            <a:r>
              <a:rPr lang="fr-FR" sz="1200" b="0" i="0" kern="1200" dirty="0">
                <a:solidFill>
                  <a:schemeClr val="tx1"/>
                </a:solidFill>
                <a:effectLst/>
                <a:latin typeface="+mn-lt"/>
                <a:ea typeface="+mn-ea"/>
                <a:cs typeface="+mn-cs"/>
              </a:rPr>
              <a:t>, qui permet à vos clients de passer leurs commandes sur Internet et de les récupérer en magasin. Dans ce cas de figure, ceux-ci effectuent leurs achats via leur téléphone ou leur ordinateur et découvrent l’expérience de se retrouver dans votre boutique physique.</a:t>
            </a:r>
          </a:p>
          <a:p>
            <a:pPr fontAlgn="base"/>
            <a:endParaRPr lang="fr-FR" sz="1200" b="0" i="0" kern="1200" dirty="0">
              <a:solidFill>
                <a:schemeClr val="tx1"/>
              </a:solidFill>
              <a:effectLst/>
              <a:latin typeface="+mn-lt"/>
              <a:ea typeface="+mn-ea"/>
              <a:cs typeface="+mn-cs"/>
            </a:endParaRPr>
          </a:p>
          <a:p>
            <a:pPr fontAlgn="base"/>
            <a:r>
              <a:rPr lang="fr-FR" sz="1400" b="1" i="0" kern="1200" dirty="0">
                <a:solidFill>
                  <a:schemeClr val="tx1"/>
                </a:solidFill>
                <a:effectLst/>
                <a:latin typeface="+mn-lt"/>
                <a:ea typeface="+mn-ea"/>
                <a:cs typeface="+mn-cs"/>
              </a:rPr>
              <a:t> l’</a:t>
            </a:r>
            <a:r>
              <a:rPr lang="fr-FR" sz="1400" b="1" i="0" kern="1200" dirty="0" err="1">
                <a:solidFill>
                  <a:schemeClr val="tx1"/>
                </a:solidFill>
                <a:effectLst/>
                <a:latin typeface="+mn-lt"/>
                <a:ea typeface="+mn-ea"/>
                <a:cs typeface="+mn-cs"/>
              </a:rPr>
              <a:t>omnical</a:t>
            </a:r>
            <a:r>
              <a:rPr lang="fr-FR" sz="1400" b="1" i="0" kern="12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 cette discipline combine les canaux de distribution en une seule et unique expérience. Elle répond au besoin du consommateur d’être partout à la fois. Tout en étant dans votre boutique, celui-ci  s’appuiera sur des applications et outils spécifiques pour s’identifier, connaître les caractéristiques des produits que vous vendez et faire leur achat. Inversement, vous pouvez vous servir des données recueillies pour leur proposer des offres pertinentes et personnalisées.</a:t>
            </a:r>
          </a:p>
          <a:p>
            <a:pPr fontAlgn="base"/>
            <a:r>
              <a:rPr lang="fr-FR" sz="1200" b="0" i="0" kern="1200" dirty="0">
                <a:solidFill>
                  <a:schemeClr val="tx1"/>
                </a:solidFill>
                <a:effectLst/>
                <a:latin typeface="+mn-lt"/>
                <a:ea typeface="+mn-ea"/>
                <a:cs typeface="+mn-cs"/>
              </a:rPr>
              <a:t>Notons que la stratégie </a:t>
            </a:r>
            <a:r>
              <a:rPr lang="fr-FR" sz="1200" b="0" i="0" kern="1200" dirty="0" err="1">
                <a:solidFill>
                  <a:schemeClr val="tx1"/>
                </a:solidFill>
                <a:effectLst/>
                <a:latin typeface="+mn-lt"/>
                <a:ea typeface="+mn-ea"/>
                <a:cs typeface="+mn-cs"/>
              </a:rPr>
              <a:t>ominacal</a:t>
            </a:r>
            <a:r>
              <a:rPr lang="fr-FR" sz="1200" b="0" i="0" kern="1200" dirty="0">
                <a:solidFill>
                  <a:schemeClr val="tx1"/>
                </a:solidFill>
                <a:effectLst/>
                <a:latin typeface="+mn-lt"/>
                <a:ea typeface="+mn-ea"/>
                <a:cs typeface="+mn-cs"/>
              </a:rPr>
              <a:t> permet de passer outre la problématique des silos marketing. Encore mieux, elle vous offre l’opportunité de mieux connaître vos cibles et d’établir une relation de proximité avec celles-ci. A ce stade, l’acheteur bénéficie d’une expérience d’achat inégalée qui reflète l’ADN de votre enseigne.</a:t>
            </a:r>
          </a:p>
          <a:p>
            <a:pPr fontAlgn="base"/>
            <a:endParaRPr lang="fr-FR" sz="1200" b="0" i="0" kern="1200" dirty="0">
              <a:solidFill>
                <a:schemeClr val="tx1"/>
              </a:solidFill>
              <a:effectLst/>
              <a:latin typeface="+mn-lt"/>
              <a:ea typeface="+mn-ea"/>
              <a:cs typeface="+mn-cs"/>
            </a:endParaRPr>
          </a:p>
          <a:p>
            <a:pPr fontAlgn="base"/>
            <a:endParaRPr lang="fr-FR" sz="1200" b="1" i="0" kern="1200" dirty="0">
              <a:solidFill>
                <a:schemeClr val="tx1"/>
              </a:solidFill>
              <a:effectLst/>
              <a:latin typeface="+mn-lt"/>
              <a:ea typeface="+mn-ea"/>
              <a:cs typeface="+mn-cs"/>
            </a:endParaRPr>
          </a:p>
          <a:p>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8</a:t>
            </a:fld>
            <a:endParaRPr lang="fr-FR" altLang="fr-FR">
              <a:latin typeface="Calibri" panose="020F0502020204030204" pitchFamily="34" charset="0"/>
            </a:endParaRPr>
          </a:p>
        </p:txBody>
      </p:sp>
    </p:spTree>
    <p:extLst>
      <p:ext uri="{BB962C8B-B14F-4D97-AF65-F5344CB8AC3E}">
        <p14:creationId xmlns:p14="http://schemas.microsoft.com/office/powerpoint/2010/main" val="458246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a:t>Exemple d’</a:t>
            </a:r>
            <a:r>
              <a:rPr lang="fr-FR" altLang="fr-FR" dirty="0" err="1"/>
              <a:t>omnicanal</a:t>
            </a:r>
            <a:r>
              <a:rPr lang="fr-FR" altLang="fr-FR" baseline="0" dirty="0" err="1"/>
              <a:t>ité</a:t>
            </a:r>
            <a:r>
              <a:rPr lang="fr-FR" altLang="fr-FR" baseline="0" dirty="0"/>
              <a:t> : DARTY et  l’optimisation des canaux </a:t>
            </a:r>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9</a:t>
            </a:fld>
            <a:endParaRPr lang="fr-FR" altLang="fr-FR">
              <a:latin typeface="Calibri" panose="020F0502020204030204" pitchFamily="34" charset="0"/>
            </a:endParaRPr>
          </a:p>
        </p:txBody>
      </p:sp>
    </p:spTree>
    <p:extLst>
      <p:ext uri="{BB962C8B-B14F-4D97-AF65-F5344CB8AC3E}">
        <p14:creationId xmlns:p14="http://schemas.microsoft.com/office/powerpoint/2010/main" val="3263155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La </a:t>
            </a:r>
            <a:r>
              <a:rPr lang="fr-FR" sz="1200" b="0" i="0" u="none" strike="noStrike" kern="1200" baseline="0" dirty="0" err="1">
                <a:solidFill>
                  <a:schemeClr val="tx1"/>
                </a:solidFill>
                <a:latin typeface="+mn-lt"/>
                <a:ea typeface="+mn-ea"/>
                <a:cs typeface="+mn-cs"/>
              </a:rPr>
              <a:t>customer</a:t>
            </a:r>
            <a:r>
              <a:rPr lang="fr-FR" sz="1200" b="0" i="0" u="none" strike="noStrike" kern="1200" baseline="0" dirty="0">
                <a:solidFill>
                  <a:schemeClr val="tx1"/>
                </a:solidFill>
                <a:latin typeface="+mn-lt"/>
                <a:ea typeface="+mn-ea"/>
                <a:cs typeface="+mn-cs"/>
              </a:rPr>
              <a:t> </a:t>
            </a:r>
            <a:r>
              <a:rPr lang="fr-FR" sz="1200" b="0" i="0" u="none" strike="noStrike" kern="1200" baseline="0" dirty="0" err="1">
                <a:solidFill>
                  <a:schemeClr val="tx1"/>
                </a:solidFill>
                <a:latin typeface="+mn-lt"/>
                <a:ea typeface="+mn-ea"/>
                <a:cs typeface="+mn-cs"/>
              </a:rPr>
              <a:t>journey</a:t>
            </a:r>
            <a:r>
              <a:rPr lang="fr-FR" sz="1200" b="0" i="0" u="none" strike="noStrike" kern="1200" baseline="0" dirty="0">
                <a:solidFill>
                  <a:schemeClr val="tx1"/>
                </a:solidFill>
                <a:latin typeface="+mn-lt"/>
                <a:ea typeface="+mn-ea"/>
                <a:cs typeface="+mn-cs"/>
              </a:rPr>
              <a:t> est une succession de « </a:t>
            </a:r>
            <a:r>
              <a:rPr lang="fr-FR" sz="1200" b="0" i="1" u="none" strike="noStrike" kern="1200" baseline="0" dirty="0" err="1">
                <a:solidFill>
                  <a:schemeClr val="tx1"/>
                </a:solidFill>
                <a:latin typeface="+mn-lt"/>
                <a:ea typeface="+mn-ea"/>
                <a:cs typeface="+mn-cs"/>
              </a:rPr>
              <a:t>touchpoints</a:t>
            </a:r>
            <a:r>
              <a:rPr lang="fr-FR" sz="1200" b="0" i="1" u="none" strike="noStrike" kern="1200" baseline="0" dirty="0">
                <a:solidFill>
                  <a:schemeClr val="tx1"/>
                </a:solidFill>
                <a:latin typeface="+mn-lt"/>
                <a:ea typeface="+mn-ea"/>
                <a:cs typeface="+mn-cs"/>
              </a:rPr>
              <a:t> » </a:t>
            </a:r>
            <a:r>
              <a:rPr lang="fr-FR" sz="1200" b="0" i="0" u="none" strike="noStrike" kern="1200" baseline="0" dirty="0">
                <a:solidFill>
                  <a:schemeClr val="tx1"/>
                </a:solidFill>
                <a:latin typeface="+mn-lt"/>
                <a:ea typeface="+mn-ea"/>
                <a:cs typeface="+mn-cs"/>
              </a:rPr>
              <a:t>physiques et virtuels (</a:t>
            </a:r>
            <a:r>
              <a:rPr lang="fr-FR" sz="1200" b="0" i="1" u="none" strike="noStrike" kern="1200" baseline="0" dirty="0" err="1">
                <a:solidFill>
                  <a:schemeClr val="tx1"/>
                </a:solidFill>
                <a:latin typeface="+mn-lt"/>
                <a:ea typeface="+mn-ea"/>
                <a:cs typeface="+mn-cs"/>
              </a:rPr>
              <a:t>touchpoints</a:t>
            </a:r>
            <a:r>
              <a:rPr lang="fr-FR" sz="1200" b="0" i="1" u="none" strike="noStrike" kern="1200" baseline="0" dirty="0">
                <a:solidFill>
                  <a:schemeClr val="tx1"/>
                </a:solidFill>
                <a:latin typeface="+mn-lt"/>
                <a:ea typeface="+mn-ea"/>
                <a:cs typeface="+mn-cs"/>
              </a:rPr>
              <a:t> </a:t>
            </a:r>
            <a:r>
              <a:rPr lang="fr-FR" sz="1200" b="0" i="0" u="none" strike="noStrike" kern="1200" baseline="0" dirty="0">
                <a:solidFill>
                  <a:schemeClr val="tx1"/>
                </a:solidFill>
                <a:latin typeface="+mn-lt"/>
                <a:ea typeface="+mn-ea"/>
                <a:cs typeface="+mn-cs"/>
              </a:rPr>
              <a:t>digitaux (sites Internet, réseaux sociaux, </a:t>
            </a:r>
            <a:r>
              <a:rPr lang="fr-FR" sz="1200" b="0" i="1" u="none" strike="noStrike" kern="1200" baseline="0" dirty="0">
                <a:solidFill>
                  <a:schemeClr val="tx1"/>
                </a:solidFill>
                <a:latin typeface="+mn-lt"/>
                <a:ea typeface="+mn-ea"/>
                <a:cs typeface="+mn-cs"/>
              </a:rPr>
              <a:t>blogs</a:t>
            </a:r>
            <a:r>
              <a:rPr lang="fr-FR" sz="1200" b="0" i="0" u="none" strike="noStrike" kern="1200" baseline="0" dirty="0">
                <a:solidFill>
                  <a:schemeClr val="tx1"/>
                </a:solidFill>
                <a:latin typeface="+mn-lt"/>
                <a:ea typeface="+mn-ea"/>
                <a:cs typeface="+mn-cs"/>
              </a:rPr>
              <a:t>, applications, etc.) qui mènent à la transaction, et dont l’interdépendance oblige à revisiter chacun d’entre eux, aux premières loges desquelles se trouve le point de vente physique. </a:t>
            </a:r>
          </a:p>
          <a:p>
            <a:r>
              <a:rPr lang="fr-FR" sz="1200" b="0" i="0" u="none" strike="noStrike" kern="1200" baseline="0" dirty="0">
                <a:solidFill>
                  <a:schemeClr val="tx1"/>
                </a:solidFill>
                <a:latin typeface="+mn-lt"/>
                <a:ea typeface="+mn-ea"/>
                <a:cs typeface="+mn-cs"/>
              </a:rPr>
              <a:t>Dans un contexte d’omni-</a:t>
            </a:r>
            <a:r>
              <a:rPr lang="fr-FR" sz="1200" b="0" i="0" u="none" strike="noStrike" kern="1200" baseline="0" dirty="0" err="1">
                <a:solidFill>
                  <a:schemeClr val="tx1"/>
                </a:solidFill>
                <a:latin typeface="+mn-lt"/>
                <a:ea typeface="+mn-ea"/>
                <a:cs typeface="+mn-cs"/>
              </a:rPr>
              <a:t>canalité</a:t>
            </a:r>
            <a:r>
              <a:rPr lang="fr-FR" sz="1200" b="0" i="0" u="none" strike="noStrike" kern="1200" baseline="0" dirty="0">
                <a:solidFill>
                  <a:schemeClr val="tx1"/>
                </a:solidFill>
                <a:latin typeface="+mn-lt"/>
                <a:ea typeface="+mn-ea"/>
                <a:cs typeface="+mn-cs"/>
              </a:rPr>
              <a:t>, lorsque le client arrive en magasin après une déambulation virtuelle plus ou moins longue, il n’a pas les mêmes attentes, le même comportement, ni la même manière de percevoir le monde physique qu’un client vierge de toute déambulation virtuelle préalable. Et d’une manière plus générale, lorsque le client quitte ses </a:t>
            </a:r>
            <a:r>
              <a:rPr lang="fr-FR" sz="1200" b="0" i="1" u="none" strike="noStrike" kern="1200" baseline="0" dirty="0" err="1">
                <a:solidFill>
                  <a:schemeClr val="tx1"/>
                </a:solidFill>
                <a:latin typeface="+mn-lt"/>
                <a:ea typeface="+mn-ea"/>
                <a:cs typeface="+mn-cs"/>
              </a:rPr>
              <a:t>devices</a:t>
            </a:r>
            <a:r>
              <a:rPr lang="fr-FR" sz="1200" b="0" i="0" u="none" strike="noStrike" kern="1200" baseline="0" dirty="0">
                <a:solidFill>
                  <a:schemeClr val="tx1"/>
                </a:solidFill>
                <a:latin typeface="+mn-lt"/>
                <a:ea typeface="+mn-ea"/>
                <a:cs typeface="+mn-cs"/>
              </a:rPr>
              <a:t>, il attend autre chose du monde physique.</a:t>
            </a:r>
            <a:endParaRPr lang="fr-FR" dirty="0"/>
          </a:p>
        </p:txBody>
      </p:sp>
      <p:sp>
        <p:nvSpPr>
          <p:cNvPr id="4" name="Espace réservé du numéro de diapositive 3"/>
          <p:cNvSpPr>
            <a:spLocks noGrp="1"/>
          </p:cNvSpPr>
          <p:nvPr>
            <p:ph type="sldNum" sz="quarter" idx="10"/>
          </p:nvPr>
        </p:nvSpPr>
        <p:spPr/>
        <p:txBody>
          <a:bodyPr/>
          <a:lstStyle/>
          <a:p>
            <a:fld id="{6384830C-37F4-4CF9-A58C-6A6657DC959E}" type="slidenum">
              <a:rPr lang="fr-FR" smtClean="0"/>
              <a:t>10</a:t>
            </a:fld>
            <a:endParaRPr lang="fr-FR"/>
          </a:p>
        </p:txBody>
      </p:sp>
    </p:spTree>
    <p:extLst>
      <p:ext uri="{BB962C8B-B14F-4D97-AF65-F5344CB8AC3E}">
        <p14:creationId xmlns:p14="http://schemas.microsoft.com/office/powerpoint/2010/main" val="1495200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1entré sur les magasins physiques qui sont des individus utilisant peu de points de contact dans la phase de </a:t>
            </a:r>
            <a:r>
              <a:rPr lang="fr-FR" sz="1200" dirty="0" err="1"/>
              <a:t>pré-achat</a:t>
            </a:r>
            <a:r>
              <a:rPr lang="fr-FR" sz="1200" dirty="0"/>
              <a:t> et peu de points de contact en ligne et achetant toujours en magasin physique,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2qui regroupe des clients utilisant peu de points de contact pour leur recherche d’information mais des points de contact essentiellement digitaux aboutissant ainsi à un achat en ligne,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3 avec des consommateurs qui mobilisent davantage de points de contact, notamment digitaux, et achètent en ligne,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4 beaucoup de canaux</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5</a:t>
            </a:r>
            <a:r>
              <a:rPr lang="fr-FR" sz="1200" i="1" dirty="0"/>
              <a:t>)</a:t>
            </a:r>
            <a:r>
              <a:rPr lang="fr-FR" sz="1200" dirty="0"/>
              <a:t> qui regroupe des consommateurs qui mobilisent environ quatre points de contact essentiellement digitaux lors de la phase de recherche d’information mais qui achètent systématiquement en magasin physique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endParaRPr lang="fr-FR" dirty="0"/>
          </a:p>
        </p:txBody>
      </p:sp>
      <p:sp>
        <p:nvSpPr>
          <p:cNvPr id="4" name="Espace réservé du numéro de diapositive 3"/>
          <p:cNvSpPr>
            <a:spLocks noGrp="1"/>
          </p:cNvSpPr>
          <p:nvPr>
            <p:ph type="sldNum" sz="quarter" idx="10"/>
          </p:nvPr>
        </p:nvSpPr>
        <p:spPr/>
        <p:txBody>
          <a:bodyPr/>
          <a:lstStyle/>
          <a:p>
            <a:fld id="{6384830C-37F4-4CF9-A58C-6A6657DC959E}" type="slidenum">
              <a:rPr lang="fr-FR" smtClean="0"/>
              <a:t>11</a:t>
            </a:fld>
            <a:endParaRPr lang="fr-FR"/>
          </a:p>
        </p:txBody>
      </p:sp>
    </p:spTree>
    <p:extLst>
      <p:ext uri="{BB962C8B-B14F-4D97-AF65-F5344CB8AC3E}">
        <p14:creationId xmlns:p14="http://schemas.microsoft.com/office/powerpoint/2010/main" val="1217883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a:t>Exemple d’</a:t>
            </a:r>
            <a:r>
              <a:rPr lang="fr-FR" altLang="fr-FR" dirty="0" err="1"/>
              <a:t>omnicanal</a:t>
            </a:r>
            <a:r>
              <a:rPr lang="fr-FR" altLang="fr-FR" baseline="0" dirty="0" err="1"/>
              <a:t>ité</a:t>
            </a:r>
            <a:r>
              <a:rPr lang="fr-FR" altLang="fr-FR" baseline="0" dirty="0"/>
              <a:t> : DARTY et  l’optimisation des canaux </a:t>
            </a:r>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12</a:t>
            </a:fld>
            <a:endParaRPr lang="fr-FR" altLang="fr-FR">
              <a:latin typeface="Calibri" panose="020F0502020204030204" pitchFamily="34" charset="0"/>
            </a:endParaRPr>
          </a:p>
        </p:txBody>
      </p:sp>
    </p:spTree>
    <p:extLst>
      <p:ext uri="{BB962C8B-B14F-4D97-AF65-F5344CB8AC3E}">
        <p14:creationId xmlns:p14="http://schemas.microsoft.com/office/powerpoint/2010/main" val="339872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Agir sur ses parcours clients et son expérience clients, c’est déterminer où, quand et comment fluidifier, réparer, faciliter, personnaliser, mais aussi se différencier.</a:t>
            </a:r>
          </a:p>
          <a:p>
            <a:pPr fontAlgn="base"/>
            <a:r>
              <a:rPr lang="fr-FR" sz="1200" b="0" i="0" kern="1200" dirty="0">
                <a:solidFill>
                  <a:schemeClr val="tx1"/>
                </a:solidFill>
                <a:effectLst/>
                <a:latin typeface="+mn-lt"/>
                <a:ea typeface="+mn-ea"/>
                <a:cs typeface="+mn-cs"/>
              </a:rPr>
              <a:t>En </a:t>
            </a:r>
            <a:r>
              <a:rPr lang="fr-FR" sz="1200" b="0" i="0" kern="1200" dirty="0" err="1">
                <a:solidFill>
                  <a:schemeClr val="tx1"/>
                </a:solidFill>
                <a:effectLst/>
                <a:latin typeface="+mn-lt"/>
                <a:ea typeface="+mn-ea"/>
                <a:cs typeface="+mn-cs"/>
              </a:rPr>
              <a:t>co</a:t>
            </a:r>
            <a:r>
              <a:rPr lang="fr-FR" sz="1200" b="0" i="0" kern="1200" dirty="0">
                <a:solidFill>
                  <a:schemeClr val="tx1"/>
                </a:solidFill>
                <a:effectLst/>
                <a:latin typeface="+mn-lt"/>
                <a:ea typeface="+mn-ea"/>
                <a:cs typeface="+mn-cs"/>
              </a:rPr>
              <a:t>-création avec toutes les  équipes, sont identifiées les opportunités d’engager et de surprendre prospects et clients. Et de créer de nouveaux avantages concurrentiels décisifs. </a:t>
            </a:r>
          </a:p>
          <a:p>
            <a:pPr fontAlgn="base"/>
            <a:r>
              <a:rPr lang="fr-FR" sz="1400" b="1" i="0" kern="1200" dirty="0">
                <a:solidFill>
                  <a:schemeClr val="tx1"/>
                </a:solidFill>
                <a:effectLst/>
                <a:latin typeface="+mn-lt"/>
                <a:ea typeface="+mn-ea"/>
                <a:cs typeface="+mn-cs"/>
              </a:rPr>
              <a:t>Le plus : aligner l’ensemble des acteurs en interne sur une vision cohérente et unifiée des parcours de demain, digital </a:t>
            </a:r>
            <a:r>
              <a:rPr lang="fr-FR" sz="1400" b="1" i="0" kern="1200" dirty="0" err="1">
                <a:solidFill>
                  <a:schemeClr val="tx1"/>
                </a:solidFill>
                <a:effectLst/>
                <a:latin typeface="+mn-lt"/>
                <a:ea typeface="+mn-ea"/>
                <a:cs typeface="+mn-cs"/>
              </a:rPr>
              <a:t>included</a:t>
            </a:r>
            <a:r>
              <a:rPr lang="fr-FR" sz="1400" b="1" i="0" kern="1200" dirty="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C426F971-65D2-41DC-80EB-B6904FA83B1D}" type="slidenum">
              <a:rPr lang="fr-FR" smtClean="0"/>
              <a:t>13</a:t>
            </a:fld>
            <a:endParaRPr lang="fr-FR"/>
          </a:p>
        </p:txBody>
      </p:sp>
    </p:spTree>
    <p:extLst>
      <p:ext uri="{BB962C8B-B14F-4D97-AF65-F5344CB8AC3E}">
        <p14:creationId xmlns:p14="http://schemas.microsoft.com/office/powerpoint/2010/main" val="405252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Agir sur ses parcours clients et son expérience clients, c’est déterminer où, quand et comment fluidifier, réparer, faciliter, personnaliser, mais aussi se différencier.</a:t>
            </a:r>
          </a:p>
          <a:p>
            <a:pPr fontAlgn="base"/>
            <a:r>
              <a:rPr lang="fr-FR" sz="1200" b="0" i="0" kern="1200" dirty="0">
                <a:solidFill>
                  <a:schemeClr val="tx1"/>
                </a:solidFill>
                <a:effectLst/>
                <a:latin typeface="+mn-lt"/>
                <a:ea typeface="+mn-ea"/>
                <a:cs typeface="+mn-cs"/>
              </a:rPr>
              <a:t>En </a:t>
            </a:r>
            <a:r>
              <a:rPr lang="fr-FR" sz="1200" b="0" i="0" kern="1200" dirty="0" err="1">
                <a:solidFill>
                  <a:schemeClr val="tx1"/>
                </a:solidFill>
                <a:effectLst/>
                <a:latin typeface="+mn-lt"/>
                <a:ea typeface="+mn-ea"/>
                <a:cs typeface="+mn-cs"/>
              </a:rPr>
              <a:t>co</a:t>
            </a:r>
            <a:r>
              <a:rPr lang="fr-FR" sz="1200" b="0" i="0" kern="1200" dirty="0">
                <a:solidFill>
                  <a:schemeClr val="tx1"/>
                </a:solidFill>
                <a:effectLst/>
                <a:latin typeface="+mn-lt"/>
                <a:ea typeface="+mn-ea"/>
                <a:cs typeface="+mn-cs"/>
              </a:rPr>
              <a:t>-création avec toutes les  équipes, sont identifiées les opportunités d’engager et de surprendre prospects et clients. Et de créer de nouveaux avantages concurrentiels décisifs. </a:t>
            </a:r>
          </a:p>
          <a:p>
            <a:pPr fontAlgn="base"/>
            <a:r>
              <a:rPr lang="fr-FR" sz="1400" b="1" i="0" kern="1200" dirty="0">
                <a:solidFill>
                  <a:schemeClr val="tx1"/>
                </a:solidFill>
                <a:effectLst/>
                <a:latin typeface="+mn-lt"/>
                <a:ea typeface="+mn-ea"/>
                <a:cs typeface="+mn-cs"/>
              </a:rPr>
              <a:t>Le plus : aligner l’ensemble des acteurs en interne sur une vision cohérente et unifiée des parcours de demain, digital </a:t>
            </a:r>
            <a:r>
              <a:rPr lang="fr-FR" sz="1400" b="1" i="0" kern="1200" dirty="0" err="1">
                <a:solidFill>
                  <a:schemeClr val="tx1"/>
                </a:solidFill>
                <a:effectLst/>
                <a:latin typeface="+mn-lt"/>
                <a:ea typeface="+mn-ea"/>
                <a:cs typeface="+mn-cs"/>
              </a:rPr>
              <a:t>included</a:t>
            </a:r>
            <a:r>
              <a:rPr lang="fr-FR" sz="1400" b="1" i="0" kern="1200" dirty="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C426F971-65D2-41DC-80EB-B6904FA83B1D}" type="slidenum">
              <a:rPr lang="fr-FR" smtClean="0"/>
              <a:t>14</a:t>
            </a:fld>
            <a:endParaRPr lang="fr-FR"/>
          </a:p>
        </p:txBody>
      </p:sp>
    </p:spTree>
    <p:extLst>
      <p:ext uri="{BB962C8B-B14F-4D97-AF65-F5344CB8AC3E}">
        <p14:creationId xmlns:p14="http://schemas.microsoft.com/office/powerpoint/2010/main" val="188699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Agir sur ses parcours clients et son expérience clients, c’est déterminer où, quand et comment fluidifier, réparer, faciliter, personnaliser, mais aussi se différencier.</a:t>
            </a:r>
          </a:p>
          <a:p>
            <a:pPr fontAlgn="base"/>
            <a:r>
              <a:rPr lang="fr-FR" sz="1200" b="0" i="0" kern="1200" dirty="0">
                <a:solidFill>
                  <a:schemeClr val="tx1"/>
                </a:solidFill>
                <a:effectLst/>
                <a:latin typeface="+mn-lt"/>
                <a:ea typeface="+mn-ea"/>
                <a:cs typeface="+mn-cs"/>
              </a:rPr>
              <a:t>En </a:t>
            </a:r>
            <a:r>
              <a:rPr lang="fr-FR" sz="1200" b="0" i="0" kern="1200" dirty="0" err="1">
                <a:solidFill>
                  <a:schemeClr val="tx1"/>
                </a:solidFill>
                <a:effectLst/>
                <a:latin typeface="+mn-lt"/>
                <a:ea typeface="+mn-ea"/>
                <a:cs typeface="+mn-cs"/>
              </a:rPr>
              <a:t>co</a:t>
            </a:r>
            <a:r>
              <a:rPr lang="fr-FR" sz="1200" b="0" i="0" kern="1200" dirty="0">
                <a:solidFill>
                  <a:schemeClr val="tx1"/>
                </a:solidFill>
                <a:effectLst/>
                <a:latin typeface="+mn-lt"/>
                <a:ea typeface="+mn-ea"/>
                <a:cs typeface="+mn-cs"/>
              </a:rPr>
              <a:t>-création avec toutes les  équipes, sont identifiées les opportunités d’engager et de surprendre prospects et clients. Et de créer de nouveaux avantages concurrentiels décisifs. </a:t>
            </a:r>
          </a:p>
          <a:p>
            <a:pPr fontAlgn="base"/>
            <a:r>
              <a:rPr lang="fr-FR" sz="1400" b="1" i="0" kern="1200" dirty="0">
                <a:solidFill>
                  <a:schemeClr val="tx1"/>
                </a:solidFill>
                <a:effectLst/>
                <a:latin typeface="+mn-lt"/>
                <a:ea typeface="+mn-ea"/>
                <a:cs typeface="+mn-cs"/>
              </a:rPr>
              <a:t>Le plus : aligner l’ensemble des acteurs en interne sur une vision cohérente et unifiée des parcours de demain, digital </a:t>
            </a:r>
            <a:r>
              <a:rPr lang="fr-FR" sz="1400" b="1" i="0" kern="1200" dirty="0" err="1">
                <a:solidFill>
                  <a:schemeClr val="tx1"/>
                </a:solidFill>
                <a:effectLst/>
                <a:latin typeface="+mn-lt"/>
                <a:ea typeface="+mn-ea"/>
                <a:cs typeface="+mn-cs"/>
              </a:rPr>
              <a:t>included</a:t>
            </a:r>
            <a:r>
              <a:rPr lang="fr-FR" sz="1400" b="1" i="0" kern="1200" dirty="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C426F971-65D2-41DC-80EB-B6904FA83B1D}" type="slidenum">
              <a:rPr lang="fr-FR" smtClean="0"/>
              <a:t>16</a:t>
            </a:fld>
            <a:endParaRPr lang="fr-FR"/>
          </a:p>
        </p:txBody>
      </p:sp>
    </p:spTree>
    <p:extLst>
      <p:ext uri="{BB962C8B-B14F-4D97-AF65-F5344CB8AC3E}">
        <p14:creationId xmlns:p14="http://schemas.microsoft.com/office/powerpoint/2010/main" val="2913228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dirty="0"/>
          </a:p>
        </p:txBody>
      </p:sp>
      <p:sp>
        <p:nvSpPr>
          <p:cNvPr id="17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484BF83-5D99-4B90-9453-DEE65DD4B44C}" type="slidenum">
              <a:rPr lang="fr-FR" altLang="fr-FR">
                <a:latin typeface="Calibri" panose="020F0502020204030204" pitchFamily="34" charset="0"/>
              </a:rPr>
              <a:pPr/>
              <a:t>17</a:t>
            </a:fld>
            <a:endParaRPr lang="fr-FR" altLang="fr-FR">
              <a:latin typeface="Calibri" panose="020F0502020204030204" pitchFamily="34" charset="0"/>
            </a:endParaRPr>
          </a:p>
        </p:txBody>
      </p:sp>
    </p:spTree>
    <p:extLst>
      <p:ext uri="{BB962C8B-B14F-4D97-AF65-F5344CB8AC3E}">
        <p14:creationId xmlns:p14="http://schemas.microsoft.com/office/powerpoint/2010/main" val="1646511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384830C-37F4-4CF9-A58C-6A6657DC959E}" type="slidenum">
              <a:rPr lang="fr-FR" smtClean="0"/>
              <a:t>18</a:t>
            </a:fld>
            <a:endParaRPr lang="fr-FR"/>
          </a:p>
        </p:txBody>
      </p:sp>
    </p:spTree>
    <p:extLst>
      <p:ext uri="{BB962C8B-B14F-4D97-AF65-F5344CB8AC3E}">
        <p14:creationId xmlns:p14="http://schemas.microsoft.com/office/powerpoint/2010/main" val="604975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Lien (anticiper les pannes,)</a:t>
            </a:r>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20</a:t>
            </a:fld>
            <a:endParaRPr lang="fr-FR"/>
          </a:p>
        </p:txBody>
      </p:sp>
    </p:spTree>
    <p:extLst>
      <p:ext uri="{BB962C8B-B14F-4D97-AF65-F5344CB8AC3E}">
        <p14:creationId xmlns:p14="http://schemas.microsoft.com/office/powerpoint/2010/main" val="2332062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You drive: </a:t>
            </a:r>
            <a:r>
              <a:rPr lang="fr-FR" b="0" i="1" dirty="0">
                <a:solidFill>
                  <a:srgbClr val="001964"/>
                </a:solidFill>
                <a:effectLst/>
                <a:latin typeface="WesFY-Medium"/>
              </a:rPr>
              <a:t>s, Direct Assurance et son produit d’assurance connectée </a:t>
            </a:r>
            <a:r>
              <a:rPr lang="fr-FR" b="0" i="1" dirty="0" err="1">
                <a:solidFill>
                  <a:srgbClr val="001964"/>
                </a:solidFill>
                <a:effectLst/>
                <a:latin typeface="WesFY-Medium"/>
              </a:rPr>
              <a:t>YouDrive</a:t>
            </a:r>
            <a:r>
              <a:rPr lang="fr-FR" b="0" i="1" dirty="0">
                <a:solidFill>
                  <a:srgbClr val="001964"/>
                </a:solidFill>
                <a:effectLst/>
                <a:latin typeface="WesFY-Medium"/>
              </a:rPr>
              <a:t> propose aujourd’hui une tarification d’assurance automobile basée non plus seulement sur l’âge, le sexe ou l’ancienneté du permis de conduire, mais sur le comportement du conducteur au volant. Grâce aux données d’usage remontées par un boîtier placé dans le véhicule, les clients disposent d’un contrat d’assurance sur-mesure, adapté à la réalité de leur conduite. </a:t>
            </a:r>
          </a:p>
          <a:p>
            <a:endParaRPr lang="fr-FR" b="0" i="1" dirty="0">
              <a:solidFill>
                <a:srgbClr val="001964"/>
              </a:solidFill>
              <a:effectLst/>
              <a:latin typeface="WesFY-Medium"/>
            </a:endParaRPr>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21</a:t>
            </a:fld>
            <a:endParaRPr lang="fr-FR"/>
          </a:p>
        </p:txBody>
      </p:sp>
    </p:spTree>
    <p:extLst>
      <p:ext uri="{BB962C8B-B14F-4D97-AF65-F5344CB8AC3E}">
        <p14:creationId xmlns:p14="http://schemas.microsoft.com/office/powerpoint/2010/main" val="668080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Le bot agit comme une personne naturelle et doit donner des réponses aussi authentiques que possible pour donner à l’utilisateur l’impression d’avoir un interlocuteur réel.      </a:t>
            </a:r>
            <a:endParaRPr lang="fr-FR" dirty="0"/>
          </a:p>
        </p:txBody>
      </p:sp>
      <p:sp>
        <p:nvSpPr>
          <p:cNvPr id="4" name="Espace réservé du numéro de diapositive 3"/>
          <p:cNvSpPr>
            <a:spLocks noGrp="1"/>
          </p:cNvSpPr>
          <p:nvPr>
            <p:ph type="sldNum" sz="quarter" idx="10"/>
          </p:nvPr>
        </p:nvSpPr>
        <p:spPr/>
        <p:txBody>
          <a:bodyPr/>
          <a:lstStyle/>
          <a:p>
            <a:fld id="{DA5A1F6F-E4E4-427F-808B-50F30F4A482B}" type="slidenum">
              <a:rPr lang="fr-FR" smtClean="0"/>
              <a:t>22</a:t>
            </a:fld>
            <a:endParaRPr lang="fr-FR"/>
          </a:p>
        </p:txBody>
      </p:sp>
    </p:spTree>
    <p:extLst>
      <p:ext uri="{BB962C8B-B14F-4D97-AF65-F5344CB8AC3E}">
        <p14:creationId xmlns:p14="http://schemas.microsoft.com/office/powerpoint/2010/main" val="2437812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Le bot agit comme une personne naturelle et doit donner des réponses aussi authentiques que possible pour donner à l’utilisateur l’impression d’avoir un interlocuteur réel.      </a:t>
            </a:r>
            <a:endParaRPr lang="fr-FR" dirty="0"/>
          </a:p>
        </p:txBody>
      </p:sp>
      <p:sp>
        <p:nvSpPr>
          <p:cNvPr id="4" name="Espace réservé du numéro de diapositive 3"/>
          <p:cNvSpPr>
            <a:spLocks noGrp="1"/>
          </p:cNvSpPr>
          <p:nvPr>
            <p:ph type="sldNum" sz="quarter" idx="10"/>
          </p:nvPr>
        </p:nvSpPr>
        <p:spPr/>
        <p:txBody>
          <a:bodyPr/>
          <a:lstStyle/>
          <a:p>
            <a:fld id="{DA5A1F6F-E4E4-427F-808B-50F30F4A482B}" type="slidenum">
              <a:rPr lang="fr-FR" smtClean="0"/>
              <a:t>23</a:t>
            </a:fld>
            <a:endParaRPr lang="fr-FR"/>
          </a:p>
        </p:txBody>
      </p:sp>
    </p:spTree>
    <p:extLst>
      <p:ext uri="{BB962C8B-B14F-4D97-AF65-F5344CB8AC3E}">
        <p14:creationId xmlns:p14="http://schemas.microsoft.com/office/powerpoint/2010/main" val="3263953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 </a:t>
            </a:r>
            <a:r>
              <a:rPr lang="fr-FR" dirty="0" err="1"/>
              <a:t>chatbots</a:t>
            </a:r>
            <a:r>
              <a:rPr lang="fr-FR" dirty="0"/>
              <a:t> suivent un ensemble de règles prédéfinies pour guider les interactions. Ils utilisent des scripts et des flux de conversation linéaires pour répondre aux demandes des utilisateurs.</a:t>
            </a:r>
          </a:p>
          <a:p>
            <a:r>
              <a:rPr lang="fr-FR" b="1" dirty="0"/>
              <a:t>Caractéristiques Techniques</a:t>
            </a:r>
            <a:r>
              <a:rPr lang="fr-FR" dirty="0"/>
              <a:t> :</a:t>
            </a:r>
          </a:p>
          <a:p>
            <a:pPr>
              <a:buFont typeface="Arial" panose="020B0604020202020204" pitchFamily="34" charset="0"/>
              <a:buChar char="•"/>
            </a:pPr>
            <a:r>
              <a:rPr lang="fr-FR" b="1" dirty="0"/>
              <a:t>Systèmes de Règles</a:t>
            </a:r>
            <a:r>
              <a:rPr lang="fr-FR" dirty="0"/>
              <a:t> : Basés sur des if-</a:t>
            </a:r>
            <a:r>
              <a:rPr lang="fr-FR" dirty="0" err="1"/>
              <a:t>then</a:t>
            </a:r>
            <a:r>
              <a:rPr lang="fr-FR" dirty="0"/>
              <a:t> </a:t>
            </a:r>
            <a:r>
              <a:rPr lang="fr-FR" dirty="0" err="1"/>
              <a:t>statements</a:t>
            </a:r>
            <a:r>
              <a:rPr lang="fr-FR" dirty="0"/>
              <a:t> (si-alors). Les réponses sont générées en fonction des conditions définies dans les règles.</a:t>
            </a:r>
          </a:p>
          <a:p>
            <a:pPr>
              <a:buFont typeface="Arial" panose="020B0604020202020204" pitchFamily="34" charset="0"/>
              <a:buChar char="•"/>
            </a:pPr>
            <a:endParaRPr lang="fr-FR" dirty="0"/>
          </a:p>
          <a:p>
            <a:r>
              <a:rPr lang="fr-FR" dirty="0"/>
              <a:t>: Ces </a:t>
            </a:r>
            <a:r>
              <a:rPr lang="fr-FR" dirty="0" err="1"/>
              <a:t>chatbots</a:t>
            </a:r>
            <a:r>
              <a:rPr lang="fr-FR" dirty="0"/>
              <a:t> utilisent des techniques d'intelligence artificielle pour comprendre et répondre aux requêtes des utilisateurs de manière plus naturelle et contextuelle.</a:t>
            </a:r>
          </a:p>
          <a:p>
            <a:r>
              <a:rPr lang="fr-FR" b="1" dirty="0"/>
              <a:t>Caractéristiques Techniques</a:t>
            </a:r>
            <a:r>
              <a:rPr lang="fr-FR" dirty="0"/>
              <a:t> :</a:t>
            </a:r>
          </a:p>
          <a:p>
            <a:pPr>
              <a:buFont typeface="Arial" panose="020B0604020202020204" pitchFamily="34" charset="0"/>
              <a:buChar char="•"/>
            </a:pPr>
            <a:r>
              <a:rPr lang="fr-FR" b="1" dirty="0"/>
              <a:t>Traitement du Langage Naturel (NLP)</a:t>
            </a:r>
            <a:r>
              <a:rPr lang="fr-FR" dirty="0"/>
              <a:t> : Utilisent des modèles de NLP pour comprendre le langage humain. Ils peuvent interpréter le contexte et les nuances du langage.</a:t>
            </a:r>
          </a:p>
          <a:p>
            <a:pP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24</a:t>
            </a:fld>
            <a:endParaRPr lang="fr-FR"/>
          </a:p>
        </p:txBody>
      </p:sp>
    </p:spTree>
    <p:extLst>
      <p:ext uri="{BB962C8B-B14F-4D97-AF65-F5344CB8AC3E}">
        <p14:creationId xmlns:p14="http://schemas.microsoft.com/office/powerpoint/2010/main" val="696020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Voicebots</a:t>
            </a:r>
            <a:endParaRPr lang="fr-FR" dirty="0">
              <a:latin typeface="AvenirNext LT Pro Medium"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25</a:t>
            </a:fld>
            <a:endParaRPr lang="fr-FR"/>
          </a:p>
        </p:txBody>
      </p:sp>
    </p:spTree>
    <p:extLst>
      <p:ext uri="{BB962C8B-B14F-4D97-AF65-F5344CB8AC3E}">
        <p14:creationId xmlns:p14="http://schemas.microsoft.com/office/powerpoint/2010/main" val="1990065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Voicebots</a:t>
            </a:r>
            <a:endParaRPr lang="fr-FR" dirty="0">
              <a:latin typeface="AvenirNext LT Pro Medium"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26</a:t>
            </a:fld>
            <a:endParaRPr lang="fr-FR"/>
          </a:p>
        </p:txBody>
      </p:sp>
    </p:spTree>
    <p:extLst>
      <p:ext uri="{BB962C8B-B14F-4D97-AF65-F5344CB8AC3E}">
        <p14:creationId xmlns:p14="http://schemas.microsoft.com/office/powerpoint/2010/main" val="3950241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Voicebots</a:t>
            </a:r>
            <a:endParaRPr lang="fr-FR" dirty="0">
              <a:latin typeface="AvenirNext LT Pro Medium"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28</a:t>
            </a:fld>
            <a:endParaRPr lang="fr-FR"/>
          </a:p>
        </p:txBody>
      </p:sp>
    </p:spTree>
    <p:extLst>
      <p:ext uri="{BB962C8B-B14F-4D97-AF65-F5344CB8AC3E}">
        <p14:creationId xmlns:p14="http://schemas.microsoft.com/office/powerpoint/2010/main" val="35507788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Voicebots</a:t>
            </a:r>
            <a:endParaRPr lang="fr-FR" dirty="0">
              <a:latin typeface="AvenirNext LT Pro Medium"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DA5A1F6F-E4E4-427F-808B-50F30F4A482B}" type="slidenum">
              <a:rPr lang="fr-FR" smtClean="0"/>
              <a:t>29</a:t>
            </a:fld>
            <a:endParaRPr lang="fr-FR"/>
          </a:p>
        </p:txBody>
      </p:sp>
    </p:spTree>
    <p:extLst>
      <p:ext uri="{BB962C8B-B14F-4D97-AF65-F5344CB8AC3E}">
        <p14:creationId xmlns:p14="http://schemas.microsoft.com/office/powerpoint/2010/main" val="120856662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 uri="{28A0092B-C50C-407E-A947-70E740481C1C}">
                    <a14:useLocalDpi xmlns:a14="http://schemas.microsoft.com/office/drawing/2010/main"/>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1D81DBD3-CCC4-47DB-A8FA-815179FB492A}" type="datetime1">
              <a:rPr lang="fr-FR" smtClean="0"/>
              <a:t>08/10/2025</a:t>
            </a:fld>
            <a:endParaRPr lang="en-US" dirty="0"/>
          </a:p>
        </p:txBody>
      </p:sp>
      <p:sp>
        <p:nvSpPr>
          <p:cNvPr id="5" name="Footer Placeholder 4"/>
          <p:cNvSpPr>
            <a:spLocks noGrp="1"/>
          </p:cNvSpPr>
          <p:nvPr>
            <p:ph type="ftr" sz="quarter" idx="11"/>
          </p:nvPr>
        </p:nvSpPr>
        <p:spPr/>
        <p:txBody>
          <a:bodyPr/>
          <a:lstStyle/>
          <a:p>
            <a:r>
              <a:rPr lang="en-US"/>
              <a:t>Samy BELAID,   Henda GMADA et  Damien CHANEY</a:t>
            </a:r>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CE570DF-A06F-40A7-8D28-7FA49B226C35}" type="datetime1">
              <a:rPr lang="fr-FR" smtClean="0"/>
              <a:t>08/10/2025</a:t>
            </a:fld>
            <a:endParaRPr lang="en-US" dirty="0"/>
          </a:p>
        </p:txBody>
      </p:sp>
      <p:sp>
        <p:nvSpPr>
          <p:cNvPr id="5" name="Footer Placeholder 4"/>
          <p:cNvSpPr>
            <a:spLocks noGrp="1"/>
          </p:cNvSpPr>
          <p:nvPr>
            <p:ph type="ftr" sz="quarter" idx="11"/>
          </p:nvPr>
        </p:nvSpPr>
        <p:spPr/>
        <p:txBody>
          <a:bodyPr/>
          <a:lstStyle/>
          <a:p>
            <a:r>
              <a:rPr lang="en-US"/>
              <a:t>Samy BELAID,   Henda GMADA et  Damien CHANEY</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fr-FR"/>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30E7CC4F-73D0-4A01-BFDC-EB3925A91752}" type="datetime1">
              <a:rPr lang="fr-FR" smtClean="0"/>
              <a:t>08/10/2025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r>
              <a:rPr lang="en-US"/>
              <a:t>Samy BELAID,   Henda GMADA et  Damien CHANEY</a:t>
            </a:r>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 uri="{28A0092B-C50C-407E-A947-70E740481C1C}">
                    <a14:useLocalDpi xmlns:a14="http://schemas.microsoft.com/office/drawing/2010/main"/>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4853FEE-34AB-4C7C-974C-2B8FB5BD4828}" type="datetime1">
              <a:rPr lang="fr-FR" smtClean="0"/>
              <a:t>08/10/2025</a:t>
            </a:fld>
            <a:endParaRPr lang="en-US" dirty="0"/>
          </a:p>
        </p:txBody>
      </p:sp>
      <p:sp>
        <p:nvSpPr>
          <p:cNvPr id="6" name="Footer Placeholder 5"/>
          <p:cNvSpPr>
            <a:spLocks noGrp="1"/>
          </p:cNvSpPr>
          <p:nvPr>
            <p:ph type="ftr" sz="quarter" idx="11"/>
          </p:nvPr>
        </p:nvSpPr>
        <p:spPr/>
        <p:txBody>
          <a:bodyPr/>
          <a:lstStyle/>
          <a:p>
            <a:r>
              <a:rPr lang="en-US"/>
              <a:t>Samy BELAID,   Henda GMADA et  Damien CHANEY</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2E4922C-8088-4B0C-AD83-0E7F3675A19E}" type="datetime1">
              <a:rPr lang="fr-FR" smtClean="0"/>
              <a:t>08/10/2025</a:t>
            </a:fld>
            <a:endParaRPr lang="en-US" dirty="0"/>
          </a:p>
        </p:txBody>
      </p:sp>
      <p:sp>
        <p:nvSpPr>
          <p:cNvPr id="8" name="Footer Placeholder 7"/>
          <p:cNvSpPr>
            <a:spLocks noGrp="1"/>
          </p:cNvSpPr>
          <p:nvPr>
            <p:ph type="ftr" sz="quarter" idx="11"/>
          </p:nvPr>
        </p:nvSpPr>
        <p:spPr/>
        <p:txBody>
          <a:bodyPr/>
          <a:lstStyle/>
          <a:p>
            <a:r>
              <a:rPr lang="en-US"/>
              <a:t>Samy BELAID,   Henda GMADA et  Damien CHANEY</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32602F7-E404-4CDC-BE11-95E0903355AC}" type="datetime1">
              <a:rPr lang="fr-FR" smtClean="0"/>
              <a:t>08/10/2025</a:t>
            </a:fld>
            <a:endParaRPr lang="en-US" dirty="0"/>
          </a:p>
        </p:txBody>
      </p:sp>
      <p:sp>
        <p:nvSpPr>
          <p:cNvPr id="4" name="Footer Placeholder 3"/>
          <p:cNvSpPr>
            <a:spLocks noGrp="1"/>
          </p:cNvSpPr>
          <p:nvPr>
            <p:ph type="ftr" sz="quarter" idx="11"/>
          </p:nvPr>
        </p:nvSpPr>
        <p:spPr/>
        <p:txBody>
          <a:bodyPr/>
          <a:lstStyle/>
          <a:p>
            <a:r>
              <a:rPr lang="en-US"/>
              <a:t>Samy BELAID,   Henda GMADA et  Damien CHANEY</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BFE4E3-584B-4F28-9E57-A829E8869251}" type="datetime1">
              <a:rPr lang="fr-FR" smtClean="0"/>
              <a:t>08/10/2025</a:t>
            </a:fld>
            <a:endParaRPr lang="en-US" dirty="0"/>
          </a:p>
        </p:txBody>
      </p:sp>
      <p:sp>
        <p:nvSpPr>
          <p:cNvPr id="3" name="Footer Placeholder 2"/>
          <p:cNvSpPr>
            <a:spLocks noGrp="1"/>
          </p:cNvSpPr>
          <p:nvPr>
            <p:ph type="ftr" sz="quarter" idx="11"/>
          </p:nvPr>
        </p:nvSpPr>
        <p:spPr/>
        <p:txBody>
          <a:bodyPr/>
          <a:lstStyle/>
          <a:p>
            <a:r>
              <a:rPr lang="en-US"/>
              <a:t>Samy BELAID,   Henda GMADA et  Damien CHANEY</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D9976D5D-7B2C-4DAE-9587-026AEC0219D1}" type="datetime1">
              <a:rPr lang="fr-FR" smtClean="0"/>
              <a:t>08/10/2025</a:t>
            </a:fld>
            <a:endParaRPr lang="en-US" dirty="0"/>
          </a:p>
        </p:txBody>
      </p:sp>
      <p:sp>
        <p:nvSpPr>
          <p:cNvPr id="6" name="Footer Placeholder 5"/>
          <p:cNvSpPr>
            <a:spLocks noGrp="1"/>
          </p:cNvSpPr>
          <p:nvPr>
            <p:ph type="ftr" sz="quarter" idx="11"/>
          </p:nvPr>
        </p:nvSpPr>
        <p:spPr/>
        <p:txBody>
          <a:bodyPr/>
          <a:lstStyle/>
          <a:p>
            <a:r>
              <a:rPr lang="en-US"/>
              <a:t>Samy BELAID,   Henda GMADA et  Damien CHANEY</a:t>
            </a:r>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 uri="{28A0092B-C50C-407E-A947-70E740481C1C}">
                    <a14:useLocalDpi xmlns:a14="http://schemas.microsoft.com/office/drawing/2010/main"/>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09E64252-9525-42A1-8340-7B7C3F13378C}" type="datetime1">
              <a:rPr lang="fr-FR" smtClean="0"/>
              <a:t>08/10/2025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 uri="{28A0092B-C50C-407E-A947-70E740481C1C}">
                    <a14:useLocalDpi xmlns:a14="http://schemas.microsoft.com/office/drawing/2010/main"/>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10E7B3E-1CCB-4879-948E-B803022E8D6D}" type="datetime1">
              <a:rPr lang="fr-FR" smtClean="0"/>
              <a:t>08/10/2025</a:t>
            </a:fld>
            <a:endParaRPr lang="en-US" dirty="0"/>
          </a:p>
        </p:txBody>
      </p:sp>
      <p:sp>
        <p:nvSpPr>
          <p:cNvPr id="5" name="Footer Placeholder 4"/>
          <p:cNvSpPr>
            <a:spLocks noGrp="1"/>
          </p:cNvSpPr>
          <p:nvPr>
            <p:ph type="ftr" sz="quarter" idx="11"/>
          </p:nvPr>
        </p:nvSpPr>
        <p:spPr/>
        <p:txBody>
          <a:bodyPr/>
          <a:lstStyle/>
          <a:p>
            <a:r>
              <a:rPr lang="en-US"/>
              <a:t>Samy BELAID,   Henda GMADA et  Damien CHANEY</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18B25D9-A799-41B5-990F-69C5E06BA7F1}" type="datetime1">
              <a:rPr lang="fr-FR" smtClean="0"/>
              <a:t>08/10/2025</a:t>
            </a:fld>
            <a:endParaRPr lang="en-US" dirty="0"/>
          </a:p>
        </p:txBody>
      </p:sp>
      <p:sp>
        <p:nvSpPr>
          <p:cNvPr id="5" name="Footer Placeholder 4"/>
          <p:cNvSpPr>
            <a:spLocks noGrp="1"/>
          </p:cNvSpPr>
          <p:nvPr>
            <p:ph type="ftr" sz="quarter" idx="11"/>
          </p:nvPr>
        </p:nvSpPr>
        <p:spPr/>
        <p:txBody>
          <a:bodyPr/>
          <a:lstStyle/>
          <a:p>
            <a:r>
              <a:rPr lang="en-US"/>
              <a:t>Samy BELAID,   Henda GMADA et  Damien CHANEY</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02040EF-4B97-4431-9AF8-979D2AB145AC}" type="datetime1">
              <a:rPr lang="fr-FR" smtClean="0"/>
              <a:t>08/10/2025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Samy BELAID,   Henda GMADA et  Damien CHANEY</a:t>
            </a:r>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 uri="{28A0092B-C50C-407E-A947-70E740481C1C}">
                    <a14:useLocalDpi xmlns:a14="http://schemas.microsoft.com/office/drawing/2010/main"/>
                  </a:ext>
                </a:extLst>
              </a:blip>
              <a:srcRect/>
              <a:tile tx="50800" ty="0" sx="85000" sy="85000" flip="none" algn="tl"/>
            </a:blipFill>
            <a:ln w="25400" cap="flat" cmpd="sng" algn="ctr">
              <a:noFill/>
              <a:prstDash val="solid"/>
            </a:ln>
            <a:effectLst/>
          </p:spPr>
          <p:txBody>
            <a:bodyPr/>
            <a:lstStyle/>
            <a:p>
              <a:endParaRPr lang="fr-F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fr-F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5.png"/><Relationship Id="rId4"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slideLayout" Target="../slideLayouts/slideLayout6.xml"/><Relationship Id="rId7" Type="http://schemas.openxmlformats.org/officeDocument/2006/relationships/image" Target="../media/image8.jpe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jpeg"/><Relationship Id="rId5" Type="http://schemas.openxmlformats.org/officeDocument/2006/relationships/image" Target="../media/image5.png"/><Relationship Id="rId4" Type="http://schemas.openxmlformats.org/officeDocument/2006/relationships/notesSlide" Target="../notesSlides/notesSlide3.xml"/><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7.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5.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38.xml"/><Relationship Id="rId7" Type="http://schemas.openxmlformats.org/officeDocument/2006/relationships/image" Target="../media/image5.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6.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3.xml"/><Relationship Id="rId7" Type="http://schemas.openxmlformats.org/officeDocument/2006/relationships/notesSlide" Target="../notesSlides/notesSlide1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8.xml"/><Relationship Id="rId7" Type="http://schemas.openxmlformats.org/officeDocument/2006/relationships/notesSlide" Target="../notesSlides/notesSlide19.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Layout" Target="../slideLayouts/slideLayout6.xml"/><Relationship Id="rId5" Type="http://schemas.openxmlformats.org/officeDocument/2006/relationships/tags" Target="../tags/tag50.xml"/><Relationship Id="rId10" Type="http://schemas.openxmlformats.org/officeDocument/2006/relationships/image" Target="../media/image21.png"/><Relationship Id="rId4" Type="http://schemas.openxmlformats.org/officeDocument/2006/relationships/tags" Target="../tags/tag49.xml"/><Relationship Id="rId9"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3.xml"/><Relationship Id="rId7" Type="http://schemas.openxmlformats.org/officeDocument/2006/relationships/notesSlide" Target="../notesSlides/notesSlide20.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Layout" Target="../slideLayouts/slideLayout6.xml"/><Relationship Id="rId5" Type="http://schemas.openxmlformats.org/officeDocument/2006/relationships/tags" Target="../tags/tag55.xml"/><Relationship Id="rId10" Type="http://schemas.openxmlformats.org/officeDocument/2006/relationships/image" Target="../media/image22.png"/><Relationship Id="rId4" Type="http://schemas.openxmlformats.org/officeDocument/2006/relationships/tags" Target="../tags/tag54.xml"/><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8.xml"/><Relationship Id="rId7" Type="http://schemas.openxmlformats.org/officeDocument/2006/relationships/notesSlide" Target="../notesSlides/notesSlide2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Layout" Target="../slideLayouts/slideLayout3.xml"/><Relationship Id="rId5" Type="http://schemas.openxmlformats.org/officeDocument/2006/relationships/tags" Target="../tags/tag60.xml"/><Relationship Id="rId10" Type="http://schemas.openxmlformats.org/officeDocument/2006/relationships/image" Target="../media/image23.png"/><Relationship Id="rId4" Type="http://schemas.openxmlformats.org/officeDocument/2006/relationships/tags" Target="../tags/tag59.xml"/><Relationship Id="rId9" Type="http://schemas.openxmlformats.org/officeDocument/2006/relationships/image" Target="../media/image18.png"/></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63.xml"/><Relationship Id="rId7" Type="http://schemas.openxmlformats.org/officeDocument/2006/relationships/notesSlide" Target="../notesSlides/notesSlide2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Layout" Target="../slideLayouts/slideLayout3.xml"/><Relationship Id="rId11" Type="http://schemas.openxmlformats.org/officeDocument/2006/relationships/image" Target="../media/image26.jpeg"/><Relationship Id="rId5" Type="http://schemas.openxmlformats.org/officeDocument/2006/relationships/tags" Target="../tags/tag65.xml"/><Relationship Id="rId10" Type="http://schemas.openxmlformats.org/officeDocument/2006/relationships/image" Target="../media/image25.jpeg"/><Relationship Id="rId4" Type="http://schemas.openxmlformats.org/officeDocument/2006/relationships/tags" Target="../tags/tag64.xml"/><Relationship Id="rId9" Type="http://schemas.openxmlformats.org/officeDocument/2006/relationships/image" Target="../media/image24.png"/></Relationships>
</file>

<file path=ppt/slides/_rels/slide2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68.xml"/><Relationship Id="rId7" Type="http://schemas.openxmlformats.org/officeDocument/2006/relationships/image" Target="../media/image5.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23.xml"/><Relationship Id="rId5" Type="http://schemas.openxmlformats.org/officeDocument/2006/relationships/slideLayout" Target="../slideLayouts/slideLayout3.xml"/><Relationship Id="rId10" Type="http://schemas.openxmlformats.org/officeDocument/2006/relationships/image" Target="../media/image28.png"/><Relationship Id="rId4" Type="http://schemas.openxmlformats.org/officeDocument/2006/relationships/tags" Target="../tags/tag69.xml"/><Relationship Id="rId9"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72.xml"/><Relationship Id="rId7" Type="http://schemas.openxmlformats.org/officeDocument/2006/relationships/image" Target="../media/image5.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notesSlide" Target="../notesSlides/notesSlide24.xml"/><Relationship Id="rId5" Type="http://schemas.openxmlformats.org/officeDocument/2006/relationships/slideLayout" Target="../slideLayouts/slideLayout3.xml"/><Relationship Id="rId4" Type="http://schemas.openxmlformats.org/officeDocument/2006/relationships/tags" Target="../tags/tag73.xml"/><Relationship Id="rId9" Type="http://schemas.openxmlformats.org/officeDocument/2006/relationships/image" Target="../media/image31.jpeg"/></Relationships>
</file>

<file path=ppt/slides/_rels/slide2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76.xml"/><Relationship Id="rId7" Type="http://schemas.openxmlformats.org/officeDocument/2006/relationships/image" Target="../media/image5.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notesSlide" Target="../notesSlides/notesSlide25.xml"/><Relationship Id="rId5" Type="http://schemas.openxmlformats.org/officeDocument/2006/relationships/slideLayout" Target="../slideLayouts/slideLayout3.xml"/><Relationship Id="rId4"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6800" y="1482806"/>
            <a:ext cx="10058400" cy="1609344"/>
          </a:xfrm>
        </p:spPr>
        <p:txBody>
          <a:bodyPr>
            <a:normAutofit fontScale="90000"/>
          </a:bodyPr>
          <a:lstStyle/>
          <a:p>
            <a:pPr algn="ctr"/>
            <a:r>
              <a:rPr lang="fr-FR" sz="4400" b="1" dirty="0">
                <a:latin typeface="Arial" panose="020B0604020202020204" pitchFamily="34" charset="0"/>
                <a:cs typeface="Arial" panose="020B0604020202020204" pitchFamily="34" charset="0"/>
              </a:rPr>
              <a:t>Session 4: L’expérience client au service du marketing relationnel</a:t>
            </a:r>
          </a:p>
        </p:txBody>
      </p:sp>
      <p:sp>
        <p:nvSpPr>
          <p:cNvPr id="10" name="Espace réservé de la date 9"/>
          <p:cNvSpPr>
            <a:spLocks noGrp="1"/>
          </p:cNvSpPr>
          <p:nvPr>
            <p:ph type="dt" sz="half" idx="10"/>
          </p:nvPr>
        </p:nvSpPr>
        <p:spPr/>
        <p:txBody>
          <a:bodyPr/>
          <a:lstStyle/>
          <a:p>
            <a:fld id="{7155ED0C-BE61-4EAF-95DC-08AF4249D6EE}" type="datetime1">
              <a:rPr lang="fr-FR" smtClean="0"/>
              <a:t>08/10/2025</a:t>
            </a:fld>
            <a:endParaRPr lang="en-US" dirty="0"/>
          </a:p>
        </p:txBody>
      </p:sp>
      <p:sp>
        <p:nvSpPr>
          <p:cNvPr id="5" name="Espace réservé du numéro de diapositive 4"/>
          <p:cNvSpPr>
            <a:spLocks noGrp="1"/>
          </p:cNvSpPr>
          <p:nvPr>
            <p:ph type="sldNum" sz="quarter" idx="12"/>
          </p:nvPr>
        </p:nvSpPr>
        <p:spPr/>
        <p:txBody>
          <a:bodyPr/>
          <a:lstStyle/>
          <a:p>
            <a:fld id="{4FAB73BC-B049-4115-A692-8D63A059BFB8}" type="slidenum">
              <a:rPr lang="en-US" smtClean="0"/>
              <a:pPr/>
              <a:t>1</a:t>
            </a:fld>
            <a:endParaRPr lang="en-US" dirty="0"/>
          </a:p>
        </p:txBody>
      </p:sp>
      <p:sp>
        <p:nvSpPr>
          <p:cNvPr id="7" name="Rectangle 6"/>
          <p:cNvSpPr/>
          <p:nvPr>
            <p:custDataLst>
              <p:tags r:id="rId1"/>
            </p:custDataLst>
          </p:nvPr>
        </p:nvSpPr>
        <p:spPr>
          <a:xfrm>
            <a:off x="1" y="5855448"/>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cxnSp>
        <p:nvCxnSpPr>
          <p:cNvPr id="13" name="Connecteur droit 12"/>
          <p:cNvCxnSpPr/>
          <p:nvPr>
            <p:custDataLst>
              <p:tags r:id="rId3"/>
            </p:custDataLst>
          </p:nvPr>
        </p:nvCxnSpPr>
        <p:spPr>
          <a:xfrm flipV="1">
            <a:off x="948134" y="3599643"/>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8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1135162"/>
          </a:xfrm>
        </p:spPr>
        <p:txBody>
          <a:bodyPr>
            <a:normAutofit fontScale="90000"/>
          </a:bodyPr>
          <a:lstStyle/>
          <a:p>
            <a:r>
              <a:rPr lang="fr-FR" cap="none" dirty="0">
                <a:latin typeface="Arial" panose="020B0604020202020204" pitchFamily="34" charset="0"/>
                <a:cs typeface="Arial" panose="020B0604020202020204" pitchFamily="34" charset="0"/>
              </a:rPr>
              <a:t>Vers une économie de l’expérience </a:t>
            </a:r>
          </a:p>
        </p:txBody>
      </p:sp>
      <p:sp>
        <p:nvSpPr>
          <p:cNvPr id="5" name="Espace réservé du numéro de diapositive 4"/>
          <p:cNvSpPr>
            <a:spLocks noGrp="1"/>
          </p:cNvSpPr>
          <p:nvPr>
            <p:ph type="sldNum" sz="quarter" idx="12"/>
          </p:nvPr>
        </p:nvSpPr>
        <p:spPr/>
        <p:txBody>
          <a:bodyPr/>
          <a:lstStyle/>
          <a:p>
            <a:fld id="{4FAB73BC-B049-4115-A692-8D63A059BFB8}" type="slidenum">
              <a:rPr lang="en-US" smtClean="0"/>
              <a:t>2</a:t>
            </a:fld>
            <a:endParaRPr lang="en-US" dirty="0"/>
          </a:p>
        </p:txBody>
      </p:sp>
      <p:sp>
        <p:nvSpPr>
          <p:cNvPr id="6" name="Rectangle 5"/>
          <p:cNvSpPr/>
          <p:nvPr>
            <p:custDataLst>
              <p:tags r:id="rId1"/>
            </p:custDataLst>
          </p:nvPr>
        </p:nvSpPr>
        <p:spPr>
          <a:xfrm>
            <a:off x="1" y="5855448"/>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4" name="Espace réservé de la date 3"/>
          <p:cNvSpPr>
            <a:spLocks noGrp="1"/>
          </p:cNvSpPr>
          <p:nvPr>
            <p:ph type="dt" sz="half" idx="10"/>
          </p:nvPr>
        </p:nvSpPr>
        <p:spPr/>
        <p:txBody>
          <a:bodyPr/>
          <a:lstStyle/>
          <a:p>
            <a:fld id="{A0931B84-1611-4BC7-8704-ECED9371C4EF}" type="datetime1">
              <a:rPr lang="fr-FR" smtClean="0"/>
              <a:t>08/10/2025</a:t>
            </a:fld>
            <a:endParaRPr lang="en-US" dirty="0"/>
          </a:p>
        </p:txBody>
      </p:sp>
      <p:sp>
        <p:nvSpPr>
          <p:cNvPr id="11" name="Flèche : droite 10">
            <a:extLst>
              <a:ext uri="{FF2B5EF4-FFF2-40B4-BE49-F238E27FC236}">
                <a16:creationId xmlns:a16="http://schemas.microsoft.com/office/drawing/2014/main" id="{9E019AF7-775A-4357-BE09-89D9E7B8CC72}"/>
              </a:ext>
            </a:extLst>
          </p:cNvPr>
          <p:cNvSpPr/>
          <p:nvPr/>
        </p:nvSpPr>
        <p:spPr>
          <a:xfrm>
            <a:off x="762000" y="1901776"/>
            <a:ext cx="3505200" cy="2400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Du côté du client:</a:t>
            </a:r>
          </a:p>
          <a:p>
            <a:pPr algn="ctr"/>
            <a:r>
              <a:rPr lang="fr-FR" dirty="0"/>
              <a:t>Envie de vivre des expériences</a:t>
            </a:r>
          </a:p>
        </p:txBody>
      </p:sp>
      <p:sp>
        <p:nvSpPr>
          <p:cNvPr id="15" name="Flèche : gauche 14">
            <a:extLst>
              <a:ext uri="{FF2B5EF4-FFF2-40B4-BE49-F238E27FC236}">
                <a16:creationId xmlns:a16="http://schemas.microsoft.com/office/drawing/2014/main" id="{A8F6CC82-008A-4F6F-B6B7-A81C41AE3E0F}"/>
              </a:ext>
            </a:extLst>
          </p:cNvPr>
          <p:cNvSpPr/>
          <p:nvPr/>
        </p:nvSpPr>
        <p:spPr>
          <a:xfrm>
            <a:off x="8229600" y="1901776"/>
            <a:ext cx="3505200" cy="24003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Du côté des entreprises: </a:t>
            </a:r>
          </a:p>
          <a:p>
            <a:pPr algn="ctr"/>
            <a:r>
              <a:rPr lang="fr-FR" dirty="0"/>
              <a:t>Difficulté de se différencier uniquement sur le produit</a:t>
            </a:r>
          </a:p>
        </p:txBody>
      </p:sp>
      <p:sp>
        <p:nvSpPr>
          <p:cNvPr id="16" name="Triangle isocèle 15">
            <a:extLst>
              <a:ext uri="{FF2B5EF4-FFF2-40B4-BE49-F238E27FC236}">
                <a16:creationId xmlns:a16="http://schemas.microsoft.com/office/drawing/2014/main" id="{D3605364-37E1-4345-9A59-DEA769D82295}"/>
              </a:ext>
            </a:extLst>
          </p:cNvPr>
          <p:cNvSpPr/>
          <p:nvPr/>
        </p:nvSpPr>
        <p:spPr>
          <a:xfrm>
            <a:off x="4267200" y="1357013"/>
            <a:ext cx="3784600" cy="4313126"/>
          </a:xfrm>
          <a:prstGeom prst="triangl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Faire vivre des expériences au client = moyen de tisser une relation avec lui</a:t>
            </a:r>
          </a:p>
        </p:txBody>
      </p:sp>
    </p:spTree>
    <p:extLst>
      <p:ext uri="{BB962C8B-B14F-4D97-AF65-F5344CB8AC3E}">
        <p14:creationId xmlns:p14="http://schemas.microsoft.com/office/powerpoint/2010/main" val="73801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p:txBody>
          <a:bodyPr/>
          <a:lstStyle/>
          <a:p>
            <a:fld id="{12D52FAA-F34E-4F72-8657-5E6991907D75}" type="datetime1">
              <a:rPr lang="fr-FR" smtClean="0"/>
              <a:t>08/10/2025</a:t>
            </a:fld>
            <a:endParaRPr lang="fr-FR"/>
          </a:p>
        </p:txBody>
      </p:sp>
      <p:sp>
        <p:nvSpPr>
          <p:cNvPr id="6" name="Espace réservé du numéro de diapositive 5"/>
          <p:cNvSpPr>
            <a:spLocks noGrp="1"/>
          </p:cNvSpPr>
          <p:nvPr>
            <p:ph type="sldNum" sz="quarter" idx="12"/>
          </p:nvPr>
        </p:nvSpPr>
        <p:spPr/>
        <p:txBody>
          <a:bodyPr/>
          <a:lstStyle/>
          <a:p>
            <a:fld id="{86A4E710-53CF-4107-B354-89F9940CB5DE}" type="slidenum">
              <a:rPr lang="fr-FR" smtClean="0"/>
              <a:t>3</a:t>
            </a:fld>
            <a:endParaRPr lang="fr-FR"/>
          </a:p>
        </p:txBody>
      </p:sp>
      <p:pic>
        <p:nvPicPr>
          <p:cNvPr id="7" name="Imag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74539" y="2246390"/>
            <a:ext cx="8442661" cy="2857482"/>
          </a:xfrm>
          <a:prstGeom prst="rect">
            <a:avLst/>
          </a:prstGeom>
        </p:spPr>
      </p:pic>
      <p:sp>
        <p:nvSpPr>
          <p:cNvPr id="5" name="Rectangle 4"/>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0" name="Titre 1">
            <a:extLst>
              <a:ext uri="{FF2B5EF4-FFF2-40B4-BE49-F238E27FC236}">
                <a16:creationId xmlns:a16="http://schemas.microsoft.com/office/drawing/2014/main" id="{ADDB7F2E-EC3C-48C5-858C-7C25D52A27FB}"/>
              </a:ext>
            </a:extLst>
          </p:cNvPr>
          <p:cNvSpPr>
            <a:spLocks noGrp="1"/>
          </p:cNvSpPr>
          <p:nvPr>
            <p:ph type="title"/>
          </p:nvPr>
        </p:nvSpPr>
        <p:spPr>
          <a:xfrm>
            <a:off x="1069848" y="484632"/>
            <a:ext cx="10058400" cy="1135162"/>
          </a:xfrm>
        </p:spPr>
        <p:txBody>
          <a:bodyPr>
            <a:normAutofit fontScale="90000"/>
          </a:bodyPr>
          <a:lstStyle/>
          <a:p>
            <a:r>
              <a:rPr lang="fr-FR" cap="none" dirty="0">
                <a:latin typeface="Arial" panose="020B0604020202020204" pitchFamily="34" charset="0"/>
                <a:cs typeface="Arial" panose="020B0604020202020204" pitchFamily="34" charset="0"/>
              </a:rPr>
              <a:t>Vers une économie de l’expérience </a:t>
            </a:r>
          </a:p>
        </p:txBody>
      </p:sp>
    </p:spTree>
    <p:extLst>
      <p:ext uri="{BB962C8B-B14F-4D97-AF65-F5344CB8AC3E}">
        <p14:creationId xmlns:p14="http://schemas.microsoft.com/office/powerpoint/2010/main" val="148860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p:txBody>
          <a:bodyPr/>
          <a:lstStyle/>
          <a:p>
            <a:fld id="{12D52FAA-F34E-4F72-8657-5E6991907D75}" type="datetime1">
              <a:rPr lang="fr-FR" smtClean="0"/>
              <a:t>08/10/2025</a:t>
            </a:fld>
            <a:endParaRPr lang="fr-FR"/>
          </a:p>
        </p:txBody>
      </p:sp>
      <p:sp>
        <p:nvSpPr>
          <p:cNvPr id="6" name="Espace réservé du numéro de diapositive 5"/>
          <p:cNvSpPr>
            <a:spLocks noGrp="1"/>
          </p:cNvSpPr>
          <p:nvPr>
            <p:ph type="sldNum" sz="quarter" idx="12"/>
          </p:nvPr>
        </p:nvSpPr>
        <p:spPr/>
        <p:txBody>
          <a:bodyPr/>
          <a:lstStyle/>
          <a:p>
            <a:fld id="{86A4E710-53CF-4107-B354-89F9940CB5DE}" type="slidenum">
              <a:rPr lang="fr-FR" smtClean="0"/>
              <a:t>4</a:t>
            </a:fld>
            <a:endParaRPr lang="fr-FR"/>
          </a:p>
        </p:txBody>
      </p:sp>
      <p:sp>
        <p:nvSpPr>
          <p:cNvPr id="5" name="Rectangle 4"/>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0" name="Titre 1">
            <a:extLst>
              <a:ext uri="{FF2B5EF4-FFF2-40B4-BE49-F238E27FC236}">
                <a16:creationId xmlns:a16="http://schemas.microsoft.com/office/drawing/2014/main" id="{ADDB7F2E-EC3C-48C5-858C-7C25D52A27FB}"/>
              </a:ext>
            </a:extLst>
          </p:cNvPr>
          <p:cNvSpPr>
            <a:spLocks noGrp="1"/>
          </p:cNvSpPr>
          <p:nvPr>
            <p:ph type="title"/>
          </p:nvPr>
        </p:nvSpPr>
        <p:spPr>
          <a:xfrm>
            <a:off x="1150002" y="-204829"/>
            <a:ext cx="10058400" cy="1135162"/>
          </a:xfrm>
        </p:spPr>
        <p:txBody>
          <a:bodyPr>
            <a:normAutofit fontScale="90000"/>
          </a:bodyPr>
          <a:lstStyle/>
          <a:p>
            <a:r>
              <a:rPr lang="fr-FR" cap="none" dirty="0">
                <a:latin typeface="Arial" panose="020B0604020202020204" pitchFamily="34" charset="0"/>
                <a:cs typeface="Arial" panose="020B0604020202020204" pitchFamily="34" charset="0"/>
              </a:rPr>
              <a:t>Vers une économie de l’expérience </a:t>
            </a:r>
          </a:p>
        </p:txBody>
      </p:sp>
      <p:pic>
        <p:nvPicPr>
          <p:cNvPr id="1026" name="Picture 2" descr="Expérience utilisateur : 10 conseils pour une meilleure application mobile  - VISIPLUS academy">
            <a:extLst>
              <a:ext uri="{FF2B5EF4-FFF2-40B4-BE49-F238E27FC236}">
                <a16:creationId xmlns:a16="http://schemas.microsoft.com/office/drawing/2014/main" id="{AE1BA3A8-BA94-4C3A-B1BD-B17006BA5EAB}"/>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8520" y="1569958"/>
            <a:ext cx="4833508" cy="18590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arbucks et Alibaba Group forment un partenariat stratégique pour  transformer l'expérience du client au sein de l'industrie du café en Chine  | Business Wire">
            <a:extLst>
              <a:ext uri="{FF2B5EF4-FFF2-40B4-BE49-F238E27FC236}">
                <a16:creationId xmlns:a16="http://schemas.microsoft.com/office/drawing/2014/main" id="{6130AEBB-C33E-41F5-8333-4D9B89E4FBE2}"/>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382646" y="3791882"/>
            <a:ext cx="3593112" cy="26920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ncredible - Avis de voyageurs sur West Edmonton Mall, Edmonton -  Tripadvisor">
            <a:extLst>
              <a:ext uri="{FF2B5EF4-FFF2-40B4-BE49-F238E27FC236}">
                <a16:creationId xmlns:a16="http://schemas.microsoft.com/office/drawing/2014/main" id="{5E0F25EB-E382-E327-61E0-14BEC4B05E31}"/>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7783573" y="1252114"/>
            <a:ext cx="4264155" cy="2395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e Marketing Expérientiel">
            <a:extLst>
              <a:ext uri="{FF2B5EF4-FFF2-40B4-BE49-F238E27FC236}">
                <a16:creationId xmlns:a16="http://schemas.microsoft.com/office/drawing/2014/main" id="{98B1C145-E21F-1588-2A66-61532D97179D}"/>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816976" y="3647794"/>
            <a:ext cx="2207424" cy="299660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5B73D8AA-7595-C194-142D-74B2CE0919B0}"/>
              </a:ext>
            </a:extLst>
          </p:cNvPr>
          <p:cNvSpPr txBox="1"/>
          <p:nvPr/>
        </p:nvSpPr>
        <p:spPr>
          <a:xfrm>
            <a:off x="8422072" y="4231378"/>
            <a:ext cx="3325782" cy="769441"/>
          </a:xfrm>
          <a:prstGeom prst="rect">
            <a:avLst/>
          </a:prstGeom>
          <a:noFill/>
        </p:spPr>
        <p:txBody>
          <a:bodyPr wrap="none" rtlCol="0">
            <a:spAutoFit/>
          </a:bodyPr>
          <a:lstStyle/>
          <a:p>
            <a:r>
              <a:rPr lang="fr-FR" sz="2200" dirty="0">
                <a:solidFill>
                  <a:srgbClr val="FF0000"/>
                </a:solidFill>
              </a:rPr>
              <a:t>Expérience par tous les </a:t>
            </a:r>
          </a:p>
          <a:p>
            <a:r>
              <a:rPr lang="fr-FR" sz="2200" dirty="0">
                <a:solidFill>
                  <a:srgbClr val="FF0000"/>
                </a:solidFill>
              </a:rPr>
              <a:t>canaux de la marque</a:t>
            </a:r>
          </a:p>
        </p:txBody>
      </p:sp>
    </p:spTree>
    <p:extLst>
      <p:ext uri="{BB962C8B-B14F-4D97-AF65-F5344CB8AC3E}">
        <p14:creationId xmlns:p14="http://schemas.microsoft.com/office/powerpoint/2010/main" val="199625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30"/>
                                        </p:tgtEl>
                                        <p:attrNameLst>
                                          <p:attrName>style.visibility</p:attrName>
                                        </p:attrNameLst>
                                      </p:cBhvr>
                                      <p:to>
                                        <p:strVal val="visible"/>
                                      </p:to>
                                    </p:set>
                                    <p:animEffect transition="in" filter="fade">
                                      <p:cBhvr>
                                        <p:cTn id="17" dur="1000"/>
                                        <p:tgtEl>
                                          <p:spTgt spid="1030"/>
                                        </p:tgtEl>
                                      </p:cBhvr>
                                    </p:animEffect>
                                    <p:anim calcmode="lin" valueType="num">
                                      <p:cBhvr>
                                        <p:cTn id="18" dur="1000" fill="hold"/>
                                        <p:tgtEl>
                                          <p:spTgt spid="1030"/>
                                        </p:tgtEl>
                                        <p:attrNameLst>
                                          <p:attrName>ppt_x</p:attrName>
                                        </p:attrNameLst>
                                      </p:cBhvr>
                                      <p:tavLst>
                                        <p:tav tm="0">
                                          <p:val>
                                            <p:strVal val="#ppt_x"/>
                                          </p:val>
                                        </p:tav>
                                        <p:tav tm="100000">
                                          <p:val>
                                            <p:strVal val="#ppt_x"/>
                                          </p:val>
                                        </p:tav>
                                      </p:tavLst>
                                    </p:anim>
                                    <p:anim calcmode="lin" valueType="num">
                                      <p:cBhvr>
                                        <p:cTn id="19"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1000"/>
                                        <p:tgtEl>
                                          <p:spTgt spid="1026"/>
                                        </p:tgtEl>
                                      </p:cBhvr>
                                    </p:animEffect>
                                    <p:anim calcmode="lin" valueType="num">
                                      <p:cBhvr>
                                        <p:cTn id="25" dur="1000" fill="hold"/>
                                        <p:tgtEl>
                                          <p:spTgt spid="1026"/>
                                        </p:tgtEl>
                                        <p:attrNameLst>
                                          <p:attrName>ppt_x</p:attrName>
                                        </p:attrNameLst>
                                      </p:cBhvr>
                                      <p:tavLst>
                                        <p:tav tm="0">
                                          <p:val>
                                            <p:strVal val="#ppt_x"/>
                                          </p:val>
                                        </p:tav>
                                        <p:tav tm="100000">
                                          <p:val>
                                            <p:strVal val="#ppt_x"/>
                                          </p:val>
                                        </p:tav>
                                      </p:tavLst>
                                    </p:anim>
                                    <p:anim calcmode="lin" valueType="num">
                                      <p:cBhvr>
                                        <p:cTn id="26"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67885" y="117421"/>
            <a:ext cx="10058400" cy="905467"/>
          </a:xfrm>
        </p:spPr>
        <p:txBody>
          <a:bodyPr>
            <a:normAutofit/>
          </a:bodyPr>
          <a:lstStyle/>
          <a:p>
            <a:pPr algn="ctr"/>
            <a:r>
              <a:rPr lang="fr-FR" sz="4000" b="1"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dirty="0">
              <a:latin typeface="Arial" panose="020B0604020202020204" pitchFamily="34" charset="0"/>
              <a:cs typeface="Arial" panose="020B0604020202020204" pitchFamily="34" charset="0"/>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5</a:t>
            </a:fld>
            <a:endParaRPr lang="fr-FR" altLang="fr-FR" sz="1200">
              <a:solidFill>
                <a:srgbClr val="FFFFFF"/>
              </a:solidFill>
              <a:latin typeface="Tw Cen MT" panose="020B0602020104020603" pitchFamily="34" charset="0"/>
            </a:endParaRPr>
          </a:p>
        </p:txBody>
      </p:sp>
      <p:sp>
        <p:nvSpPr>
          <p:cNvPr id="3" name="Espace réservé du contenu 2"/>
          <p:cNvSpPr>
            <a:spLocks noGrp="1"/>
          </p:cNvSpPr>
          <p:nvPr>
            <p:ph idx="4294967295"/>
          </p:nvPr>
        </p:nvSpPr>
        <p:spPr>
          <a:xfrm>
            <a:off x="2133600" y="2120900"/>
            <a:ext cx="10058400" cy="4051300"/>
          </a:xfrm>
        </p:spPr>
        <p:txBody>
          <a:bodyPr>
            <a:normAutofit/>
          </a:bodyPr>
          <a:lstStyle/>
          <a:p>
            <a:pPr>
              <a:defRPr/>
            </a:pPr>
            <a:endParaRPr lang="fr-FR" dirty="0"/>
          </a:p>
          <a:p>
            <a:pPr>
              <a:defRPr/>
            </a:pPr>
            <a:endParaRPr lang="fr-FR" dirty="0"/>
          </a:p>
          <a:p>
            <a:pPr>
              <a:defRPr/>
            </a:pPr>
            <a:endParaRPr lang="fr-FR" dirty="0"/>
          </a:p>
          <a:p>
            <a:pPr>
              <a:defRPr/>
            </a:pPr>
            <a:endParaRPr lang="fr-FR" dirty="0"/>
          </a:p>
          <a:p>
            <a:pPr>
              <a:defRPr/>
            </a:pPr>
            <a:endParaRPr lang="fr-FR" dirty="0"/>
          </a:p>
          <a:p>
            <a:pPr>
              <a:defRPr/>
            </a:pPr>
            <a:endParaRPr lang="fr-FR"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useBgFill="1">
        <p:nvSpPr>
          <p:cNvPr id="6" name="Rectangle 5">
            <a:extLst>
              <a:ext uri="{FF2B5EF4-FFF2-40B4-BE49-F238E27FC236}">
                <a16:creationId xmlns:a16="http://schemas.microsoft.com/office/drawing/2014/main" id="{1901630F-21DC-4E82-A132-2AE093A76DF7}"/>
              </a:ext>
            </a:extLst>
          </p:cNvPr>
          <p:cNvSpPr/>
          <p:nvPr/>
        </p:nvSpPr>
        <p:spPr>
          <a:xfrm>
            <a:off x="4505087" y="1148576"/>
            <a:ext cx="7527073" cy="4529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useBgFill="1">
        <p:nvSpPr>
          <p:cNvPr id="10" name="Rectangle 9">
            <a:extLst>
              <a:ext uri="{FF2B5EF4-FFF2-40B4-BE49-F238E27FC236}">
                <a16:creationId xmlns:a16="http://schemas.microsoft.com/office/drawing/2014/main" id="{5968DF74-7037-47DD-91AC-5F30569217A0}"/>
              </a:ext>
            </a:extLst>
          </p:cNvPr>
          <p:cNvSpPr/>
          <p:nvPr/>
        </p:nvSpPr>
        <p:spPr>
          <a:xfrm>
            <a:off x="816979" y="1576468"/>
            <a:ext cx="3951792" cy="4207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40571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67885" y="117421"/>
            <a:ext cx="10058400" cy="905467"/>
          </a:xfrm>
        </p:spPr>
        <p:txBody>
          <a:bodyPr>
            <a:normAutofit/>
          </a:bodyPr>
          <a:lstStyle/>
          <a:p>
            <a:pPr algn="ctr"/>
            <a:r>
              <a:rPr lang="fr-FR" sz="4000" b="1"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dirty="0">
              <a:latin typeface="Arial" panose="020B0604020202020204" pitchFamily="34" charset="0"/>
              <a:cs typeface="Arial" panose="020B0604020202020204" pitchFamily="34" charset="0"/>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6</a:t>
            </a:fld>
            <a:endParaRPr lang="fr-FR" altLang="fr-FR" sz="1200">
              <a:solidFill>
                <a:srgbClr val="FFFFFF"/>
              </a:solidFill>
              <a:latin typeface="Tw Cen MT" panose="020B0602020104020603" pitchFamily="34" charset="0"/>
            </a:endParaRPr>
          </a:p>
        </p:txBody>
      </p:sp>
      <p:sp>
        <p:nvSpPr>
          <p:cNvPr id="3" name="Espace réservé du contenu 2"/>
          <p:cNvSpPr>
            <a:spLocks noGrp="1"/>
          </p:cNvSpPr>
          <p:nvPr>
            <p:ph idx="4294967295"/>
          </p:nvPr>
        </p:nvSpPr>
        <p:spPr>
          <a:xfrm>
            <a:off x="2133600" y="2120900"/>
            <a:ext cx="10058400" cy="4051300"/>
          </a:xfrm>
        </p:spPr>
        <p:txBody>
          <a:bodyPr>
            <a:normAutofit/>
          </a:bodyPr>
          <a:lstStyle/>
          <a:p>
            <a:pPr>
              <a:defRPr/>
            </a:pPr>
            <a:endParaRPr lang="fr-FR" dirty="0"/>
          </a:p>
          <a:p>
            <a:pPr>
              <a:defRPr/>
            </a:pPr>
            <a:endParaRPr lang="fr-FR" dirty="0"/>
          </a:p>
          <a:p>
            <a:pPr>
              <a:defRPr/>
            </a:pPr>
            <a:endParaRPr lang="fr-FR" dirty="0"/>
          </a:p>
          <a:p>
            <a:pPr>
              <a:defRPr/>
            </a:pPr>
            <a:endParaRPr lang="fr-FR" dirty="0"/>
          </a:p>
          <a:p>
            <a:pPr>
              <a:defRPr/>
            </a:pPr>
            <a:endParaRPr lang="fr-FR" dirty="0"/>
          </a:p>
          <a:p>
            <a:pPr>
              <a:defRPr/>
            </a:pPr>
            <a:endParaRPr lang="fr-FR"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pic>
        <p:nvPicPr>
          <p:cNvPr id="5" name="Image 4"/>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79069" y="814850"/>
            <a:ext cx="11253147" cy="4914900"/>
          </a:xfrm>
          <a:prstGeom prst="rect">
            <a:avLst/>
          </a:prstGeom>
        </p:spPr>
      </p:pic>
      <p:sp useBgFill="1">
        <p:nvSpPr>
          <p:cNvPr id="6" name="Rectangle 5">
            <a:extLst>
              <a:ext uri="{FF2B5EF4-FFF2-40B4-BE49-F238E27FC236}">
                <a16:creationId xmlns:a16="http://schemas.microsoft.com/office/drawing/2014/main" id="{1901630F-21DC-4E82-A132-2AE093A76DF7}"/>
              </a:ext>
            </a:extLst>
          </p:cNvPr>
          <p:cNvSpPr/>
          <p:nvPr/>
        </p:nvSpPr>
        <p:spPr>
          <a:xfrm>
            <a:off x="4505087" y="1148576"/>
            <a:ext cx="7527073" cy="4529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07757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67885" y="117421"/>
            <a:ext cx="10058400" cy="905467"/>
          </a:xfrm>
        </p:spPr>
        <p:txBody>
          <a:bodyPr>
            <a:normAutofit/>
          </a:bodyPr>
          <a:lstStyle/>
          <a:p>
            <a:pPr algn="ctr"/>
            <a:r>
              <a:rPr lang="fr-FR" sz="4000" b="1"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dirty="0">
              <a:latin typeface="Arial" panose="020B0604020202020204" pitchFamily="34" charset="0"/>
              <a:cs typeface="Arial" panose="020B0604020202020204" pitchFamily="34" charset="0"/>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7</a:t>
            </a:fld>
            <a:endParaRPr lang="fr-FR" altLang="fr-FR" sz="1200">
              <a:solidFill>
                <a:srgbClr val="FFFFFF"/>
              </a:solidFill>
              <a:latin typeface="Tw Cen MT" panose="020B0602020104020603" pitchFamily="34" charset="0"/>
            </a:endParaRPr>
          </a:p>
        </p:txBody>
      </p:sp>
      <p:sp>
        <p:nvSpPr>
          <p:cNvPr id="3" name="Espace réservé du contenu 2"/>
          <p:cNvSpPr>
            <a:spLocks noGrp="1"/>
          </p:cNvSpPr>
          <p:nvPr>
            <p:ph idx="4294967295"/>
          </p:nvPr>
        </p:nvSpPr>
        <p:spPr>
          <a:xfrm>
            <a:off x="2133600" y="2120900"/>
            <a:ext cx="10058400" cy="4051300"/>
          </a:xfrm>
        </p:spPr>
        <p:txBody>
          <a:bodyPr>
            <a:normAutofit/>
          </a:bodyPr>
          <a:lstStyle/>
          <a:p>
            <a:pPr>
              <a:defRPr/>
            </a:pPr>
            <a:endParaRPr lang="fr-FR" dirty="0"/>
          </a:p>
          <a:p>
            <a:pPr>
              <a:defRPr/>
            </a:pPr>
            <a:endParaRPr lang="fr-FR" dirty="0"/>
          </a:p>
          <a:p>
            <a:pPr>
              <a:defRPr/>
            </a:pPr>
            <a:endParaRPr lang="fr-FR" dirty="0"/>
          </a:p>
          <a:p>
            <a:pPr>
              <a:defRPr/>
            </a:pPr>
            <a:endParaRPr lang="fr-FR" dirty="0"/>
          </a:p>
          <a:p>
            <a:pPr>
              <a:defRPr/>
            </a:pPr>
            <a:endParaRPr lang="fr-FR" dirty="0"/>
          </a:p>
          <a:p>
            <a:pPr>
              <a:defRPr/>
            </a:pPr>
            <a:endParaRPr lang="fr-FR"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pic>
        <p:nvPicPr>
          <p:cNvPr id="5" name="Image 4"/>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79069" y="814850"/>
            <a:ext cx="11253147" cy="4914900"/>
          </a:xfrm>
          <a:prstGeom prst="rect">
            <a:avLst/>
          </a:prstGeom>
        </p:spPr>
      </p:pic>
      <p:sp useBgFill="1">
        <p:nvSpPr>
          <p:cNvPr id="6" name="Rectangle 5">
            <a:extLst>
              <a:ext uri="{FF2B5EF4-FFF2-40B4-BE49-F238E27FC236}">
                <a16:creationId xmlns:a16="http://schemas.microsoft.com/office/drawing/2014/main" id="{4CF3E98B-E146-4FE2-952C-E3BD5B583A4B}"/>
              </a:ext>
            </a:extLst>
          </p:cNvPr>
          <p:cNvSpPr/>
          <p:nvPr/>
        </p:nvSpPr>
        <p:spPr>
          <a:xfrm>
            <a:off x="7964424" y="1148576"/>
            <a:ext cx="3951792" cy="4529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51199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67885" y="117421"/>
            <a:ext cx="10058400" cy="905467"/>
          </a:xfrm>
        </p:spPr>
        <p:txBody>
          <a:bodyPr>
            <a:normAutofit/>
          </a:bodyPr>
          <a:lstStyle/>
          <a:p>
            <a:pPr algn="ctr"/>
            <a:r>
              <a:rPr lang="fr-FR" sz="4000" b="1"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dirty="0">
              <a:latin typeface="Arial" panose="020B0604020202020204" pitchFamily="34" charset="0"/>
              <a:cs typeface="Arial" panose="020B0604020202020204" pitchFamily="34" charset="0"/>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8</a:t>
            </a:fld>
            <a:endParaRPr lang="fr-FR" altLang="fr-FR" sz="1200">
              <a:solidFill>
                <a:srgbClr val="FFFFFF"/>
              </a:solidFill>
              <a:latin typeface="Tw Cen MT" panose="020B0602020104020603" pitchFamily="34" charset="0"/>
            </a:endParaRPr>
          </a:p>
        </p:txBody>
      </p:sp>
      <p:sp>
        <p:nvSpPr>
          <p:cNvPr id="3" name="Espace réservé du contenu 2"/>
          <p:cNvSpPr>
            <a:spLocks noGrp="1"/>
          </p:cNvSpPr>
          <p:nvPr>
            <p:ph idx="4294967295"/>
          </p:nvPr>
        </p:nvSpPr>
        <p:spPr>
          <a:xfrm>
            <a:off x="2133600" y="2120900"/>
            <a:ext cx="10058400" cy="4051300"/>
          </a:xfrm>
        </p:spPr>
        <p:txBody>
          <a:bodyPr>
            <a:normAutofit/>
          </a:bodyPr>
          <a:lstStyle/>
          <a:p>
            <a:pPr>
              <a:defRPr/>
            </a:pPr>
            <a:endParaRPr lang="fr-FR" dirty="0"/>
          </a:p>
          <a:p>
            <a:pPr>
              <a:defRPr/>
            </a:pPr>
            <a:endParaRPr lang="fr-FR" dirty="0"/>
          </a:p>
          <a:p>
            <a:pPr>
              <a:defRPr/>
            </a:pPr>
            <a:endParaRPr lang="fr-FR" dirty="0"/>
          </a:p>
          <a:p>
            <a:pPr>
              <a:defRPr/>
            </a:pPr>
            <a:endParaRPr lang="fr-FR" dirty="0"/>
          </a:p>
          <a:p>
            <a:pPr>
              <a:defRPr/>
            </a:pPr>
            <a:endParaRPr lang="fr-FR" dirty="0"/>
          </a:p>
          <a:p>
            <a:pPr>
              <a:defRPr/>
            </a:pPr>
            <a:endParaRPr lang="fr-FR"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pic>
        <p:nvPicPr>
          <p:cNvPr id="5" name="Image 4"/>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79069" y="814850"/>
            <a:ext cx="11253147" cy="4914900"/>
          </a:xfrm>
          <a:prstGeom prst="rect">
            <a:avLst/>
          </a:prstGeom>
        </p:spPr>
      </p:pic>
    </p:spTree>
    <p:extLst>
      <p:ext uri="{BB962C8B-B14F-4D97-AF65-F5344CB8AC3E}">
        <p14:creationId xmlns:p14="http://schemas.microsoft.com/office/powerpoint/2010/main" val="17227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50929" y="248194"/>
            <a:ext cx="10477319" cy="957507"/>
          </a:xfrm>
        </p:spPr>
        <p:txBody>
          <a:bodyPr>
            <a:normAutofit/>
          </a:bodyPr>
          <a:lstStyle/>
          <a:p>
            <a:r>
              <a:rPr lang="fr-FR" sz="4000" b="1" cap="none"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cap="none" dirty="0">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p:txBody>
          <a:bodyPr>
            <a:normAutofit/>
          </a:bodyPr>
          <a:lstStyle/>
          <a:p>
            <a:pPr>
              <a:defRPr/>
            </a:pPr>
            <a:endParaRPr lang="fr-FR" dirty="0"/>
          </a:p>
          <a:p>
            <a:pPr>
              <a:defRPr/>
            </a:pPr>
            <a:endParaRPr lang="fr-FR" dirty="0"/>
          </a:p>
          <a:p>
            <a:pPr>
              <a:defRPr/>
            </a:pPr>
            <a:endParaRPr lang="fr-FR" sz="2800" dirty="0"/>
          </a:p>
          <a:p>
            <a:pPr>
              <a:defRPr/>
            </a:pPr>
            <a:endParaRPr lang="fr-FR" sz="2800" dirty="0"/>
          </a:p>
          <a:p>
            <a:pPr>
              <a:defRPr/>
            </a:pPr>
            <a:endParaRPr lang="fr-FR" sz="2800" dirty="0"/>
          </a:p>
          <a:p>
            <a:pPr>
              <a:defRPr/>
            </a:pPr>
            <a:endParaRPr lang="fr-FR" sz="2800"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9</a:t>
            </a:fld>
            <a:endParaRPr lang="fr-FR" altLang="fr-FR" sz="1200">
              <a:solidFill>
                <a:srgbClr val="FFFFFF"/>
              </a:solidFill>
              <a:latin typeface="Tw Cen MT" panose="020B0602020104020603" pitchFamily="34" charset="0"/>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0" name="Espace réservé du contenu 2">
            <a:extLst>
              <a:ext uri="{FF2B5EF4-FFF2-40B4-BE49-F238E27FC236}">
                <a16:creationId xmlns:a16="http://schemas.microsoft.com/office/drawing/2014/main" id="{F670678C-C02C-4171-B5E5-0142A5010D89}"/>
              </a:ext>
            </a:extLst>
          </p:cNvPr>
          <p:cNvSpPr txBox="1">
            <a:spLocks/>
          </p:cNvSpPr>
          <p:nvPr/>
        </p:nvSpPr>
        <p:spPr>
          <a:xfrm>
            <a:off x="860388" y="1158994"/>
            <a:ext cx="11090820" cy="405079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fr-FR" sz="2800" dirty="0"/>
              <a:t>Parcours client = processus suivi par un client à travers toutes les étapes et tous les points de contact qui forment l'expérience client </a:t>
            </a:r>
            <a:r>
              <a:rPr lang="fr-FR" dirty="0"/>
              <a:t>(Lemon et </a:t>
            </a:r>
            <a:r>
              <a:rPr lang="fr-FR" dirty="0" err="1"/>
              <a:t>Verhoef</a:t>
            </a:r>
            <a:r>
              <a:rPr lang="fr-FR" dirty="0"/>
              <a:t>, 2016) </a:t>
            </a:r>
          </a:p>
          <a:p>
            <a:endParaRPr lang="fr-FR" dirty="0"/>
          </a:p>
          <a:p>
            <a:r>
              <a:rPr lang="fr-FR" sz="2800" dirty="0"/>
              <a:t>Parcours client = 3 étapes</a:t>
            </a:r>
          </a:p>
          <a:p>
            <a:pPr lvl="1"/>
            <a:r>
              <a:rPr lang="fr-FR" sz="2200" dirty="0"/>
              <a:t>Avant achat </a:t>
            </a:r>
          </a:p>
          <a:p>
            <a:pPr lvl="1"/>
            <a:r>
              <a:rPr lang="fr-FR" sz="2200" dirty="0"/>
              <a:t>L’achat lui-même</a:t>
            </a:r>
          </a:p>
          <a:p>
            <a:pPr lvl="1"/>
            <a:r>
              <a:rPr lang="fr-FR" sz="2200" dirty="0"/>
              <a:t>Le post-achat</a:t>
            </a:r>
          </a:p>
          <a:p>
            <a:endParaRPr lang="fr-FR" dirty="0"/>
          </a:p>
        </p:txBody>
      </p:sp>
    </p:spTree>
    <p:extLst>
      <p:ext uri="{BB962C8B-B14F-4D97-AF65-F5344CB8AC3E}">
        <p14:creationId xmlns:p14="http://schemas.microsoft.com/office/powerpoint/2010/main" val="169323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arn(inVertical)">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arn(inVertical)">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barn(inVertical)">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barn(inVertical)">
                                      <p:cBhvr>
                                        <p:cTn id="27"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p:cNvSpPr>
            <a:spLocks noGrp="1"/>
          </p:cNvSpPr>
          <p:nvPr>
            <p:ph type="title"/>
          </p:nvPr>
        </p:nvSpPr>
        <p:spPr>
          <a:xfrm>
            <a:off x="1095973" y="249500"/>
            <a:ext cx="10058400" cy="719658"/>
          </a:xfrm>
        </p:spPr>
        <p:txBody>
          <a:bodyPr>
            <a:normAutofit fontScale="90000"/>
          </a:bodyPr>
          <a:lstStyle/>
          <a:p>
            <a:r>
              <a:rPr lang="fr-FR" sz="5400"/>
              <a:t>Les canaux </a:t>
            </a:r>
            <a:r>
              <a:rPr lang="fr-FR" sz="5400" dirty="0"/>
              <a:t>et le parcours client</a:t>
            </a:r>
            <a:endParaRPr lang="fr-FR" dirty="0"/>
          </a:p>
        </p:txBody>
      </p:sp>
      <p:pic>
        <p:nvPicPr>
          <p:cNvPr id="6" name="Espace réservé du contenu 5"/>
          <p:cNvPicPr>
            <a:picLocks noGrp="1" noChangeAspect="1"/>
          </p:cNvPicPr>
          <p:nvPr>
            <p:ph idx="1"/>
          </p:nvPr>
        </p:nvPicPr>
        <p:blipFill>
          <a:blip r:embed="rId5">
            <a:extLst>
              <a:ext uri="{28A0092B-C50C-407E-A947-70E740481C1C}">
                <a14:useLocalDpi xmlns:a14="http://schemas.microsoft.com/office/drawing/2010/main"/>
              </a:ext>
            </a:extLst>
          </a:blip>
          <a:stretch>
            <a:fillRect/>
          </a:stretch>
        </p:blipFill>
        <p:spPr>
          <a:xfrm>
            <a:off x="752348" y="1096085"/>
            <a:ext cx="10302657" cy="4509403"/>
          </a:xfrm>
          <a:prstGeom prst="rect">
            <a:avLst/>
          </a:prstGeom>
        </p:spPr>
      </p:pic>
      <p:sp>
        <p:nvSpPr>
          <p:cNvPr id="5" name="Espace réservé du numéro de diapositive 4"/>
          <p:cNvSpPr>
            <a:spLocks noGrp="1"/>
          </p:cNvSpPr>
          <p:nvPr>
            <p:ph type="sldNum" sz="quarter" idx="12"/>
          </p:nvPr>
        </p:nvSpPr>
        <p:spPr/>
        <p:txBody>
          <a:bodyPr/>
          <a:lstStyle/>
          <a:p>
            <a:fld id="{4FAB73BC-B049-4115-A692-8D63A059BFB8}" type="slidenum">
              <a:rPr lang="en-US" smtClean="0"/>
              <a:t>10</a:t>
            </a:fld>
            <a:endParaRPr lang="en-US" dirty="0"/>
          </a:p>
        </p:txBody>
      </p:sp>
      <p:sp>
        <p:nvSpPr>
          <p:cNvPr id="8" name="Rectangle 7"/>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2" name="Espace réservé de la date 11"/>
          <p:cNvSpPr>
            <a:spLocks noGrp="1"/>
          </p:cNvSpPr>
          <p:nvPr>
            <p:ph type="dt" sz="half" idx="10"/>
          </p:nvPr>
        </p:nvSpPr>
        <p:spPr/>
        <p:txBody>
          <a:bodyPr/>
          <a:lstStyle/>
          <a:p>
            <a:fld id="{421339A2-603D-4C49-A0DF-9BA166F837A0}" type="datetime1">
              <a:rPr lang="fr-FR" smtClean="0"/>
              <a:t>08/10/2025</a:t>
            </a:fld>
            <a:endParaRPr lang="en-US" dirty="0"/>
          </a:p>
        </p:txBody>
      </p:sp>
    </p:spTree>
    <p:extLst>
      <p:ext uri="{BB962C8B-B14F-4D97-AF65-F5344CB8AC3E}">
        <p14:creationId xmlns:p14="http://schemas.microsoft.com/office/powerpoint/2010/main" val="228373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2000"/>
          </a:schemeClr>
        </a:solidFill>
        <a:effectLst/>
      </p:bgPr>
    </p:bg>
    <p:spTree>
      <p:nvGrpSpPr>
        <p:cNvPr id="1" name=""/>
        <p:cNvGrpSpPr/>
        <p:nvPr/>
      </p:nvGrpSpPr>
      <p:grpSpPr>
        <a:xfrm>
          <a:off x="0" y="0"/>
          <a:ext cx="0" cy="0"/>
          <a:chOff x="0" y="0"/>
          <a:chExt cx="0" cy="0"/>
        </a:xfrm>
      </p:grpSpPr>
      <p:sp>
        <p:nvSpPr>
          <p:cNvPr id="9" name="Titre 8"/>
          <p:cNvSpPr>
            <a:spLocks noGrp="1"/>
          </p:cNvSpPr>
          <p:nvPr>
            <p:ph type="title"/>
          </p:nvPr>
        </p:nvSpPr>
        <p:spPr>
          <a:xfrm>
            <a:off x="0" y="-88900"/>
            <a:ext cx="12090400" cy="1058058"/>
          </a:xfrm>
        </p:spPr>
        <p:txBody>
          <a:bodyPr>
            <a:normAutofit fontScale="90000"/>
          </a:bodyPr>
          <a:lstStyle/>
          <a:p>
            <a:br>
              <a:rPr lang="fr-FR" dirty="0"/>
            </a:br>
            <a:r>
              <a:rPr lang="fr-FR" dirty="0"/>
              <a:t>Typologie des clients selon leur parcours d’achat </a:t>
            </a:r>
            <a:r>
              <a:rPr lang="fr-FR" sz="2400" dirty="0"/>
              <a:t>(</a:t>
            </a:r>
            <a:r>
              <a:rPr lang="fr-FR" sz="2400" dirty="0" err="1"/>
              <a:t>Herhausen</a:t>
            </a:r>
            <a:r>
              <a:rPr lang="fr-FR" sz="2400" dirty="0"/>
              <a:t> </a:t>
            </a:r>
            <a:r>
              <a:rPr lang="fr-FR" sz="2400" dirty="0" err="1"/>
              <a:t>etal</a:t>
            </a:r>
            <a:r>
              <a:rPr lang="fr-FR" sz="2400" dirty="0"/>
              <a:t>., 2019)</a:t>
            </a:r>
            <a:r>
              <a:rPr lang="fr-FR" dirty="0"/>
              <a:t> </a:t>
            </a:r>
          </a:p>
        </p:txBody>
      </p:sp>
      <p:sp>
        <p:nvSpPr>
          <p:cNvPr id="5" name="Espace réservé du numéro de diapositive 4"/>
          <p:cNvSpPr>
            <a:spLocks noGrp="1"/>
          </p:cNvSpPr>
          <p:nvPr>
            <p:ph type="sldNum" sz="quarter" idx="12"/>
          </p:nvPr>
        </p:nvSpPr>
        <p:spPr/>
        <p:txBody>
          <a:bodyPr/>
          <a:lstStyle/>
          <a:p>
            <a:fld id="{4FAB73BC-B049-4115-A692-8D63A059BFB8}" type="slidenum">
              <a:rPr lang="en-US" smtClean="0"/>
              <a:t>11</a:t>
            </a:fld>
            <a:endParaRPr lang="en-US" dirty="0"/>
          </a:p>
        </p:txBody>
      </p:sp>
      <p:sp>
        <p:nvSpPr>
          <p:cNvPr id="8" name="Rectangle 7"/>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2" name="Espace réservé de la date 11"/>
          <p:cNvSpPr>
            <a:spLocks noGrp="1"/>
          </p:cNvSpPr>
          <p:nvPr>
            <p:ph type="dt" sz="half" idx="10"/>
          </p:nvPr>
        </p:nvSpPr>
        <p:spPr/>
        <p:txBody>
          <a:bodyPr/>
          <a:lstStyle/>
          <a:p>
            <a:fld id="{421339A2-603D-4C49-A0DF-9BA166F837A0}" type="datetime1">
              <a:rPr lang="fr-FR" smtClean="0"/>
              <a:t>08/10/2025</a:t>
            </a:fld>
            <a:endParaRPr lang="en-US" dirty="0"/>
          </a:p>
        </p:txBody>
      </p:sp>
      <p:sp>
        <p:nvSpPr>
          <p:cNvPr id="3" name="Espace réservé du contenu 2">
            <a:extLst>
              <a:ext uri="{FF2B5EF4-FFF2-40B4-BE49-F238E27FC236}">
                <a16:creationId xmlns:a16="http://schemas.microsoft.com/office/drawing/2014/main" id="{D1483A20-B00D-489A-B7AC-3601C6F62A3D}"/>
              </a:ext>
            </a:extLst>
          </p:cNvPr>
          <p:cNvSpPr>
            <a:spLocks noGrp="1"/>
          </p:cNvSpPr>
          <p:nvPr>
            <p:ph idx="1"/>
          </p:nvPr>
        </p:nvSpPr>
        <p:spPr>
          <a:xfrm>
            <a:off x="0" y="1193246"/>
            <a:ext cx="11379708" cy="5079537"/>
          </a:xfrm>
        </p:spPr>
        <p:txBody>
          <a:bodyPr>
            <a:normAutofit/>
          </a:bodyPr>
          <a:lstStyle/>
          <a:p>
            <a:pPr algn="ctr"/>
            <a:endParaRPr lang="fr-FR" sz="2200" dirty="0"/>
          </a:p>
          <a:p>
            <a:pPr algn="ctr"/>
            <a:r>
              <a:rPr lang="fr-FR" sz="2200" dirty="0"/>
              <a:t>(1) les accros du magasin physique </a:t>
            </a:r>
          </a:p>
          <a:p>
            <a:pPr algn="ctr"/>
            <a:r>
              <a:rPr lang="fr-FR" sz="2200" dirty="0"/>
              <a:t>(2) les pragmatiques en ligne </a:t>
            </a:r>
          </a:p>
          <a:p>
            <a:pPr algn="ctr"/>
            <a:r>
              <a:rPr lang="fr-FR" sz="2200" dirty="0"/>
              <a:t>(3) les intensifs en ligne </a:t>
            </a:r>
          </a:p>
          <a:p>
            <a:endParaRPr lang="fr-FR" sz="2200" dirty="0"/>
          </a:p>
          <a:p>
            <a:pPr algn="ctr"/>
            <a:endParaRPr lang="fr-FR" sz="2200" dirty="0"/>
          </a:p>
          <a:p>
            <a:pPr algn="ctr"/>
            <a:endParaRPr lang="fr-FR" sz="2200" dirty="0"/>
          </a:p>
          <a:p>
            <a:pPr algn="ctr"/>
            <a:r>
              <a:rPr lang="fr-FR" sz="2200" dirty="0"/>
              <a:t>(4) les enthousiastes multicanaux</a:t>
            </a:r>
          </a:p>
          <a:p>
            <a:pPr algn="ctr"/>
            <a:r>
              <a:rPr lang="fr-FR" sz="2200" dirty="0"/>
              <a:t> (5) les O2O (</a:t>
            </a:r>
            <a:r>
              <a:rPr lang="fr-FR" sz="2200" i="1" dirty="0"/>
              <a:t>online-to-offline)</a:t>
            </a:r>
            <a:endParaRPr lang="fr-FR" sz="2200" dirty="0"/>
          </a:p>
        </p:txBody>
      </p:sp>
      <p:sp>
        <p:nvSpPr>
          <p:cNvPr id="2" name="Ellipse 1">
            <a:extLst>
              <a:ext uri="{FF2B5EF4-FFF2-40B4-BE49-F238E27FC236}">
                <a16:creationId xmlns:a16="http://schemas.microsoft.com/office/drawing/2014/main" id="{2C99B645-C2FD-484C-A082-086F87C7A918}"/>
              </a:ext>
            </a:extLst>
          </p:cNvPr>
          <p:cNvSpPr/>
          <p:nvPr/>
        </p:nvSpPr>
        <p:spPr>
          <a:xfrm>
            <a:off x="618852" y="1222322"/>
            <a:ext cx="10142003" cy="2206678"/>
          </a:xfrm>
          <a:prstGeom prst="ellipse">
            <a:avLst/>
          </a:prstGeom>
          <a:solidFill>
            <a:schemeClr val="accent1">
              <a:alpha val="6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Fidèles lorsqu’ils sont satisfaits du produit ou du service acheté</a:t>
            </a:r>
          </a:p>
        </p:txBody>
      </p:sp>
      <p:sp>
        <p:nvSpPr>
          <p:cNvPr id="13" name="Ellipse 12">
            <a:extLst>
              <a:ext uri="{FF2B5EF4-FFF2-40B4-BE49-F238E27FC236}">
                <a16:creationId xmlns:a16="http://schemas.microsoft.com/office/drawing/2014/main" id="{74E02307-A3FE-4B3A-9175-11096A12F6F9}"/>
              </a:ext>
            </a:extLst>
          </p:cNvPr>
          <p:cNvSpPr/>
          <p:nvPr/>
        </p:nvSpPr>
        <p:spPr>
          <a:xfrm>
            <a:off x="618851" y="3761102"/>
            <a:ext cx="10142003" cy="1857322"/>
          </a:xfrm>
          <a:prstGeom prst="ellipse">
            <a:avLst/>
          </a:prstGeom>
          <a:solidFill>
            <a:schemeClr val="accent1">
              <a:alpha val="6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Fidèles lorsqu’ils sont satisfaits du produit ou du service acheté</a:t>
            </a:r>
          </a:p>
          <a:p>
            <a:pPr algn="ctr"/>
            <a:r>
              <a:rPr lang="fr-FR" sz="2400" b="1" dirty="0"/>
              <a:t>ET lorsque le parcours client est fluide</a:t>
            </a:r>
          </a:p>
        </p:txBody>
      </p:sp>
    </p:spTree>
    <p:extLst>
      <p:ext uri="{BB962C8B-B14F-4D97-AF65-F5344CB8AC3E}">
        <p14:creationId xmlns:p14="http://schemas.microsoft.com/office/powerpoint/2010/main" val="306702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50929" y="248194"/>
            <a:ext cx="10477319" cy="957507"/>
          </a:xfrm>
        </p:spPr>
        <p:txBody>
          <a:bodyPr>
            <a:normAutofit/>
          </a:bodyPr>
          <a:lstStyle/>
          <a:p>
            <a:r>
              <a:rPr lang="fr-FR" sz="4000" b="1" cap="none" dirty="0">
                <a:solidFill>
                  <a:schemeClr val="tx1">
                    <a:lumMod val="85000"/>
                    <a:lumOff val="15000"/>
                  </a:schemeClr>
                </a:solidFill>
                <a:latin typeface="Arial" panose="020B0604020202020204" pitchFamily="34" charset="0"/>
                <a:cs typeface="Arial" panose="020B0604020202020204" pitchFamily="34" charset="0"/>
              </a:rPr>
              <a:t>Les canaux et le parcours client</a:t>
            </a:r>
            <a:endParaRPr lang="fr-FR" cap="none" dirty="0">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p:txBody>
          <a:bodyPr>
            <a:normAutofit/>
          </a:bodyPr>
          <a:lstStyle/>
          <a:p>
            <a:pPr>
              <a:defRPr/>
            </a:pPr>
            <a:endParaRPr lang="fr-FR" dirty="0"/>
          </a:p>
          <a:p>
            <a:pPr>
              <a:defRPr/>
            </a:pPr>
            <a:endParaRPr lang="fr-FR" dirty="0"/>
          </a:p>
          <a:p>
            <a:pPr>
              <a:defRPr/>
            </a:pPr>
            <a:endParaRPr lang="fr-FR" sz="2800" dirty="0"/>
          </a:p>
          <a:p>
            <a:pPr>
              <a:defRPr/>
            </a:pPr>
            <a:endParaRPr lang="fr-FR" sz="2800" dirty="0"/>
          </a:p>
          <a:p>
            <a:pPr>
              <a:defRPr/>
            </a:pPr>
            <a:endParaRPr lang="fr-FR" sz="2800" dirty="0"/>
          </a:p>
          <a:p>
            <a:pPr>
              <a:defRPr/>
            </a:pPr>
            <a:endParaRPr lang="fr-FR" sz="2800"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12</a:t>
            </a:fld>
            <a:endParaRPr lang="fr-FR" altLang="fr-FR" sz="1200">
              <a:solidFill>
                <a:srgbClr val="FFFFFF"/>
              </a:solidFill>
              <a:latin typeface="Tw Cen MT" panose="020B0602020104020603" pitchFamily="34" charset="0"/>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0" name="Espace réservé du contenu 2">
            <a:extLst>
              <a:ext uri="{FF2B5EF4-FFF2-40B4-BE49-F238E27FC236}">
                <a16:creationId xmlns:a16="http://schemas.microsoft.com/office/drawing/2014/main" id="{F670678C-C02C-4171-B5E5-0142A5010D89}"/>
              </a:ext>
            </a:extLst>
          </p:cNvPr>
          <p:cNvSpPr txBox="1">
            <a:spLocks/>
          </p:cNvSpPr>
          <p:nvPr/>
        </p:nvSpPr>
        <p:spPr>
          <a:xfrm>
            <a:off x="860388" y="1158994"/>
            <a:ext cx="10058400" cy="405079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fr-FR" sz="2800" dirty="0"/>
              <a:t>C’est le client qui choisit son parcours </a:t>
            </a:r>
          </a:p>
          <a:p>
            <a:pPr marL="0" indent="0">
              <a:buNone/>
            </a:pPr>
            <a:r>
              <a:rPr lang="fr-FR" sz="2800" dirty="0">
                <a:sym typeface="Wingdings" panose="05000000000000000000" pitchFamily="2" charset="2"/>
              </a:rPr>
              <a:t>	</a:t>
            </a:r>
          </a:p>
          <a:p>
            <a:pPr marL="0" indent="0">
              <a:buNone/>
            </a:pPr>
            <a:endParaRPr lang="fr-FR" sz="2800" dirty="0">
              <a:sym typeface="Wingdings" panose="05000000000000000000" pitchFamily="2" charset="2"/>
            </a:endParaRPr>
          </a:p>
          <a:p>
            <a:pPr marL="0" indent="0">
              <a:buNone/>
            </a:pPr>
            <a:r>
              <a:rPr lang="fr-FR" sz="2800" dirty="0">
                <a:sym typeface="Wingdings" panose="05000000000000000000" pitchFamily="2" charset="2"/>
              </a:rPr>
              <a:t>	 la marque rend service au client avec une 	expérience fluide, « sans couture » </a:t>
            </a:r>
            <a:endParaRPr lang="fr-FR" dirty="0"/>
          </a:p>
        </p:txBody>
      </p:sp>
    </p:spTree>
    <p:extLst>
      <p:ext uri="{BB962C8B-B14F-4D97-AF65-F5344CB8AC3E}">
        <p14:creationId xmlns:p14="http://schemas.microsoft.com/office/powerpoint/2010/main" val="189622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arn(inVertic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arn(inVertical)">
                                      <p:cBhvr>
                                        <p:cTn id="1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1399" y="287094"/>
            <a:ext cx="9158361" cy="1288488"/>
          </a:xfrm>
        </p:spPr>
        <p:txBody>
          <a:bodyPr>
            <a:noAutofit/>
          </a:bodyPr>
          <a:lstStyle/>
          <a:p>
            <a:pPr algn="ctr"/>
            <a:r>
              <a:rPr lang="fr-FR" sz="4400" dirty="0"/>
              <a:t>L’omnicanal et le parcours client</a:t>
            </a:r>
            <a:endParaRPr lang="fr-FR" sz="44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3" name="Espace réservé de la date 2"/>
          <p:cNvSpPr>
            <a:spLocks noGrp="1"/>
          </p:cNvSpPr>
          <p:nvPr>
            <p:ph type="dt" sz="half" idx="10"/>
          </p:nvPr>
        </p:nvSpPr>
        <p:spPr/>
        <p:txBody>
          <a:bodyPr/>
          <a:lstStyle/>
          <a:p>
            <a:fld id="{7EE87130-F9B0-496C-A97B-CF82B014F619}" type="datetime1">
              <a:rPr lang="fr-FR" smtClean="0"/>
              <a:t>08/10/2025</a:t>
            </a:fld>
            <a:endParaRPr lang="fr-FR"/>
          </a:p>
        </p:txBody>
      </p:sp>
      <p:sp>
        <p:nvSpPr>
          <p:cNvPr id="5" name="Espace réservé du numéro de diapositive 4"/>
          <p:cNvSpPr>
            <a:spLocks noGrp="1"/>
          </p:cNvSpPr>
          <p:nvPr>
            <p:ph type="sldNum" sz="quarter" idx="12"/>
          </p:nvPr>
        </p:nvSpPr>
        <p:spPr/>
        <p:txBody>
          <a:bodyPr/>
          <a:lstStyle/>
          <a:p>
            <a:fld id="{86A4E710-53CF-4107-B354-89F9940CB5DE}" type="slidenum">
              <a:rPr lang="fr-FR" smtClean="0"/>
              <a:t>13</a:t>
            </a:fld>
            <a:endParaRPr lang="fr-FR"/>
          </a:p>
        </p:txBody>
      </p:sp>
      <p:sp>
        <p:nvSpPr>
          <p:cNvPr id="11" name="Rectangle 10"/>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4" name="ZoneTexte 3">
            <a:extLst>
              <a:ext uri="{FF2B5EF4-FFF2-40B4-BE49-F238E27FC236}">
                <a16:creationId xmlns:a16="http://schemas.microsoft.com/office/drawing/2014/main" id="{F7363654-EFD3-449E-86B2-3EB9960DD0D7}"/>
              </a:ext>
            </a:extLst>
          </p:cNvPr>
          <p:cNvSpPr txBox="1"/>
          <p:nvPr/>
        </p:nvSpPr>
        <p:spPr>
          <a:xfrm>
            <a:off x="674509" y="1542206"/>
            <a:ext cx="9728275" cy="1077218"/>
          </a:xfrm>
          <a:prstGeom prst="rect">
            <a:avLst/>
          </a:prstGeom>
          <a:noFill/>
        </p:spPr>
        <p:txBody>
          <a:bodyPr wrap="square" rtlCol="0">
            <a:spAutoFit/>
          </a:bodyPr>
          <a:lstStyle/>
          <a:p>
            <a:r>
              <a:rPr lang="fr-FR" sz="3200" dirty="0"/>
              <a:t>DEUX OUTILS FONDAMENTAUX POUR LE DESIGN DU PARCOURS CLIENT </a:t>
            </a:r>
          </a:p>
        </p:txBody>
      </p:sp>
      <p:pic>
        <p:nvPicPr>
          <p:cNvPr id="1028" name="Picture 4" descr="Customer Journey Mapping Guide | Customer Journey Map Template">
            <a:extLst>
              <a:ext uri="{FF2B5EF4-FFF2-40B4-BE49-F238E27FC236}">
                <a16:creationId xmlns:a16="http://schemas.microsoft.com/office/drawing/2014/main" id="{2D489BB6-F3BE-306B-3009-F939620972B7}"/>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a:stretch/>
        </p:blipFill>
        <p:spPr bwMode="auto">
          <a:xfrm>
            <a:off x="7279573" y="2634606"/>
            <a:ext cx="4643253" cy="382074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ervice Blueprint Guide – With Examples | Miro">
            <a:extLst>
              <a:ext uri="{FF2B5EF4-FFF2-40B4-BE49-F238E27FC236}">
                <a16:creationId xmlns:a16="http://schemas.microsoft.com/office/drawing/2014/main" id="{1D74F194-9246-E0D2-1F51-2A08138CC911}"/>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74509" y="3026095"/>
            <a:ext cx="5339938" cy="2224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61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barn(inVertical)">
                                      <p:cBhvr>
                                        <p:cTn id="1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1399" y="287094"/>
            <a:ext cx="9158361" cy="1288488"/>
          </a:xfrm>
        </p:spPr>
        <p:txBody>
          <a:bodyPr>
            <a:noAutofit/>
          </a:bodyPr>
          <a:lstStyle/>
          <a:p>
            <a:pPr algn="ctr"/>
            <a:r>
              <a:rPr lang="fr-FR" sz="4400" dirty="0"/>
              <a:t>L’omnicanal et le parcours client</a:t>
            </a:r>
            <a:endParaRPr lang="fr-FR" sz="44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3" name="Espace réservé de la date 2"/>
          <p:cNvSpPr>
            <a:spLocks noGrp="1"/>
          </p:cNvSpPr>
          <p:nvPr>
            <p:ph type="dt" sz="half" idx="10"/>
          </p:nvPr>
        </p:nvSpPr>
        <p:spPr/>
        <p:txBody>
          <a:bodyPr/>
          <a:lstStyle/>
          <a:p>
            <a:fld id="{7EE87130-F9B0-496C-A97B-CF82B014F619}" type="datetime1">
              <a:rPr lang="fr-FR" smtClean="0"/>
              <a:t>08/10/2025</a:t>
            </a:fld>
            <a:endParaRPr lang="fr-FR"/>
          </a:p>
        </p:txBody>
      </p:sp>
      <p:sp>
        <p:nvSpPr>
          <p:cNvPr id="5" name="Espace réservé du numéro de diapositive 4"/>
          <p:cNvSpPr>
            <a:spLocks noGrp="1"/>
          </p:cNvSpPr>
          <p:nvPr>
            <p:ph type="sldNum" sz="quarter" idx="12"/>
          </p:nvPr>
        </p:nvSpPr>
        <p:spPr/>
        <p:txBody>
          <a:bodyPr/>
          <a:lstStyle/>
          <a:p>
            <a:fld id="{86A4E710-53CF-4107-B354-89F9940CB5DE}" type="slidenum">
              <a:rPr lang="fr-FR" smtClean="0"/>
              <a:t>14</a:t>
            </a:fld>
            <a:endParaRPr lang="fr-FR"/>
          </a:p>
        </p:txBody>
      </p:sp>
      <p:sp>
        <p:nvSpPr>
          <p:cNvPr id="11" name="Rectangle 10"/>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4" name="ZoneTexte 3">
            <a:extLst>
              <a:ext uri="{FF2B5EF4-FFF2-40B4-BE49-F238E27FC236}">
                <a16:creationId xmlns:a16="http://schemas.microsoft.com/office/drawing/2014/main" id="{F7363654-EFD3-449E-86B2-3EB9960DD0D7}"/>
              </a:ext>
            </a:extLst>
          </p:cNvPr>
          <p:cNvSpPr txBox="1"/>
          <p:nvPr/>
        </p:nvSpPr>
        <p:spPr>
          <a:xfrm>
            <a:off x="674509" y="1542206"/>
            <a:ext cx="4098747" cy="2554545"/>
          </a:xfrm>
          <a:prstGeom prst="rect">
            <a:avLst/>
          </a:prstGeom>
          <a:noFill/>
        </p:spPr>
        <p:txBody>
          <a:bodyPr wrap="square" rtlCol="0">
            <a:spAutoFit/>
          </a:bodyPr>
          <a:lstStyle/>
          <a:p>
            <a:r>
              <a:rPr lang="fr-FR" sz="3200" dirty="0"/>
              <a:t>En interne: le parcours client = plan de </a:t>
            </a:r>
            <a:r>
              <a:rPr lang="fr-FR" sz="3200" b="1" u="sng" dirty="0"/>
              <a:t>l’expérience</a:t>
            </a:r>
            <a:r>
              <a:rPr lang="fr-FR" sz="3200" dirty="0"/>
              <a:t> client proposée  </a:t>
            </a:r>
          </a:p>
        </p:txBody>
      </p:sp>
      <p:pic>
        <p:nvPicPr>
          <p:cNvPr id="6" name="Picture 2" descr="Service Blueprint Guide – With Examples | Miro">
            <a:extLst>
              <a:ext uri="{FF2B5EF4-FFF2-40B4-BE49-F238E27FC236}">
                <a16:creationId xmlns:a16="http://schemas.microsoft.com/office/drawing/2014/main" id="{C0D1A1F0-70B4-BDA2-0962-3BF0051A492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531517" y="2045170"/>
            <a:ext cx="5339938" cy="2224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92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7646292-4B9D-BCF0-F0E0-0568C44B2A17}"/>
              </a:ext>
            </a:extLst>
          </p:cNvPr>
          <p:cNvSpPr>
            <a:spLocks noGrp="1"/>
          </p:cNvSpPr>
          <p:nvPr>
            <p:ph type="dt" sz="half" idx="10"/>
          </p:nvPr>
        </p:nvSpPr>
        <p:spPr/>
        <p:txBody>
          <a:bodyPr/>
          <a:lstStyle/>
          <a:p>
            <a:fld id="{30BFE4E3-584B-4F28-9E57-A829E8869251}" type="datetime1">
              <a:rPr lang="fr-FR" smtClean="0"/>
              <a:t>08/10/2025</a:t>
            </a:fld>
            <a:endParaRPr lang="en-US" dirty="0"/>
          </a:p>
        </p:txBody>
      </p:sp>
      <p:sp>
        <p:nvSpPr>
          <p:cNvPr id="3" name="Espace réservé du numéro de diapositive 2">
            <a:extLst>
              <a:ext uri="{FF2B5EF4-FFF2-40B4-BE49-F238E27FC236}">
                <a16:creationId xmlns:a16="http://schemas.microsoft.com/office/drawing/2014/main" id="{2358CBDF-8F0A-EE62-BB06-68CD8EDE532D}"/>
              </a:ext>
            </a:extLst>
          </p:cNvPr>
          <p:cNvSpPr>
            <a:spLocks noGrp="1"/>
          </p:cNvSpPr>
          <p:nvPr>
            <p:ph type="sldNum" sz="quarter" idx="12"/>
          </p:nvPr>
        </p:nvSpPr>
        <p:spPr/>
        <p:txBody>
          <a:bodyPr/>
          <a:lstStyle/>
          <a:p>
            <a:fld id="{4FAB73BC-B049-4115-A692-8D63A059BFB8}" type="slidenum">
              <a:rPr lang="en-US" smtClean="0"/>
              <a:t>15</a:t>
            </a:fld>
            <a:endParaRPr lang="en-US" dirty="0"/>
          </a:p>
        </p:txBody>
      </p:sp>
      <p:pic>
        <p:nvPicPr>
          <p:cNvPr id="12" name="Image 11">
            <a:extLst>
              <a:ext uri="{FF2B5EF4-FFF2-40B4-BE49-F238E27FC236}">
                <a16:creationId xmlns:a16="http://schemas.microsoft.com/office/drawing/2014/main" id="{46022C6D-3B9D-745E-B9A8-34E746F4D98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08404" y="-14999"/>
            <a:ext cx="9330007" cy="6887998"/>
          </a:xfrm>
          <a:prstGeom prst="rect">
            <a:avLst/>
          </a:prstGeom>
        </p:spPr>
      </p:pic>
    </p:spTree>
    <p:extLst>
      <p:ext uri="{BB962C8B-B14F-4D97-AF65-F5344CB8AC3E}">
        <p14:creationId xmlns:p14="http://schemas.microsoft.com/office/powerpoint/2010/main" val="2916033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1399" y="287094"/>
            <a:ext cx="9158361" cy="1288488"/>
          </a:xfrm>
        </p:spPr>
        <p:txBody>
          <a:bodyPr>
            <a:noAutofit/>
          </a:bodyPr>
          <a:lstStyle/>
          <a:p>
            <a:pPr algn="ctr"/>
            <a:r>
              <a:rPr lang="fr-FR" sz="4400" dirty="0"/>
              <a:t>L’omnicanal et le parcours client</a:t>
            </a:r>
            <a:endParaRPr lang="fr-FR" sz="44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3" name="Espace réservé de la date 2"/>
          <p:cNvSpPr>
            <a:spLocks noGrp="1"/>
          </p:cNvSpPr>
          <p:nvPr>
            <p:ph type="dt" sz="half" idx="10"/>
          </p:nvPr>
        </p:nvSpPr>
        <p:spPr/>
        <p:txBody>
          <a:bodyPr/>
          <a:lstStyle/>
          <a:p>
            <a:fld id="{7EE87130-F9B0-496C-A97B-CF82B014F619}" type="datetime1">
              <a:rPr lang="fr-FR" smtClean="0"/>
              <a:t>08/10/2025</a:t>
            </a:fld>
            <a:endParaRPr lang="fr-FR"/>
          </a:p>
        </p:txBody>
      </p:sp>
      <p:sp>
        <p:nvSpPr>
          <p:cNvPr id="5" name="Espace réservé du numéro de diapositive 4"/>
          <p:cNvSpPr>
            <a:spLocks noGrp="1"/>
          </p:cNvSpPr>
          <p:nvPr>
            <p:ph type="sldNum" sz="quarter" idx="12"/>
          </p:nvPr>
        </p:nvSpPr>
        <p:spPr/>
        <p:txBody>
          <a:bodyPr/>
          <a:lstStyle/>
          <a:p>
            <a:fld id="{86A4E710-53CF-4107-B354-89F9940CB5DE}" type="slidenum">
              <a:rPr lang="fr-FR" smtClean="0"/>
              <a:t>16</a:t>
            </a:fld>
            <a:endParaRPr lang="fr-FR"/>
          </a:p>
        </p:txBody>
      </p:sp>
      <p:sp>
        <p:nvSpPr>
          <p:cNvPr id="11" name="Rectangle 10"/>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4" name="ZoneTexte 3">
            <a:extLst>
              <a:ext uri="{FF2B5EF4-FFF2-40B4-BE49-F238E27FC236}">
                <a16:creationId xmlns:a16="http://schemas.microsoft.com/office/drawing/2014/main" id="{F7363654-EFD3-449E-86B2-3EB9960DD0D7}"/>
              </a:ext>
            </a:extLst>
          </p:cNvPr>
          <p:cNvSpPr txBox="1"/>
          <p:nvPr/>
        </p:nvSpPr>
        <p:spPr>
          <a:xfrm>
            <a:off x="674509" y="1542206"/>
            <a:ext cx="4098747" cy="3046988"/>
          </a:xfrm>
          <a:prstGeom prst="rect">
            <a:avLst/>
          </a:prstGeom>
          <a:noFill/>
        </p:spPr>
        <p:txBody>
          <a:bodyPr wrap="square" rtlCol="0">
            <a:spAutoFit/>
          </a:bodyPr>
          <a:lstStyle/>
          <a:p>
            <a:r>
              <a:rPr lang="fr-FR" sz="3200" dirty="0"/>
              <a:t>En externe: cartographier le parcours client = comment les clients vivent le parcours client</a:t>
            </a:r>
          </a:p>
        </p:txBody>
      </p:sp>
      <p:pic>
        <p:nvPicPr>
          <p:cNvPr id="1028" name="Picture 4" descr="Customer Journey Mapping Guide | Customer Journey Map Template">
            <a:extLst>
              <a:ext uri="{FF2B5EF4-FFF2-40B4-BE49-F238E27FC236}">
                <a16:creationId xmlns:a16="http://schemas.microsoft.com/office/drawing/2014/main" id="{2D489BB6-F3BE-306B-3009-F939620972B7}"/>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a:stretch/>
        </p:blipFill>
        <p:spPr bwMode="auto">
          <a:xfrm>
            <a:off x="5854534" y="1779019"/>
            <a:ext cx="4643253" cy="3820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99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barn(inVertical)">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re 3"/>
          <p:cNvSpPr>
            <a:spLocks noGrp="1"/>
          </p:cNvSpPr>
          <p:nvPr>
            <p:ph type="title"/>
          </p:nvPr>
        </p:nvSpPr>
        <p:spPr>
          <a:xfrm>
            <a:off x="650929" y="248194"/>
            <a:ext cx="10477319" cy="957507"/>
          </a:xfrm>
        </p:spPr>
        <p:txBody>
          <a:bodyPr>
            <a:normAutofit/>
          </a:bodyPr>
          <a:lstStyle/>
          <a:p>
            <a:r>
              <a:rPr lang="fr-FR" sz="4000" b="1" cap="none" dirty="0">
                <a:solidFill>
                  <a:schemeClr val="tx1">
                    <a:lumMod val="85000"/>
                    <a:lumOff val="15000"/>
                  </a:schemeClr>
                </a:solidFill>
                <a:latin typeface="Arial" panose="020B0604020202020204" pitchFamily="34" charset="0"/>
                <a:cs typeface="Arial" panose="020B0604020202020204" pitchFamily="34" charset="0"/>
              </a:rPr>
              <a:t>L’omnicanal et le parcours client</a:t>
            </a:r>
            <a:endParaRPr lang="fr-FR" cap="none" dirty="0">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p:txBody>
          <a:bodyPr>
            <a:normAutofit/>
          </a:bodyPr>
          <a:lstStyle/>
          <a:p>
            <a:pPr>
              <a:defRPr/>
            </a:pPr>
            <a:endParaRPr lang="fr-FR" dirty="0"/>
          </a:p>
          <a:p>
            <a:pPr>
              <a:defRPr/>
            </a:pPr>
            <a:endParaRPr lang="fr-FR" dirty="0"/>
          </a:p>
          <a:p>
            <a:pPr>
              <a:defRPr/>
            </a:pPr>
            <a:endParaRPr lang="fr-FR" dirty="0"/>
          </a:p>
          <a:p>
            <a:pPr>
              <a:defRPr/>
            </a:pPr>
            <a:endParaRPr lang="fr-FR" dirty="0"/>
          </a:p>
          <a:p>
            <a:pPr>
              <a:defRPr/>
            </a:pPr>
            <a:endParaRPr lang="fr-FR" dirty="0"/>
          </a:p>
          <a:p>
            <a:pPr>
              <a:defRPr/>
            </a:pPr>
            <a:endParaRPr lang="fr-FR" dirty="0"/>
          </a:p>
          <a:p>
            <a:pPr algn="ctr">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a:p>
            <a:pPr marL="0" indent="0" algn="ctr">
              <a:buNone/>
              <a:defRPr/>
            </a:pPr>
            <a:endParaRPr lang="fr-FR" dirty="0">
              <a:solidFill>
                <a:schemeClr val="accent2"/>
              </a:solidFill>
            </a:endParaRPr>
          </a:p>
        </p:txBody>
      </p:sp>
      <p:sp>
        <p:nvSpPr>
          <p:cNvPr id="2" name="Espace réservé de la date 1"/>
          <p:cNvSpPr>
            <a:spLocks noGrp="1"/>
          </p:cNvSpPr>
          <p:nvPr>
            <p:ph type="dt" sz="half" idx="10"/>
          </p:nvPr>
        </p:nvSpPr>
        <p:spPr/>
        <p:txBody>
          <a:bodyPr/>
          <a:lstStyle/>
          <a:p>
            <a:fld id="{2B967459-CFC3-4031-BDF4-6AE2CED75466}" type="datetime1">
              <a:rPr lang="fr-FR" smtClean="0"/>
              <a:t>08/10/2025</a:t>
            </a:fld>
            <a:endParaRPr lang="fr-FR"/>
          </a:p>
        </p:txBody>
      </p:sp>
      <p:sp>
        <p:nvSpPr>
          <p:cNvPr id="16388"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pPr>
            <a:fld id="{A4C5947E-694A-418A-98D8-11D1049DD5EE}" type="slidenum">
              <a:rPr lang="fr-FR" altLang="fr-FR" sz="1200">
                <a:solidFill>
                  <a:srgbClr val="FFFFFF"/>
                </a:solidFill>
                <a:latin typeface="Tw Cen MT" panose="020B0602020104020603" pitchFamily="34" charset="0"/>
              </a:rPr>
              <a:pPr>
                <a:lnSpc>
                  <a:spcPct val="80000"/>
                </a:lnSpc>
              </a:pPr>
              <a:t>17</a:t>
            </a:fld>
            <a:endParaRPr lang="fr-FR" altLang="fr-FR" sz="1200">
              <a:solidFill>
                <a:srgbClr val="FFFFFF"/>
              </a:solidFill>
              <a:latin typeface="Tw Cen MT" panose="020B0602020104020603" pitchFamily="34" charset="0"/>
            </a:endParaRPr>
          </a:p>
        </p:txBody>
      </p:sp>
      <p:sp>
        <p:nvSpPr>
          <p:cNvPr id="7" name="Rectangle 6"/>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pic>
        <p:nvPicPr>
          <p:cNvPr id="9" name="Image 8"/>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396371" y="5840893"/>
            <a:ext cx="5797798" cy="914479"/>
          </a:xfrm>
          <a:prstGeom prst="rect">
            <a:avLst/>
          </a:prstGeom>
        </p:spPr>
      </p:pic>
      <p:pic>
        <p:nvPicPr>
          <p:cNvPr id="4098" name="Picture 2" descr="Le parcours client : instrument clé pour optimiser l'Expérience Client ! 1">
            <a:extLst>
              <a:ext uri="{FF2B5EF4-FFF2-40B4-BE49-F238E27FC236}">
                <a16:creationId xmlns:a16="http://schemas.microsoft.com/office/drawing/2014/main" id="{5F7F1C2D-DC3C-44B4-914C-0170D8BF9875}"/>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 y="944068"/>
            <a:ext cx="12397368" cy="591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76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p:cNvSpPr>
            <a:spLocks noGrp="1"/>
          </p:cNvSpPr>
          <p:nvPr>
            <p:ph type="title"/>
          </p:nvPr>
        </p:nvSpPr>
        <p:spPr>
          <a:xfrm>
            <a:off x="1066800" y="731547"/>
            <a:ext cx="10058400" cy="719658"/>
          </a:xfrm>
        </p:spPr>
        <p:txBody>
          <a:bodyPr>
            <a:normAutofit fontScale="90000"/>
          </a:bodyPr>
          <a:lstStyle/>
          <a:p>
            <a:r>
              <a:rPr lang="fr-FR" sz="5400" dirty="0"/>
              <a:t>Les outils digitaux au service de l’</a:t>
            </a:r>
            <a:r>
              <a:rPr lang="fr-FR" sz="5400" dirty="0" err="1"/>
              <a:t>EXperience</a:t>
            </a:r>
            <a:r>
              <a:rPr lang="fr-FR" sz="5400" dirty="0"/>
              <a:t> client</a:t>
            </a:r>
            <a:endParaRPr lang="fr-FR" dirty="0"/>
          </a:p>
        </p:txBody>
      </p:sp>
      <p:sp>
        <p:nvSpPr>
          <p:cNvPr id="5" name="Espace réservé du numéro de diapositive 4"/>
          <p:cNvSpPr>
            <a:spLocks noGrp="1"/>
          </p:cNvSpPr>
          <p:nvPr>
            <p:ph type="sldNum" sz="quarter" idx="12"/>
          </p:nvPr>
        </p:nvSpPr>
        <p:spPr/>
        <p:txBody>
          <a:bodyPr/>
          <a:lstStyle/>
          <a:p>
            <a:fld id="{4FAB73BC-B049-4115-A692-8D63A059BFB8}" type="slidenum">
              <a:rPr lang="en-US" smtClean="0"/>
              <a:t>18</a:t>
            </a:fld>
            <a:endParaRPr lang="en-US" dirty="0"/>
          </a:p>
        </p:txBody>
      </p:sp>
      <p:sp>
        <p:nvSpPr>
          <p:cNvPr id="8" name="Rectangle 7"/>
          <p:cNvSpPr/>
          <p:nvPr>
            <p:custDataLst>
              <p:tags r:id="rId1"/>
            </p:custDataLst>
          </p:nvPr>
        </p:nvSpPr>
        <p:spPr>
          <a:xfrm>
            <a:off x="1" y="5803196"/>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p:cNvPicPr>
            <a:picLocks noChangeAspect="1"/>
          </p:cNvPicPr>
          <p:nvPr>
            <p:custDataLst>
              <p:tags r:id="rId2"/>
            </p:custDataLst>
          </p:nvPr>
        </p:nvPicPr>
        <p:blipFill>
          <a:blip r:embed="rId5" cstate="screen">
            <a:extLst>
              <a:ext uri="{28A0092B-C50C-407E-A947-70E740481C1C}">
                <a14:useLocalDpi xmlns:a14="http://schemas.microsoft.com/office/drawing/2010/main"/>
              </a:ext>
            </a:extLst>
          </a:blip>
          <a:stretch>
            <a:fillRect/>
          </a:stretch>
        </p:blipFill>
        <p:spPr>
          <a:xfrm>
            <a:off x="866648" y="5730468"/>
            <a:ext cx="1087396" cy="1087394"/>
          </a:xfrm>
          <a:prstGeom prst="rect">
            <a:avLst/>
          </a:prstGeom>
        </p:spPr>
      </p:pic>
      <p:sp>
        <p:nvSpPr>
          <p:cNvPr id="12" name="Espace réservé de la date 11"/>
          <p:cNvSpPr>
            <a:spLocks noGrp="1"/>
          </p:cNvSpPr>
          <p:nvPr>
            <p:ph type="dt" sz="half" idx="10"/>
          </p:nvPr>
        </p:nvSpPr>
        <p:spPr/>
        <p:txBody>
          <a:bodyPr/>
          <a:lstStyle/>
          <a:p>
            <a:fld id="{421339A2-603D-4C49-A0DF-9BA166F837A0}" type="datetime1">
              <a:rPr lang="fr-FR" smtClean="0"/>
              <a:t>08/10/2025</a:t>
            </a:fld>
            <a:endParaRPr lang="en-US" dirty="0"/>
          </a:p>
        </p:txBody>
      </p:sp>
      <p:sp>
        <p:nvSpPr>
          <p:cNvPr id="3" name="Espace réservé du contenu 2">
            <a:extLst>
              <a:ext uri="{FF2B5EF4-FFF2-40B4-BE49-F238E27FC236}">
                <a16:creationId xmlns:a16="http://schemas.microsoft.com/office/drawing/2014/main" id="{D1483A20-B00D-489A-B7AC-3601C6F62A3D}"/>
              </a:ext>
            </a:extLst>
          </p:cNvPr>
          <p:cNvSpPr>
            <a:spLocks noGrp="1"/>
          </p:cNvSpPr>
          <p:nvPr>
            <p:ph idx="1"/>
          </p:nvPr>
        </p:nvSpPr>
        <p:spPr>
          <a:xfrm>
            <a:off x="818896" y="1866733"/>
            <a:ext cx="10058400" cy="4050792"/>
          </a:xfrm>
        </p:spPr>
        <p:txBody>
          <a:bodyPr>
            <a:normAutofit/>
          </a:bodyPr>
          <a:lstStyle/>
          <a:p>
            <a:r>
              <a:rPr lang="fr-FR" sz="2800" dirty="0"/>
              <a:t>Focus sur 3 outils:</a:t>
            </a:r>
          </a:p>
          <a:p>
            <a:pPr>
              <a:buFontTx/>
              <a:buChar char="-"/>
            </a:pPr>
            <a:r>
              <a:rPr lang="fr-FR" sz="2800" dirty="0"/>
              <a:t>Les objets connectés</a:t>
            </a:r>
          </a:p>
          <a:p>
            <a:pPr>
              <a:buFontTx/>
              <a:buChar char="-"/>
            </a:pPr>
            <a:r>
              <a:rPr lang="fr-FR" sz="2800" b="0" i="0" u="none" strike="noStrike" kern="1200" dirty="0">
                <a:solidFill>
                  <a:schemeClr val="tx1"/>
                </a:solidFill>
              </a:rPr>
              <a:t>Les </a:t>
            </a:r>
            <a:r>
              <a:rPr lang="fr-FR" sz="2800" b="0" i="0" u="none" strike="noStrike" kern="1200" dirty="0" err="1">
                <a:solidFill>
                  <a:schemeClr val="tx1"/>
                </a:solidFill>
              </a:rPr>
              <a:t>chatbots</a:t>
            </a:r>
            <a:endParaRPr lang="fr-FR" sz="2800" b="0" i="0" u="none" strike="noStrike" kern="1200" dirty="0">
              <a:solidFill>
                <a:schemeClr val="tx1"/>
              </a:solidFill>
            </a:endParaRPr>
          </a:p>
          <a:p>
            <a:pPr>
              <a:buFontTx/>
              <a:buChar char="-"/>
            </a:pPr>
            <a:r>
              <a:rPr lang="fr-FR" sz="2800" dirty="0"/>
              <a:t>La réalité virtuelle/augmentée</a:t>
            </a:r>
            <a:endParaRPr lang="fr-FR" sz="2800" b="0" i="0" u="none" strike="noStrike" kern="1200" dirty="0">
              <a:solidFill>
                <a:schemeClr val="tx1"/>
              </a:solidFill>
            </a:endParaRPr>
          </a:p>
        </p:txBody>
      </p:sp>
    </p:spTree>
    <p:extLst>
      <p:ext uri="{BB962C8B-B14F-4D97-AF65-F5344CB8AC3E}">
        <p14:creationId xmlns:p14="http://schemas.microsoft.com/office/powerpoint/2010/main" val="70968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7"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8">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48134" y="212841"/>
            <a:ext cx="10058400" cy="766873"/>
          </a:xfrm>
        </p:spPr>
        <p:txBody>
          <a:bodyPr>
            <a:normAutofit fontScale="90000"/>
          </a:bodyPr>
          <a:lstStyle/>
          <a:p>
            <a:r>
              <a:rPr lang="fr-FR" sz="4400" dirty="0">
                <a:latin typeface="Arial" panose="020B0604020202020204" pitchFamily="34" charset="0"/>
                <a:cs typeface="Arial" panose="020B0604020202020204" pitchFamily="34" charset="0"/>
              </a:rPr>
              <a:t>1. Mobiles et objets connectés</a:t>
            </a:r>
          </a:p>
        </p:txBody>
      </p:sp>
      <p:pic>
        <p:nvPicPr>
          <p:cNvPr id="2" name="Image 1"/>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371835" y="1890712"/>
            <a:ext cx="5544056" cy="3076575"/>
          </a:xfrm>
          <a:prstGeom prst="rect">
            <a:avLst/>
          </a:prstGeom>
        </p:spPr>
      </p:pic>
      <p:sp>
        <p:nvSpPr>
          <p:cNvPr id="11" name="Espace réservé du contenu 10"/>
          <p:cNvSpPr>
            <a:spLocks noGrp="1"/>
          </p:cNvSpPr>
          <p:nvPr>
            <p:ph type="subTitle" idx="4294967295"/>
          </p:nvPr>
        </p:nvSpPr>
        <p:spPr>
          <a:xfrm>
            <a:off x="5915891" y="1493217"/>
            <a:ext cx="5985165" cy="3955616"/>
          </a:xfrm>
        </p:spPr>
        <p:txBody>
          <a:bodyPr>
            <a:normAutofit/>
          </a:bodyPr>
          <a:lstStyle/>
          <a:p>
            <a:pPr marL="0" indent="0" algn="just">
              <a:buNone/>
            </a:pPr>
            <a:endParaRPr lang="fr-FR" dirty="0"/>
          </a:p>
          <a:p>
            <a:pPr marL="0" indent="0" algn="just">
              <a:buNone/>
            </a:pPr>
            <a:r>
              <a:rPr lang="fr-FR" dirty="0"/>
              <a:t>Objets connectés = objets ayant des identités et des personnalités virtuelles, fonctionnant dans des espaces de vie réel mais aussi utilisant des interfaces intelligentes pour se connecter à Internet et communiquer avec d’autres objets</a:t>
            </a:r>
          </a:p>
          <a:p>
            <a:pPr marL="0" indent="0" algn="just">
              <a:buNone/>
            </a:pPr>
            <a:endParaRPr lang="fr-FR" dirty="0">
              <a:latin typeface="AvenirNext LT Pro Medium" panose="020B0604020202020204" pitchFamily="34" charset="0"/>
            </a:endParaRPr>
          </a:p>
          <a:p>
            <a:pPr marL="0" indent="0" algn="just">
              <a:buNone/>
            </a:pPr>
            <a:endParaRPr lang="fr-FR" dirty="0">
              <a:latin typeface="AvenirNext LT Pro Medium" panose="020B0604020202020204" pitchFamily="34" charset="0"/>
            </a:endParaRPr>
          </a:p>
        </p:txBody>
      </p:sp>
    </p:spTree>
    <p:extLst>
      <p:ext uri="{BB962C8B-B14F-4D97-AF65-F5344CB8AC3E}">
        <p14:creationId xmlns:p14="http://schemas.microsoft.com/office/powerpoint/2010/main" val="228823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948134" y="1287517"/>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948134" y="212841"/>
            <a:ext cx="10058400" cy="934387"/>
          </a:xfrm>
        </p:spPr>
        <p:txBody>
          <a:bodyPr>
            <a:normAutofit fontScale="90000"/>
          </a:bodyPr>
          <a:lstStyle/>
          <a:p>
            <a:r>
              <a:rPr lang="fr-FR" sz="4400" dirty="0">
                <a:latin typeface="Arial" panose="020B0604020202020204" pitchFamily="34" charset="0"/>
                <a:cs typeface="Arial" panose="020B0604020202020204" pitchFamily="34" charset="0"/>
              </a:rPr>
              <a:t>1. Objets connectés et le relationnel</a:t>
            </a:r>
          </a:p>
        </p:txBody>
      </p:sp>
      <p:sp>
        <p:nvSpPr>
          <p:cNvPr id="11" name="Espace réservé du contenu 10"/>
          <p:cNvSpPr>
            <a:spLocks noGrp="1"/>
          </p:cNvSpPr>
          <p:nvPr>
            <p:ph type="subTitle" idx="4294967295"/>
          </p:nvPr>
        </p:nvSpPr>
        <p:spPr>
          <a:xfrm>
            <a:off x="948134" y="1493217"/>
            <a:ext cx="10295732" cy="3955616"/>
          </a:xfrm>
        </p:spPr>
        <p:txBody>
          <a:bodyPr>
            <a:normAutofit/>
          </a:bodyPr>
          <a:lstStyle/>
          <a:p>
            <a:pPr algn="just">
              <a:buFont typeface="Wingdings" panose="05000000000000000000" pitchFamily="2" charset="2"/>
              <a:buChar char="q"/>
            </a:pPr>
            <a:r>
              <a:rPr lang="fr-FR" dirty="0">
                <a:latin typeface="AvenirNext LT Pro Medium" panose="020B0604020202020204" pitchFamily="34" charset="0"/>
              </a:rPr>
              <a:t>  Entretenir le lien d’échange et de partage avec le consommateur</a:t>
            </a:r>
          </a:p>
          <a:p>
            <a:pPr marL="0" indent="0" algn="just">
              <a:buNone/>
            </a:pPr>
            <a:endParaRPr lang="fr-FR" dirty="0">
              <a:latin typeface="AvenirNext LT Pro Medium" panose="020B0604020202020204" pitchFamily="34" charset="0"/>
            </a:endParaRPr>
          </a:p>
          <a:p>
            <a:pPr algn="just">
              <a:buFont typeface="Wingdings" panose="05000000000000000000" pitchFamily="2" charset="2"/>
              <a:buChar char="q"/>
            </a:pPr>
            <a:r>
              <a:rPr lang="fr-FR" dirty="0">
                <a:latin typeface="AvenirNext LT Pro Medium" panose="020B0604020202020204" pitchFamily="34" charset="0"/>
              </a:rPr>
              <a:t> Collecter des données en continue pour mieux personnaliser</a:t>
            </a:r>
          </a:p>
          <a:p>
            <a:pPr algn="just">
              <a:buFont typeface="Wingdings" panose="05000000000000000000" pitchFamily="2" charset="2"/>
              <a:buChar char="q"/>
            </a:pPr>
            <a:endParaRPr lang="fr-FR" dirty="0">
              <a:latin typeface="AvenirNext LT Pro Medium" panose="020B0604020202020204" pitchFamily="34" charset="0"/>
            </a:endParaRPr>
          </a:p>
          <a:p>
            <a:pPr algn="just">
              <a:buFont typeface="Wingdings" panose="05000000000000000000" pitchFamily="2" charset="2"/>
              <a:buChar char="q"/>
            </a:pPr>
            <a:endParaRPr lang="fr-FR" dirty="0">
              <a:latin typeface="AvenirNext LT Pro Medium" panose="020B0604020202020204" pitchFamily="34" charset="0"/>
            </a:endParaRPr>
          </a:p>
          <a:p>
            <a:pPr algn="just">
              <a:buFont typeface="Wingdings" panose="05000000000000000000" pitchFamily="2" charset="2"/>
              <a:buChar char="q"/>
            </a:pPr>
            <a:endParaRPr lang="fr-FR" dirty="0">
              <a:latin typeface="AvenirNext LT Pro Medium" panose="020B0604020202020204" pitchFamily="34" charset="0"/>
            </a:endParaRPr>
          </a:p>
          <a:p>
            <a:pPr algn="just">
              <a:buFont typeface="Wingdings" panose="05000000000000000000" pitchFamily="2" charset="2"/>
              <a:buChar char="q"/>
            </a:pPr>
            <a:endParaRPr lang="fr-FR" dirty="0">
              <a:latin typeface="AvenirNext LT Pro Medium" panose="020B0604020202020204" pitchFamily="34" charset="0"/>
            </a:endParaRPr>
          </a:p>
        </p:txBody>
      </p:sp>
    </p:spTree>
    <p:extLst>
      <p:ext uri="{BB962C8B-B14F-4D97-AF65-F5344CB8AC3E}">
        <p14:creationId xmlns:p14="http://schemas.microsoft.com/office/powerpoint/2010/main" val="289387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barn(inVertical)">
                                      <p:cBhvr>
                                        <p:cTn id="12"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78126-4183-4149-81FF-7FF2C394DE12}"/>
              </a:ext>
            </a:extLst>
          </p:cNvPr>
          <p:cNvSpPr>
            <a:spLocks noGrp="1"/>
          </p:cNvSpPr>
          <p:nvPr>
            <p:ph type="title"/>
          </p:nvPr>
        </p:nvSpPr>
        <p:spPr/>
        <p:txBody>
          <a:bodyPr/>
          <a:lstStyle/>
          <a:p>
            <a:r>
              <a:rPr lang="fr-FR"/>
              <a:t>Exemple</a:t>
            </a:r>
            <a:endParaRPr lang="fr-FR" dirty="0"/>
          </a:p>
        </p:txBody>
      </p:sp>
      <p:pic>
        <p:nvPicPr>
          <p:cNvPr id="4098" name="Picture 2" descr="Assurance Auto Connectée YouDrive – Direct Assurance">
            <a:extLst>
              <a:ext uri="{FF2B5EF4-FFF2-40B4-BE49-F238E27FC236}">
                <a16:creationId xmlns:a16="http://schemas.microsoft.com/office/drawing/2014/main" id="{928DC139-2BF8-4490-8525-A4B52A6D6F0A}"/>
              </a:ext>
            </a:extLst>
          </p:cNvPr>
          <p:cNvPicPr>
            <a:picLocks noChangeAspect="1" noChangeArrowheads="1" noCrop="1"/>
          </p:cNvPicPr>
          <p:nvPr/>
        </p:nvPicPr>
        <p:blipFill>
          <a:blip r:embed="rId3">
            <a:extLst>
              <a:ext uri="{28A0092B-C50C-407E-A947-70E740481C1C}">
                <a14:useLocalDpi xmlns:a14="http://schemas.microsoft.com/office/drawing/2010/main"/>
              </a:ext>
            </a:extLst>
          </a:blip>
          <a:srcRect/>
          <a:stretch>
            <a:fillRect/>
          </a:stretch>
        </p:blipFill>
        <p:spPr bwMode="auto">
          <a:xfrm>
            <a:off x="3362626" y="2296683"/>
            <a:ext cx="4768422" cy="355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54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401782" y="1287517"/>
            <a:ext cx="10842084"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401782" y="212841"/>
            <a:ext cx="10604752" cy="766873"/>
          </a:xfrm>
        </p:spPr>
        <p:txBody>
          <a:bodyPr>
            <a:normAutofit/>
          </a:bodyPr>
          <a:lstStyle/>
          <a:p>
            <a:r>
              <a:rPr lang="fr-FR" sz="4400" dirty="0">
                <a:latin typeface="Arial" panose="020B0604020202020204" pitchFamily="34" charset="0"/>
                <a:cs typeface="Arial" panose="020B0604020202020204" pitchFamily="34" charset="0"/>
              </a:rPr>
              <a:t>2. </a:t>
            </a:r>
            <a:r>
              <a:rPr lang="fr-FR" sz="4400" dirty="0" err="1">
                <a:latin typeface="Arial" panose="020B0604020202020204" pitchFamily="34" charset="0"/>
                <a:cs typeface="Arial" panose="020B0604020202020204" pitchFamily="34" charset="0"/>
              </a:rPr>
              <a:t>Chatbots</a:t>
            </a:r>
            <a:r>
              <a:rPr lang="fr-FR" sz="4400" dirty="0">
                <a:latin typeface="Arial" panose="020B0604020202020204" pitchFamily="34" charset="0"/>
                <a:cs typeface="Arial" panose="020B0604020202020204" pitchFamily="34" charset="0"/>
              </a:rPr>
              <a:t> </a:t>
            </a:r>
          </a:p>
        </p:txBody>
      </p:sp>
      <p:sp>
        <p:nvSpPr>
          <p:cNvPr id="11" name="Espace réservé du contenu 10"/>
          <p:cNvSpPr>
            <a:spLocks noGrp="1"/>
          </p:cNvSpPr>
          <p:nvPr>
            <p:ph type="subTitle" idx="4294967295"/>
          </p:nvPr>
        </p:nvSpPr>
        <p:spPr>
          <a:xfrm>
            <a:off x="304800" y="1493217"/>
            <a:ext cx="6913418" cy="3955616"/>
          </a:xfrm>
        </p:spPr>
        <p:txBody>
          <a:bodyPr>
            <a:normAutofit/>
          </a:bodyPr>
          <a:lstStyle/>
          <a:p>
            <a:pPr marL="0" indent="0" algn="just">
              <a:buNone/>
            </a:pPr>
            <a:r>
              <a:rPr lang="fr-FR" dirty="0"/>
              <a:t>Un </a:t>
            </a:r>
            <a:r>
              <a:rPr lang="fr-FR" dirty="0" err="1"/>
              <a:t>Chatbot</a:t>
            </a:r>
            <a:r>
              <a:rPr lang="fr-FR" dirty="0"/>
              <a:t> ou agent conversationnel, est un </a:t>
            </a:r>
            <a:r>
              <a:rPr lang="fr-FR" b="1" dirty="0"/>
              <a:t>système de dialogue textuel</a:t>
            </a:r>
            <a:r>
              <a:rPr lang="fr-FR" dirty="0"/>
              <a:t> permettant de simuler une conversation avec un humain</a:t>
            </a:r>
          </a:p>
          <a:p>
            <a:pPr marL="0" indent="0" algn="just">
              <a:buNone/>
            </a:pPr>
            <a:endParaRPr lang="fr-FR" dirty="0"/>
          </a:p>
          <a:p>
            <a:pPr marL="0" indent="0" algn="just">
              <a:buNone/>
            </a:pPr>
            <a:endParaRPr lang="fr-FR" dirty="0"/>
          </a:p>
        </p:txBody>
      </p:sp>
      <p:pic>
        <p:nvPicPr>
          <p:cNvPr id="2" name="Image 1"/>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7395408" y="1469000"/>
            <a:ext cx="4176057" cy="3204881"/>
          </a:xfrm>
          <a:prstGeom prst="rect">
            <a:avLst/>
          </a:prstGeom>
        </p:spPr>
      </p:pic>
    </p:spTree>
    <p:extLst>
      <p:ext uri="{BB962C8B-B14F-4D97-AF65-F5344CB8AC3E}">
        <p14:creationId xmlns:p14="http://schemas.microsoft.com/office/powerpoint/2010/main" val="315865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arn(inVertical)">
                                      <p:cBhvr>
                                        <p:cTn id="1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401782" y="1287517"/>
            <a:ext cx="10842084"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401782" y="212841"/>
            <a:ext cx="10604752" cy="766873"/>
          </a:xfrm>
        </p:spPr>
        <p:txBody>
          <a:bodyPr>
            <a:normAutofit fontScale="90000"/>
          </a:bodyPr>
          <a:lstStyle/>
          <a:p>
            <a:r>
              <a:rPr lang="fr-FR" dirty="0">
                <a:latin typeface="Arial" panose="020B0604020202020204" pitchFamily="34" charset="0"/>
                <a:cs typeface="Arial" panose="020B0604020202020204" pitchFamily="34" charset="0"/>
              </a:rPr>
              <a:t>2</a:t>
            </a:r>
            <a:r>
              <a:rPr lang="fr-FR" sz="4400" dirty="0">
                <a:latin typeface="Arial" panose="020B0604020202020204" pitchFamily="34" charset="0"/>
                <a:cs typeface="Arial" panose="020B0604020202020204" pitchFamily="34" charset="0"/>
              </a:rPr>
              <a:t>. </a:t>
            </a:r>
            <a:r>
              <a:rPr lang="fr-FR" sz="4400" dirty="0" err="1">
                <a:latin typeface="Arial" panose="020B0604020202020204" pitchFamily="34" charset="0"/>
                <a:cs typeface="Arial" panose="020B0604020202020204" pitchFamily="34" charset="0"/>
              </a:rPr>
              <a:t>Chatbots</a:t>
            </a:r>
            <a:r>
              <a:rPr lang="fr-FR" sz="4400" dirty="0">
                <a:latin typeface="Arial" panose="020B0604020202020204" pitchFamily="34" charset="0"/>
                <a:cs typeface="Arial" panose="020B0604020202020204" pitchFamily="34" charset="0"/>
              </a:rPr>
              <a:t> </a:t>
            </a:r>
          </a:p>
        </p:txBody>
      </p:sp>
      <p:sp>
        <p:nvSpPr>
          <p:cNvPr id="11" name="Espace réservé du contenu 10"/>
          <p:cNvSpPr>
            <a:spLocks noGrp="1"/>
          </p:cNvSpPr>
          <p:nvPr>
            <p:ph type="subTitle" idx="4294967295"/>
          </p:nvPr>
        </p:nvSpPr>
        <p:spPr>
          <a:xfrm>
            <a:off x="304800" y="1493217"/>
            <a:ext cx="6089402" cy="3955616"/>
          </a:xfrm>
        </p:spPr>
        <p:txBody>
          <a:bodyPr>
            <a:normAutofit/>
          </a:bodyPr>
          <a:lstStyle/>
          <a:p>
            <a:pPr marL="0" indent="0" algn="just">
              <a:buNone/>
            </a:pPr>
            <a:r>
              <a:rPr lang="fr-FR" dirty="0"/>
              <a:t>80% des demandes des clients concernent 20% des sujets abordés</a:t>
            </a:r>
          </a:p>
          <a:p>
            <a:pPr algn="just">
              <a:buFont typeface="Wingdings" panose="05000000000000000000" pitchFamily="2" charset="2"/>
              <a:buChar char="à"/>
            </a:pPr>
            <a:r>
              <a:rPr lang="fr-FR" dirty="0">
                <a:sym typeface="Wingdings" panose="05000000000000000000" pitchFamily="2" charset="2"/>
              </a:rPr>
              <a:t>Possibilité d’automatiser les réponses</a:t>
            </a:r>
          </a:p>
          <a:p>
            <a:pPr marL="0" indent="0" algn="just">
              <a:buNone/>
            </a:pPr>
            <a:endParaRPr lang="fr-FR" dirty="0">
              <a:sym typeface="Wingdings" panose="05000000000000000000" pitchFamily="2" charset="2"/>
            </a:endParaRPr>
          </a:p>
          <a:p>
            <a:pPr marL="0" indent="0" algn="just">
              <a:buNone/>
            </a:pPr>
            <a:r>
              <a:rPr lang="fr-FR" dirty="0">
                <a:sym typeface="Wingdings" panose="05000000000000000000" pitchFamily="2" charset="2"/>
              </a:rPr>
              <a:t>60% des internautes font leurs achats le soir et le weekend, en dehors de leurs horaires de travail</a:t>
            </a:r>
          </a:p>
          <a:p>
            <a:pPr marL="0" indent="0" algn="just">
              <a:buNone/>
            </a:pPr>
            <a:r>
              <a:rPr lang="fr-FR" dirty="0">
                <a:sym typeface="Wingdings" panose="05000000000000000000" pitchFamily="2" charset="2"/>
              </a:rPr>
              <a:t> Disponibilité 24H sur 24H</a:t>
            </a:r>
          </a:p>
        </p:txBody>
      </p:sp>
      <p:pic>
        <p:nvPicPr>
          <p:cNvPr id="5122" name="Picture 2" descr="L'utilisation de chatbots en entreprise - Digitalicious">
            <a:extLst>
              <a:ext uri="{FF2B5EF4-FFF2-40B4-BE49-F238E27FC236}">
                <a16:creationId xmlns:a16="http://schemas.microsoft.com/office/drawing/2014/main" id="{85A69591-02D4-4371-AA90-ECAE2A63BD1F}"/>
              </a:ext>
            </a:extLst>
          </p:cNvPr>
          <p:cNvPicPr>
            <a:picLocks noChangeAspect="1" noChangeArrowheads="1"/>
          </p:cNvPicPr>
          <p:nvPr/>
        </p:nvPicPr>
        <p:blipFill rotWithShape="1">
          <a:blip r:embed="rId10">
            <a:extLst>
              <a:ext uri="{28A0092B-C50C-407E-A947-70E740481C1C}">
                <a14:useLocalDpi xmlns:a14="http://schemas.microsoft.com/office/drawing/2010/main"/>
              </a:ext>
            </a:extLst>
          </a:blip>
          <a:srcRect/>
          <a:stretch/>
        </p:blipFill>
        <p:spPr bwMode="auto">
          <a:xfrm>
            <a:off x="6721277" y="1462870"/>
            <a:ext cx="5470724" cy="3782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23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arn(inVertical)">
                                      <p:cBhvr>
                                        <p:cTn id="12" dur="500"/>
                                        <p:tgtEl>
                                          <p:spTgt spid="11">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barn(inVertical)">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arn(inVertical)">
                                      <p:cBhvr>
                                        <p:cTn id="20" dur="500"/>
                                        <p:tgtEl>
                                          <p:spTgt spid="11">
                                            <p:txEl>
                                              <p:pRg st="3" end="3"/>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barn(inVertical)">
                                      <p:cBhvr>
                                        <p:cTn id="23"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a:extLst>
              <a:ext uri="{28A0092B-C50C-407E-A947-70E740481C1C}">
                <a14:useLocalDpi xmlns:a14="http://schemas.microsoft.com/office/drawing/2010/main"/>
              </a:ext>
            </a:extLst>
          </a:blip>
          <a:stretch>
            <a:fillRect/>
          </a:stretch>
        </p:blipFill>
        <p:spPr>
          <a:xfrm>
            <a:off x="4472489" y="4092210"/>
            <a:ext cx="5796349" cy="912925"/>
          </a:xfrm>
          <a:prstGeom prst="rect">
            <a:avLst/>
          </a:prstGeom>
          <a:effectLst/>
        </p:spPr>
      </p:pic>
      <p:cxnSp>
        <p:nvCxnSpPr>
          <p:cNvPr id="16" name="Connecteur droit 15"/>
          <p:cNvCxnSpPr/>
          <p:nvPr>
            <p:custDataLst>
              <p:tags r:id="rId5"/>
            </p:custDataLst>
          </p:nvPr>
        </p:nvCxnSpPr>
        <p:spPr>
          <a:xfrm flipV="1">
            <a:off x="583044" y="1287517"/>
            <a:ext cx="10660822"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itre 5"/>
          <p:cNvSpPr>
            <a:spLocks noGrp="1"/>
          </p:cNvSpPr>
          <p:nvPr>
            <p:ph type="title"/>
          </p:nvPr>
        </p:nvSpPr>
        <p:spPr>
          <a:xfrm>
            <a:off x="2785697" y="849401"/>
            <a:ext cx="6302176" cy="431215"/>
          </a:xfrm>
        </p:spPr>
        <p:txBody>
          <a:bodyPr>
            <a:normAutofit fontScale="90000"/>
          </a:bodyPr>
          <a:lstStyle/>
          <a:p>
            <a:r>
              <a:rPr lang="fr-FR" sz="4800" b="1" dirty="0"/>
              <a:t>2. </a:t>
            </a:r>
            <a:r>
              <a:rPr lang="fr-FR" sz="4800" b="1" dirty="0" err="1"/>
              <a:t>Chatbots</a:t>
            </a:r>
            <a:endParaRPr lang="fr-FR" sz="4800" b="1" dirty="0"/>
          </a:p>
        </p:txBody>
      </p:sp>
      <p:sp>
        <p:nvSpPr>
          <p:cNvPr id="7" name="Espace réservé du texte 6"/>
          <p:cNvSpPr>
            <a:spLocks noGrp="1"/>
          </p:cNvSpPr>
          <p:nvPr>
            <p:ph type="body" idx="1"/>
          </p:nvPr>
        </p:nvSpPr>
        <p:spPr>
          <a:xfrm>
            <a:off x="304800" y="1421509"/>
            <a:ext cx="9817100" cy="3850806"/>
          </a:xfrm>
        </p:spPr>
        <p:txBody>
          <a:bodyPr>
            <a:noAutofit/>
          </a:bodyPr>
          <a:lstStyle/>
          <a:p>
            <a:pPr marL="571500" indent="-571500">
              <a:buFont typeface="Wingdings" panose="05000000000000000000" pitchFamily="2" charset="2"/>
              <a:buChar char="Ø"/>
            </a:pPr>
            <a:r>
              <a:rPr lang="fr-FR" sz="2800" dirty="0">
                <a:solidFill>
                  <a:schemeClr val="tx1"/>
                </a:solidFill>
              </a:rPr>
              <a:t>Deux grands types: </a:t>
            </a:r>
          </a:p>
          <a:p>
            <a:pPr lvl="2"/>
            <a:endParaRPr lang="fr-FR" sz="2600" dirty="0">
              <a:solidFill>
                <a:schemeClr val="tx1"/>
              </a:solidFill>
            </a:endParaRPr>
          </a:p>
          <a:p>
            <a:endParaRPr lang="fr-FR" sz="1400" dirty="0"/>
          </a:p>
        </p:txBody>
      </p:sp>
      <p:pic>
        <p:nvPicPr>
          <p:cNvPr id="2050" name="Picture 2" descr="Decision Tree Vs Natural Language Processing: What Chatbot Type Is Better?  – Customer Service Blog from HappyFox">
            <a:extLst>
              <a:ext uri="{FF2B5EF4-FFF2-40B4-BE49-F238E27FC236}">
                <a16:creationId xmlns:a16="http://schemas.microsoft.com/office/drawing/2014/main" id="{471303F4-88CB-263B-EDEB-5708C6ECF140}"/>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2615126" y="2716503"/>
            <a:ext cx="7580243" cy="414149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BF0CE873-DD4C-F02D-D1F6-7484C7FE4624}"/>
              </a:ext>
            </a:extLst>
          </p:cNvPr>
          <p:cNvSpPr txBox="1"/>
          <p:nvPr/>
        </p:nvSpPr>
        <p:spPr>
          <a:xfrm>
            <a:off x="2384097" y="2027583"/>
            <a:ext cx="4165790" cy="523220"/>
          </a:xfrm>
          <a:prstGeom prst="rect">
            <a:avLst/>
          </a:prstGeom>
          <a:noFill/>
        </p:spPr>
        <p:txBody>
          <a:bodyPr wrap="square" rtlCol="0">
            <a:spAutoFit/>
          </a:bodyPr>
          <a:lstStyle/>
          <a:p>
            <a:r>
              <a:rPr lang="fr-FR" sz="2800" b="1" dirty="0" err="1"/>
              <a:t>Ruled-based</a:t>
            </a:r>
            <a:r>
              <a:rPr lang="fr-FR" sz="2800" b="1" dirty="0"/>
              <a:t> </a:t>
            </a:r>
            <a:r>
              <a:rPr lang="fr-FR" sz="2800" b="1" dirty="0" err="1"/>
              <a:t>chatbot</a:t>
            </a:r>
            <a:endParaRPr lang="fr-FR" sz="2800" b="1" dirty="0"/>
          </a:p>
        </p:txBody>
      </p:sp>
      <p:sp>
        <p:nvSpPr>
          <p:cNvPr id="5" name="ZoneTexte 4">
            <a:extLst>
              <a:ext uri="{FF2B5EF4-FFF2-40B4-BE49-F238E27FC236}">
                <a16:creationId xmlns:a16="http://schemas.microsoft.com/office/drawing/2014/main" id="{A25775BD-05B9-DD74-D0F5-F648C938DF35}"/>
              </a:ext>
            </a:extLst>
          </p:cNvPr>
          <p:cNvSpPr txBox="1"/>
          <p:nvPr/>
        </p:nvSpPr>
        <p:spPr>
          <a:xfrm>
            <a:off x="6800384" y="2019284"/>
            <a:ext cx="4165790" cy="523220"/>
          </a:xfrm>
          <a:prstGeom prst="rect">
            <a:avLst/>
          </a:prstGeom>
          <a:noFill/>
        </p:spPr>
        <p:txBody>
          <a:bodyPr wrap="square" rtlCol="0">
            <a:spAutoFit/>
          </a:bodyPr>
          <a:lstStyle/>
          <a:p>
            <a:r>
              <a:rPr lang="fr-FR" sz="2800" b="1" dirty="0"/>
              <a:t>AI </a:t>
            </a:r>
            <a:r>
              <a:rPr lang="fr-FR" sz="2800" b="1" dirty="0" err="1"/>
              <a:t>chatbot</a:t>
            </a:r>
            <a:endParaRPr lang="fr-FR" sz="2800" b="1" dirty="0"/>
          </a:p>
        </p:txBody>
      </p:sp>
    </p:spTree>
    <p:extLst>
      <p:ext uri="{BB962C8B-B14F-4D97-AF65-F5344CB8AC3E}">
        <p14:creationId xmlns:p14="http://schemas.microsoft.com/office/powerpoint/2010/main" val="405434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1629164" y="2580331"/>
            <a:ext cx="4165600" cy="27657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custDataLst>
              <p:tags r:id="rId2"/>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4"/>
            </p:custDataLst>
          </p:nvPr>
        </p:nvPicPr>
        <p:blipFill>
          <a:blip r:embed="rId9" cstate="screen">
            <a:extLst>
              <a:ext uri="{28A0092B-C50C-407E-A947-70E740481C1C}">
                <a14:useLocalDpi xmlns:a14="http://schemas.microsoft.com/office/drawing/2010/main"/>
              </a:ext>
            </a:extLst>
          </a:blip>
          <a:stretch>
            <a:fillRect/>
          </a:stretch>
        </p:blipFill>
        <p:spPr>
          <a:xfrm>
            <a:off x="7916474" y="3842656"/>
            <a:ext cx="3028673" cy="477016"/>
          </a:xfrm>
          <a:prstGeom prst="rect">
            <a:avLst/>
          </a:prstGeom>
          <a:effectLst/>
        </p:spPr>
      </p:pic>
      <p:cxnSp>
        <p:nvCxnSpPr>
          <p:cNvPr id="16" name="Connecteur droit 15"/>
          <p:cNvCxnSpPr/>
          <p:nvPr>
            <p:custDataLst>
              <p:tags r:id="rId5"/>
            </p:custDataLst>
          </p:nvPr>
        </p:nvCxnSpPr>
        <p:spPr>
          <a:xfrm flipV="1">
            <a:off x="583044" y="1287517"/>
            <a:ext cx="10660822"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itre 5"/>
          <p:cNvSpPr>
            <a:spLocks noGrp="1"/>
          </p:cNvSpPr>
          <p:nvPr>
            <p:ph type="title"/>
          </p:nvPr>
        </p:nvSpPr>
        <p:spPr>
          <a:xfrm>
            <a:off x="948135" y="105327"/>
            <a:ext cx="10136368" cy="1076864"/>
          </a:xfrm>
        </p:spPr>
        <p:txBody>
          <a:bodyPr>
            <a:normAutofit/>
          </a:bodyPr>
          <a:lstStyle/>
          <a:p>
            <a:r>
              <a:rPr lang="fr-FR" sz="4800" b="1" dirty="0"/>
              <a:t>3. Réalité virtuelle/augmentée</a:t>
            </a:r>
          </a:p>
        </p:txBody>
      </p:sp>
      <p:sp>
        <p:nvSpPr>
          <p:cNvPr id="7" name="Espace réservé du texte 6"/>
          <p:cNvSpPr>
            <a:spLocks noGrp="1"/>
          </p:cNvSpPr>
          <p:nvPr>
            <p:ph type="body" idx="1"/>
          </p:nvPr>
        </p:nvSpPr>
        <p:spPr>
          <a:xfrm>
            <a:off x="948135" y="1511879"/>
            <a:ext cx="9973865" cy="3850806"/>
          </a:xfrm>
        </p:spPr>
        <p:txBody>
          <a:bodyPr>
            <a:noAutofit/>
          </a:bodyPr>
          <a:lstStyle/>
          <a:p>
            <a:r>
              <a:rPr lang="fr-FR" sz="2800" b="0" i="0" dirty="0">
                <a:solidFill>
                  <a:srgbClr val="000000"/>
                </a:solidFill>
                <a:effectLst/>
                <a:latin typeface="Proxima Nova"/>
              </a:rPr>
              <a:t>Utilisation des techniques de représentation du monde en trois dimensions pour immerger le consommateur</a:t>
            </a:r>
            <a:endParaRPr lang="fr-FR" sz="2800" dirty="0"/>
          </a:p>
        </p:txBody>
      </p:sp>
      <p:pic>
        <p:nvPicPr>
          <p:cNvPr id="8194" name="Picture 2" descr="La réalité virtuelle : fascinante mais gare à l’isolement ! © Oculus">
            <a:extLst>
              <a:ext uri="{FF2B5EF4-FFF2-40B4-BE49-F238E27FC236}">
                <a16:creationId xmlns:a16="http://schemas.microsoft.com/office/drawing/2014/main" id="{ADAAC6C2-F4C6-4239-B4AE-4E70BBC8E6B3}"/>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83044" y="2580331"/>
            <a:ext cx="3687720" cy="276579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RKit : la réalité augmentée avec iOS. © Apple">
            <a:extLst>
              <a:ext uri="{FF2B5EF4-FFF2-40B4-BE49-F238E27FC236}">
                <a16:creationId xmlns:a16="http://schemas.microsoft.com/office/drawing/2014/main" id="{1B788273-9FD9-4CE2-B12D-D193B66BDA5C}"/>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6552715" y="2619802"/>
            <a:ext cx="5096393" cy="2871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40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barn(inVertical)">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barn(inVertical)">
                                      <p:cBhvr>
                                        <p:cTn id="17"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custDataLst>
              <p:tags r:id="rId1"/>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916474" y="3842656"/>
            <a:ext cx="3028673" cy="477016"/>
          </a:xfrm>
          <a:prstGeom prst="rect">
            <a:avLst/>
          </a:prstGeom>
          <a:effectLst/>
        </p:spPr>
      </p:pic>
      <p:cxnSp>
        <p:nvCxnSpPr>
          <p:cNvPr id="16" name="Connecteur droit 15"/>
          <p:cNvCxnSpPr/>
          <p:nvPr>
            <p:custDataLst>
              <p:tags r:id="rId4"/>
            </p:custDataLst>
          </p:nvPr>
        </p:nvCxnSpPr>
        <p:spPr>
          <a:xfrm flipV="1">
            <a:off x="583044" y="1287517"/>
            <a:ext cx="10660822"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itre 5"/>
          <p:cNvSpPr>
            <a:spLocks noGrp="1"/>
          </p:cNvSpPr>
          <p:nvPr>
            <p:ph type="title"/>
          </p:nvPr>
        </p:nvSpPr>
        <p:spPr>
          <a:xfrm>
            <a:off x="948135" y="105327"/>
            <a:ext cx="10136368" cy="1076864"/>
          </a:xfrm>
        </p:spPr>
        <p:txBody>
          <a:bodyPr>
            <a:normAutofit/>
          </a:bodyPr>
          <a:lstStyle/>
          <a:p>
            <a:r>
              <a:rPr lang="fr-FR" sz="4800" b="1" dirty="0"/>
              <a:t>3. Réalité virtuelle/augmentée</a:t>
            </a:r>
          </a:p>
        </p:txBody>
      </p:sp>
      <p:sp>
        <p:nvSpPr>
          <p:cNvPr id="7" name="Espace réservé du texte 6"/>
          <p:cNvSpPr>
            <a:spLocks noGrp="1"/>
          </p:cNvSpPr>
          <p:nvPr>
            <p:ph type="body" idx="1"/>
          </p:nvPr>
        </p:nvSpPr>
        <p:spPr>
          <a:xfrm>
            <a:off x="948135" y="1511879"/>
            <a:ext cx="9973865" cy="3850806"/>
          </a:xfrm>
        </p:spPr>
        <p:txBody>
          <a:bodyPr>
            <a:noAutofit/>
          </a:bodyPr>
          <a:lstStyle/>
          <a:p>
            <a:r>
              <a:rPr lang="fr-FR" sz="2800" dirty="0">
                <a:solidFill>
                  <a:srgbClr val="000000"/>
                </a:solidFill>
                <a:latin typeface="Proxima Nova"/>
              </a:rPr>
              <a:t>Deux utilisations majeures: </a:t>
            </a:r>
          </a:p>
          <a:p>
            <a:pPr marL="457200" indent="-457200">
              <a:buFontTx/>
              <a:buChar char="-"/>
            </a:pPr>
            <a:r>
              <a:rPr lang="fr-FR" sz="2800" dirty="0">
                <a:solidFill>
                  <a:srgbClr val="000000"/>
                </a:solidFill>
                <a:latin typeface="Proxima Nova"/>
              </a:rPr>
              <a:t>À domicile </a:t>
            </a:r>
          </a:p>
          <a:p>
            <a:pPr marL="457200" indent="-457200">
              <a:buFontTx/>
              <a:buChar char="-"/>
            </a:pPr>
            <a:r>
              <a:rPr lang="fr-FR" sz="2800" dirty="0">
                <a:solidFill>
                  <a:srgbClr val="000000"/>
                </a:solidFill>
                <a:latin typeface="Proxima Nova"/>
              </a:rPr>
              <a:t>En point de vente</a:t>
            </a:r>
          </a:p>
        </p:txBody>
      </p:sp>
      <p:pic>
        <p:nvPicPr>
          <p:cNvPr id="10242" name="Picture 2" descr="La nouvelle génération de l'application IKEA Place est maintenant  disponible - Sedipedia.comSedipedia.com">
            <a:extLst>
              <a:ext uri="{FF2B5EF4-FFF2-40B4-BE49-F238E27FC236}">
                <a16:creationId xmlns:a16="http://schemas.microsoft.com/office/drawing/2014/main" id="{DCD349BA-4B86-43BF-9C78-314CD65BAF36}"/>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289438" y="1206984"/>
            <a:ext cx="4319518" cy="239395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Face à Amazon, les magasins physiques se dirigent-ils vers un retail  augmenté ? - CNET France">
            <a:extLst>
              <a:ext uri="{FF2B5EF4-FFF2-40B4-BE49-F238E27FC236}">
                <a16:creationId xmlns:a16="http://schemas.microsoft.com/office/drawing/2014/main" id="{0F7756B2-7870-46EF-8850-DC0CCAFF14D5}"/>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1801053" y="3600934"/>
            <a:ext cx="4625257" cy="2187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17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barn(inVertical)">
                                      <p:cBhvr>
                                        <p:cTn id="17" dur="500"/>
                                        <p:tgtEl>
                                          <p:spTgt spid="1024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barn(inVertical)">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244"/>
                                        </p:tgtEl>
                                        <p:attrNameLst>
                                          <p:attrName>style.visibility</p:attrName>
                                        </p:attrNameLst>
                                      </p:cBhvr>
                                      <p:to>
                                        <p:strVal val="visible"/>
                                      </p:to>
                                    </p:set>
                                    <p:animEffect transition="in" filter="barn(inVertical)">
                                      <p:cBhvr>
                                        <p:cTn id="27"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35AA10-872D-4C05-9593-5FFE811FE124}"/>
              </a:ext>
            </a:extLst>
          </p:cNvPr>
          <p:cNvSpPr>
            <a:spLocks noGrp="1"/>
          </p:cNvSpPr>
          <p:nvPr>
            <p:ph type="title"/>
          </p:nvPr>
        </p:nvSpPr>
        <p:spPr/>
        <p:txBody>
          <a:bodyPr/>
          <a:lstStyle/>
          <a:p>
            <a:r>
              <a:rPr lang="fr-FR" dirty="0"/>
              <a:t>Exemple: Peugeot</a:t>
            </a:r>
          </a:p>
        </p:txBody>
      </p:sp>
      <p:pic>
        <p:nvPicPr>
          <p:cNvPr id="11266" name="Picture 2" descr="Réalité virtuelle : l'expérience VR à bord des voitures Peugeot">
            <a:extLst>
              <a:ext uri="{FF2B5EF4-FFF2-40B4-BE49-F238E27FC236}">
                <a16:creationId xmlns:a16="http://schemas.microsoft.com/office/drawing/2014/main" id="{9A8F0726-9339-492C-BCD7-4838CFC914A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69875" y="1690688"/>
            <a:ext cx="6677025" cy="204173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SUV Peugeot 3008 | VR : découvrez nos vidéos en réalité virtuelle">
            <a:extLst>
              <a:ext uri="{FF2B5EF4-FFF2-40B4-BE49-F238E27FC236}">
                <a16:creationId xmlns:a16="http://schemas.microsoft.com/office/drawing/2014/main" id="{A48807BC-CA96-4B5A-8B96-65F1F6177E9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946900" y="1195493"/>
            <a:ext cx="4076700" cy="305752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14462848-716B-483D-9D8C-396FB32B6938}"/>
              </a:ext>
            </a:extLst>
          </p:cNvPr>
          <p:cNvSpPr txBox="1"/>
          <p:nvPr/>
        </p:nvSpPr>
        <p:spPr>
          <a:xfrm>
            <a:off x="1016001" y="5041602"/>
            <a:ext cx="10007599" cy="1446550"/>
          </a:xfrm>
          <a:prstGeom prst="rect">
            <a:avLst/>
          </a:prstGeom>
          <a:noFill/>
        </p:spPr>
        <p:txBody>
          <a:bodyPr wrap="square" rtlCol="0">
            <a:spAutoFit/>
          </a:bodyPr>
          <a:lstStyle/>
          <a:p>
            <a:r>
              <a:rPr lang="fr-FR" sz="2200" b="1" i="0" dirty="0">
                <a:effectLst/>
                <a:latin typeface="Montserrat"/>
              </a:rPr>
              <a:t>« Près de 80 % de nos commandes de 3008 se font en niveau de finition 3 ou 4. Cette performance n’est peut-être pas uniquement liée au casque VR. Mais ce qui est certain, c’est que nos vendeurs parviennent à vendre plus facilement des options très compliquées à expliquer avec le casque »</a:t>
            </a:r>
            <a:endParaRPr lang="fr-FR" sz="2200" dirty="0"/>
          </a:p>
        </p:txBody>
      </p:sp>
    </p:spTree>
    <p:extLst>
      <p:ext uri="{BB962C8B-B14F-4D97-AF65-F5344CB8AC3E}">
        <p14:creationId xmlns:p14="http://schemas.microsoft.com/office/powerpoint/2010/main" val="218337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custDataLst>
              <p:tags r:id="rId1"/>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916474" y="3842656"/>
            <a:ext cx="3028673" cy="477016"/>
          </a:xfrm>
          <a:prstGeom prst="rect">
            <a:avLst/>
          </a:prstGeom>
          <a:effectLst/>
        </p:spPr>
      </p:pic>
      <p:cxnSp>
        <p:nvCxnSpPr>
          <p:cNvPr id="16" name="Connecteur droit 15"/>
          <p:cNvCxnSpPr/>
          <p:nvPr>
            <p:custDataLst>
              <p:tags r:id="rId4"/>
            </p:custDataLst>
          </p:nvPr>
        </p:nvCxnSpPr>
        <p:spPr>
          <a:xfrm flipV="1">
            <a:off x="583044" y="1287517"/>
            <a:ext cx="10660822"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itre 5"/>
          <p:cNvSpPr>
            <a:spLocks noGrp="1"/>
          </p:cNvSpPr>
          <p:nvPr>
            <p:ph type="title"/>
          </p:nvPr>
        </p:nvSpPr>
        <p:spPr>
          <a:xfrm>
            <a:off x="948135" y="105327"/>
            <a:ext cx="10136368" cy="1076864"/>
          </a:xfrm>
        </p:spPr>
        <p:txBody>
          <a:bodyPr>
            <a:normAutofit/>
          </a:bodyPr>
          <a:lstStyle/>
          <a:p>
            <a:r>
              <a:rPr lang="fr-FR" sz="4800" b="1" dirty="0"/>
              <a:t>3. Réalité virtuelle/augmentée</a:t>
            </a:r>
          </a:p>
        </p:txBody>
      </p:sp>
      <p:sp>
        <p:nvSpPr>
          <p:cNvPr id="7" name="Espace réservé du texte 6"/>
          <p:cNvSpPr>
            <a:spLocks noGrp="1"/>
          </p:cNvSpPr>
          <p:nvPr>
            <p:ph type="body" idx="1"/>
          </p:nvPr>
        </p:nvSpPr>
        <p:spPr>
          <a:xfrm>
            <a:off x="948135" y="1511879"/>
            <a:ext cx="9973865" cy="3850806"/>
          </a:xfrm>
        </p:spPr>
        <p:txBody>
          <a:bodyPr>
            <a:noAutofit/>
          </a:bodyPr>
          <a:lstStyle/>
          <a:p>
            <a:r>
              <a:rPr lang="fr-FR" sz="2800" dirty="0">
                <a:solidFill>
                  <a:srgbClr val="000000"/>
                </a:solidFill>
                <a:latin typeface="Proxima Nova"/>
              </a:rPr>
              <a:t>Forme « théorique » la plus aboutie de réalité virtuelle: </a:t>
            </a:r>
          </a:p>
        </p:txBody>
      </p:sp>
      <p:pic>
        <p:nvPicPr>
          <p:cNvPr id="2" name="Picture 2" descr="Metaverse, le nouveau monde virtuel qui révolutionne les interactions  sociales">
            <a:extLst>
              <a:ext uri="{FF2B5EF4-FFF2-40B4-BE49-F238E27FC236}">
                <a16:creationId xmlns:a16="http://schemas.microsoft.com/office/drawing/2014/main" id="{9722B025-E006-1EAC-1E8B-098F2F30D4C2}"/>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3440507" y="2060642"/>
            <a:ext cx="6126530" cy="3430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50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custDataLst>
              <p:tags r:id="rId1"/>
            </p:custDataLst>
          </p:nvPr>
        </p:nvSpPr>
        <p:spPr>
          <a:xfrm>
            <a:off x="1" y="5620314"/>
            <a:ext cx="12194168" cy="889686"/>
          </a:xfrm>
          <a:prstGeom prst="rect">
            <a:avLst/>
          </a:prstGeom>
          <a:solidFill>
            <a:srgbClr val="161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8" cstate="screen">
            <a:extLst>
              <a:ext uri="{28A0092B-C50C-407E-A947-70E740481C1C}">
                <a14:useLocalDpi xmlns:a14="http://schemas.microsoft.com/office/drawing/2010/main"/>
              </a:ext>
            </a:extLst>
          </a:blip>
          <a:stretch>
            <a:fillRect/>
          </a:stretch>
        </p:blipFill>
        <p:spPr>
          <a:xfrm>
            <a:off x="7916474" y="3842656"/>
            <a:ext cx="3028673" cy="477016"/>
          </a:xfrm>
          <a:prstGeom prst="rect">
            <a:avLst/>
          </a:prstGeom>
          <a:effectLst/>
        </p:spPr>
      </p:pic>
      <p:cxnSp>
        <p:nvCxnSpPr>
          <p:cNvPr id="16" name="Connecteur droit 15"/>
          <p:cNvCxnSpPr/>
          <p:nvPr>
            <p:custDataLst>
              <p:tags r:id="rId4"/>
            </p:custDataLst>
          </p:nvPr>
        </p:nvCxnSpPr>
        <p:spPr>
          <a:xfrm flipV="1">
            <a:off x="583044" y="1287517"/>
            <a:ext cx="10660822" cy="28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itre 5"/>
          <p:cNvSpPr>
            <a:spLocks noGrp="1"/>
          </p:cNvSpPr>
          <p:nvPr>
            <p:ph type="title"/>
          </p:nvPr>
        </p:nvSpPr>
        <p:spPr>
          <a:xfrm>
            <a:off x="948135" y="105327"/>
            <a:ext cx="10136368" cy="1076864"/>
          </a:xfrm>
        </p:spPr>
        <p:txBody>
          <a:bodyPr>
            <a:normAutofit/>
          </a:bodyPr>
          <a:lstStyle/>
          <a:p>
            <a:r>
              <a:rPr lang="fr-FR" sz="4800" b="1" dirty="0"/>
              <a:t>3. Réalité virtuelle/augmentée</a:t>
            </a:r>
          </a:p>
        </p:txBody>
      </p:sp>
      <p:sp>
        <p:nvSpPr>
          <p:cNvPr id="7" name="Espace réservé du texte 6"/>
          <p:cNvSpPr>
            <a:spLocks noGrp="1"/>
          </p:cNvSpPr>
          <p:nvPr>
            <p:ph type="body" idx="1"/>
          </p:nvPr>
        </p:nvSpPr>
        <p:spPr>
          <a:xfrm>
            <a:off x="948135" y="1511879"/>
            <a:ext cx="9973865" cy="3850806"/>
          </a:xfrm>
        </p:spPr>
        <p:txBody>
          <a:bodyPr>
            <a:noAutofit/>
          </a:bodyPr>
          <a:lstStyle/>
          <a:p>
            <a:r>
              <a:rPr lang="fr-FR" sz="2800" dirty="0">
                <a:solidFill>
                  <a:srgbClr val="000000"/>
                </a:solidFill>
                <a:latin typeface="Proxima Nova"/>
              </a:rPr>
              <a:t>Avantages potentiels du métavers pour la relation client: </a:t>
            </a:r>
          </a:p>
          <a:p>
            <a:pPr marL="457200" indent="-457200">
              <a:buFontTx/>
              <a:buChar char="-"/>
            </a:pPr>
            <a:r>
              <a:rPr lang="fr-FR" sz="2800" dirty="0">
                <a:solidFill>
                  <a:srgbClr val="000000"/>
                </a:solidFill>
                <a:latin typeface="Proxima Nova"/>
              </a:rPr>
              <a:t>Le métavers personnalise l'expérience client</a:t>
            </a:r>
          </a:p>
          <a:p>
            <a:pPr marL="457200" indent="-457200">
              <a:buFontTx/>
              <a:buChar char="-"/>
            </a:pPr>
            <a:r>
              <a:rPr lang="fr-FR" sz="2800" dirty="0">
                <a:solidFill>
                  <a:srgbClr val="000000"/>
                </a:solidFill>
                <a:latin typeface="Proxima Nova"/>
              </a:rPr>
              <a:t>Le métavers gamifie le parcours client</a:t>
            </a:r>
          </a:p>
          <a:p>
            <a:pPr marL="457200" indent="-457200">
              <a:buFontTx/>
              <a:buChar char="-"/>
            </a:pPr>
            <a:r>
              <a:rPr lang="fr-FR" sz="2800">
                <a:solidFill>
                  <a:srgbClr val="000000"/>
                </a:solidFill>
                <a:latin typeface="Proxima Nova"/>
              </a:rPr>
              <a:t>Le métavers </a:t>
            </a:r>
            <a:r>
              <a:rPr lang="fr-FR" sz="2800" dirty="0">
                <a:solidFill>
                  <a:srgbClr val="000000"/>
                </a:solidFill>
                <a:latin typeface="Proxima Nova"/>
              </a:rPr>
              <a:t>est un outil </a:t>
            </a:r>
            <a:r>
              <a:rPr lang="fr-FR" sz="2800">
                <a:solidFill>
                  <a:srgbClr val="000000"/>
                </a:solidFill>
                <a:latin typeface="Proxima Nova"/>
              </a:rPr>
              <a:t>de différenciation</a:t>
            </a:r>
            <a:endParaRPr lang="fr-FR" sz="2800" dirty="0">
              <a:solidFill>
                <a:srgbClr val="000000"/>
              </a:solidFill>
              <a:latin typeface="Proxima Nova"/>
            </a:endParaRPr>
          </a:p>
        </p:txBody>
      </p:sp>
    </p:spTree>
    <p:extLst>
      <p:ext uri="{BB962C8B-B14F-4D97-AF65-F5344CB8AC3E}">
        <p14:creationId xmlns:p14="http://schemas.microsoft.com/office/powerpoint/2010/main" val="183237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arn(inVertical)">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8"/>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3"/>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3"/>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7"/>
</p:tagLst>
</file>

<file path=ppt/tags/tag40.xml><?xml version="1.0" encoding="utf-8"?>
<p:tagLst xmlns:a="http://schemas.openxmlformats.org/drawingml/2006/main" xmlns:r="http://schemas.openxmlformats.org/officeDocument/2006/relationships" xmlns:p="http://schemas.openxmlformats.org/presentationml/2006/main">
  <p:tag name="NUM" val="8"/>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7"/>
</p:tagLst>
</file>

<file path=ppt/tags/tag45.xml><?xml version="1.0" encoding="utf-8"?>
<p:tagLst xmlns:a="http://schemas.openxmlformats.org/drawingml/2006/main" xmlns:r="http://schemas.openxmlformats.org/officeDocument/2006/relationships" xmlns:p="http://schemas.openxmlformats.org/presentationml/2006/main">
  <p:tag name="NUM" val="8"/>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7"/>
</p:tagLst>
</file>

<file path=ppt/tags/tag50.xml><?xml version="1.0" encoding="utf-8"?>
<p:tagLst xmlns:a="http://schemas.openxmlformats.org/drawingml/2006/main" xmlns:r="http://schemas.openxmlformats.org/officeDocument/2006/relationships" xmlns:p="http://schemas.openxmlformats.org/presentationml/2006/main">
  <p:tag name="NUM" val="8"/>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7"/>
</p:tagLst>
</file>

<file path=ppt/tags/tag55.xml><?xml version="1.0" encoding="utf-8"?>
<p:tagLst xmlns:a="http://schemas.openxmlformats.org/drawingml/2006/main" xmlns:r="http://schemas.openxmlformats.org/officeDocument/2006/relationships" xmlns:p="http://schemas.openxmlformats.org/presentationml/2006/main">
  <p:tag name="NUM" val="8"/>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7"/>
</p:tagLst>
</file>

<file path=ppt/tags/tag60.xml><?xml version="1.0" encoding="utf-8"?>
<p:tagLst xmlns:a="http://schemas.openxmlformats.org/drawingml/2006/main" xmlns:r="http://schemas.openxmlformats.org/officeDocument/2006/relationships" xmlns:p="http://schemas.openxmlformats.org/presentationml/2006/main">
  <p:tag name="NUM" val="8"/>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7"/>
</p:tagLst>
</file>

<file path=ppt/tags/tag65.xml><?xml version="1.0" encoding="utf-8"?>
<p:tagLst xmlns:a="http://schemas.openxmlformats.org/drawingml/2006/main" xmlns:r="http://schemas.openxmlformats.org/officeDocument/2006/relationships" xmlns:p="http://schemas.openxmlformats.org/presentationml/2006/main">
  <p:tag name="NUM" val="8"/>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7"/>
</p:tagLst>
</file>

<file path=ppt/tags/tag69.xml><?xml version="1.0" encoding="utf-8"?>
<p:tagLst xmlns:a="http://schemas.openxmlformats.org/drawingml/2006/main" xmlns:r="http://schemas.openxmlformats.org/officeDocument/2006/relationships" xmlns:p="http://schemas.openxmlformats.org/presentationml/2006/main">
  <p:tag name="NUM" val="8"/>
</p:tagLst>
</file>

<file path=ppt/tags/tag70.xml><?xml version="1.0" encoding="utf-8"?>
<p:tagLst xmlns:a="http://schemas.openxmlformats.org/drawingml/2006/main" xmlns:r="http://schemas.openxmlformats.org/officeDocument/2006/relationships" xmlns:p="http://schemas.openxmlformats.org/presentationml/2006/main">
  <p:tag name="NUM" val="2"/>
</p:tagLst>
</file>

<file path=ppt/tags/tag71.xml><?xml version="1.0" encoding="utf-8"?>
<p:tagLst xmlns:a="http://schemas.openxmlformats.org/drawingml/2006/main" xmlns:r="http://schemas.openxmlformats.org/officeDocument/2006/relationships" xmlns:p="http://schemas.openxmlformats.org/presentationml/2006/main">
  <p:tag name="NUM" val="3"/>
</p:tagLst>
</file>

<file path=ppt/tags/tag72.xml><?xml version="1.0" encoding="utf-8"?>
<p:tagLst xmlns:a="http://schemas.openxmlformats.org/drawingml/2006/main" xmlns:r="http://schemas.openxmlformats.org/officeDocument/2006/relationships" xmlns:p="http://schemas.openxmlformats.org/presentationml/2006/main">
  <p:tag name="NUM" val="7"/>
</p:tagLst>
</file>

<file path=ppt/tags/tag73.xml><?xml version="1.0" encoding="utf-8"?>
<p:tagLst xmlns:a="http://schemas.openxmlformats.org/drawingml/2006/main" xmlns:r="http://schemas.openxmlformats.org/officeDocument/2006/relationships" xmlns:p="http://schemas.openxmlformats.org/presentationml/2006/main">
  <p:tag name="NUM" val="8"/>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3"/>
</p:tagLst>
</file>

<file path=ppt/tags/tag76.xml><?xml version="1.0" encoding="utf-8"?>
<p:tagLst xmlns:a="http://schemas.openxmlformats.org/drawingml/2006/main" xmlns:r="http://schemas.openxmlformats.org/officeDocument/2006/relationships" xmlns:p="http://schemas.openxmlformats.org/presentationml/2006/main">
  <p:tag name="NUM" val="7"/>
</p:tagLst>
</file>

<file path=ppt/tags/tag77.xml><?xml version="1.0" encoding="utf-8"?>
<p:tagLst xmlns:a="http://schemas.openxmlformats.org/drawingml/2006/main" xmlns:r="http://schemas.openxmlformats.org/officeDocument/2006/relationships" xmlns:p="http://schemas.openxmlformats.org/presentationml/2006/main">
  <p:tag name="NUM" val="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Type de bois</Template>
  <TotalTime>20103</TotalTime>
  <Words>3366</Words>
  <Application>Microsoft Office PowerPoint</Application>
  <PresentationFormat>Grand écran</PresentationFormat>
  <Paragraphs>279</Paragraphs>
  <Slides>29</Slides>
  <Notes>25</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29</vt:i4>
      </vt:variant>
    </vt:vector>
  </HeadingPairs>
  <TitlesOfParts>
    <vt:vector size="40" baseType="lpstr">
      <vt:lpstr>Arial</vt:lpstr>
      <vt:lpstr>AvenirNext LT Pro Medium</vt:lpstr>
      <vt:lpstr>Calibri</vt:lpstr>
      <vt:lpstr>Montserrat</vt:lpstr>
      <vt:lpstr>Proxima Nova</vt:lpstr>
      <vt:lpstr>Rockwell</vt:lpstr>
      <vt:lpstr>Rockwell Condensed</vt:lpstr>
      <vt:lpstr>Tw Cen MT</vt:lpstr>
      <vt:lpstr>WesFY-Medium</vt:lpstr>
      <vt:lpstr>Wingdings</vt:lpstr>
      <vt:lpstr>Type de bois</vt:lpstr>
      <vt:lpstr>Session 4: L’expérience client au service du marketing relationnel</vt:lpstr>
      <vt:lpstr>Vers une économie de l’expérience </vt:lpstr>
      <vt:lpstr>Vers une économie de l’expérience </vt:lpstr>
      <vt:lpstr>Vers une économie de l’expérience </vt:lpstr>
      <vt:lpstr>LES CANAUX et le parcours client</vt:lpstr>
      <vt:lpstr>LES CANAUX et le parcours client</vt:lpstr>
      <vt:lpstr>LES CANAUX et le parcours client</vt:lpstr>
      <vt:lpstr>LES CANAUX et le parcours client</vt:lpstr>
      <vt:lpstr>Les canaux et le parcours client</vt:lpstr>
      <vt:lpstr>Les canaux et le parcours client</vt:lpstr>
      <vt:lpstr> Typologie des clients selon leur parcours d’achat (Herhausen etal., 2019) </vt:lpstr>
      <vt:lpstr>Les canaux et le parcours client</vt:lpstr>
      <vt:lpstr>L’omnicanal et le parcours client</vt:lpstr>
      <vt:lpstr>L’omnicanal et le parcours client</vt:lpstr>
      <vt:lpstr>Présentation PowerPoint</vt:lpstr>
      <vt:lpstr>L’omnicanal et le parcours client</vt:lpstr>
      <vt:lpstr>L’omnicanal et le parcours client</vt:lpstr>
      <vt:lpstr>Les outils digitaux au service de l’EXperience client</vt:lpstr>
      <vt:lpstr>1. Mobiles et objets connectés</vt:lpstr>
      <vt:lpstr>1. Objets connectés et le relationnel</vt:lpstr>
      <vt:lpstr>Exemple</vt:lpstr>
      <vt:lpstr>2. Chatbots </vt:lpstr>
      <vt:lpstr>2. Chatbots </vt:lpstr>
      <vt:lpstr>2. Chatbots</vt:lpstr>
      <vt:lpstr>3. Réalité virtuelle/augmentée</vt:lpstr>
      <vt:lpstr>3. Réalité virtuelle/augmentée</vt:lpstr>
      <vt:lpstr>Exemple: Peugeot</vt:lpstr>
      <vt:lpstr>3. Réalité virtuelle/augmentée</vt:lpstr>
      <vt:lpstr>3. Réalité virtuelle/augmentée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L’expérience client</dc:title>
  <dc:creator>Samy BELAID</dc:creator>
  <cp:lastModifiedBy>BELAID Samy</cp:lastModifiedBy>
  <cp:revision>139</cp:revision>
  <dcterms:created xsi:type="dcterms:W3CDTF">2020-09-08T17:20:25Z</dcterms:created>
  <dcterms:modified xsi:type="dcterms:W3CDTF">2025-10-08T06:22:20Z</dcterms:modified>
</cp:coreProperties>
</file>