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1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2.xml" ContentType="application/vnd.openxmlformats-officedocument.presentationml.notesSlid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3.xml" ContentType="application/vnd.openxmlformats-officedocument.presentationml.notesSlide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notesSlides/notesSlide4.xml" ContentType="application/vnd.openxmlformats-officedocument.presentationml.notesSlide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notesSlides/notesSlide5.xml" ContentType="application/vnd.openxmlformats-officedocument.presentationml.notesSlide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notesSlides/notesSlide6.xml" ContentType="application/vnd.openxmlformats-officedocument.presentationml.notesSlide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notesSlides/notesSlide7.xml" ContentType="application/vnd.openxmlformats-officedocument.presentationml.notesSlide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notesSlides/notesSlide8.xml" ContentType="application/vnd.openxmlformats-officedocument.presentationml.notesSlide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notesSlides/notesSlide9.xml" ContentType="application/vnd.openxmlformats-officedocument.presentationml.notesSlide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notesSlides/notesSlide10.xml" ContentType="application/vnd.openxmlformats-officedocument.presentationml.notesSlide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notesSlides/notesSlide11.xml" ContentType="application/vnd.openxmlformats-officedocument.presentationml.notesSlide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notesSlides/notesSlide12.xml" ContentType="application/vnd.openxmlformats-officedocument.presentationml.notesSlide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7" r:id="rId2"/>
    <p:sldId id="311" r:id="rId3"/>
    <p:sldId id="258" r:id="rId4"/>
    <p:sldId id="264" r:id="rId5"/>
    <p:sldId id="265" r:id="rId6"/>
    <p:sldId id="294" r:id="rId7"/>
    <p:sldId id="266" r:id="rId8"/>
    <p:sldId id="296" r:id="rId9"/>
    <p:sldId id="297" r:id="rId10"/>
    <p:sldId id="298" r:id="rId11"/>
    <p:sldId id="299" r:id="rId12"/>
    <p:sldId id="301" r:id="rId13"/>
    <p:sldId id="303" r:id="rId14"/>
    <p:sldId id="304" r:id="rId15"/>
    <p:sldId id="306" r:id="rId16"/>
    <p:sldId id="307" r:id="rId17"/>
    <p:sldId id="271" r:id="rId18"/>
    <p:sldId id="273" r:id="rId19"/>
    <p:sldId id="312" r:id="rId20"/>
    <p:sldId id="275" r:id="rId21"/>
    <p:sldId id="272" r:id="rId22"/>
    <p:sldId id="309" r:id="rId23"/>
    <p:sldId id="310" r:id="rId24"/>
    <p:sldId id="276" r:id="rId25"/>
    <p:sldId id="313" r:id="rId2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EBB31F93-AFE1-405E-B363-9BC8313DFD70}">
          <p14:sldIdLst>
            <p14:sldId id="257"/>
            <p14:sldId id="311"/>
            <p14:sldId id="258"/>
            <p14:sldId id="264"/>
            <p14:sldId id="265"/>
            <p14:sldId id="294"/>
            <p14:sldId id="266"/>
            <p14:sldId id="296"/>
            <p14:sldId id="297"/>
            <p14:sldId id="298"/>
            <p14:sldId id="299"/>
            <p14:sldId id="301"/>
            <p14:sldId id="303"/>
            <p14:sldId id="304"/>
            <p14:sldId id="306"/>
            <p14:sldId id="307"/>
            <p14:sldId id="271"/>
            <p14:sldId id="273"/>
            <p14:sldId id="312"/>
            <p14:sldId id="275"/>
            <p14:sldId id="272"/>
            <p14:sldId id="309"/>
            <p14:sldId id="310"/>
            <p14:sldId id="276"/>
            <p14:sldId id="313"/>
          </p14:sldIdLst>
        </p14:section>
        <p14:section name="Section sans titre" id="{DCD952F9-B32C-4CAE-96FC-05510F70160D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02" autoAdjust="0"/>
    <p:restoredTop sz="75304" autoAdjust="0"/>
  </p:normalViewPr>
  <p:slideViewPr>
    <p:cSldViewPr snapToGrid="0">
      <p:cViewPr varScale="1">
        <p:scale>
          <a:sx n="56" d="100"/>
          <a:sy n="56" d="100"/>
        </p:scale>
        <p:origin x="110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LAID Samy" userId="736cc5f9-46a0-4af7-bed7-d2831b5f1024" providerId="ADAL" clId="{3915C4EE-BA9F-4856-96A7-4460C4FDF735}"/>
    <pc:docChg chg="delSld modSection">
      <pc:chgData name="BELAID Samy" userId="736cc5f9-46a0-4af7-bed7-d2831b5f1024" providerId="ADAL" clId="{3915C4EE-BA9F-4856-96A7-4460C4FDF735}" dt="2025-11-19T10:48:40.465" v="0" actId="2696"/>
      <pc:docMkLst>
        <pc:docMk/>
      </pc:docMkLst>
      <pc:sldChg chg="del">
        <pc:chgData name="BELAID Samy" userId="736cc5f9-46a0-4af7-bed7-d2831b5f1024" providerId="ADAL" clId="{3915C4EE-BA9F-4856-96A7-4460C4FDF735}" dt="2025-11-19T10:48:40.465" v="0" actId="2696"/>
        <pc:sldMkLst>
          <pc:docMk/>
          <pc:sldMk cId="4027936180" sldId="278"/>
        </pc:sldMkLst>
      </pc:sldChg>
      <pc:sldChg chg="del">
        <pc:chgData name="BELAID Samy" userId="736cc5f9-46a0-4af7-bed7-d2831b5f1024" providerId="ADAL" clId="{3915C4EE-BA9F-4856-96A7-4460C4FDF735}" dt="2025-11-19T10:48:40.465" v="0" actId="2696"/>
        <pc:sldMkLst>
          <pc:docMk/>
          <pc:sldMk cId="313353720" sldId="279"/>
        </pc:sldMkLst>
      </pc:sldChg>
      <pc:sldChg chg="del">
        <pc:chgData name="BELAID Samy" userId="736cc5f9-46a0-4af7-bed7-d2831b5f1024" providerId="ADAL" clId="{3915C4EE-BA9F-4856-96A7-4460C4FDF735}" dt="2025-11-19T10:48:40.465" v="0" actId="2696"/>
        <pc:sldMkLst>
          <pc:docMk/>
          <pc:sldMk cId="344565701" sldId="281"/>
        </pc:sldMkLst>
      </pc:sldChg>
      <pc:sldChg chg="del">
        <pc:chgData name="BELAID Samy" userId="736cc5f9-46a0-4af7-bed7-d2831b5f1024" providerId="ADAL" clId="{3915C4EE-BA9F-4856-96A7-4460C4FDF735}" dt="2025-11-19T10:48:40.465" v="0" actId="2696"/>
        <pc:sldMkLst>
          <pc:docMk/>
          <pc:sldMk cId="3544918995" sldId="314"/>
        </pc:sldMkLst>
      </pc:sldChg>
      <pc:sldChg chg="del">
        <pc:chgData name="BELAID Samy" userId="736cc5f9-46a0-4af7-bed7-d2831b5f1024" providerId="ADAL" clId="{3915C4EE-BA9F-4856-96A7-4460C4FDF735}" dt="2025-11-19T10:48:40.465" v="0" actId="2696"/>
        <pc:sldMkLst>
          <pc:docMk/>
          <pc:sldMk cId="2221688115" sldId="316"/>
        </pc:sldMkLst>
      </pc:sldChg>
      <pc:sldChg chg="del">
        <pc:chgData name="BELAID Samy" userId="736cc5f9-46a0-4af7-bed7-d2831b5f1024" providerId="ADAL" clId="{3915C4EE-BA9F-4856-96A7-4460C4FDF735}" dt="2025-11-19T10:48:40.465" v="0" actId="2696"/>
        <pc:sldMkLst>
          <pc:docMk/>
          <pc:sldMk cId="2513142154" sldId="317"/>
        </pc:sldMkLst>
      </pc:sldChg>
      <pc:sldChg chg="del">
        <pc:chgData name="BELAID Samy" userId="736cc5f9-46a0-4af7-bed7-d2831b5f1024" providerId="ADAL" clId="{3915C4EE-BA9F-4856-96A7-4460C4FDF735}" dt="2025-11-19T10:48:40.465" v="0" actId="2696"/>
        <pc:sldMkLst>
          <pc:docMk/>
          <pc:sldMk cId="702286684" sldId="318"/>
        </pc:sldMkLst>
      </pc:sldChg>
      <pc:sldChg chg="del">
        <pc:chgData name="BELAID Samy" userId="736cc5f9-46a0-4af7-bed7-d2831b5f1024" providerId="ADAL" clId="{3915C4EE-BA9F-4856-96A7-4460C4FDF735}" dt="2025-11-19T10:48:40.465" v="0" actId="2696"/>
        <pc:sldMkLst>
          <pc:docMk/>
          <pc:sldMk cId="2802016309" sldId="319"/>
        </pc:sldMkLst>
      </pc:sldChg>
      <pc:sldChg chg="del">
        <pc:chgData name="BELAID Samy" userId="736cc5f9-46a0-4af7-bed7-d2831b5f1024" providerId="ADAL" clId="{3915C4EE-BA9F-4856-96A7-4460C4FDF735}" dt="2025-11-19T10:48:40.465" v="0" actId="2696"/>
        <pc:sldMkLst>
          <pc:docMk/>
          <pc:sldMk cId="3787552016" sldId="32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4F0D41-BD20-4224-8A01-DE15C9D3ED3D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9FC4A9-3AF5-4B97-8799-34263736C86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89159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 dirty="0"/>
              <a:t>Deux définitions</a:t>
            </a:r>
            <a:r>
              <a:rPr lang="fr-FR" b="1" baseline="0" dirty="0"/>
              <a:t> supplémentaires </a:t>
            </a:r>
          </a:p>
          <a:p>
            <a:r>
              <a:rPr lang="fr-FR" baseline="0" dirty="0"/>
              <a:t>1. Les  programmes de fidélité sont  définis  comme  des  actions  marketing visant  à  récompenser  et  donc  à  encourager  les  comportements  fidèles(Meyer-Waarden, 2002).</a:t>
            </a:r>
          </a:p>
          <a:p>
            <a:r>
              <a:rPr lang="fr-FR" baseline="0" dirty="0"/>
              <a:t>2. Un   programme   de   fidélisation   est   un   système   intégré   d’actions   marketing   visant   à récompenser et à encourager le comportement et l’attitude des clients à travers des incitations (Kang et al., 2015).</a:t>
            </a:r>
          </a:p>
          <a:p>
            <a:r>
              <a:rPr lang="fr-FR" b="1" baseline="0" dirty="0"/>
              <a:t>Synthèse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On peut dire qu’un P.F est constitué d’un</a:t>
            </a:r>
            <a:r>
              <a:rPr lang="fr-FR" sz="1200" dirty="0">
                <a:latin typeface="Arial" panose="020B0604020202020204" pitchFamily="34" charset="0"/>
                <a:cs typeface="Arial" panose="020B0604020202020204" pitchFamily="34" charset="0"/>
              </a:rPr>
              <a:t> ensemble d'actions ou de bénéfices offerts à certains clients, dont l'objectif est d'augmenter les volumes achetés et donc la rentabilité de l'entreprise et créer une  relation durable et profitable entre l'entreprise et ses clients.</a:t>
            </a:r>
          </a:p>
          <a:p>
            <a:endParaRPr lang="fr-FR" baseline="0" dirty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FC4A9-3AF5-4B97-8799-34263736C86A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82893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Augmenter </a:t>
            </a:r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les revenus, </a:t>
            </a:r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via la fidélisation et l’établissement d’une relation de confiance durable</a:t>
            </a:r>
          </a:p>
          <a:p>
            <a:pPr lvl="1"/>
            <a:endParaRPr lang="fr-FR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Augmenter la </a:t>
            </a:r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Valeur Vie Client</a:t>
            </a:r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, en allongeant la durée de la relation, tout en maintenant le contact, en lui offrant du contenu, des offres promotionnelles, des exclusivités... </a:t>
            </a:r>
          </a:p>
          <a:p>
            <a:pPr lvl="1"/>
            <a:endParaRPr lang="fr-FR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Valoriser les </a:t>
            </a:r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produits à forte valeur </a:t>
            </a:r>
          </a:p>
          <a:p>
            <a:pPr lvl="2"/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A partir de l’identification des besoins des clients, développer et publier des solutions et des contenus ciblés, afin de les orienter vers une solution à plus forte valeur.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FC4A9-3AF5-4B97-8799-34263736C86A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62175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Augmenter </a:t>
            </a:r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les revenus, </a:t>
            </a:r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via la fidélisation et l’établissement d’une relation de confiance durable</a:t>
            </a:r>
          </a:p>
          <a:p>
            <a:pPr lvl="1"/>
            <a:endParaRPr lang="fr-FR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Augmenter la </a:t>
            </a:r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Valeur Vie Client</a:t>
            </a:r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, en allongeant la durée de la relation, tout en maintenant le contact, en lui offrant du contenu, des offres promotionnelles, des exclusivités... </a:t>
            </a:r>
          </a:p>
          <a:p>
            <a:pPr lvl="1"/>
            <a:endParaRPr lang="fr-FR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Valoriser les </a:t>
            </a:r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produits à forte valeur </a:t>
            </a:r>
          </a:p>
          <a:p>
            <a:pPr lvl="2"/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A partir de l’identification des besoins des clients, développer et publier des solutions et des contenus ciblés, afin de les orienter vers une solution à plus forte valeur.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FC4A9-3AF5-4B97-8799-34263736C86A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45468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Cross </a:t>
            </a:r>
            <a:r>
              <a:rPr lang="fr-FR" dirty="0" err="1"/>
              <a:t>selling</a:t>
            </a:r>
            <a:endParaRPr lang="fr-FR" dirty="0"/>
          </a:p>
          <a:p>
            <a:r>
              <a:rPr lang="fr-FR" dirty="0"/>
              <a:t>Up </a:t>
            </a:r>
            <a:r>
              <a:rPr lang="fr-FR" dirty="0" err="1"/>
              <a:t>selling</a:t>
            </a:r>
            <a:endParaRPr lang="fr-FR" dirty="0"/>
          </a:p>
          <a:p>
            <a:r>
              <a:rPr lang="fr-FR" dirty="0"/>
              <a:t>DIMENSION TRANSACTIONNELLE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FC4A9-3AF5-4B97-8799-34263736C86A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20285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Cross </a:t>
            </a:r>
            <a:r>
              <a:rPr lang="fr-FR" dirty="0" err="1"/>
              <a:t>selling</a:t>
            </a:r>
            <a:endParaRPr lang="fr-FR" dirty="0"/>
          </a:p>
          <a:p>
            <a:r>
              <a:rPr lang="fr-FR" dirty="0"/>
              <a:t>Up </a:t>
            </a:r>
            <a:r>
              <a:rPr lang="fr-FR" dirty="0" err="1"/>
              <a:t>selling</a:t>
            </a:r>
            <a:endParaRPr lang="fr-FR" dirty="0"/>
          </a:p>
          <a:p>
            <a:endParaRPr lang="fr-FR" dirty="0"/>
          </a:p>
          <a:p>
            <a:r>
              <a:rPr lang="fr-FR" dirty="0"/>
              <a:t>DIMENSION RELATIONNEL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FC4A9-3AF5-4B97-8799-34263736C86A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511790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Cross </a:t>
            </a:r>
            <a:r>
              <a:rPr lang="fr-FR" dirty="0" err="1"/>
              <a:t>selling</a:t>
            </a:r>
            <a:endParaRPr lang="fr-FR" dirty="0"/>
          </a:p>
          <a:p>
            <a:r>
              <a:rPr lang="fr-FR" dirty="0"/>
              <a:t>Up </a:t>
            </a:r>
            <a:r>
              <a:rPr lang="fr-FR" dirty="0" err="1"/>
              <a:t>selling</a:t>
            </a:r>
            <a:endParaRPr lang="fr-FR" dirty="0"/>
          </a:p>
          <a:p>
            <a:r>
              <a:rPr lang="fr-FR" dirty="0"/>
              <a:t>DIMENSION STATUTAIRE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FC4A9-3AF5-4B97-8799-34263736C86A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99744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FC4A9-3AF5-4B97-8799-34263736C86A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12240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FC4A9-3AF5-4B97-8799-34263736C86A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17018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FC4A9-3AF5-4B97-8799-34263736C86A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7335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FC4A9-3AF5-4B97-8799-34263736C86A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31562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FC4A9-3AF5-4B97-8799-34263736C86A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12774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Prof d’</a:t>
            </a:r>
            <a:r>
              <a:rPr lang="fr-FR" dirty="0" err="1"/>
              <a:t>harvard</a:t>
            </a:r>
            <a:r>
              <a:rPr lang="fr-FR" dirty="0"/>
              <a:t>: ce qui traduit le mieux la fidélité, c’est la </a:t>
            </a:r>
            <a:r>
              <a:rPr lang="fr-FR" dirty="0" err="1"/>
              <a:t>propense</a:t>
            </a:r>
            <a:r>
              <a:rPr lang="fr-FR" dirty="0"/>
              <a:t> à recommander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FC4A9-3AF5-4B97-8799-34263736C86A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61397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15E3-7ED5-4958-8A9C-088943717B2D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C5D9A-40F5-43CE-8C9F-93EA15E3A9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215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15E3-7ED5-4958-8A9C-088943717B2D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C5D9A-40F5-43CE-8C9F-93EA15E3A9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8967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15E3-7ED5-4958-8A9C-088943717B2D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C5D9A-40F5-43CE-8C9F-93EA15E3A9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0924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15E3-7ED5-4958-8A9C-088943717B2D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C5D9A-40F5-43CE-8C9F-93EA15E3A9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3510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15E3-7ED5-4958-8A9C-088943717B2D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C5D9A-40F5-43CE-8C9F-93EA15E3A9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4539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15E3-7ED5-4958-8A9C-088943717B2D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C5D9A-40F5-43CE-8C9F-93EA15E3A9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96328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15E3-7ED5-4958-8A9C-088943717B2D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C5D9A-40F5-43CE-8C9F-93EA15E3A9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2368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15E3-7ED5-4958-8A9C-088943717B2D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C5D9A-40F5-43CE-8C9F-93EA15E3A9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8277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15E3-7ED5-4958-8A9C-088943717B2D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C5D9A-40F5-43CE-8C9F-93EA15E3A9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616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15E3-7ED5-4958-8A9C-088943717B2D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C5D9A-40F5-43CE-8C9F-93EA15E3A9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17325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15E3-7ED5-4958-8A9C-088943717B2D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C5D9A-40F5-43CE-8C9F-93EA15E3A9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1242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EB15E3-7ED5-4958-8A9C-088943717B2D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3C5D9A-40F5-43CE-8C9F-93EA15E3A9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2930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3.xml"/><Relationship Id="rId7" Type="http://schemas.openxmlformats.org/officeDocument/2006/relationships/image" Target="../media/image1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Layout" Target="../slideLayouts/slideLayout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9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8.xml"/><Relationship Id="rId7" Type="http://schemas.openxmlformats.org/officeDocument/2006/relationships/image" Target="../media/image1.pn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slideLayout" Target="../slideLayouts/slideLayout6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9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13.xml"/><Relationship Id="rId7" Type="http://schemas.openxmlformats.org/officeDocument/2006/relationships/image" Target="../media/image1.png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slideLayout" Target="../slideLayouts/slideLayout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9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18.xml"/><Relationship Id="rId7" Type="http://schemas.openxmlformats.org/officeDocument/2006/relationships/notesSlide" Target="../notesSlides/notesSlide1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slideLayout" Target="../slideLayouts/slideLayout6.xml"/><Relationship Id="rId5" Type="http://schemas.openxmlformats.org/officeDocument/2006/relationships/tags" Target="../tags/tag20.xml"/><Relationship Id="rId10" Type="http://schemas.openxmlformats.org/officeDocument/2006/relationships/image" Target="../media/image3.png"/><Relationship Id="rId4" Type="http://schemas.openxmlformats.org/officeDocument/2006/relationships/tags" Target="../tags/tag19.xml"/><Relationship Id="rId9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23.xml"/><Relationship Id="rId7" Type="http://schemas.openxmlformats.org/officeDocument/2006/relationships/notesSlide" Target="../notesSlides/notesSlide2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4.jpeg"/><Relationship Id="rId5" Type="http://schemas.openxmlformats.org/officeDocument/2006/relationships/tags" Target="../tags/tag25.xml"/><Relationship Id="rId10" Type="http://schemas.openxmlformats.org/officeDocument/2006/relationships/image" Target="../media/image3.png"/><Relationship Id="rId4" Type="http://schemas.openxmlformats.org/officeDocument/2006/relationships/tags" Target="../tags/tag24.xml"/><Relationship Id="rId9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28.xml"/><Relationship Id="rId7" Type="http://schemas.openxmlformats.org/officeDocument/2006/relationships/notesSlide" Target="../notesSlides/notesSlide3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5.png"/><Relationship Id="rId5" Type="http://schemas.openxmlformats.org/officeDocument/2006/relationships/tags" Target="../tags/tag30.xml"/><Relationship Id="rId10" Type="http://schemas.openxmlformats.org/officeDocument/2006/relationships/image" Target="../media/image3.png"/><Relationship Id="rId4" Type="http://schemas.openxmlformats.org/officeDocument/2006/relationships/tags" Target="../tags/tag29.xml"/><Relationship Id="rId9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33.xml"/><Relationship Id="rId7" Type="http://schemas.openxmlformats.org/officeDocument/2006/relationships/image" Target="../media/image1.png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slideLayout" Target="../slideLayouts/slideLayout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9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38.xml"/><Relationship Id="rId7" Type="http://schemas.openxmlformats.org/officeDocument/2006/relationships/image" Target="../media/image1.png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slideLayout" Target="../slideLayouts/slideLayout6.xml"/><Relationship Id="rId5" Type="http://schemas.openxmlformats.org/officeDocument/2006/relationships/tags" Target="../tags/tag40.xml"/><Relationship Id="rId10" Type="http://schemas.openxmlformats.org/officeDocument/2006/relationships/image" Target="../media/image6.jpeg"/><Relationship Id="rId4" Type="http://schemas.openxmlformats.org/officeDocument/2006/relationships/tags" Target="../tags/tag39.xml"/><Relationship Id="rId9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43.xml"/><Relationship Id="rId7" Type="http://schemas.openxmlformats.org/officeDocument/2006/relationships/notesSlide" Target="../notesSlides/notesSlide4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7.jpeg"/><Relationship Id="rId5" Type="http://schemas.openxmlformats.org/officeDocument/2006/relationships/tags" Target="../tags/tag45.xml"/><Relationship Id="rId10" Type="http://schemas.openxmlformats.org/officeDocument/2006/relationships/image" Target="../media/image3.png"/><Relationship Id="rId4" Type="http://schemas.openxmlformats.org/officeDocument/2006/relationships/tags" Target="../tags/tag44.xml"/><Relationship Id="rId9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48.xml"/><Relationship Id="rId7" Type="http://schemas.openxmlformats.org/officeDocument/2006/relationships/notesSlide" Target="../notesSlides/notesSlide5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8.jpeg"/><Relationship Id="rId5" Type="http://schemas.openxmlformats.org/officeDocument/2006/relationships/tags" Target="../tags/tag50.xml"/><Relationship Id="rId10" Type="http://schemas.openxmlformats.org/officeDocument/2006/relationships/image" Target="../media/image3.png"/><Relationship Id="rId4" Type="http://schemas.openxmlformats.org/officeDocument/2006/relationships/tags" Target="../tags/tag49.xml"/><Relationship Id="rId9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53.xml"/><Relationship Id="rId7" Type="http://schemas.openxmlformats.org/officeDocument/2006/relationships/notesSlide" Target="../notesSlides/notesSlide6.xml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9.jpeg"/><Relationship Id="rId5" Type="http://schemas.openxmlformats.org/officeDocument/2006/relationships/tags" Target="../tags/tag55.xml"/><Relationship Id="rId10" Type="http://schemas.openxmlformats.org/officeDocument/2006/relationships/image" Target="../media/image3.png"/><Relationship Id="rId4" Type="http://schemas.openxmlformats.org/officeDocument/2006/relationships/tags" Target="../tags/tag54.xml"/><Relationship Id="rId9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58.xml"/><Relationship Id="rId7" Type="http://schemas.openxmlformats.org/officeDocument/2006/relationships/notesSlide" Target="../notesSlides/notesSlide7.xml"/><Relationship Id="rId12" Type="http://schemas.openxmlformats.org/officeDocument/2006/relationships/image" Target="../media/image12.jpeg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1.jpeg"/><Relationship Id="rId5" Type="http://schemas.openxmlformats.org/officeDocument/2006/relationships/tags" Target="../tags/tag60.xml"/><Relationship Id="rId10" Type="http://schemas.openxmlformats.org/officeDocument/2006/relationships/image" Target="../media/image3.png"/><Relationship Id="rId4" Type="http://schemas.openxmlformats.org/officeDocument/2006/relationships/tags" Target="../tags/tag59.xml"/><Relationship Id="rId9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63.xml"/><Relationship Id="rId7" Type="http://schemas.openxmlformats.org/officeDocument/2006/relationships/notesSlide" Target="../notesSlides/notesSlide8.xml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3.jpeg"/><Relationship Id="rId5" Type="http://schemas.openxmlformats.org/officeDocument/2006/relationships/tags" Target="../tags/tag65.xml"/><Relationship Id="rId10" Type="http://schemas.openxmlformats.org/officeDocument/2006/relationships/image" Target="../media/image3.png"/><Relationship Id="rId4" Type="http://schemas.openxmlformats.org/officeDocument/2006/relationships/tags" Target="../tags/tag64.xml"/><Relationship Id="rId9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68.xml"/><Relationship Id="rId7" Type="http://schemas.openxmlformats.org/officeDocument/2006/relationships/notesSlide" Target="../notesSlides/notesSlide9.xml"/><Relationship Id="rId12" Type="http://schemas.openxmlformats.org/officeDocument/2006/relationships/image" Target="../media/image15.jpeg"/><Relationship Id="rId2" Type="http://schemas.openxmlformats.org/officeDocument/2006/relationships/tags" Target="../tags/tag67.xml"/><Relationship Id="rId1" Type="http://schemas.openxmlformats.org/officeDocument/2006/relationships/tags" Target="../tags/tag66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4.jpeg"/><Relationship Id="rId5" Type="http://schemas.openxmlformats.org/officeDocument/2006/relationships/tags" Target="../tags/tag70.xml"/><Relationship Id="rId10" Type="http://schemas.openxmlformats.org/officeDocument/2006/relationships/image" Target="../media/image3.png"/><Relationship Id="rId4" Type="http://schemas.openxmlformats.org/officeDocument/2006/relationships/tags" Target="../tags/tag69.xml"/><Relationship Id="rId9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73.xml"/><Relationship Id="rId7" Type="http://schemas.openxmlformats.org/officeDocument/2006/relationships/notesSlide" Target="../notesSlides/notesSlide10.xml"/><Relationship Id="rId12" Type="http://schemas.openxmlformats.org/officeDocument/2006/relationships/image" Target="../media/image17.jpeg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6.png"/><Relationship Id="rId5" Type="http://schemas.openxmlformats.org/officeDocument/2006/relationships/tags" Target="../tags/tag75.xml"/><Relationship Id="rId10" Type="http://schemas.openxmlformats.org/officeDocument/2006/relationships/image" Target="../media/image3.png"/><Relationship Id="rId4" Type="http://schemas.openxmlformats.org/officeDocument/2006/relationships/tags" Target="../tags/tag74.xml"/><Relationship Id="rId9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78.xml"/><Relationship Id="rId7" Type="http://schemas.openxmlformats.org/officeDocument/2006/relationships/notesSlide" Target="../notesSlides/notesSlide11.xml"/><Relationship Id="rId2" Type="http://schemas.openxmlformats.org/officeDocument/2006/relationships/tags" Target="../tags/tag77.xml"/><Relationship Id="rId1" Type="http://schemas.openxmlformats.org/officeDocument/2006/relationships/tags" Target="../tags/tag76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8.jpeg"/><Relationship Id="rId5" Type="http://schemas.openxmlformats.org/officeDocument/2006/relationships/tags" Target="../tags/tag80.xml"/><Relationship Id="rId10" Type="http://schemas.openxmlformats.org/officeDocument/2006/relationships/image" Target="../media/image3.png"/><Relationship Id="rId4" Type="http://schemas.openxmlformats.org/officeDocument/2006/relationships/tags" Target="../tags/tag79.xml"/><Relationship Id="rId9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83.xml"/><Relationship Id="rId7" Type="http://schemas.openxmlformats.org/officeDocument/2006/relationships/image" Target="../media/image1.png"/><Relationship Id="rId2" Type="http://schemas.openxmlformats.org/officeDocument/2006/relationships/tags" Target="../tags/tag82.xml"/><Relationship Id="rId1" Type="http://schemas.openxmlformats.org/officeDocument/2006/relationships/tags" Target="../tags/tag81.xml"/><Relationship Id="rId6" Type="http://schemas.openxmlformats.org/officeDocument/2006/relationships/slideLayout" Target="../slideLayouts/slideLayout6.xml"/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9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88.xml"/><Relationship Id="rId7" Type="http://schemas.openxmlformats.org/officeDocument/2006/relationships/image" Target="../media/image1.png"/><Relationship Id="rId2" Type="http://schemas.openxmlformats.org/officeDocument/2006/relationships/tags" Target="../tags/tag87.xml"/><Relationship Id="rId1" Type="http://schemas.openxmlformats.org/officeDocument/2006/relationships/tags" Target="../tags/tag86.xml"/><Relationship Id="rId6" Type="http://schemas.openxmlformats.org/officeDocument/2006/relationships/slideLayout" Target="../slideLayouts/slideLayout6.xml"/><Relationship Id="rId5" Type="http://schemas.openxmlformats.org/officeDocument/2006/relationships/tags" Target="../tags/tag90.xml"/><Relationship Id="rId4" Type="http://schemas.openxmlformats.org/officeDocument/2006/relationships/tags" Target="../tags/tag89.xml"/><Relationship Id="rId9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93.xml"/><Relationship Id="rId7" Type="http://schemas.openxmlformats.org/officeDocument/2006/relationships/image" Target="../media/image1.png"/><Relationship Id="rId2" Type="http://schemas.openxmlformats.org/officeDocument/2006/relationships/tags" Target="../tags/tag92.xml"/><Relationship Id="rId1" Type="http://schemas.openxmlformats.org/officeDocument/2006/relationships/tags" Target="../tags/tag91.xml"/><Relationship Id="rId6" Type="http://schemas.openxmlformats.org/officeDocument/2006/relationships/slideLayout" Target="../slideLayouts/slideLayout6.xml"/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9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98.xml"/><Relationship Id="rId7" Type="http://schemas.openxmlformats.org/officeDocument/2006/relationships/image" Target="../media/image1.png"/><Relationship Id="rId2" Type="http://schemas.openxmlformats.org/officeDocument/2006/relationships/tags" Target="../tags/tag97.xml"/><Relationship Id="rId1" Type="http://schemas.openxmlformats.org/officeDocument/2006/relationships/tags" Target="../tags/tag96.xml"/><Relationship Id="rId6" Type="http://schemas.openxmlformats.org/officeDocument/2006/relationships/slideLayout" Target="../slideLayouts/slideLayout6.xml"/><Relationship Id="rId5" Type="http://schemas.openxmlformats.org/officeDocument/2006/relationships/tags" Target="../tags/tag100.xml"/><Relationship Id="rId4" Type="http://schemas.openxmlformats.org/officeDocument/2006/relationships/tags" Target="../tags/tag99.xml"/><Relationship Id="rId9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103.xml"/><Relationship Id="rId7" Type="http://schemas.openxmlformats.org/officeDocument/2006/relationships/notesSlide" Target="../notesSlides/notesSlide12.xml"/><Relationship Id="rId2" Type="http://schemas.openxmlformats.org/officeDocument/2006/relationships/tags" Target="../tags/tag102.xml"/><Relationship Id="rId1" Type="http://schemas.openxmlformats.org/officeDocument/2006/relationships/tags" Target="../tags/tag101.xml"/><Relationship Id="rId6" Type="http://schemas.openxmlformats.org/officeDocument/2006/relationships/slideLayout" Target="../slideLayouts/slideLayout6.xml"/><Relationship Id="rId5" Type="http://schemas.openxmlformats.org/officeDocument/2006/relationships/tags" Target="../tags/tag105.xml"/><Relationship Id="rId10" Type="http://schemas.openxmlformats.org/officeDocument/2006/relationships/image" Target="../media/image3.png"/><Relationship Id="rId4" Type="http://schemas.openxmlformats.org/officeDocument/2006/relationships/tags" Target="../tags/tag104.xml"/><Relationship Id="rId9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108.xml"/><Relationship Id="rId7" Type="http://schemas.openxmlformats.org/officeDocument/2006/relationships/image" Target="../media/image1.png"/><Relationship Id="rId2" Type="http://schemas.openxmlformats.org/officeDocument/2006/relationships/tags" Target="../tags/tag107.xml"/><Relationship Id="rId1" Type="http://schemas.openxmlformats.org/officeDocument/2006/relationships/tags" Target="../tags/tag106.xml"/><Relationship Id="rId6" Type="http://schemas.openxmlformats.org/officeDocument/2006/relationships/slideLayout" Target="../slideLayouts/slideLayout6.xml"/><Relationship Id="rId5" Type="http://schemas.openxmlformats.org/officeDocument/2006/relationships/tags" Target="../tags/tag110.xml"/><Relationship Id="rId10" Type="http://schemas.openxmlformats.org/officeDocument/2006/relationships/image" Target="../media/image19.jpeg"/><Relationship Id="rId4" Type="http://schemas.openxmlformats.org/officeDocument/2006/relationships/tags" Target="../tags/tag109.xml"/><Relationship Id="rId9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113.xml"/><Relationship Id="rId7" Type="http://schemas.openxmlformats.org/officeDocument/2006/relationships/image" Target="../media/image1.png"/><Relationship Id="rId2" Type="http://schemas.openxmlformats.org/officeDocument/2006/relationships/tags" Target="../tags/tag112.xml"/><Relationship Id="rId1" Type="http://schemas.openxmlformats.org/officeDocument/2006/relationships/tags" Target="../tags/tag111.xml"/><Relationship Id="rId6" Type="http://schemas.openxmlformats.org/officeDocument/2006/relationships/slideLayout" Target="../slideLayouts/slideLayout6.xml"/><Relationship Id="rId5" Type="http://schemas.openxmlformats.org/officeDocument/2006/relationships/tags" Target="../tags/tag115.xml"/><Relationship Id="rId10" Type="http://schemas.openxmlformats.org/officeDocument/2006/relationships/image" Target="../media/image20.png"/><Relationship Id="rId4" Type="http://schemas.openxmlformats.org/officeDocument/2006/relationships/tags" Target="../tags/tag114.xml"/><Relationship Id="rId9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118.xml"/><Relationship Id="rId7" Type="http://schemas.openxmlformats.org/officeDocument/2006/relationships/image" Target="../media/image1.png"/><Relationship Id="rId2" Type="http://schemas.openxmlformats.org/officeDocument/2006/relationships/tags" Target="../tags/tag117.xml"/><Relationship Id="rId1" Type="http://schemas.openxmlformats.org/officeDocument/2006/relationships/tags" Target="../tags/tag116.xml"/><Relationship Id="rId6" Type="http://schemas.openxmlformats.org/officeDocument/2006/relationships/slideLayout" Target="../slideLayouts/slideLayout6.xml"/><Relationship Id="rId5" Type="http://schemas.openxmlformats.org/officeDocument/2006/relationships/tags" Target="../tags/tag120.xml"/><Relationship Id="rId4" Type="http://schemas.openxmlformats.org/officeDocument/2006/relationships/tags" Target="../tags/tag119.xml"/><Relationship Id="rId9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123.xml"/><Relationship Id="rId7" Type="http://schemas.openxmlformats.org/officeDocument/2006/relationships/image" Target="../media/image1.png"/><Relationship Id="rId2" Type="http://schemas.openxmlformats.org/officeDocument/2006/relationships/tags" Target="../tags/tag122.xml"/><Relationship Id="rId1" Type="http://schemas.openxmlformats.org/officeDocument/2006/relationships/tags" Target="../tags/tag121.xml"/><Relationship Id="rId6" Type="http://schemas.openxmlformats.org/officeDocument/2006/relationships/slideLayout" Target="../slideLayouts/slideLayout6.xml"/><Relationship Id="rId5" Type="http://schemas.openxmlformats.org/officeDocument/2006/relationships/tags" Target="../tags/tag125.xml"/><Relationship Id="rId10" Type="http://schemas.openxmlformats.org/officeDocument/2006/relationships/image" Target="../media/image21.jpeg"/><Relationship Id="rId4" Type="http://schemas.openxmlformats.org/officeDocument/2006/relationships/tags" Target="../tags/tag124.xml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>
            <p:custDataLst>
              <p:tags r:id="rId2"/>
            </p:custDataLst>
          </p:nvPr>
        </p:nvSpPr>
        <p:spPr>
          <a:xfrm>
            <a:off x="1" y="5620314"/>
            <a:ext cx="12194168" cy="889686"/>
          </a:xfrm>
          <a:prstGeom prst="rect">
            <a:avLst/>
          </a:prstGeom>
          <a:solidFill>
            <a:srgbClr val="1613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3657" y="5424617"/>
            <a:ext cx="1087396" cy="1087394"/>
          </a:xfrm>
          <a:prstGeom prst="rect">
            <a:avLst/>
          </a:prstGeom>
        </p:spPr>
      </p:pic>
      <p:pic>
        <p:nvPicPr>
          <p:cNvPr id="15" name="Image 1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72489" y="4092210"/>
            <a:ext cx="5796349" cy="912925"/>
          </a:xfrm>
          <a:prstGeom prst="rect">
            <a:avLst/>
          </a:prstGeom>
          <a:effectLst/>
        </p:spPr>
      </p:pic>
      <p:cxnSp>
        <p:nvCxnSpPr>
          <p:cNvPr id="16" name="Connecteur droit 15"/>
          <p:cNvCxnSpPr/>
          <p:nvPr>
            <p:custDataLst>
              <p:tags r:id="rId5"/>
            </p:custDataLst>
          </p:nvPr>
        </p:nvCxnSpPr>
        <p:spPr>
          <a:xfrm flipV="1">
            <a:off x="948134" y="3599643"/>
            <a:ext cx="10295732" cy="1000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re 7"/>
          <p:cNvSpPr>
            <a:spLocks noGrp="1"/>
          </p:cNvSpPr>
          <p:nvPr>
            <p:ph type="title"/>
          </p:nvPr>
        </p:nvSpPr>
        <p:spPr>
          <a:xfrm>
            <a:off x="531629" y="1329249"/>
            <a:ext cx="11408734" cy="1787829"/>
          </a:xfrm>
        </p:spPr>
        <p:txBody>
          <a:bodyPr>
            <a:normAutofit/>
          </a:bodyPr>
          <a:lstStyle/>
          <a:p>
            <a:pPr algn="ctr"/>
            <a:r>
              <a:rPr lang="fr-FR" sz="4400" dirty="0">
                <a:latin typeface="Arial" panose="020B0604020202020204" pitchFamily="34" charset="0"/>
                <a:cs typeface="Arial" panose="020B0604020202020204" pitchFamily="34" charset="0"/>
              </a:rPr>
              <a:t>Session 5: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b="1" dirty="0"/>
              <a:t>L’efficacité des programmes de relation client</a:t>
            </a:r>
            <a:endParaRPr lang="fr-FR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94202" y="5595521"/>
            <a:ext cx="5797798" cy="91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583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>
            <p:custDataLst>
              <p:tags r:id="rId2"/>
            </p:custDataLst>
          </p:nvPr>
        </p:nvSpPr>
        <p:spPr>
          <a:xfrm>
            <a:off x="1" y="5620314"/>
            <a:ext cx="12194168" cy="889686"/>
          </a:xfrm>
          <a:prstGeom prst="rect">
            <a:avLst/>
          </a:prstGeom>
          <a:solidFill>
            <a:srgbClr val="1613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3657" y="5424617"/>
            <a:ext cx="1087396" cy="1087394"/>
          </a:xfrm>
          <a:prstGeom prst="rect">
            <a:avLst/>
          </a:prstGeom>
        </p:spPr>
      </p:pic>
      <p:pic>
        <p:nvPicPr>
          <p:cNvPr id="15" name="Image 1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72489" y="4092210"/>
            <a:ext cx="5796349" cy="912925"/>
          </a:xfrm>
          <a:prstGeom prst="rect">
            <a:avLst/>
          </a:prstGeom>
          <a:effectLst/>
        </p:spPr>
      </p:pic>
      <p:cxnSp>
        <p:nvCxnSpPr>
          <p:cNvPr id="16" name="Connecteur droit 15"/>
          <p:cNvCxnSpPr/>
          <p:nvPr>
            <p:custDataLst>
              <p:tags r:id="rId5"/>
            </p:custDataLst>
          </p:nvPr>
        </p:nvCxnSpPr>
        <p:spPr>
          <a:xfrm flipV="1">
            <a:off x="948134" y="1287517"/>
            <a:ext cx="10295732" cy="1000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re 7"/>
          <p:cNvSpPr>
            <a:spLocks noGrp="1"/>
          </p:cNvSpPr>
          <p:nvPr>
            <p:ph type="title"/>
          </p:nvPr>
        </p:nvSpPr>
        <p:spPr>
          <a:xfrm>
            <a:off x="948134" y="182881"/>
            <a:ext cx="10058400" cy="1102626"/>
          </a:xfrm>
        </p:spPr>
        <p:txBody>
          <a:bodyPr>
            <a:normAutofit/>
          </a:bodyPr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Introduction </a:t>
            </a:r>
            <a:endParaRPr lang="fr-FR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Espace réservé du contenu 10"/>
          <p:cNvSpPr>
            <a:spLocks noGrp="1"/>
          </p:cNvSpPr>
          <p:nvPr>
            <p:ph type="subTitle" idx="4294967295"/>
          </p:nvPr>
        </p:nvSpPr>
        <p:spPr>
          <a:xfrm>
            <a:off x="948134" y="1493217"/>
            <a:ext cx="10295732" cy="3955616"/>
          </a:xfrm>
        </p:spPr>
        <p:txBody>
          <a:bodyPr>
            <a:normAutofit/>
          </a:bodyPr>
          <a:lstStyle/>
          <a:p>
            <a:r>
              <a:rPr lang="fr-FR" dirty="0"/>
              <a:t>Marketing relationnel  = développer des relations durables avec les consommateurs </a:t>
            </a:r>
          </a:p>
          <a:p>
            <a:r>
              <a:rPr lang="fr-FR" dirty="0"/>
              <a:t>L’établissement de ces relations durables imposent des coûts à l’entreprise</a:t>
            </a:r>
          </a:p>
          <a:p>
            <a:r>
              <a:rPr lang="fr-FR" dirty="0"/>
              <a:t>Il est donc nécessaire: </a:t>
            </a:r>
          </a:p>
          <a:p>
            <a:pPr lvl="1"/>
            <a:r>
              <a:rPr lang="fr-FR" dirty="0"/>
              <a:t>De bien identifier les stratégies à mener</a:t>
            </a:r>
          </a:p>
          <a:p>
            <a:pPr lvl="1"/>
            <a:r>
              <a:rPr lang="fr-FR" dirty="0"/>
              <a:t>D’être capable de mesurer le ROI de chaque stratégie</a:t>
            </a:r>
          </a:p>
          <a:p>
            <a:pPr lvl="1"/>
            <a:endParaRPr lang="fr-FR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94202" y="5595521"/>
            <a:ext cx="5797798" cy="91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830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>
            <p:custDataLst>
              <p:tags r:id="rId2"/>
            </p:custDataLst>
          </p:nvPr>
        </p:nvSpPr>
        <p:spPr>
          <a:xfrm>
            <a:off x="1" y="5620314"/>
            <a:ext cx="12194168" cy="889686"/>
          </a:xfrm>
          <a:prstGeom prst="rect">
            <a:avLst/>
          </a:prstGeom>
          <a:solidFill>
            <a:srgbClr val="1613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3657" y="5424617"/>
            <a:ext cx="1087396" cy="1087394"/>
          </a:xfrm>
          <a:prstGeom prst="rect">
            <a:avLst/>
          </a:prstGeom>
        </p:spPr>
      </p:pic>
      <p:pic>
        <p:nvPicPr>
          <p:cNvPr id="15" name="Image 1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72489" y="4092210"/>
            <a:ext cx="5796349" cy="912925"/>
          </a:xfrm>
          <a:prstGeom prst="rect">
            <a:avLst/>
          </a:prstGeom>
          <a:effectLst/>
        </p:spPr>
      </p:pic>
      <p:cxnSp>
        <p:nvCxnSpPr>
          <p:cNvPr id="16" name="Connecteur droit 15"/>
          <p:cNvCxnSpPr/>
          <p:nvPr>
            <p:custDataLst>
              <p:tags r:id="rId5"/>
            </p:custDataLst>
          </p:nvPr>
        </p:nvCxnSpPr>
        <p:spPr>
          <a:xfrm flipV="1">
            <a:off x="948134" y="1287517"/>
            <a:ext cx="10295732" cy="1000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re 7"/>
          <p:cNvSpPr>
            <a:spLocks noGrp="1"/>
          </p:cNvSpPr>
          <p:nvPr>
            <p:ph type="title"/>
          </p:nvPr>
        </p:nvSpPr>
        <p:spPr>
          <a:xfrm>
            <a:off x="948134" y="182881"/>
            <a:ext cx="10058400" cy="1102626"/>
          </a:xfrm>
        </p:spPr>
        <p:txBody>
          <a:bodyPr>
            <a:normAutofit/>
          </a:bodyPr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Plan de la séance</a:t>
            </a:r>
            <a:endParaRPr lang="fr-FR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Espace réservé du contenu 10"/>
          <p:cNvSpPr>
            <a:spLocks noGrp="1"/>
          </p:cNvSpPr>
          <p:nvPr>
            <p:ph type="subTitle" idx="4294967295"/>
          </p:nvPr>
        </p:nvSpPr>
        <p:spPr>
          <a:xfrm>
            <a:off x="948134" y="1493217"/>
            <a:ext cx="10295732" cy="39556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Introduction</a:t>
            </a:r>
          </a:p>
          <a:p>
            <a:pPr marL="0" indent="0">
              <a:buNone/>
            </a:pPr>
            <a:r>
              <a:rPr lang="fr-FR" dirty="0"/>
              <a:t>1. Les programmes de fidélisation</a:t>
            </a:r>
          </a:p>
          <a:p>
            <a:pPr marL="0" indent="0">
              <a:buNone/>
            </a:pPr>
            <a:r>
              <a:rPr lang="fr-FR" dirty="0"/>
              <a:t>2. La mesure de l’efficacité des programmes de fidélisation</a:t>
            </a:r>
          </a:p>
          <a:p>
            <a:pPr marL="0" indent="0">
              <a:buNone/>
            </a:pPr>
            <a:r>
              <a:rPr lang="fr-FR" dirty="0"/>
              <a:t>3. La rentabilité et valeur à vie des clients 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94202" y="5595521"/>
            <a:ext cx="5797798" cy="91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6231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>
            <p:custDataLst>
              <p:tags r:id="rId2"/>
            </p:custDataLst>
          </p:nvPr>
        </p:nvSpPr>
        <p:spPr>
          <a:xfrm>
            <a:off x="1" y="5620314"/>
            <a:ext cx="12194168" cy="889686"/>
          </a:xfrm>
          <a:prstGeom prst="rect">
            <a:avLst/>
          </a:prstGeom>
          <a:solidFill>
            <a:srgbClr val="1613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3657" y="5424617"/>
            <a:ext cx="1087396" cy="1087394"/>
          </a:xfrm>
          <a:prstGeom prst="rect">
            <a:avLst/>
          </a:prstGeom>
        </p:spPr>
      </p:pic>
      <p:pic>
        <p:nvPicPr>
          <p:cNvPr id="15" name="Image 1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72489" y="4092210"/>
            <a:ext cx="5796349" cy="912925"/>
          </a:xfrm>
          <a:prstGeom prst="rect">
            <a:avLst/>
          </a:prstGeom>
          <a:effectLst/>
        </p:spPr>
      </p:pic>
      <p:cxnSp>
        <p:nvCxnSpPr>
          <p:cNvPr id="16" name="Connecteur droit 15"/>
          <p:cNvCxnSpPr/>
          <p:nvPr>
            <p:custDataLst>
              <p:tags r:id="rId5"/>
            </p:custDataLst>
          </p:nvPr>
        </p:nvCxnSpPr>
        <p:spPr>
          <a:xfrm flipV="1">
            <a:off x="948134" y="1287517"/>
            <a:ext cx="10295732" cy="1000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re 7"/>
          <p:cNvSpPr>
            <a:spLocks noGrp="1"/>
          </p:cNvSpPr>
          <p:nvPr>
            <p:ph type="title"/>
          </p:nvPr>
        </p:nvSpPr>
        <p:spPr>
          <a:xfrm>
            <a:off x="999285" y="161184"/>
            <a:ext cx="10058400" cy="1102626"/>
          </a:xfrm>
        </p:spPr>
        <p:txBody>
          <a:bodyPr>
            <a:normAutofit fontScale="90000"/>
          </a:bodyPr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1. Définition d’un programme de fidélisation</a:t>
            </a:r>
            <a:endParaRPr lang="fr-FR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Espace réservé du contenu 10"/>
          <p:cNvSpPr>
            <a:spLocks noGrp="1"/>
          </p:cNvSpPr>
          <p:nvPr>
            <p:ph type="subTitle" idx="4294967295"/>
          </p:nvPr>
        </p:nvSpPr>
        <p:spPr>
          <a:xfrm>
            <a:off x="713657" y="1321226"/>
            <a:ext cx="10839911" cy="4240586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Un   programme   de   fidélisation   est   un   système   intégré   d’actions   marketing   visant   à récompenser et à encourager le comportement et l’attitude des clients à travers des incitations </a:t>
            </a:r>
            <a:r>
              <a:rPr lang="fr-FR" sz="1500" dirty="0">
                <a:latin typeface="Arial" panose="020B0604020202020204" pitchFamily="34" charset="0"/>
                <a:cs typeface="Arial" panose="020B0604020202020204" pitchFamily="34" charset="0"/>
              </a:rPr>
              <a:t>(Kang et al., 2015)</a:t>
            </a:r>
          </a:p>
          <a:p>
            <a:pPr lvl="1">
              <a:lnSpc>
                <a:spcPct val="150000"/>
              </a:lnSpc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Leurs modalités se réfèrent souvent à: </a:t>
            </a:r>
          </a:p>
          <a:p>
            <a:pPr lvl="2">
              <a:lnSpc>
                <a:spcPct val="150000"/>
              </a:lnSpc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techniques promotionnelles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classiques </a:t>
            </a:r>
          </a:p>
          <a:p>
            <a:pPr lvl="2">
              <a:lnSpc>
                <a:spcPct val="150000"/>
              </a:lnSpc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techniques du marketing relationnel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(accès à des privilèges ou services, personnalisation, ...)</a:t>
            </a:r>
            <a:endParaRPr lang="fr-FR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94202" y="5595521"/>
            <a:ext cx="5797798" cy="91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781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>
            <p:custDataLst>
              <p:tags r:id="rId2"/>
            </p:custDataLst>
          </p:nvPr>
        </p:nvSpPr>
        <p:spPr>
          <a:xfrm>
            <a:off x="1" y="5620314"/>
            <a:ext cx="12194168" cy="889686"/>
          </a:xfrm>
          <a:prstGeom prst="rect">
            <a:avLst/>
          </a:prstGeom>
          <a:solidFill>
            <a:srgbClr val="1613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3657" y="5424617"/>
            <a:ext cx="1087396" cy="1087394"/>
          </a:xfrm>
          <a:prstGeom prst="rect">
            <a:avLst/>
          </a:prstGeom>
        </p:spPr>
      </p:pic>
      <p:pic>
        <p:nvPicPr>
          <p:cNvPr id="15" name="Image 1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72489" y="4092210"/>
            <a:ext cx="5796349" cy="912925"/>
          </a:xfrm>
          <a:prstGeom prst="rect">
            <a:avLst/>
          </a:prstGeom>
          <a:effectLst/>
        </p:spPr>
      </p:pic>
      <p:cxnSp>
        <p:nvCxnSpPr>
          <p:cNvPr id="16" name="Connecteur droit 15"/>
          <p:cNvCxnSpPr/>
          <p:nvPr>
            <p:custDataLst>
              <p:tags r:id="rId5"/>
            </p:custDataLst>
          </p:nvPr>
        </p:nvCxnSpPr>
        <p:spPr>
          <a:xfrm flipV="1">
            <a:off x="948134" y="1287517"/>
            <a:ext cx="10295732" cy="1000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re 7"/>
          <p:cNvSpPr>
            <a:spLocks noGrp="1"/>
          </p:cNvSpPr>
          <p:nvPr>
            <p:ph type="title"/>
          </p:nvPr>
        </p:nvSpPr>
        <p:spPr>
          <a:xfrm>
            <a:off x="999285" y="87042"/>
            <a:ext cx="10058400" cy="1102626"/>
          </a:xfrm>
        </p:spPr>
        <p:txBody>
          <a:bodyPr>
            <a:normAutofit fontScale="90000"/>
          </a:bodyPr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1. Les objectifs d’un programme de fidélisation</a:t>
            </a:r>
            <a:endParaRPr lang="fr-FR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Espace réservé du contenu 10"/>
          <p:cNvSpPr>
            <a:spLocks noGrp="1"/>
          </p:cNvSpPr>
          <p:nvPr>
            <p:ph type="subTitle" idx="4294967295"/>
          </p:nvPr>
        </p:nvSpPr>
        <p:spPr>
          <a:xfrm>
            <a:off x="948134" y="1395368"/>
            <a:ext cx="10295732" cy="4222935"/>
          </a:xfrm>
        </p:spPr>
        <p:txBody>
          <a:bodyPr>
            <a:normAutofit/>
          </a:bodyPr>
          <a:lstStyle/>
          <a:p>
            <a:pPr lvl="1"/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Objectif 1: Accroitre le chiffre d’affaires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94202" y="5595521"/>
            <a:ext cx="5797798" cy="914479"/>
          </a:xfrm>
          <a:prstGeom prst="rect">
            <a:avLst/>
          </a:prstGeom>
        </p:spPr>
      </p:pic>
      <p:pic>
        <p:nvPicPr>
          <p:cNvPr id="10" name="Image 9" descr="Une image contenant texte&#10;&#10;Description générée automatiquement">
            <a:extLst>
              <a:ext uri="{FF2B5EF4-FFF2-40B4-BE49-F238E27FC236}">
                <a16:creationId xmlns:a16="http://schemas.microsoft.com/office/drawing/2014/main" id="{03A53A59-7C5C-4B98-93A8-72DD4824CDDA}"/>
              </a:ext>
            </a:extLst>
          </p:cNvPr>
          <p:cNvPicPr>
            <a:picLocks noChangeAspect="1"/>
          </p:cNvPicPr>
          <p:nvPr/>
        </p:nvPicPr>
        <p:blipFill rotWithShape="1"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4405944" y="-154190"/>
            <a:ext cx="4716398" cy="9113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8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>
            <p:custDataLst>
              <p:tags r:id="rId2"/>
            </p:custDataLst>
          </p:nvPr>
        </p:nvSpPr>
        <p:spPr>
          <a:xfrm>
            <a:off x="1" y="5620314"/>
            <a:ext cx="12194168" cy="889686"/>
          </a:xfrm>
          <a:prstGeom prst="rect">
            <a:avLst/>
          </a:prstGeom>
          <a:solidFill>
            <a:srgbClr val="1613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3657" y="5424617"/>
            <a:ext cx="1087396" cy="1087394"/>
          </a:xfrm>
          <a:prstGeom prst="rect">
            <a:avLst/>
          </a:prstGeom>
        </p:spPr>
      </p:pic>
      <p:pic>
        <p:nvPicPr>
          <p:cNvPr id="15" name="Image 1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72489" y="4092210"/>
            <a:ext cx="5796349" cy="912925"/>
          </a:xfrm>
          <a:prstGeom prst="rect">
            <a:avLst/>
          </a:prstGeom>
          <a:effectLst/>
        </p:spPr>
      </p:pic>
      <p:cxnSp>
        <p:nvCxnSpPr>
          <p:cNvPr id="16" name="Connecteur droit 15"/>
          <p:cNvCxnSpPr/>
          <p:nvPr>
            <p:custDataLst>
              <p:tags r:id="rId5"/>
            </p:custDataLst>
          </p:nvPr>
        </p:nvCxnSpPr>
        <p:spPr>
          <a:xfrm flipV="1">
            <a:off x="948134" y="1287517"/>
            <a:ext cx="10295732" cy="1000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re 7"/>
          <p:cNvSpPr>
            <a:spLocks noGrp="1"/>
          </p:cNvSpPr>
          <p:nvPr>
            <p:ph type="title"/>
          </p:nvPr>
        </p:nvSpPr>
        <p:spPr>
          <a:xfrm>
            <a:off x="999285" y="87042"/>
            <a:ext cx="10058400" cy="1102626"/>
          </a:xfrm>
        </p:spPr>
        <p:txBody>
          <a:bodyPr>
            <a:normAutofit fontScale="90000"/>
          </a:bodyPr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1. Les objectifs d’un programme de fidélisation</a:t>
            </a:r>
            <a:endParaRPr lang="fr-FR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Espace réservé du contenu 10"/>
          <p:cNvSpPr>
            <a:spLocks noGrp="1"/>
          </p:cNvSpPr>
          <p:nvPr>
            <p:ph type="subTitle" idx="4294967295"/>
          </p:nvPr>
        </p:nvSpPr>
        <p:spPr>
          <a:xfrm>
            <a:off x="948134" y="1395368"/>
            <a:ext cx="10295732" cy="4222935"/>
          </a:xfrm>
        </p:spPr>
        <p:txBody>
          <a:bodyPr>
            <a:normAutofit/>
          </a:bodyPr>
          <a:lstStyle/>
          <a:p>
            <a:pPr lvl="1"/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Objectif 2: accroitre la rentabilité</a:t>
            </a:r>
          </a:p>
          <a:p>
            <a:pPr lvl="2"/>
            <a:r>
              <a:rPr lang="fr-FR" sz="2200" dirty="0">
                <a:latin typeface="Arial" panose="020B0604020202020204" pitchFamily="34" charset="0"/>
                <a:cs typeface="Arial" panose="020B0604020202020204" pitchFamily="34" charset="0"/>
              </a:rPr>
              <a:t>Il est plus coûteux d’acquérir un nouveau client que d’en conserver un</a:t>
            </a:r>
          </a:p>
          <a:p>
            <a:pPr lvl="3"/>
            <a:r>
              <a:rPr lang="fr-FR" sz="2200" dirty="0">
                <a:latin typeface="Arial" panose="020B0604020202020204" pitchFamily="34" charset="0"/>
                <a:cs typeface="Arial" panose="020B0604020202020204" pitchFamily="34" charset="0"/>
              </a:rPr>
              <a:t>Chez Orange: rapport de 1 à 10</a:t>
            </a:r>
          </a:p>
          <a:p>
            <a:pPr lvl="2"/>
            <a:r>
              <a:rPr lang="fr-FR" sz="2200" dirty="0">
                <a:latin typeface="Arial" panose="020B0604020202020204" pitchFamily="34" charset="0"/>
                <a:cs typeface="Arial" panose="020B0604020202020204" pitchFamily="34" charset="0"/>
              </a:rPr>
              <a:t>Un client fidèle est –généralement- plus rentable (plus d’achats, moins de coûts de supports, etc. )</a:t>
            </a:r>
          </a:p>
          <a:p>
            <a:pPr lvl="1"/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fr-FR" dirty="0" err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94202" y="5595521"/>
            <a:ext cx="5797798" cy="914479"/>
          </a:xfrm>
          <a:prstGeom prst="rect">
            <a:avLst/>
          </a:prstGeom>
        </p:spPr>
      </p:pic>
      <p:pic>
        <p:nvPicPr>
          <p:cNvPr id="1026" name="Picture 2" descr="Orange (entreprise) — Wikipédia">
            <a:extLst>
              <a:ext uri="{FF2B5EF4-FFF2-40B4-BE49-F238E27FC236}">
                <a16:creationId xmlns:a16="http://schemas.microsoft.com/office/drawing/2014/main" id="{82058ACC-9C55-4475-923A-CA80D415C2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584333" y="3281492"/>
            <a:ext cx="2133600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6250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>
            <p:custDataLst>
              <p:tags r:id="rId2"/>
            </p:custDataLst>
          </p:nvPr>
        </p:nvSpPr>
        <p:spPr>
          <a:xfrm>
            <a:off x="1" y="5620314"/>
            <a:ext cx="12194168" cy="889686"/>
          </a:xfrm>
          <a:prstGeom prst="rect">
            <a:avLst/>
          </a:prstGeom>
          <a:solidFill>
            <a:srgbClr val="1613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3657" y="5424617"/>
            <a:ext cx="1087396" cy="1087394"/>
          </a:xfrm>
          <a:prstGeom prst="rect">
            <a:avLst/>
          </a:prstGeom>
        </p:spPr>
      </p:pic>
      <p:pic>
        <p:nvPicPr>
          <p:cNvPr id="15" name="Image 1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72489" y="4092210"/>
            <a:ext cx="5796349" cy="912925"/>
          </a:xfrm>
          <a:prstGeom prst="rect">
            <a:avLst/>
          </a:prstGeom>
          <a:effectLst/>
        </p:spPr>
      </p:pic>
      <p:cxnSp>
        <p:nvCxnSpPr>
          <p:cNvPr id="16" name="Connecteur droit 15"/>
          <p:cNvCxnSpPr/>
          <p:nvPr>
            <p:custDataLst>
              <p:tags r:id="rId5"/>
            </p:custDataLst>
          </p:nvPr>
        </p:nvCxnSpPr>
        <p:spPr>
          <a:xfrm flipV="1">
            <a:off x="948134" y="1287517"/>
            <a:ext cx="10295732" cy="1000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re 7"/>
          <p:cNvSpPr>
            <a:spLocks noGrp="1"/>
          </p:cNvSpPr>
          <p:nvPr>
            <p:ph type="title"/>
          </p:nvPr>
        </p:nvSpPr>
        <p:spPr>
          <a:xfrm>
            <a:off x="999285" y="87042"/>
            <a:ext cx="10058400" cy="1102626"/>
          </a:xfrm>
        </p:spPr>
        <p:txBody>
          <a:bodyPr>
            <a:normAutofit fontScale="90000"/>
          </a:bodyPr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1. Les cibles d’un programme de fidélisation</a:t>
            </a:r>
            <a:endParaRPr lang="fr-FR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Espace réservé du contenu 10"/>
          <p:cNvSpPr>
            <a:spLocks noGrp="1"/>
          </p:cNvSpPr>
          <p:nvPr>
            <p:ph type="subTitle" idx="4294967295"/>
          </p:nvPr>
        </p:nvSpPr>
        <p:spPr>
          <a:xfrm>
            <a:off x="948134" y="1451192"/>
            <a:ext cx="10295732" cy="4142318"/>
          </a:xfrm>
        </p:spPr>
        <p:txBody>
          <a:bodyPr>
            <a:normAutofit/>
          </a:bodyPr>
          <a:lstStyle/>
          <a:p>
            <a:pPr lvl="1"/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Les </a:t>
            </a:r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clients actifs et non actifs</a:t>
            </a:r>
            <a:endParaRPr lang="fr-FR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fr-FR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Les</a:t>
            </a:r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 clients satisfaits et insatisfaits</a:t>
            </a:r>
          </a:p>
          <a:p>
            <a:pPr lvl="1"/>
            <a:endParaRPr lang="fr-FR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Les </a:t>
            </a:r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clients actuels et les nouveaux clients</a:t>
            </a:r>
          </a:p>
          <a:p>
            <a:pPr lvl="1"/>
            <a:endParaRPr lang="fr-FR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None/>
            </a:pPr>
            <a:r>
              <a:rPr lang="fr-FR" sz="2800" b="1" u="sng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Tout dépend de l’entreprise, de son marché et de son business model</a:t>
            </a:r>
            <a:endParaRPr lang="fr-FR" sz="2800" b="1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94202" y="5595521"/>
            <a:ext cx="5797798" cy="91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747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>
            <p:custDataLst>
              <p:tags r:id="rId2"/>
            </p:custDataLst>
          </p:nvPr>
        </p:nvSpPr>
        <p:spPr>
          <a:xfrm>
            <a:off x="1" y="5620314"/>
            <a:ext cx="12194168" cy="889686"/>
          </a:xfrm>
          <a:prstGeom prst="rect">
            <a:avLst/>
          </a:prstGeom>
          <a:solidFill>
            <a:srgbClr val="1613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3657" y="5424617"/>
            <a:ext cx="1087396" cy="1087394"/>
          </a:xfrm>
          <a:prstGeom prst="rect">
            <a:avLst/>
          </a:prstGeom>
        </p:spPr>
      </p:pic>
      <p:pic>
        <p:nvPicPr>
          <p:cNvPr id="15" name="Image 1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72489" y="4092210"/>
            <a:ext cx="5796349" cy="912925"/>
          </a:xfrm>
          <a:prstGeom prst="rect">
            <a:avLst/>
          </a:prstGeom>
          <a:effectLst/>
        </p:spPr>
      </p:pic>
      <p:cxnSp>
        <p:nvCxnSpPr>
          <p:cNvPr id="16" name="Connecteur droit 15"/>
          <p:cNvCxnSpPr/>
          <p:nvPr>
            <p:custDataLst>
              <p:tags r:id="rId5"/>
            </p:custDataLst>
          </p:nvPr>
        </p:nvCxnSpPr>
        <p:spPr>
          <a:xfrm flipV="1">
            <a:off x="948134" y="1287517"/>
            <a:ext cx="10295732" cy="1000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re 7"/>
          <p:cNvSpPr>
            <a:spLocks noGrp="1"/>
          </p:cNvSpPr>
          <p:nvPr>
            <p:ph type="title"/>
          </p:nvPr>
        </p:nvSpPr>
        <p:spPr>
          <a:xfrm>
            <a:off x="999285" y="87042"/>
            <a:ext cx="10058400" cy="1102626"/>
          </a:xfrm>
        </p:spPr>
        <p:txBody>
          <a:bodyPr>
            <a:normAutofit fontScale="90000"/>
          </a:bodyPr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1. Les grands principes d’un programme de fidélisation </a:t>
            </a:r>
            <a:r>
              <a:rPr lang="fr-FR" sz="1600" dirty="0">
                <a:latin typeface="Arial" panose="020B0604020202020204" pitchFamily="34" charset="0"/>
                <a:cs typeface="Arial" panose="020B0604020202020204" pitchFamily="34" charset="0"/>
              </a:rPr>
              <a:t>(source Mercator)</a:t>
            </a:r>
          </a:p>
        </p:txBody>
      </p:sp>
      <p:sp>
        <p:nvSpPr>
          <p:cNvPr id="11" name="Espace réservé du contenu 10"/>
          <p:cNvSpPr>
            <a:spLocks noGrp="1"/>
          </p:cNvSpPr>
          <p:nvPr>
            <p:ph type="subTitle" idx="4294967295"/>
          </p:nvPr>
        </p:nvSpPr>
        <p:spPr>
          <a:xfrm>
            <a:off x="948134" y="1451192"/>
            <a:ext cx="10295732" cy="4142318"/>
          </a:xfrm>
        </p:spPr>
        <p:txBody>
          <a:bodyPr>
            <a:normAutofit/>
          </a:bodyPr>
          <a:lstStyle/>
          <a:p>
            <a:pPr lvl="1"/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Situation de départ</a:t>
            </a:r>
          </a:p>
          <a:p>
            <a:pPr lvl="1"/>
            <a:endParaRPr lang="fr-FR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94202" y="5595521"/>
            <a:ext cx="5797798" cy="914479"/>
          </a:xfrm>
          <a:prstGeom prst="rect">
            <a:avLst/>
          </a:prstGeom>
        </p:spPr>
      </p:pic>
      <p:pic>
        <p:nvPicPr>
          <p:cNvPr id="6" name="Image 5" descr="Une image contenant texte&#10;&#10;Description générée automatiquement">
            <a:extLst>
              <a:ext uri="{FF2B5EF4-FFF2-40B4-BE49-F238E27FC236}">
                <a16:creationId xmlns:a16="http://schemas.microsoft.com/office/drawing/2014/main" id="{671AFCB4-469E-4D46-9611-8DBFB4C1C29A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5895411" y="616200"/>
            <a:ext cx="5124390" cy="6640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110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>
            <p:custDataLst>
              <p:tags r:id="rId2"/>
            </p:custDataLst>
          </p:nvPr>
        </p:nvSpPr>
        <p:spPr>
          <a:xfrm>
            <a:off x="1" y="5620314"/>
            <a:ext cx="12194168" cy="889686"/>
          </a:xfrm>
          <a:prstGeom prst="rect">
            <a:avLst/>
          </a:prstGeom>
          <a:solidFill>
            <a:srgbClr val="1613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3657" y="5424617"/>
            <a:ext cx="1087396" cy="1087394"/>
          </a:xfrm>
          <a:prstGeom prst="rect">
            <a:avLst/>
          </a:prstGeom>
        </p:spPr>
      </p:pic>
      <p:pic>
        <p:nvPicPr>
          <p:cNvPr id="15" name="Image 1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72489" y="4092210"/>
            <a:ext cx="5796349" cy="912925"/>
          </a:xfrm>
          <a:prstGeom prst="rect">
            <a:avLst/>
          </a:prstGeom>
          <a:effectLst/>
        </p:spPr>
      </p:pic>
      <p:cxnSp>
        <p:nvCxnSpPr>
          <p:cNvPr id="16" name="Connecteur droit 15"/>
          <p:cNvCxnSpPr/>
          <p:nvPr>
            <p:custDataLst>
              <p:tags r:id="rId5"/>
            </p:custDataLst>
          </p:nvPr>
        </p:nvCxnSpPr>
        <p:spPr>
          <a:xfrm flipV="1">
            <a:off x="948134" y="1287517"/>
            <a:ext cx="10295732" cy="1000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re 7"/>
          <p:cNvSpPr>
            <a:spLocks noGrp="1"/>
          </p:cNvSpPr>
          <p:nvPr>
            <p:ph type="title"/>
          </p:nvPr>
        </p:nvSpPr>
        <p:spPr>
          <a:xfrm>
            <a:off x="999285" y="87042"/>
            <a:ext cx="10058400" cy="1102626"/>
          </a:xfrm>
        </p:spPr>
        <p:txBody>
          <a:bodyPr>
            <a:normAutofit fontScale="90000"/>
          </a:bodyPr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1. Les grands principes d’un programme de fidélisation </a:t>
            </a:r>
            <a:r>
              <a:rPr lang="fr-FR" sz="1600" dirty="0">
                <a:latin typeface="Arial" panose="020B0604020202020204" pitchFamily="34" charset="0"/>
                <a:cs typeface="Arial" panose="020B0604020202020204" pitchFamily="34" charset="0"/>
              </a:rPr>
              <a:t>(source Mercator)</a:t>
            </a:r>
          </a:p>
        </p:txBody>
      </p:sp>
      <p:sp>
        <p:nvSpPr>
          <p:cNvPr id="11" name="Espace réservé du contenu 10"/>
          <p:cNvSpPr>
            <a:spLocks noGrp="1"/>
          </p:cNvSpPr>
          <p:nvPr>
            <p:ph type="subTitle" idx="4294967295"/>
          </p:nvPr>
        </p:nvSpPr>
        <p:spPr>
          <a:xfrm>
            <a:off x="948134" y="1451192"/>
            <a:ext cx="5067324" cy="4142318"/>
          </a:xfrm>
        </p:spPr>
        <p:txBody>
          <a:bodyPr>
            <a:normAutofit/>
          </a:bodyPr>
          <a:lstStyle/>
          <a:p>
            <a:pPr lvl="1"/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Premier principe: </a:t>
            </a:r>
          </a:p>
          <a:p>
            <a:pPr marL="457200" lvl="1" indent="0">
              <a:buNone/>
            </a:pPr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Créer un courant</a:t>
            </a:r>
          </a:p>
          <a:p>
            <a:pPr marL="457200" lvl="1" indent="0">
              <a:buNone/>
            </a:pPr>
            <a:r>
              <a:rPr lang="fr-FR" sz="2800" dirty="0"/>
              <a:t>= Créer un process qui permet de modifier ou de renforcer les habitudes de consommation des clients pour les faire évoluer d’un niveau moins élevé à un niveau plus élevé</a:t>
            </a:r>
          </a:p>
          <a:p>
            <a:pPr marL="457200" lvl="1" indent="0">
              <a:buNone/>
            </a:pPr>
            <a:r>
              <a:rPr lang="fr-FR" sz="2800" dirty="0"/>
              <a:t>RECOMPENSE</a:t>
            </a:r>
          </a:p>
          <a:p>
            <a:pPr marL="457200" lvl="1" indent="0">
              <a:buNone/>
            </a:pPr>
            <a:endParaRPr lang="fr-FR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fr-FR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94202" y="5595521"/>
            <a:ext cx="5797798" cy="914479"/>
          </a:xfrm>
          <a:prstGeom prst="rect">
            <a:avLst/>
          </a:prstGeom>
        </p:spPr>
      </p:pic>
      <p:pic>
        <p:nvPicPr>
          <p:cNvPr id="7" name="Image 6" descr="Une image contenant texte&#10;&#10;Description générée automatiquement">
            <a:extLst>
              <a:ext uri="{FF2B5EF4-FFF2-40B4-BE49-F238E27FC236}">
                <a16:creationId xmlns:a16="http://schemas.microsoft.com/office/drawing/2014/main" id="{CACD351C-4915-4455-87B2-01DBA3019D2E}"/>
              </a:ext>
            </a:extLst>
          </p:cNvPr>
          <p:cNvPicPr>
            <a:picLocks noChangeAspect="1"/>
          </p:cNvPicPr>
          <p:nvPr/>
        </p:nvPicPr>
        <p:blipFill rotWithShape="1"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6524952" y="550698"/>
            <a:ext cx="4751482" cy="544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116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>
            <p:custDataLst>
              <p:tags r:id="rId2"/>
            </p:custDataLst>
          </p:nvPr>
        </p:nvSpPr>
        <p:spPr>
          <a:xfrm>
            <a:off x="1" y="5620314"/>
            <a:ext cx="12194168" cy="889686"/>
          </a:xfrm>
          <a:prstGeom prst="rect">
            <a:avLst/>
          </a:prstGeom>
          <a:solidFill>
            <a:srgbClr val="1613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3657" y="5424617"/>
            <a:ext cx="1087396" cy="1087394"/>
          </a:xfrm>
          <a:prstGeom prst="rect">
            <a:avLst/>
          </a:prstGeom>
        </p:spPr>
      </p:pic>
      <p:pic>
        <p:nvPicPr>
          <p:cNvPr id="15" name="Image 1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72489" y="4092210"/>
            <a:ext cx="5796349" cy="912925"/>
          </a:xfrm>
          <a:prstGeom prst="rect">
            <a:avLst/>
          </a:prstGeom>
          <a:effectLst/>
        </p:spPr>
      </p:pic>
      <p:cxnSp>
        <p:nvCxnSpPr>
          <p:cNvPr id="16" name="Connecteur droit 15"/>
          <p:cNvCxnSpPr/>
          <p:nvPr>
            <p:custDataLst>
              <p:tags r:id="rId5"/>
            </p:custDataLst>
          </p:nvPr>
        </p:nvCxnSpPr>
        <p:spPr>
          <a:xfrm flipV="1">
            <a:off x="948134" y="1287517"/>
            <a:ext cx="10295732" cy="1000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re 7"/>
          <p:cNvSpPr>
            <a:spLocks noGrp="1"/>
          </p:cNvSpPr>
          <p:nvPr>
            <p:ph type="title"/>
          </p:nvPr>
        </p:nvSpPr>
        <p:spPr>
          <a:xfrm>
            <a:off x="999285" y="87042"/>
            <a:ext cx="10058400" cy="1102626"/>
          </a:xfrm>
        </p:spPr>
        <p:txBody>
          <a:bodyPr>
            <a:normAutofit fontScale="90000"/>
          </a:bodyPr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1. Les grands principes d’un programme de fidélisation </a:t>
            </a:r>
            <a:r>
              <a:rPr lang="fr-FR" sz="1600" dirty="0">
                <a:latin typeface="Arial" panose="020B0604020202020204" pitchFamily="34" charset="0"/>
                <a:cs typeface="Arial" panose="020B0604020202020204" pitchFamily="34" charset="0"/>
              </a:rPr>
              <a:t>(source Mercator)</a:t>
            </a:r>
          </a:p>
        </p:txBody>
      </p:sp>
      <p:sp>
        <p:nvSpPr>
          <p:cNvPr id="11" name="Espace réservé du contenu 10"/>
          <p:cNvSpPr>
            <a:spLocks noGrp="1"/>
          </p:cNvSpPr>
          <p:nvPr>
            <p:ph type="subTitle" idx="4294967295"/>
          </p:nvPr>
        </p:nvSpPr>
        <p:spPr>
          <a:xfrm>
            <a:off x="948134" y="1451192"/>
            <a:ext cx="5067324" cy="4142318"/>
          </a:xfrm>
        </p:spPr>
        <p:txBody>
          <a:bodyPr>
            <a:normAutofit/>
          </a:bodyPr>
          <a:lstStyle/>
          <a:p>
            <a:pPr lvl="1"/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Deuxième principe: </a:t>
            </a:r>
          </a:p>
          <a:p>
            <a:pPr marL="457200" lvl="1" indent="0">
              <a:buNone/>
            </a:pPr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Accompagner</a:t>
            </a:r>
          </a:p>
          <a:p>
            <a:pPr marL="457200" lvl="1" indent="0">
              <a:buNone/>
            </a:pPr>
            <a:r>
              <a:rPr lang="fr-FR" sz="2800" dirty="0"/>
              <a:t>= mettre  en place des mécanismes susceptibles d’avoir une forte influence sur l'attachement à la </a:t>
            </a:r>
            <a:r>
              <a:rPr lang="fr-FR" sz="2800"/>
              <a:t>marque (aide </a:t>
            </a:r>
            <a:r>
              <a:rPr lang="fr-FR" sz="2800" dirty="0"/>
              <a:t>personnalisée, etc.)</a:t>
            </a:r>
          </a:p>
          <a:p>
            <a:pPr marL="457200" lvl="1" indent="0">
              <a:buNone/>
            </a:pPr>
            <a:r>
              <a:rPr lang="fr-FR" sz="2800" dirty="0"/>
              <a:t>RELATION</a:t>
            </a:r>
          </a:p>
          <a:p>
            <a:pPr marL="457200" lvl="1" indent="0">
              <a:buNone/>
            </a:pPr>
            <a:endParaRPr lang="fr-FR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fr-FR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94202" y="5595521"/>
            <a:ext cx="5797798" cy="914479"/>
          </a:xfrm>
          <a:prstGeom prst="rect">
            <a:avLst/>
          </a:prstGeom>
        </p:spPr>
      </p:pic>
      <p:pic>
        <p:nvPicPr>
          <p:cNvPr id="6" name="Image 5" descr="Une image contenant texte, stationnaire&#10;&#10;Description générée automatiquement">
            <a:extLst>
              <a:ext uri="{FF2B5EF4-FFF2-40B4-BE49-F238E27FC236}">
                <a16:creationId xmlns:a16="http://schemas.microsoft.com/office/drawing/2014/main" id="{EE6EF4EA-E157-4328-AEED-FB21ACD0BCB8}"/>
              </a:ext>
            </a:extLst>
          </p:cNvPr>
          <p:cNvPicPr>
            <a:picLocks noChangeAspect="1"/>
          </p:cNvPicPr>
          <p:nvPr/>
        </p:nvPicPr>
        <p:blipFill rotWithShape="1"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6937286" y="1022080"/>
            <a:ext cx="4963892" cy="554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789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>
            <p:custDataLst>
              <p:tags r:id="rId2"/>
            </p:custDataLst>
          </p:nvPr>
        </p:nvSpPr>
        <p:spPr>
          <a:xfrm>
            <a:off x="1" y="5620314"/>
            <a:ext cx="12194168" cy="889686"/>
          </a:xfrm>
          <a:prstGeom prst="rect">
            <a:avLst/>
          </a:prstGeom>
          <a:solidFill>
            <a:srgbClr val="1613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3657" y="5424617"/>
            <a:ext cx="1087396" cy="1087394"/>
          </a:xfrm>
          <a:prstGeom prst="rect">
            <a:avLst/>
          </a:prstGeom>
        </p:spPr>
      </p:pic>
      <p:pic>
        <p:nvPicPr>
          <p:cNvPr id="15" name="Image 1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72489" y="4092210"/>
            <a:ext cx="5796349" cy="912925"/>
          </a:xfrm>
          <a:prstGeom prst="rect">
            <a:avLst/>
          </a:prstGeom>
          <a:effectLst/>
        </p:spPr>
      </p:pic>
      <p:cxnSp>
        <p:nvCxnSpPr>
          <p:cNvPr id="16" name="Connecteur droit 15"/>
          <p:cNvCxnSpPr/>
          <p:nvPr>
            <p:custDataLst>
              <p:tags r:id="rId5"/>
            </p:custDataLst>
          </p:nvPr>
        </p:nvCxnSpPr>
        <p:spPr>
          <a:xfrm flipV="1">
            <a:off x="948134" y="1287517"/>
            <a:ext cx="10295732" cy="1000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re 7"/>
          <p:cNvSpPr>
            <a:spLocks noGrp="1"/>
          </p:cNvSpPr>
          <p:nvPr>
            <p:ph type="title"/>
          </p:nvPr>
        </p:nvSpPr>
        <p:spPr>
          <a:xfrm>
            <a:off x="999285" y="87042"/>
            <a:ext cx="10058400" cy="1102626"/>
          </a:xfrm>
        </p:spPr>
        <p:txBody>
          <a:bodyPr>
            <a:normAutofit fontScale="90000"/>
          </a:bodyPr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1. Les grands principes d’un programme de fidélisation </a:t>
            </a:r>
            <a:r>
              <a:rPr lang="fr-FR" sz="1600" dirty="0">
                <a:latin typeface="Arial" panose="020B0604020202020204" pitchFamily="34" charset="0"/>
                <a:cs typeface="Arial" panose="020B0604020202020204" pitchFamily="34" charset="0"/>
              </a:rPr>
              <a:t>(source Mercator)</a:t>
            </a:r>
          </a:p>
        </p:txBody>
      </p:sp>
      <p:sp>
        <p:nvSpPr>
          <p:cNvPr id="11" name="Espace réservé du contenu 10"/>
          <p:cNvSpPr>
            <a:spLocks noGrp="1"/>
          </p:cNvSpPr>
          <p:nvPr>
            <p:ph type="subTitle" idx="4294967295"/>
          </p:nvPr>
        </p:nvSpPr>
        <p:spPr>
          <a:xfrm>
            <a:off x="948134" y="1451192"/>
            <a:ext cx="5067324" cy="4142318"/>
          </a:xfrm>
        </p:spPr>
        <p:txBody>
          <a:bodyPr>
            <a:normAutofit/>
          </a:bodyPr>
          <a:lstStyle/>
          <a:p>
            <a:pPr lvl="1"/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Troisième principe: </a:t>
            </a:r>
          </a:p>
          <a:p>
            <a:pPr marL="457200" lvl="1" indent="0">
              <a:buNone/>
            </a:pPr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Créer une zone de non-retour</a:t>
            </a:r>
          </a:p>
          <a:p>
            <a:pPr marL="457200" lvl="1" indent="0">
              <a:buNone/>
            </a:pPr>
            <a:r>
              <a:rPr lang="fr-FR" sz="2800" dirty="0"/>
              <a:t>= décourager les clients de tout retour en arrière</a:t>
            </a:r>
          </a:p>
          <a:p>
            <a:pPr marL="457200" lvl="1" indent="0">
              <a:buNone/>
            </a:pPr>
            <a:r>
              <a:rPr lang="fr-FR" sz="2800" dirty="0"/>
              <a:t>Avantages significatifs aux meilleurs clients</a:t>
            </a:r>
          </a:p>
          <a:p>
            <a:pPr marL="457200" lvl="1" indent="0">
              <a:buNone/>
            </a:pPr>
            <a:r>
              <a:rPr lang="fr-FR" sz="2800" dirty="0"/>
              <a:t>STATUT </a:t>
            </a:r>
          </a:p>
          <a:p>
            <a:pPr marL="457200" lvl="1" indent="0">
              <a:buNone/>
            </a:pPr>
            <a:endParaRPr lang="fr-FR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fr-FR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94202" y="5595521"/>
            <a:ext cx="5797798" cy="914479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F110442E-EA04-47FC-9B4C-BFDFE08FD1BC}"/>
              </a:ext>
            </a:extLst>
          </p:cNvPr>
          <p:cNvPicPr>
            <a:picLocks noChangeAspect="1"/>
          </p:cNvPicPr>
          <p:nvPr/>
        </p:nvPicPr>
        <p:blipFill rotWithShape="1"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6374063" y="1026759"/>
            <a:ext cx="5146495" cy="586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44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>
            <p:custDataLst>
              <p:tags r:id="rId2"/>
            </p:custDataLst>
          </p:nvPr>
        </p:nvSpPr>
        <p:spPr>
          <a:xfrm>
            <a:off x="1" y="5620314"/>
            <a:ext cx="12194168" cy="889686"/>
          </a:xfrm>
          <a:prstGeom prst="rect">
            <a:avLst/>
          </a:prstGeom>
          <a:solidFill>
            <a:srgbClr val="1613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3657" y="5424617"/>
            <a:ext cx="1087396" cy="1087394"/>
          </a:xfrm>
          <a:prstGeom prst="rect">
            <a:avLst/>
          </a:prstGeom>
        </p:spPr>
      </p:pic>
      <p:pic>
        <p:nvPicPr>
          <p:cNvPr id="15" name="Image 1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82274" y="2999744"/>
            <a:ext cx="3571936" cy="562580"/>
          </a:xfrm>
          <a:prstGeom prst="rect">
            <a:avLst/>
          </a:prstGeom>
          <a:effectLst/>
        </p:spPr>
      </p:pic>
      <p:cxnSp>
        <p:nvCxnSpPr>
          <p:cNvPr id="16" name="Connecteur droit 15"/>
          <p:cNvCxnSpPr/>
          <p:nvPr>
            <p:custDataLst>
              <p:tags r:id="rId5"/>
            </p:custDataLst>
          </p:nvPr>
        </p:nvCxnSpPr>
        <p:spPr>
          <a:xfrm flipV="1">
            <a:off x="948134" y="1287517"/>
            <a:ext cx="10295732" cy="1000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re 7"/>
          <p:cNvSpPr>
            <a:spLocks noGrp="1"/>
          </p:cNvSpPr>
          <p:nvPr>
            <p:ph type="title"/>
          </p:nvPr>
        </p:nvSpPr>
        <p:spPr>
          <a:xfrm>
            <a:off x="999285" y="87042"/>
            <a:ext cx="10058400" cy="1102626"/>
          </a:xfrm>
        </p:spPr>
        <p:txBody>
          <a:bodyPr>
            <a:normAutofit fontScale="90000"/>
          </a:bodyPr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1. Quelques outils d’un programme de fidélisation</a:t>
            </a:r>
            <a:endParaRPr lang="fr-FR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Espace réservé du contenu 10"/>
          <p:cNvSpPr>
            <a:spLocks noGrp="1"/>
          </p:cNvSpPr>
          <p:nvPr>
            <p:ph type="subTitle" idx="4294967295"/>
          </p:nvPr>
        </p:nvSpPr>
        <p:spPr>
          <a:xfrm>
            <a:off x="948134" y="1451192"/>
            <a:ext cx="6290866" cy="4142318"/>
          </a:xfrm>
        </p:spPr>
        <p:txBody>
          <a:bodyPr>
            <a:normAutofit/>
          </a:bodyPr>
          <a:lstStyle/>
          <a:p>
            <a:pPr lvl="1"/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Le marketing de contenu (marketing content)</a:t>
            </a:r>
          </a:p>
          <a:p>
            <a:pPr lvl="2"/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magazines, newsletters, applications, etc. mais aussi réseaux sociaux </a:t>
            </a:r>
          </a:p>
          <a:p>
            <a:pPr lvl="2"/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Moyens d’informations et de conseils</a:t>
            </a:r>
          </a:p>
          <a:p>
            <a:pPr lvl="2"/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Doivent être intéressants, utiles, etc. 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94202" y="5595521"/>
            <a:ext cx="5797798" cy="914479"/>
          </a:xfrm>
          <a:prstGeom prst="rect">
            <a:avLst/>
          </a:prstGeom>
        </p:spPr>
      </p:pic>
      <p:pic>
        <p:nvPicPr>
          <p:cNvPr id="3074" name="Picture 2" descr="Les différentes formes de fidélisation recherchées">
            <a:extLst>
              <a:ext uri="{FF2B5EF4-FFF2-40B4-BE49-F238E27FC236}">
                <a16:creationId xmlns:a16="http://schemas.microsoft.com/office/drawing/2014/main" id="{FFECE2ED-CD9D-4FB5-82D5-24C4177183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39000" y="831814"/>
            <a:ext cx="4267252" cy="4050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Image 11" descr="Une image contenant texte&#10;&#10;Description générée automatiquement">
            <a:extLst>
              <a:ext uri="{FF2B5EF4-FFF2-40B4-BE49-F238E27FC236}">
                <a16:creationId xmlns:a16="http://schemas.microsoft.com/office/drawing/2014/main" id="{C11C8476-C6B9-4B35-B839-9ACC7B3B205E}"/>
              </a:ext>
            </a:extLst>
          </p:cNvPr>
          <p:cNvPicPr>
            <a:picLocks noChangeAspect="1"/>
          </p:cNvPicPr>
          <p:nvPr/>
        </p:nvPicPr>
        <p:blipFill rotWithShape="1"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608024" y="2986629"/>
            <a:ext cx="2583975" cy="387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959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>
            <p:custDataLst>
              <p:tags r:id="rId2"/>
            </p:custDataLst>
          </p:nvPr>
        </p:nvSpPr>
        <p:spPr>
          <a:xfrm>
            <a:off x="1" y="5620314"/>
            <a:ext cx="12194168" cy="889686"/>
          </a:xfrm>
          <a:prstGeom prst="rect">
            <a:avLst/>
          </a:prstGeom>
          <a:solidFill>
            <a:srgbClr val="1613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3657" y="5424617"/>
            <a:ext cx="1087396" cy="1087394"/>
          </a:xfrm>
          <a:prstGeom prst="rect">
            <a:avLst/>
          </a:prstGeom>
        </p:spPr>
      </p:pic>
      <p:pic>
        <p:nvPicPr>
          <p:cNvPr id="15" name="Image 1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82274" y="2999744"/>
            <a:ext cx="3571936" cy="562580"/>
          </a:xfrm>
          <a:prstGeom prst="rect">
            <a:avLst/>
          </a:prstGeom>
          <a:effectLst/>
        </p:spPr>
      </p:pic>
      <p:cxnSp>
        <p:nvCxnSpPr>
          <p:cNvPr id="16" name="Connecteur droit 15"/>
          <p:cNvCxnSpPr/>
          <p:nvPr>
            <p:custDataLst>
              <p:tags r:id="rId5"/>
            </p:custDataLst>
          </p:nvPr>
        </p:nvCxnSpPr>
        <p:spPr>
          <a:xfrm flipV="1">
            <a:off x="948134" y="1287517"/>
            <a:ext cx="10295732" cy="1000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re 7"/>
          <p:cNvSpPr>
            <a:spLocks noGrp="1"/>
          </p:cNvSpPr>
          <p:nvPr>
            <p:ph type="title"/>
          </p:nvPr>
        </p:nvSpPr>
        <p:spPr>
          <a:xfrm>
            <a:off x="999285" y="87042"/>
            <a:ext cx="10058400" cy="1102626"/>
          </a:xfrm>
        </p:spPr>
        <p:txBody>
          <a:bodyPr>
            <a:normAutofit fontScale="90000"/>
          </a:bodyPr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1. Quelques outils d’un programme de fidélisation</a:t>
            </a:r>
            <a:endParaRPr lang="fr-FR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Espace réservé du contenu 10"/>
          <p:cNvSpPr>
            <a:spLocks noGrp="1"/>
          </p:cNvSpPr>
          <p:nvPr>
            <p:ph type="subTitle" idx="4294967295"/>
          </p:nvPr>
        </p:nvSpPr>
        <p:spPr>
          <a:xfrm>
            <a:off x="948134" y="1451192"/>
            <a:ext cx="6290866" cy="4142318"/>
          </a:xfrm>
        </p:spPr>
        <p:txBody>
          <a:bodyPr>
            <a:normAutofit/>
          </a:bodyPr>
          <a:lstStyle/>
          <a:p>
            <a:pPr lvl="1"/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Les coupons ou e-coupons</a:t>
            </a:r>
          </a:p>
          <a:p>
            <a:pPr lvl="2"/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Outils de promotion</a:t>
            </a:r>
          </a:p>
          <a:p>
            <a:pPr lvl="2"/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Peuvent être envoyés dans le cadre d’un programme de fidélisation ou distribués en magasin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94202" y="5595521"/>
            <a:ext cx="5797798" cy="914479"/>
          </a:xfrm>
          <a:prstGeom prst="rect">
            <a:avLst/>
          </a:prstGeom>
        </p:spPr>
      </p:pic>
      <p:pic>
        <p:nvPicPr>
          <p:cNvPr id="4098" name="Picture 2" descr="Carrefour : bon de réduction de 5 € offerts à charger sur votre carte  fidélité">
            <a:extLst>
              <a:ext uri="{FF2B5EF4-FFF2-40B4-BE49-F238E27FC236}">
                <a16:creationId xmlns:a16="http://schemas.microsoft.com/office/drawing/2014/main" id="{B182DF53-A4BC-41D2-AF25-A7F8AFB0A3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948612" y="1493216"/>
            <a:ext cx="3533775" cy="3895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4635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>
            <p:custDataLst>
              <p:tags r:id="rId2"/>
            </p:custDataLst>
          </p:nvPr>
        </p:nvSpPr>
        <p:spPr>
          <a:xfrm>
            <a:off x="1" y="5620314"/>
            <a:ext cx="12194168" cy="889686"/>
          </a:xfrm>
          <a:prstGeom prst="rect">
            <a:avLst/>
          </a:prstGeom>
          <a:solidFill>
            <a:srgbClr val="1613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3657" y="5424617"/>
            <a:ext cx="1087396" cy="1087394"/>
          </a:xfrm>
          <a:prstGeom prst="rect">
            <a:avLst/>
          </a:prstGeom>
        </p:spPr>
      </p:pic>
      <p:pic>
        <p:nvPicPr>
          <p:cNvPr id="15" name="Image 1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82274" y="2999744"/>
            <a:ext cx="3571936" cy="562580"/>
          </a:xfrm>
          <a:prstGeom prst="rect">
            <a:avLst/>
          </a:prstGeom>
          <a:effectLst/>
        </p:spPr>
      </p:pic>
      <p:cxnSp>
        <p:nvCxnSpPr>
          <p:cNvPr id="16" name="Connecteur droit 15"/>
          <p:cNvCxnSpPr/>
          <p:nvPr>
            <p:custDataLst>
              <p:tags r:id="rId5"/>
            </p:custDataLst>
          </p:nvPr>
        </p:nvCxnSpPr>
        <p:spPr>
          <a:xfrm flipV="1">
            <a:off x="948134" y="1287517"/>
            <a:ext cx="10295732" cy="1000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re 7"/>
          <p:cNvSpPr>
            <a:spLocks noGrp="1"/>
          </p:cNvSpPr>
          <p:nvPr>
            <p:ph type="title"/>
          </p:nvPr>
        </p:nvSpPr>
        <p:spPr>
          <a:xfrm>
            <a:off x="999285" y="87042"/>
            <a:ext cx="10058400" cy="1102626"/>
          </a:xfrm>
        </p:spPr>
        <p:txBody>
          <a:bodyPr>
            <a:normAutofit fontScale="90000"/>
          </a:bodyPr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1. Quelques outils d’un programme de fidélisation</a:t>
            </a:r>
            <a:endParaRPr lang="fr-FR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Espace réservé du contenu 10"/>
          <p:cNvSpPr>
            <a:spLocks noGrp="1"/>
          </p:cNvSpPr>
          <p:nvPr>
            <p:ph type="subTitle" idx="4294967295"/>
          </p:nvPr>
        </p:nvSpPr>
        <p:spPr>
          <a:xfrm>
            <a:off x="948134" y="1451192"/>
            <a:ext cx="6290866" cy="4142318"/>
          </a:xfrm>
        </p:spPr>
        <p:txBody>
          <a:bodyPr>
            <a:normAutofit/>
          </a:bodyPr>
          <a:lstStyle/>
          <a:p>
            <a:pPr lvl="1"/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Les programmes à points et cartes de fidélité</a:t>
            </a:r>
          </a:p>
          <a:p>
            <a:pPr lvl="2"/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Remerciement du client par un cadeau, une réduction, certains avantages</a:t>
            </a:r>
          </a:p>
          <a:p>
            <a:pPr lvl="2"/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Nécessitent d’être animés régulièrement pour rester attractifs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94202" y="5595521"/>
            <a:ext cx="5797798" cy="914479"/>
          </a:xfrm>
          <a:prstGeom prst="rect">
            <a:avLst/>
          </a:prstGeom>
        </p:spPr>
      </p:pic>
      <p:pic>
        <p:nvPicPr>
          <p:cNvPr id="6146" name="Picture 2" descr="Compagnies aériennes : zoom sur 5 nouveaux programmes de fidélité - Tour  Hebdo">
            <a:extLst>
              <a:ext uri="{FF2B5EF4-FFF2-40B4-BE49-F238E27FC236}">
                <a16:creationId xmlns:a16="http://schemas.microsoft.com/office/drawing/2014/main" id="{EB7E8BE0-D62D-4BD4-B26A-79FFB7EB7B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39000" y="1494126"/>
            <a:ext cx="4850876" cy="2223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01429285-065D-3F1C-9B12-0E30BC45F0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473477" y="3896342"/>
            <a:ext cx="4185445" cy="2613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287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>
            <p:custDataLst>
              <p:tags r:id="rId2"/>
            </p:custDataLst>
          </p:nvPr>
        </p:nvSpPr>
        <p:spPr>
          <a:xfrm>
            <a:off x="1" y="5620314"/>
            <a:ext cx="12194168" cy="889686"/>
          </a:xfrm>
          <a:prstGeom prst="rect">
            <a:avLst/>
          </a:prstGeom>
          <a:solidFill>
            <a:srgbClr val="1613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3657" y="5424617"/>
            <a:ext cx="1087396" cy="1087394"/>
          </a:xfrm>
          <a:prstGeom prst="rect">
            <a:avLst/>
          </a:prstGeom>
        </p:spPr>
      </p:pic>
      <p:pic>
        <p:nvPicPr>
          <p:cNvPr id="15" name="Image 1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82274" y="2999744"/>
            <a:ext cx="3571936" cy="562580"/>
          </a:xfrm>
          <a:prstGeom prst="rect">
            <a:avLst/>
          </a:prstGeom>
          <a:effectLst/>
        </p:spPr>
      </p:pic>
      <p:cxnSp>
        <p:nvCxnSpPr>
          <p:cNvPr id="16" name="Connecteur droit 15"/>
          <p:cNvCxnSpPr/>
          <p:nvPr>
            <p:custDataLst>
              <p:tags r:id="rId5"/>
            </p:custDataLst>
          </p:nvPr>
        </p:nvCxnSpPr>
        <p:spPr>
          <a:xfrm flipV="1">
            <a:off x="948134" y="1287517"/>
            <a:ext cx="10295732" cy="1000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re 7"/>
          <p:cNvSpPr>
            <a:spLocks noGrp="1"/>
          </p:cNvSpPr>
          <p:nvPr>
            <p:ph type="title"/>
          </p:nvPr>
        </p:nvSpPr>
        <p:spPr>
          <a:xfrm>
            <a:off x="999285" y="61642"/>
            <a:ext cx="10058400" cy="1102626"/>
          </a:xfrm>
        </p:spPr>
        <p:txBody>
          <a:bodyPr>
            <a:normAutofit fontScale="90000"/>
          </a:bodyPr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1. Quelques outils d’un programme de fidélisation</a:t>
            </a:r>
            <a:endParaRPr lang="fr-FR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Espace réservé du contenu 10"/>
          <p:cNvSpPr>
            <a:spLocks noGrp="1"/>
          </p:cNvSpPr>
          <p:nvPr>
            <p:ph type="subTitle" idx="4294967295"/>
          </p:nvPr>
        </p:nvSpPr>
        <p:spPr>
          <a:xfrm>
            <a:off x="948134" y="1451192"/>
            <a:ext cx="6290866" cy="4142318"/>
          </a:xfrm>
        </p:spPr>
        <p:txBody>
          <a:bodyPr>
            <a:normAutofit/>
          </a:bodyPr>
          <a:lstStyle/>
          <a:p>
            <a:pPr lvl="1"/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Les clubs</a:t>
            </a:r>
          </a:p>
          <a:p>
            <a:pPr lvl="2"/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Plus poussée qu’une carte de fidélité</a:t>
            </a:r>
          </a:p>
          <a:p>
            <a:pPr lvl="2"/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Souvent limités aux meilleurs clients</a:t>
            </a:r>
          </a:p>
          <a:p>
            <a:pPr lvl="2"/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But: renforcer le lien avec les meilleurs clients</a:t>
            </a:r>
            <a:endParaRPr lang="fr-FR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94202" y="5595521"/>
            <a:ext cx="5797798" cy="914479"/>
          </a:xfrm>
          <a:prstGeom prst="rect">
            <a:avLst/>
          </a:prstGeom>
        </p:spPr>
      </p:pic>
      <p:pic>
        <p:nvPicPr>
          <p:cNvPr id="8194" name="Picture 2" descr="Pathé - Club Pathé">
            <a:extLst>
              <a:ext uri="{FF2B5EF4-FFF2-40B4-BE49-F238E27FC236}">
                <a16:creationId xmlns:a16="http://schemas.microsoft.com/office/drawing/2014/main" id="{13CCE4F3-4B08-4BC1-8E6E-BC24C1C45F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458551" y="1029295"/>
            <a:ext cx="3784600" cy="2838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Le nouveau salon Air France ... en 7 réalités (après ouverture) ! - The  Travelers Club">
            <a:extLst>
              <a:ext uri="{FF2B5EF4-FFF2-40B4-BE49-F238E27FC236}">
                <a16:creationId xmlns:a16="http://schemas.microsoft.com/office/drawing/2014/main" id="{2A3C6D47-E31A-4147-97DA-0EE2D65A4D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136040" y="3277970"/>
            <a:ext cx="4691184" cy="3518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9327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>
            <p:custDataLst>
              <p:tags r:id="rId2"/>
            </p:custDataLst>
          </p:nvPr>
        </p:nvSpPr>
        <p:spPr>
          <a:xfrm>
            <a:off x="1" y="5620314"/>
            <a:ext cx="12194168" cy="889686"/>
          </a:xfrm>
          <a:prstGeom prst="rect">
            <a:avLst/>
          </a:prstGeom>
          <a:solidFill>
            <a:srgbClr val="1613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3657" y="5424617"/>
            <a:ext cx="1087396" cy="1087394"/>
          </a:xfrm>
          <a:prstGeom prst="rect">
            <a:avLst/>
          </a:prstGeom>
        </p:spPr>
      </p:pic>
      <p:pic>
        <p:nvPicPr>
          <p:cNvPr id="15" name="Image 1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82274" y="2999744"/>
            <a:ext cx="3571936" cy="562580"/>
          </a:xfrm>
          <a:prstGeom prst="rect">
            <a:avLst/>
          </a:prstGeom>
          <a:effectLst/>
        </p:spPr>
      </p:pic>
      <p:cxnSp>
        <p:nvCxnSpPr>
          <p:cNvPr id="16" name="Connecteur droit 15"/>
          <p:cNvCxnSpPr/>
          <p:nvPr>
            <p:custDataLst>
              <p:tags r:id="rId5"/>
            </p:custDataLst>
          </p:nvPr>
        </p:nvCxnSpPr>
        <p:spPr>
          <a:xfrm flipV="1">
            <a:off x="948134" y="1287517"/>
            <a:ext cx="10295732" cy="1000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re 7"/>
          <p:cNvSpPr>
            <a:spLocks noGrp="1"/>
          </p:cNvSpPr>
          <p:nvPr>
            <p:ph type="title"/>
          </p:nvPr>
        </p:nvSpPr>
        <p:spPr>
          <a:xfrm>
            <a:off x="999285" y="61642"/>
            <a:ext cx="10058400" cy="1102626"/>
          </a:xfrm>
        </p:spPr>
        <p:txBody>
          <a:bodyPr>
            <a:normAutofit fontScale="90000"/>
          </a:bodyPr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1. Quelques outils d’un programme de fidélisation</a:t>
            </a:r>
            <a:endParaRPr lang="fr-FR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Espace réservé du contenu 10"/>
          <p:cNvSpPr>
            <a:spLocks noGrp="1"/>
          </p:cNvSpPr>
          <p:nvPr>
            <p:ph type="subTitle" idx="4294967295"/>
          </p:nvPr>
        </p:nvSpPr>
        <p:spPr>
          <a:xfrm>
            <a:off x="948134" y="1451192"/>
            <a:ext cx="6290866" cy="4142318"/>
          </a:xfrm>
        </p:spPr>
        <p:txBody>
          <a:bodyPr>
            <a:normAutofit/>
          </a:bodyPr>
          <a:lstStyle/>
          <a:p>
            <a:pPr lvl="1"/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Les programmes anti-attrition</a:t>
            </a:r>
          </a:p>
          <a:p>
            <a:pPr lvl="2"/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Actions lorsque le client veut clôturer son compte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94202" y="5595521"/>
            <a:ext cx="5797798" cy="914479"/>
          </a:xfrm>
          <a:prstGeom prst="rect">
            <a:avLst/>
          </a:prstGeom>
        </p:spPr>
      </p:pic>
      <p:pic>
        <p:nvPicPr>
          <p:cNvPr id="9218" name="Picture 2">
            <a:extLst>
              <a:ext uri="{FF2B5EF4-FFF2-40B4-BE49-F238E27FC236}">
                <a16:creationId xmlns:a16="http://schemas.microsoft.com/office/drawing/2014/main" id="{2509B933-ED47-4050-B6FA-D4B7A7B1B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473477" y="1451192"/>
            <a:ext cx="4185445" cy="2613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4029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>
            <p:custDataLst>
              <p:tags r:id="rId2"/>
            </p:custDataLst>
          </p:nvPr>
        </p:nvSpPr>
        <p:spPr>
          <a:xfrm>
            <a:off x="1" y="5620314"/>
            <a:ext cx="12194168" cy="889686"/>
          </a:xfrm>
          <a:prstGeom prst="rect">
            <a:avLst/>
          </a:prstGeom>
          <a:solidFill>
            <a:srgbClr val="1613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3657" y="5424617"/>
            <a:ext cx="1087396" cy="1087394"/>
          </a:xfrm>
          <a:prstGeom prst="rect">
            <a:avLst/>
          </a:prstGeom>
        </p:spPr>
      </p:pic>
      <p:pic>
        <p:nvPicPr>
          <p:cNvPr id="15" name="Image 1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72489" y="4092210"/>
            <a:ext cx="5796349" cy="912925"/>
          </a:xfrm>
          <a:prstGeom prst="rect">
            <a:avLst/>
          </a:prstGeom>
          <a:effectLst/>
        </p:spPr>
      </p:pic>
      <p:cxnSp>
        <p:nvCxnSpPr>
          <p:cNvPr id="16" name="Connecteur droit 15"/>
          <p:cNvCxnSpPr/>
          <p:nvPr>
            <p:custDataLst>
              <p:tags r:id="rId5"/>
            </p:custDataLst>
          </p:nvPr>
        </p:nvCxnSpPr>
        <p:spPr>
          <a:xfrm flipV="1">
            <a:off x="948134" y="1287517"/>
            <a:ext cx="10295732" cy="1000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re 7"/>
          <p:cNvSpPr>
            <a:spLocks noGrp="1"/>
          </p:cNvSpPr>
          <p:nvPr>
            <p:ph type="title"/>
          </p:nvPr>
        </p:nvSpPr>
        <p:spPr>
          <a:xfrm>
            <a:off x="999285" y="87042"/>
            <a:ext cx="10058400" cy="1102626"/>
          </a:xfrm>
        </p:spPr>
        <p:txBody>
          <a:bodyPr>
            <a:normAutofit fontScale="90000"/>
          </a:bodyPr>
          <a:lstStyle/>
          <a:p>
            <a:r>
              <a:rPr lang="fr-FR" sz="4400" dirty="0">
                <a:latin typeface="Arial" panose="020B0604020202020204" pitchFamily="34" charset="0"/>
                <a:cs typeface="Arial" panose="020B0604020202020204" pitchFamily="34" charset="0"/>
              </a:rPr>
              <a:t>2. La mesure de l’efficacité d’un programme de fidélité</a:t>
            </a:r>
          </a:p>
        </p:txBody>
      </p:sp>
      <p:sp>
        <p:nvSpPr>
          <p:cNvPr id="11" name="Espace réservé du contenu 10"/>
          <p:cNvSpPr>
            <a:spLocks noGrp="1"/>
          </p:cNvSpPr>
          <p:nvPr>
            <p:ph type="subTitle" idx="4294967295"/>
          </p:nvPr>
        </p:nvSpPr>
        <p:spPr>
          <a:xfrm>
            <a:off x="999285" y="1493217"/>
            <a:ext cx="10295732" cy="3274679"/>
          </a:xfrm>
        </p:spPr>
        <p:txBody>
          <a:bodyPr>
            <a:normAutofit/>
          </a:bodyPr>
          <a:lstStyle/>
          <a:p>
            <a:pPr algn="just"/>
            <a:r>
              <a:rPr lang="fr-FR" dirty="0"/>
              <a:t>La mesure de la performance d’un plan de marketing relationnel se mesure par l’intermédiaire d’indicateurs clés de performance ou </a:t>
            </a:r>
            <a:r>
              <a:rPr lang="fr-FR" b="1" dirty="0"/>
              <a:t>K</a:t>
            </a:r>
            <a:r>
              <a:rPr lang="fr-FR" dirty="0"/>
              <a:t>ey </a:t>
            </a:r>
            <a:r>
              <a:rPr lang="fr-FR" b="1" dirty="0"/>
              <a:t>P</a:t>
            </a:r>
            <a:r>
              <a:rPr lang="fr-FR" dirty="0"/>
              <a:t>erformance </a:t>
            </a:r>
            <a:r>
              <a:rPr lang="fr-FR" b="1" dirty="0"/>
              <a:t>I</a:t>
            </a:r>
            <a:r>
              <a:rPr lang="fr-FR" dirty="0"/>
              <a:t>ndicator (KPI)</a:t>
            </a:r>
          </a:p>
          <a:p>
            <a:pPr lvl="1" algn="just"/>
            <a:r>
              <a:rPr lang="fr-FR" dirty="0">
                <a:solidFill>
                  <a:prstClr val="black"/>
                </a:solidFill>
                <a:latin typeface="Calibri" panose="020F0502020204030204"/>
              </a:rPr>
              <a:t>Taux de rétention</a:t>
            </a:r>
          </a:p>
          <a:p>
            <a:pPr lvl="1" algn="just"/>
            <a:r>
              <a:rPr lang="fr-FR" dirty="0">
                <a:solidFill>
                  <a:prstClr val="black"/>
                </a:solidFill>
                <a:latin typeface="Calibri" panose="020F0502020204030204"/>
              </a:rPr>
              <a:t>Taux de </a:t>
            </a:r>
            <a:r>
              <a:rPr lang="fr-FR" dirty="0" err="1">
                <a:solidFill>
                  <a:prstClr val="black"/>
                </a:solidFill>
                <a:latin typeface="Calibri" panose="020F0502020204030204"/>
              </a:rPr>
              <a:t>ré-achat</a:t>
            </a:r>
            <a:endParaRPr lang="fr-FR" dirty="0">
              <a:solidFill>
                <a:prstClr val="black"/>
              </a:solidFill>
              <a:latin typeface="Calibri" panose="020F0502020204030204"/>
            </a:endParaRPr>
          </a:p>
          <a:p>
            <a:pPr lvl="1" algn="just"/>
            <a:r>
              <a:rPr lang="fr-FR" dirty="0">
                <a:solidFill>
                  <a:prstClr val="black"/>
                </a:solidFill>
                <a:latin typeface="Calibri" panose="020F0502020204030204"/>
              </a:rPr>
              <a:t>Net </a:t>
            </a:r>
            <a:r>
              <a:rPr lang="fr-FR" dirty="0" err="1">
                <a:solidFill>
                  <a:prstClr val="black"/>
                </a:solidFill>
                <a:latin typeface="Calibri" panose="020F0502020204030204"/>
              </a:rPr>
              <a:t>Promoter</a:t>
            </a:r>
            <a:r>
              <a:rPr lang="fr-FR" dirty="0">
                <a:solidFill>
                  <a:prstClr val="black"/>
                </a:solidFill>
                <a:latin typeface="Calibri" panose="020F0502020204030204"/>
              </a:rPr>
              <a:t> Score</a:t>
            </a:r>
          </a:p>
          <a:p>
            <a:pPr lvl="1" algn="just"/>
            <a:r>
              <a:rPr lang="fr-FR" dirty="0">
                <a:solidFill>
                  <a:prstClr val="black"/>
                </a:solidFill>
                <a:latin typeface="Calibri" panose="020F0502020204030204"/>
              </a:rPr>
              <a:t>Customer Effort Score</a:t>
            </a:r>
            <a:endParaRPr lang="fr-FR" dirty="0"/>
          </a:p>
          <a:p>
            <a:pPr lvl="1" algn="just"/>
            <a:endParaRPr lang="fr-FR" dirty="0"/>
          </a:p>
          <a:p>
            <a:pPr>
              <a:buFont typeface="Wingdings" panose="05000000000000000000" pitchFamily="2" charset="2"/>
              <a:buChar char="§"/>
            </a:pPr>
            <a:endParaRPr lang="fr-FR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94202" y="5595521"/>
            <a:ext cx="5797798" cy="91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11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>
            <p:custDataLst>
              <p:tags r:id="rId2"/>
            </p:custDataLst>
          </p:nvPr>
        </p:nvSpPr>
        <p:spPr>
          <a:xfrm>
            <a:off x="1" y="5620314"/>
            <a:ext cx="12194168" cy="889686"/>
          </a:xfrm>
          <a:prstGeom prst="rect">
            <a:avLst/>
          </a:prstGeom>
          <a:solidFill>
            <a:srgbClr val="1613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3657" y="5424617"/>
            <a:ext cx="1087396" cy="1087394"/>
          </a:xfrm>
          <a:prstGeom prst="rect">
            <a:avLst/>
          </a:prstGeom>
        </p:spPr>
      </p:pic>
      <p:pic>
        <p:nvPicPr>
          <p:cNvPr id="15" name="Image 1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72489" y="4092210"/>
            <a:ext cx="5796349" cy="912925"/>
          </a:xfrm>
          <a:prstGeom prst="rect">
            <a:avLst/>
          </a:prstGeom>
          <a:effectLst/>
        </p:spPr>
      </p:pic>
      <p:cxnSp>
        <p:nvCxnSpPr>
          <p:cNvPr id="16" name="Connecteur droit 15"/>
          <p:cNvCxnSpPr/>
          <p:nvPr>
            <p:custDataLst>
              <p:tags r:id="rId5"/>
            </p:custDataLst>
          </p:nvPr>
        </p:nvCxnSpPr>
        <p:spPr>
          <a:xfrm flipV="1">
            <a:off x="948134" y="1287517"/>
            <a:ext cx="10295732" cy="1000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re 7"/>
          <p:cNvSpPr>
            <a:spLocks noGrp="1"/>
          </p:cNvSpPr>
          <p:nvPr>
            <p:ph type="title"/>
          </p:nvPr>
        </p:nvSpPr>
        <p:spPr>
          <a:xfrm>
            <a:off x="999285" y="87042"/>
            <a:ext cx="10058400" cy="1102626"/>
          </a:xfrm>
        </p:spPr>
        <p:txBody>
          <a:bodyPr>
            <a:normAutofit/>
          </a:bodyPr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2. Le taux de rétention</a:t>
            </a:r>
            <a:endParaRPr lang="fr-FR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Espace réservé du contenu 10"/>
          <p:cNvSpPr>
            <a:spLocks noGrp="1"/>
          </p:cNvSpPr>
          <p:nvPr>
            <p:ph type="subTitle" idx="4294967295"/>
          </p:nvPr>
        </p:nvSpPr>
        <p:spPr>
          <a:xfrm>
            <a:off x="948134" y="1493217"/>
            <a:ext cx="10295732" cy="3955616"/>
          </a:xfrm>
        </p:spPr>
        <p:txBody>
          <a:bodyPr>
            <a:normAutofit/>
          </a:bodyPr>
          <a:lstStyle/>
          <a:p>
            <a:pPr lvl="1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Il correspond à la proportion de clients retenus au cours d’une période donnée</a:t>
            </a:r>
          </a:p>
          <a:p>
            <a:pPr lvl="1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Généralement calculé au cours d’une année d’exercice</a:t>
            </a:r>
          </a:p>
          <a:p>
            <a:pPr lvl="1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Capacité de l’entreprise à “conserver” ses clients grâce aux actions mises en place, notamment par le programme de fidélité</a:t>
            </a:r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94202" y="5595521"/>
            <a:ext cx="5797798" cy="91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775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>
            <p:custDataLst>
              <p:tags r:id="rId2"/>
            </p:custDataLst>
          </p:nvPr>
        </p:nvSpPr>
        <p:spPr>
          <a:xfrm>
            <a:off x="1" y="5620314"/>
            <a:ext cx="12194168" cy="889686"/>
          </a:xfrm>
          <a:prstGeom prst="rect">
            <a:avLst/>
          </a:prstGeom>
          <a:solidFill>
            <a:srgbClr val="1613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3657" y="5424617"/>
            <a:ext cx="1087396" cy="1087394"/>
          </a:xfrm>
          <a:prstGeom prst="rect">
            <a:avLst/>
          </a:prstGeom>
        </p:spPr>
      </p:pic>
      <p:pic>
        <p:nvPicPr>
          <p:cNvPr id="15" name="Image 1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72489" y="4092210"/>
            <a:ext cx="5796349" cy="912925"/>
          </a:xfrm>
          <a:prstGeom prst="rect">
            <a:avLst/>
          </a:prstGeom>
          <a:effectLst/>
        </p:spPr>
      </p:pic>
      <p:cxnSp>
        <p:nvCxnSpPr>
          <p:cNvPr id="16" name="Connecteur droit 15"/>
          <p:cNvCxnSpPr/>
          <p:nvPr>
            <p:custDataLst>
              <p:tags r:id="rId5"/>
            </p:custDataLst>
          </p:nvPr>
        </p:nvCxnSpPr>
        <p:spPr>
          <a:xfrm flipV="1">
            <a:off x="948134" y="1287517"/>
            <a:ext cx="10295732" cy="1000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re 7"/>
          <p:cNvSpPr>
            <a:spLocks noGrp="1"/>
          </p:cNvSpPr>
          <p:nvPr>
            <p:ph type="title"/>
          </p:nvPr>
        </p:nvSpPr>
        <p:spPr>
          <a:xfrm>
            <a:off x="999285" y="87042"/>
            <a:ext cx="10058400" cy="1102626"/>
          </a:xfrm>
        </p:spPr>
        <p:txBody>
          <a:bodyPr>
            <a:normAutofit/>
          </a:bodyPr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2. Le taux de rétention</a:t>
            </a:r>
            <a:endParaRPr lang="fr-FR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Espace réservé du contenu 10"/>
          <p:cNvSpPr>
            <a:spLocks noGrp="1"/>
          </p:cNvSpPr>
          <p:nvPr>
            <p:ph type="subTitle" idx="4294967295"/>
          </p:nvPr>
        </p:nvSpPr>
        <p:spPr>
          <a:xfrm>
            <a:off x="948134" y="1493217"/>
            <a:ext cx="10295732" cy="3955616"/>
          </a:xfrm>
        </p:spPr>
        <p:txBody>
          <a:bodyPr>
            <a:normAutofit/>
          </a:bodyPr>
          <a:lstStyle/>
          <a:p>
            <a:pPr lvl="1"/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Comment le calculer ?</a:t>
            </a:r>
          </a:p>
          <a:p>
            <a:pPr marL="457200" lvl="1" indent="0">
              <a:buNone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Taux de rétention = [(Nombre de clients en fin de période – nombre de nouveaux clients) ÷ Nombre de clients en début de période] x 100</a:t>
            </a:r>
          </a:p>
          <a:p>
            <a:pPr marL="457200" lvl="1" indent="0">
              <a:buNone/>
            </a:pP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None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Exemple: </a:t>
            </a:r>
            <a:r>
              <a:rPr lang="fr-FR" b="0" i="0" dirty="0">
                <a:solidFill>
                  <a:srgbClr val="39464F"/>
                </a:solidFill>
                <a:effectLst/>
                <a:latin typeface="Helvetica Neue"/>
              </a:rPr>
              <a:t>Si vous avez 10 000 clients au début de votre période, 11500 à la fin, et que vous ajoutez 3400 nouveaux clients à votre base de clients pendant la période en question, le taux de rétention est de: </a:t>
            </a:r>
          </a:p>
          <a:p>
            <a:pPr marL="457200" lvl="1" indent="0">
              <a:buNone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81%</a:t>
            </a:r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94202" y="5595521"/>
            <a:ext cx="5797798" cy="91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125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>
            <p:custDataLst>
              <p:tags r:id="rId2"/>
            </p:custDataLst>
          </p:nvPr>
        </p:nvSpPr>
        <p:spPr>
          <a:xfrm>
            <a:off x="1" y="5620314"/>
            <a:ext cx="12194168" cy="889686"/>
          </a:xfrm>
          <a:prstGeom prst="rect">
            <a:avLst/>
          </a:prstGeom>
          <a:solidFill>
            <a:srgbClr val="1613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3657" y="5424617"/>
            <a:ext cx="1087396" cy="1087394"/>
          </a:xfrm>
          <a:prstGeom prst="rect">
            <a:avLst/>
          </a:prstGeom>
        </p:spPr>
      </p:pic>
      <p:pic>
        <p:nvPicPr>
          <p:cNvPr id="15" name="Image 1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72489" y="4092210"/>
            <a:ext cx="5796349" cy="912925"/>
          </a:xfrm>
          <a:prstGeom prst="rect">
            <a:avLst/>
          </a:prstGeom>
          <a:effectLst/>
        </p:spPr>
      </p:pic>
      <p:cxnSp>
        <p:nvCxnSpPr>
          <p:cNvPr id="16" name="Connecteur droit 15"/>
          <p:cNvCxnSpPr/>
          <p:nvPr>
            <p:custDataLst>
              <p:tags r:id="rId5"/>
            </p:custDataLst>
          </p:nvPr>
        </p:nvCxnSpPr>
        <p:spPr>
          <a:xfrm flipV="1">
            <a:off x="948134" y="1287517"/>
            <a:ext cx="10295732" cy="1000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re 7"/>
          <p:cNvSpPr>
            <a:spLocks noGrp="1"/>
          </p:cNvSpPr>
          <p:nvPr>
            <p:ph type="title"/>
          </p:nvPr>
        </p:nvSpPr>
        <p:spPr>
          <a:xfrm>
            <a:off x="430306" y="87042"/>
            <a:ext cx="11672047" cy="1102626"/>
          </a:xfrm>
        </p:spPr>
        <p:txBody>
          <a:bodyPr>
            <a:normAutofit/>
          </a:bodyPr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2. Le taux de ré-achat</a:t>
            </a:r>
            <a:endParaRPr lang="fr-FR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Espace réservé du contenu 10"/>
          <p:cNvSpPr>
            <a:spLocks noGrp="1"/>
          </p:cNvSpPr>
          <p:nvPr>
            <p:ph type="subTitle" idx="4294967295"/>
          </p:nvPr>
        </p:nvSpPr>
        <p:spPr>
          <a:xfrm>
            <a:off x="713657" y="1330500"/>
            <a:ext cx="11056585" cy="3503594"/>
          </a:xfrm>
        </p:spPr>
        <p:txBody>
          <a:bodyPr>
            <a:normAutofit/>
          </a:bodyPr>
          <a:lstStyle/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Le taux de ré-achat correspond au pourcentage de clients ayant procédé (au moins) à un nouvel achat sur une période donnée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Indicateur de la fidélité comportementale 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Comment le calculer ?</a:t>
            </a:r>
          </a:p>
          <a:p>
            <a:pPr marL="0" indent="0">
              <a:buNone/>
            </a:pPr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	(Clients ayant racheté au moins une fois sur la période / total de clients 	sur la période ) X 100</a:t>
            </a:r>
          </a:p>
          <a:p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94202" y="5595521"/>
            <a:ext cx="5797798" cy="914479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713656" y="4661999"/>
            <a:ext cx="1105658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/>
            <a:endParaRPr lang="fr-FR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1068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>
            <p:custDataLst>
              <p:tags r:id="rId2"/>
            </p:custDataLst>
          </p:nvPr>
        </p:nvSpPr>
        <p:spPr>
          <a:xfrm>
            <a:off x="1" y="5620314"/>
            <a:ext cx="12194168" cy="889686"/>
          </a:xfrm>
          <a:prstGeom prst="rect">
            <a:avLst/>
          </a:prstGeom>
          <a:solidFill>
            <a:srgbClr val="1613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9620" y="5458225"/>
            <a:ext cx="1087396" cy="1087394"/>
          </a:xfrm>
          <a:prstGeom prst="rect">
            <a:avLst/>
          </a:prstGeom>
        </p:spPr>
      </p:pic>
      <p:pic>
        <p:nvPicPr>
          <p:cNvPr id="15" name="Image 1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72489" y="4092210"/>
            <a:ext cx="5796349" cy="912925"/>
          </a:xfrm>
          <a:prstGeom prst="rect">
            <a:avLst/>
          </a:prstGeom>
          <a:effectLst/>
        </p:spPr>
      </p:pic>
      <p:cxnSp>
        <p:nvCxnSpPr>
          <p:cNvPr id="16" name="Connecteur droit 15"/>
          <p:cNvCxnSpPr/>
          <p:nvPr>
            <p:custDataLst>
              <p:tags r:id="rId5"/>
            </p:custDataLst>
          </p:nvPr>
        </p:nvCxnSpPr>
        <p:spPr>
          <a:xfrm flipV="1">
            <a:off x="948134" y="676343"/>
            <a:ext cx="10295732" cy="1000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re 7"/>
          <p:cNvSpPr>
            <a:spLocks noGrp="1"/>
          </p:cNvSpPr>
          <p:nvPr>
            <p:ph type="title"/>
          </p:nvPr>
        </p:nvSpPr>
        <p:spPr>
          <a:xfrm>
            <a:off x="999285" y="87042"/>
            <a:ext cx="10058400" cy="603441"/>
          </a:xfrm>
        </p:spPr>
        <p:txBody>
          <a:bodyPr>
            <a:normAutofit fontScale="90000"/>
          </a:bodyPr>
          <a:lstStyle/>
          <a:p>
            <a:r>
              <a:rPr lang="fr-FR" dirty="0"/>
              <a:t>3. L’indicateur NPS (Net Promoter Score)</a:t>
            </a:r>
            <a:endParaRPr lang="fr-FR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Espace réservé du contenu 10"/>
          <p:cNvSpPr>
            <a:spLocks noGrp="1"/>
          </p:cNvSpPr>
          <p:nvPr>
            <p:ph type="subTitle" idx="4294967295"/>
          </p:nvPr>
        </p:nvSpPr>
        <p:spPr>
          <a:xfrm>
            <a:off x="638861" y="756870"/>
            <a:ext cx="11510682" cy="4842789"/>
          </a:xfrm>
        </p:spPr>
        <p:txBody>
          <a:bodyPr>
            <a:noAutofit/>
          </a:bodyPr>
          <a:lstStyle/>
          <a:p>
            <a:pPr lvl="1"/>
            <a:r>
              <a:rPr lang="fr-FR" sz="2600" dirty="0"/>
              <a:t>Le NPS mesure le ROI de la qualité de la relation client</a:t>
            </a:r>
          </a:p>
          <a:p>
            <a:pPr lvl="1"/>
            <a:endParaRPr lang="fr-FR" sz="2600" dirty="0"/>
          </a:p>
          <a:p>
            <a:pPr lvl="1"/>
            <a:r>
              <a:rPr lang="fr-FR" sz="2600" dirty="0"/>
              <a:t>C’est la part de clients susceptibles de recommander, ou au contraire de déconseiller un produit, un service ou une marque</a:t>
            </a:r>
          </a:p>
          <a:p>
            <a:pPr lvl="1"/>
            <a:endParaRPr lang="fr-FR" sz="2600" dirty="0"/>
          </a:p>
          <a:p>
            <a:pPr lvl="1"/>
            <a:r>
              <a:rPr lang="fr-FR" sz="2600" dirty="0"/>
              <a:t>Cet indicateur permet de déterminer leur niveau de fidélisation : un client ambassadeur est un client fidèle à la marque</a:t>
            </a:r>
          </a:p>
          <a:p>
            <a:pPr marL="457200" lvl="1" indent="0">
              <a:buNone/>
            </a:pPr>
            <a:endParaRPr lang="fr-FR" sz="2600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94202" y="5595521"/>
            <a:ext cx="5797798" cy="91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220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>
            <p:custDataLst>
              <p:tags r:id="rId2"/>
            </p:custDataLst>
          </p:nvPr>
        </p:nvSpPr>
        <p:spPr>
          <a:xfrm>
            <a:off x="1" y="5620314"/>
            <a:ext cx="12194168" cy="889686"/>
          </a:xfrm>
          <a:prstGeom prst="rect">
            <a:avLst/>
          </a:prstGeom>
          <a:solidFill>
            <a:srgbClr val="1613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9620" y="5458225"/>
            <a:ext cx="1087396" cy="1087394"/>
          </a:xfrm>
          <a:prstGeom prst="rect">
            <a:avLst/>
          </a:prstGeom>
        </p:spPr>
      </p:pic>
      <p:pic>
        <p:nvPicPr>
          <p:cNvPr id="15" name="Image 1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72489" y="4092210"/>
            <a:ext cx="5796349" cy="912925"/>
          </a:xfrm>
          <a:prstGeom prst="rect">
            <a:avLst/>
          </a:prstGeom>
          <a:effectLst/>
        </p:spPr>
      </p:pic>
      <p:cxnSp>
        <p:nvCxnSpPr>
          <p:cNvPr id="16" name="Connecteur droit 15"/>
          <p:cNvCxnSpPr/>
          <p:nvPr>
            <p:custDataLst>
              <p:tags r:id="rId5"/>
            </p:custDataLst>
          </p:nvPr>
        </p:nvCxnSpPr>
        <p:spPr>
          <a:xfrm flipV="1">
            <a:off x="948134" y="676343"/>
            <a:ext cx="10295732" cy="1000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re 7"/>
          <p:cNvSpPr>
            <a:spLocks noGrp="1"/>
          </p:cNvSpPr>
          <p:nvPr>
            <p:ph type="title"/>
          </p:nvPr>
        </p:nvSpPr>
        <p:spPr>
          <a:xfrm>
            <a:off x="999285" y="87042"/>
            <a:ext cx="10058400" cy="603441"/>
          </a:xfrm>
        </p:spPr>
        <p:txBody>
          <a:bodyPr>
            <a:normAutofit fontScale="90000"/>
          </a:bodyPr>
          <a:lstStyle/>
          <a:p>
            <a:r>
              <a:rPr lang="fr-FR" dirty="0"/>
              <a:t>2. L’indicateur NPS (Net Promoter Score)</a:t>
            </a:r>
            <a:endParaRPr lang="fr-FR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Espace réservé du contenu 10"/>
          <p:cNvSpPr>
            <a:spLocks noGrp="1"/>
          </p:cNvSpPr>
          <p:nvPr>
            <p:ph type="subTitle" idx="4294967295"/>
          </p:nvPr>
        </p:nvSpPr>
        <p:spPr>
          <a:xfrm>
            <a:off x="638861" y="756870"/>
            <a:ext cx="11510682" cy="4842789"/>
          </a:xfrm>
        </p:spPr>
        <p:txBody>
          <a:bodyPr>
            <a:noAutofit/>
          </a:bodyPr>
          <a:lstStyle/>
          <a:p>
            <a:pPr lvl="1"/>
            <a:r>
              <a:rPr lang="fr-FR" b="1" dirty="0"/>
              <a:t>Comment mesurer le NPS ?</a:t>
            </a:r>
          </a:p>
          <a:p>
            <a:pPr lvl="2"/>
            <a:r>
              <a:rPr lang="fr-FR" sz="2400" dirty="0"/>
              <a:t>Une enquête par questionnaire qui comporte une échelle de 0 (pas du tout probable) à 10 (très probable) qui mesure la probabilité de promouvoir (ou pas) une marque auprès de son entourage</a:t>
            </a:r>
          </a:p>
          <a:p>
            <a:pPr lvl="2"/>
            <a:r>
              <a:rPr lang="fr-FR" sz="2400" dirty="0"/>
              <a:t>Les résultats identifient trois types de clients : 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94202" y="5595521"/>
            <a:ext cx="5797798" cy="914479"/>
          </a:xfrm>
          <a:prstGeom prst="rect">
            <a:avLst/>
          </a:prstGeom>
        </p:spPr>
      </p:pic>
      <p:pic>
        <p:nvPicPr>
          <p:cNvPr id="2050" name="Picture 2" descr="Net Promoter Score - calcul et application - CheckMarket">
            <a:extLst>
              <a:ext uri="{FF2B5EF4-FFF2-40B4-BE49-F238E27FC236}">
                <a16:creationId xmlns:a16="http://schemas.microsoft.com/office/drawing/2014/main" id="{7B102AB4-9F97-4CF0-98CF-9BC1D7B242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168540" y="2882900"/>
            <a:ext cx="7294803" cy="3627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3134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>
            <p:custDataLst>
              <p:tags r:id="rId2"/>
            </p:custDataLst>
          </p:nvPr>
        </p:nvSpPr>
        <p:spPr>
          <a:xfrm>
            <a:off x="1" y="5620314"/>
            <a:ext cx="12194168" cy="889686"/>
          </a:xfrm>
          <a:prstGeom prst="rect">
            <a:avLst/>
          </a:prstGeom>
          <a:solidFill>
            <a:srgbClr val="1613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9620" y="5458225"/>
            <a:ext cx="1087396" cy="1087394"/>
          </a:xfrm>
          <a:prstGeom prst="rect">
            <a:avLst/>
          </a:prstGeom>
        </p:spPr>
      </p:pic>
      <p:pic>
        <p:nvPicPr>
          <p:cNvPr id="15" name="Image 1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72489" y="4092210"/>
            <a:ext cx="5796349" cy="912925"/>
          </a:xfrm>
          <a:prstGeom prst="rect">
            <a:avLst/>
          </a:prstGeom>
          <a:effectLst/>
        </p:spPr>
      </p:pic>
      <p:cxnSp>
        <p:nvCxnSpPr>
          <p:cNvPr id="16" name="Connecteur droit 15"/>
          <p:cNvCxnSpPr/>
          <p:nvPr>
            <p:custDataLst>
              <p:tags r:id="rId5"/>
            </p:custDataLst>
          </p:nvPr>
        </p:nvCxnSpPr>
        <p:spPr>
          <a:xfrm flipV="1">
            <a:off x="948134" y="676343"/>
            <a:ext cx="10295732" cy="1000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re 7"/>
          <p:cNvSpPr>
            <a:spLocks noGrp="1"/>
          </p:cNvSpPr>
          <p:nvPr>
            <p:ph type="title"/>
          </p:nvPr>
        </p:nvSpPr>
        <p:spPr>
          <a:xfrm>
            <a:off x="999285" y="87042"/>
            <a:ext cx="10058400" cy="603441"/>
          </a:xfrm>
        </p:spPr>
        <p:txBody>
          <a:bodyPr>
            <a:normAutofit fontScale="90000"/>
          </a:bodyPr>
          <a:lstStyle/>
          <a:p>
            <a:r>
              <a:rPr lang="fr-FR" dirty="0"/>
              <a:t>2. L’indicateur NPS (Net Promoter Score)</a:t>
            </a:r>
            <a:endParaRPr lang="fr-FR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Espace réservé du contenu 10"/>
          <p:cNvSpPr>
            <a:spLocks noGrp="1"/>
          </p:cNvSpPr>
          <p:nvPr>
            <p:ph type="subTitle" idx="4294967295"/>
          </p:nvPr>
        </p:nvSpPr>
        <p:spPr>
          <a:xfrm>
            <a:off x="638861" y="756870"/>
            <a:ext cx="11510682" cy="4842789"/>
          </a:xfrm>
        </p:spPr>
        <p:txBody>
          <a:bodyPr>
            <a:noAutofit/>
          </a:bodyPr>
          <a:lstStyle/>
          <a:p>
            <a:pPr lvl="1"/>
            <a:r>
              <a:rPr lang="fr-FR" b="1" dirty="0"/>
              <a:t>Comment calculer le NPS ?</a:t>
            </a:r>
          </a:p>
          <a:p>
            <a:pPr lvl="2"/>
            <a:r>
              <a:rPr lang="fr-FR" sz="2400" dirty="0"/>
              <a:t>NPS = % promoteurs - % détracteurs</a:t>
            </a:r>
          </a:p>
          <a:p>
            <a:pPr lvl="3"/>
            <a:r>
              <a:rPr lang="fr-FR" sz="2400" dirty="0"/>
              <a:t>Score souvent négatif</a:t>
            </a:r>
          </a:p>
          <a:p>
            <a:pPr lvl="3"/>
            <a:r>
              <a:rPr lang="fr-FR" sz="2400" dirty="0"/>
              <a:t>A partir de 50, le score est considéré comme bon</a:t>
            </a:r>
          </a:p>
          <a:p>
            <a:pPr lvl="3"/>
            <a:r>
              <a:rPr lang="fr-FR" sz="2400" dirty="0"/>
              <a:t>Amazon: environ 75%</a:t>
            </a:r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r>
              <a:rPr lang="fr-FR" dirty="0"/>
              <a:t>Les clients passifs correspondent à des clients neutres. La satisfaction est présente mais l'enthousiasme des promoteurs n'est pas encore présent</a:t>
            </a:r>
          </a:p>
          <a:p>
            <a:pPr lvl="1"/>
            <a:r>
              <a:rPr lang="fr-FR" dirty="0"/>
              <a:t>Les passifs sont les plus vulnérables à la concurrence et également difficiles à convertir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94202" y="5595521"/>
            <a:ext cx="5797798" cy="914479"/>
          </a:xfrm>
          <a:prstGeom prst="rect">
            <a:avLst/>
          </a:prstGeom>
        </p:spPr>
      </p:pic>
      <p:pic>
        <p:nvPicPr>
          <p:cNvPr id="3074" name="Picture 2" descr="Amazon est-il responsable des produits vendus sur sa plateforme ? - Germain  Maureau">
            <a:extLst>
              <a:ext uri="{FF2B5EF4-FFF2-40B4-BE49-F238E27FC236}">
                <a16:creationId xmlns:a16="http://schemas.microsoft.com/office/drawing/2014/main" id="{81AC05C3-95E0-42AC-800C-00657F02C1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768600" y="2059821"/>
            <a:ext cx="5550400" cy="2333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962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>
            <p:custDataLst>
              <p:tags r:id="rId2"/>
            </p:custDataLst>
          </p:nvPr>
        </p:nvSpPr>
        <p:spPr>
          <a:xfrm>
            <a:off x="1" y="5620314"/>
            <a:ext cx="12194168" cy="889686"/>
          </a:xfrm>
          <a:prstGeom prst="rect">
            <a:avLst/>
          </a:prstGeom>
          <a:solidFill>
            <a:srgbClr val="1613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3526" y="5509063"/>
            <a:ext cx="1087396" cy="1087394"/>
          </a:xfrm>
          <a:prstGeom prst="rect">
            <a:avLst/>
          </a:prstGeom>
        </p:spPr>
      </p:pic>
      <p:pic>
        <p:nvPicPr>
          <p:cNvPr id="15" name="Image 1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72489" y="4092210"/>
            <a:ext cx="5796349" cy="912925"/>
          </a:xfrm>
          <a:prstGeom prst="rect">
            <a:avLst/>
          </a:prstGeom>
          <a:effectLst/>
        </p:spPr>
      </p:pic>
      <p:cxnSp>
        <p:nvCxnSpPr>
          <p:cNvPr id="16" name="Connecteur droit 15"/>
          <p:cNvCxnSpPr/>
          <p:nvPr>
            <p:custDataLst>
              <p:tags r:id="rId5"/>
            </p:custDataLst>
          </p:nvPr>
        </p:nvCxnSpPr>
        <p:spPr>
          <a:xfrm flipV="1">
            <a:off x="948134" y="1287517"/>
            <a:ext cx="10295732" cy="1000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re 7"/>
          <p:cNvSpPr>
            <a:spLocks noGrp="1"/>
          </p:cNvSpPr>
          <p:nvPr>
            <p:ph type="title"/>
          </p:nvPr>
        </p:nvSpPr>
        <p:spPr>
          <a:xfrm>
            <a:off x="999285" y="87042"/>
            <a:ext cx="10058400" cy="1102626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prstClr val="black"/>
                </a:solidFill>
                <a:latin typeface="Calibri" panose="020F0502020204030204"/>
              </a:rPr>
              <a:t>2. L’indicateur Customer Effort Score (CES)</a:t>
            </a:r>
            <a:endParaRPr lang="fr-FR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Espace réservé du contenu 10"/>
          <p:cNvSpPr>
            <a:spLocks noGrp="1"/>
          </p:cNvSpPr>
          <p:nvPr>
            <p:ph type="subTitle" idx="4294967295"/>
          </p:nvPr>
        </p:nvSpPr>
        <p:spPr>
          <a:xfrm>
            <a:off x="948134" y="1298238"/>
            <a:ext cx="11243866" cy="4322075"/>
          </a:xfrm>
        </p:spPr>
        <p:txBody>
          <a:bodyPr>
            <a:noAutofit/>
          </a:bodyPr>
          <a:lstStyle/>
          <a:p>
            <a:r>
              <a:rPr lang="fr-FR" sz="2500" dirty="0"/>
              <a:t>Indicateur de satisfaction client à travers l’effort que le client doit fournir dans son expérience de la marque </a:t>
            </a:r>
          </a:p>
          <a:p>
            <a:endParaRPr lang="fr-FR" sz="2500" dirty="0"/>
          </a:p>
          <a:p>
            <a:pPr marL="285750" indent="-285750"/>
            <a:r>
              <a:rPr lang="fr-FR" sz="2500" dirty="0"/>
              <a:t>Si l’indicateur CES permet de mesurer la fidélité, c’est parce que l’effort fourni par le client est déterminant dans sa fidélisation </a:t>
            </a:r>
          </a:p>
          <a:p>
            <a:pPr marL="285750" indent="-285750"/>
            <a:r>
              <a:rPr lang="fr-FR" sz="2500" dirty="0"/>
              <a:t>Moins l’effort est important, plus la probabilité pour que l’achat soit renouvelé est élevé (et inversement)</a:t>
            </a:r>
          </a:p>
          <a:p>
            <a:pPr marL="0" indent="0">
              <a:buNone/>
            </a:pPr>
            <a:endParaRPr lang="fr-FR" sz="2500" dirty="0"/>
          </a:p>
          <a:p>
            <a:pPr marL="742950" lvl="1" indent="-285750"/>
            <a:r>
              <a:rPr lang="fr-FR" sz="2500" dirty="0"/>
              <a:t>Par exemple: 94% des clients dont les efforts pour finaliser l’achat ont été faibles sont prêts à renouveler leur achat</a:t>
            </a:r>
          </a:p>
          <a:p>
            <a:pPr>
              <a:buFont typeface="Wingdings" panose="05000000000000000000" pitchFamily="2" charset="2"/>
              <a:buChar char="§"/>
            </a:pPr>
            <a:endParaRPr lang="fr-FR" sz="2200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94202" y="5595521"/>
            <a:ext cx="5797798" cy="91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916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>
            <p:custDataLst>
              <p:tags r:id="rId2"/>
            </p:custDataLst>
          </p:nvPr>
        </p:nvSpPr>
        <p:spPr>
          <a:xfrm>
            <a:off x="1" y="5620314"/>
            <a:ext cx="12194168" cy="889686"/>
          </a:xfrm>
          <a:prstGeom prst="rect">
            <a:avLst/>
          </a:prstGeom>
          <a:solidFill>
            <a:srgbClr val="1613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3526" y="5509063"/>
            <a:ext cx="1087396" cy="1087394"/>
          </a:xfrm>
          <a:prstGeom prst="rect">
            <a:avLst/>
          </a:prstGeom>
        </p:spPr>
      </p:pic>
      <p:pic>
        <p:nvPicPr>
          <p:cNvPr id="15" name="Image 1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72489" y="4092210"/>
            <a:ext cx="5796349" cy="912925"/>
          </a:xfrm>
          <a:prstGeom prst="rect">
            <a:avLst/>
          </a:prstGeom>
          <a:effectLst/>
        </p:spPr>
      </p:pic>
      <p:cxnSp>
        <p:nvCxnSpPr>
          <p:cNvPr id="16" name="Connecteur droit 15"/>
          <p:cNvCxnSpPr/>
          <p:nvPr>
            <p:custDataLst>
              <p:tags r:id="rId5"/>
            </p:custDataLst>
          </p:nvPr>
        </p:nvCxnSpPr>
        <p:spPr>
          <a:xfrm flipV="1">
            <a:off x="948134" y="1287517"/>
            <a:ext cx="10295732" cy="1000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re 7"/>
          <p:cNvSpPr>
            <a:spLocks noGrp="1"/>
          </p:cNvSpPr>
          <p:nvPr>
            <p:ph type="title"/>
          </p:nvPr>
        </p:nvSpPr>
        <p:spPr>
          <a:xfrm>
            <a:off x="999285" y="87042"/>
            <a:ext cx="10058400" cy="1102626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prstClr val="black"/>
                </a:solidFill>
                <a:latin typeface="Calibri" panose="020F0502020204030204"/>
              </a:rPr>
              <a:t>2. L’indicateur Customer Effort Score (CES)</a:t>
            </a:r>
            <a:endParaRPr lang="fr-FR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Espace réservé du contenu 10"/>
          <p:cNvSpPr>
            <a:spLocks noGrp="1"/>
          </p:cNvSpPr>
          <p:nvPr>
            <p:ph type="subTitle" idx="4294967295"/>
          </p:nvPr>
        </p:nvSpPr>
        <p:spPr>
          <a:xfrm>
            <a:off x="948134" y="1298238"/>
            <a:ext cx="11243866" cy="4322075"/>
          </a:xfrm>
        </p:spPr>
        <p:txBody>
          <a:bodyPr>
            <a:noAutofit/>
          </a:bodyPr>
          <a:lstStyle/>
          <a:p>
            <a:r>
              <a:rPr lang="fr-FR" sz="2600" b="1" dirty="0"/>
              <a:t>Comment le mesurer ?</a:t>
            </a:r>
          </a:p>
          <a:p>
            <a:r>
              <a:rPr lang="fr-FR" sz="2600" dirty="0"/>
              <a:t>Les clients sont invités à évaluer sur une échelle de 1 à 5 ou à 7, l’effort demandé pour obtenir la satisfaction de la part de l’entreprise (lors d’un achat, lors du traitement d’une réclamation, etc.) (1= niveau d’effort faible et 5 = niveau d’effort élevé)</a:t>
            </a:r>
          </a:p>
          <a:p>
            <a:endParaRPr lang="fr-FR" sz="2600" dirty="0"/>
          </a:p>
          <a:p>
            <a:r>
              <a:rPr lang="fr-FR" sz="2600" dirty="0"/>
              <a:t>Construire une moyenne: plus le score sera élevé, plus l’effort fourni sera important</a:t>
            </a:r>
          </a:p>
          <a:p>
            <a:pPr>
              <a:buFont typeface="Wingdings" panose="05000000000000000000" pitchFamily="2" charset="2"/>
              <a:buChar char="§"/>
            </a:pPr>
            <a:endParaRPr lang="fr-FR" sz="2200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94202" y="5595521"/>
            <a:ext cx="5797798" cy="914479"/>
          </a:xfrm>
          <a:prstGeom prst="rect">
            <a:avLst/>
          </a:prstGeom>
        </p:spPr>
      </p:pic>
      <p:pic>
        <p:nvPicPr>
          <p:cNvPr id="10" name="Picture 2" descr="What is a Customer Effort Score? - SurveySensum">
            <a:extLst>
              <a:ext uri="{FF2B5EF4-FFF2-40B4-BE49-F238E27FC236}">
                <a16:creationId xmlns:a16="http://schemas.microsoft.com/office/drawing/2014/main" id="{AC5B6D03-853A-4B90-B6F7-9641BEFC75F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8188655" y="4258101"/>
            <a:ext cx="4039736" cy="2646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0405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8138</TotalTime>
  <Words>1492</Words>
  <Application>Microsoft Office PowerPoint</Application>
  <PresentationFormat>Grand écran</PresentationFormat>
  <Paragraphs>166</Paragraphs>
  <Slides>25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25</vt:i4>
      </vt:variant>
    </vt:vector>
  </HeadingPairs>
  <TitlesOfParts>
    <vt:vector size="31" baseType="lpstr">
      <vt:lpstr>Arial</vt:lpstr>
      <vt:lpstr>Calibri</vt:lpstr>
      <vt:lpstr>Calibri Light</vt:lpstr>
      <vt:lpstr>Helvetica Neue</vt:lpstr>
      <vt:lpstr>Wingdings</vt:lpstr>
      <vt:lpstr>Thème Office</vt:lpstr>
      <vt:lpstr>Session 5: L’efficacité des programmes de relation client</vt:lpstr>
      <vt:lpstr>Introduction </vt:lpstr>
      <vt:lpstr>Plan de la séance</vt:lpstr>
      <vt:lpstr>1. Définition d’un programme de fidélisation</vt:lpstr>
      <vt:lpstr>1. Les objectifs d’un programme de fidélisation</vt:lpstr>
      <vt:lpstr>1. Les objectifs d’un programme de fidélisation</vt:lpstr>
      <vt:lpstr>1. Les cibles d’un programme de fidélisation</vt:lpstr>
      <vt:lpstr>1. Les grands principes d’un programme de fidélisation (source Mercator)</vt:lpstr>
      <vt:lpstr>1. Les grands principes d’un programme de fidélisation (source Mercator)</vt:lpstr>
      <vt:lpstr>1. Les grands principes d’un programme de fidélisation (source Mercator)</vt:lpstr>
      <vt:lpstr>1. Les grands principes d’un programme de fidélisation (source Mercator)</vt:lpstr>
      <vt:lpstr>1. Quelques outils d’un programme de fidélisation</vt:lpstr>
      <vt:lpstr>1. Quelques outils d’un programme de fidélisation</vt:lpstr>
      <vt:lpstr>1. Quelques outils d’un programme de fidélisation</vt:lpstr>
      <vt:lpstr>1. Quelques outils d’un programme de fidélisation</vt:lpstr>
      <vt:lpstr>1. Quelques outils d’un programme de fidélisation</vt:lpstr>
      <vt:lpstr>2. La mesure de l’efficacité d’un programme de fidélité</vt:lpstr>
      <vt:lpstr>2. Le taux de rétention</vt:lpstr>
      <vt:lpstr>2. Le taux de rétention</vt:lpstr>
      <vt:lpstr>2. Le taux de ré-achat</vt:lpstr>
      <vt:lpstr>3. L’indicateur NPS (Net Promoter Score)</vt:lpstr>
      <vt:lpstr>2. L’indicateur NPS (Net Promoter Score)</vt:lpstr>
      <vt:lpstr>2. L’indicateur NPS (Net Promoter Score)</vt:lpstr>
      <vt:lpstr>2. L’indicateur Customer Effort Score (CES)</vt:lpstr>
      <vt:lpstr>2. L’indicateur Customer Effort Score (CES)</vt:lpstr>
    </vt:vector>
  </TitlesOfParts>
  <Company>Ecole de Management de Normandie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5:</dc:title>
  <dc:creator>BELAID Samy</dc:creator>
  <cp:lastModifiedBy>BELAID Samy</cp:lastModifiedBy>
  <cp:revision>326</cp:revision>
  <dcterms:created xsi:type="dcterms:W3CDTF">2020-11-04T13:25:05Z</dcterms:created>
  <dcterms:modified xsi:type="dcterms:W3CDTF">2025-11-19T10:48:49Z</dcterms:modified>
</cp:coreProperties>
</file>