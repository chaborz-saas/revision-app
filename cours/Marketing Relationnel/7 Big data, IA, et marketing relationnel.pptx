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hOcrZzNsHij4Mz7NiG/YivkrCs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customschemas.google.com/relationships/presentationmetadata" Target="meta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AID Samy" userId="736cc5f9-46a0-4af7-bed7-d2831b5f1024" providerId="ADAL" clId="{3915C4EE-BA9F-4856-96A7-4460C4FDF735}"/>
    <pc:docChg chg="custSel modSld">
      <pc:chgData name="BELAID Samy" userId="736cc5f9-46a0-4af7-bed7-d2831b5f1024" providerId="ADAL" clId="{3915C4EE-BA9F-4856-96A7-4460C4FDF735}" dt="2025-10-13T08:59:23.534" v="34" actId="113"/>
      <pc:docMkLst>
        <pc:docMk/>
      </pc:docMkLst>
      <pc:sldChg chg="modSp mod">
        <pc:chgData name="BELAID Samy" userId="736cc5f9-46a0-4af7-bed7-d2831b5f1024" providerId="ADAL" clId="{3915C4EE-BA9F-4856-96A7-4460C4FDF735}" dt="2025-10-13T08:55:27.921" v="4" actId="113"/>
        <pc:sldMkLst>
          <pc:docMk/>
          <pc:sldMk cId="0" sldId="259"/>
        </pc:sldMkLst>
        <pc:spChg chg="mod">
          <ac:chgData name="BELAID Samy" userId="736cc5f9-46a0-4af7-bed7-d2831b5f1024" providerId="ADAL" clId="{3915C4EE-BA9F-4856-96A7-4460C4FDF735}" dt="2025-10-13T08:55:27.921" v="4" actId="113"/>
          <ac:spMkLst>
            <pc:docMk/>
            <pc:sldMk cId="0" sldId="259"/>
            <ac:spMk id="93" creationId="{00000000-0000-0000-0000-000000000000}"/>
          </ac:spMkLst>
        </pc:spChg>
      </pc:sldChg>
      <pc:sldChg chg="modSp mod">
        <pc:chgData name="BELAID Samy" userId="736cc5f9-46a0-4af7-bed7-d2831b5f1024" providerId="ADAL" clId="{3915C4EE-BA9F-4856-96A7-4460C4FDF735}" dt="2025-10-13T08:55:52.875" v="10" actId="113"/>
        <pc:sldMkLst>
          <pc:docMk/>
          <pc:sldMk cId="0" sldId="260"/>
        </pc:sldMkLst>
        <pc:spChg chg="mod">
          <ac:chgData name="BELAID Samy" userId="736cc5f9-46a0-4af7-bed7-d2831b5f1024" providerId="ADAL" clId="{3915C4EE-BA9F-4856-96A7-4460C4FDF735}" dt="2025-10-13T08:55:52.875" v="10" actId="113"/>
          <ac:spMkLst>
            <pc:docMk/>
            <pc:sldMk cId="0" sldId="260"/>
            <ac:spMk id="100" creationId="{00000000-0000-0000-0000-000000000000}"/>
          </ac:spMkLst>
        </pc:spChg>
      </pc:sldChg>
      <pc:sldChg chg="modSp mod">
        <pc:chgData name="BELAID Samy" userId="736cc5f9-46a0-4af7-bed7-d2831b5f1024" providerId="ADAL" clId="{3915C4EE-BA9F-4856-96A7-4460C4FDF735}" dt="2025-10-13T08:58:02.592" v="21" actId="12"/>
        <pc:sldMkLst>
          <pc:docMk/>
          <pc:sldMk cId="0" sldId="263"/>
        </pc:sldMkLst>
        <pc:spChg chg="mod">
          <ac:chgData name="BELAID Samy" userId="736cc5f9-46a0-4af7-bed7-d2831b5f1024" providerId="ADAL" clId="{3915C4EE-BA9F-4856-96A7-4460C4FDF735}" dt="2025-10-13T08:58:02.592" v="21" actId="12"/>
          <ac:spMkLst>
            <pc:docMk/>
            <pc:sldMk cId="0" sldId="263"/>
            <ac:spMk id="123" creationId="{00000000-0000-0000-0000-000000000000}"/>
          </ac:spMkLst>
        </pc:spChg>
      </pc:sldChg>
      <pc:sldChg chg="modSp mod">
        <pc:chgData name="BELAID Samy" userId="736cc5f9-46a0-4af7-bed7-d2831b5f1024" providerId="ADAL" clId="{3915C4EE-BA9F-4856-96A7-4460C4FDF735}" dt="2025-10-13T08:58:46.137" v="28" actId="113"/>
        <pc:sldMkLst>
          <pc:docMk/>
          <pc:sldMk cId="0" sldId="266"/>
        </pc:sldMkLst>
        <pc:spChg chg="mod">
          <ac:chgData name="BELAID Samy" userId="736cc5f9-46a0-4af7-bed7-d2831b5f1024" providerId="ADAL" clId="{3915C4EE-BA9F-4856-96A7-4460C4FDF735}" dt="2025-10-13T08:58:46.137" v="28" actId="113"/>
          <ac:spMkLst>
            <pc:docMk/>
            <pc:sldMk cId="0" sldId="266"/>
            <ac:spMk id="144" creationId="{00000000-0000-0000-0000-000000000000}"/>
          </ac:spMkLst>
        </pc:spChg>
      </pc:sldChg>
      <pc:sldChg chg="modSp mod">
        <pc:chgData name="BELAID Samy" userId="736cc5f9-46a0-4af7-bed7-d2831b5f1024" providerId="ADAL" clId="{3915C4EE-BA9F-4856-96A7-4460C4FDF735}" dt="2025-10-13T08:59:23.534" v="34" actId="113"/>
        <pc:sldMkLst>
          <pc:docMk/>
          <pc:sldMk cId="0" sldId="268"/>
        </pc:sldMkLst>
        <pc:spChg chg="mod">
          <ac:chgData name="BELAID Samy" userId="736cc5f9-46a0-4af7-bed7-d2831b5f1024" providerId="ADAL" clId="{3915C4EE-BA9F-4856-96A7-4460C4FDF735}" dt="2025-10-13T08:59:23.534" v="34" actId="113"/>
          <ac:spMkLst>
            <pc:docMk/>
            <pc:sldMk cId="0" sldId="268"/>
            <ac:spMk id="157" creationId="{00000000-0000-0000-0000-000000000000}"/>
          </ac:spMkLst>
        </pc:spChg>
      </pc:sldChg>
      <pc:sldChg chg="modSp mod">
        <pc:chgData name="BELAID Samy" userId="736cc5f9-46a0-4af7-bed7-d2831b5f1024" providerId="ADAL" clId="{3915C4EE-BA9F-4856-96A7-4460C4FDF735}" dt="2025-10-13T08:56:47.902" v="18" actId="14100"/>
        <pc:sldMkLst>
          <pc:docMk/>
          <pc:sldMk cId="0" sldId="271"/>
        </pc:sldMkLst>
        <pc:spChg chg="mod">
          <ac:chgData name="BELAID Samy" userId="736cc5f9-46a0-4af7-bed7-d2831b5f1024" providerId="ADAL" clId="{3915C4EE-BA9F-4856-96A7-4460C4FDF735}" dt="2025-10-13T08:56:47.902" v="18" actId="14100"/>
          <ac:spMkLst>
            <pc:docMk/>
            <pc:sldMk cId="0" sldId="271"/>
            <ac:spMk id="176" creationId="{00000000-0000-0000-0000-000000000000}"/>
          </ac:spMkLst>
        </pc:spChg>
      </pc:sldChg>
      <pc:sldChg chg="delSp modSp mod">
        <pc:chgData name="BELAID Samy" userId="736cc5f9-46a0-4af7-bed7-d2831b5f1024" providerId="ADAL" clId="{3915C4EE-BA9F-4856-96A7-4460C4FDF735}" dt="2025-10-13T08:54:44.545" v="1" actId="1076"/>
        <pc:sldMkLst>
          <pc:docMk/>
          <pc:sldMk cId="0" sldId="278"/>
        </pc:sldMkLst>
        <pc:spChg chg="del">
          <ac:chgData name="BELAID Samy" userId="736cc5f9-46a0-4af7-bed7-d2831b5f1024" providerId="ADAL" clId="{3915C4EE-BA9F-4856-96A7-4460C4FDF735}" dt="2025-10-13T08:54:41.126" v="0" actId="21"/>
          <ac:spMkLst>
            <pc:docMk/>
            <pc:sldMk cId="0" sldId="278"/>
            <ac:spMk id="225" creationId="{00000000-0000-0000-0000-000000000000}"/>
          </ac:spMkLst>
        </pc:spChg>
        <pc:picChg chg="mod">
          <ac:chgData name="BELAID Samy" userId="736cc5f9-46a0-4af7-bed7-d2831b5f1024" providerId="ADAL" clId="{3915C4EE-BA9F-4856-96A7-4460C4FDF735}" dt="2025-10-13T08:54:44.545" v="1" actId="1076"/>
          <ac:picMkLst>
            <pc:docMk/>
            <pc:sldMk cId="0" sldId="278"/>
            <ac:picMk id="22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https://www.youtube.com/watch?v=-irYKSE-omA</a:t>
            </a:r>
            <a:endParaRPr/>
          </a:p>
        </p:txBody>
      </p:sp>
      <p:sp>
        <p:nvSpPr>
          <p:cNvPr id="106" name="Google Shape;106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b="1"/>
              <a:t>Exemple : Orange - Service à la clientèle amélioré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Chez Orange, l'intelligence artificielle est utilisée pour améliorer l'</a:t>
            </a:r>
            <a:r>
              <a:rPr lang="fr-FR" b="1"/>
              <a:t>efficacité </a:t>
            </a:r>
            <a:r>
              <a:rPr lang="fr-FR"/>
              <a:t>du service client tout en préservant </a:t>
            </a:r>
            <a:r>
              <a:rPr lang="fr-FR" b="1"/>
              <a:t>la qualité de l'interaction humaine</a:t>
            </a:r>
            <a:r>
              <a:rPr lang="fr-FR"/>
              <a:t>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/>
              <a:t>Un </a:t>
            </a:r>
            <a:r>
              <a:rPr lang="fr-FR" b="1"/>
              <a:t>chatbot </a:t>
            </a:r>
            <a:r>
              <a:rPr lang="fr-FR"/>
              <a:t>s'occupe des tâches de routine : vérification des factures, changement d'options, suivi des commandes.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/>
              <a:t>Lorsqu'une demande devient </a:t>
            </a:r>
            <a:r>
              <a:rPr lang="fr-FR" b="1"/>
              <a:t>émotionnelle ou complexe </a:t>
            </a:r>
            <a:r>
              <a:rPr lang="fr-FR"/>
              <a:t>(interruption de service, conflit de facturation), le système </a:t>
            </a:r>
            <a:r>
              <a:rPr lang="fr-FR" b="1"/>
              <a:t>transfère automatiquement le client </a:t>
            </a:r>
            <a:r>
              <a:rPr lang="fr-FR"/>
              <a:t>à un </a:t>
            </a:r>
            <a:r>
              <a:rPr lang="fr-FR" b="1"/>
              <a:t>conseiller humain</a:t>
            </a:r>
            <a:r>
              <a:rPr lang="fr-FR"/>
              <a:t>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/>
              <a:t>L'IA aide le conseiller en </a:t>
            </a:r>
            <a:r>
              <a:rPr lang="fr-FR" b="1"/>
              <a:t>résumant le problème</a:t>
            </a:r>
            <a:r>
              <a:rPr lang="fr-FR"/>
              <a:t>, en fournissant des données pertinentes sur le client et en suggérant des réponses adaptées.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b="1"/>
              <a:t>L'IA réduit les frictions</a:t>
            </a:r>
            <a:r>
              <a:rPr lang="fr-FR"/>
              <a:t>, tandis que l'</a:t>
            </a:r>
            <a:r>
              <a:rPr lang="fr-FR" b="1"/>
              <a:t>humain assure l'empathie, la nuance et la fidélité</a:t>
            </a:r>
            <a:r>
              <a:rPr lang="fr-FR"/>
              <a:t>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Ce système hybride illustre la façon dont l'IA peut </a:t>
            </a:r>
            <a:r>
              <a:rPr lang="fr-FR" b="1"/>
              <a:t>augmenter et non remplacer l'</a:t>
            </a:r>
            <a:r>
              <a:rPr lang="fr-FR"/>
              <a:t>intelligence humaine dans l'établissement de relations avec les clients.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Un autre exemple avec Orange</a:t>
            </a:r>
            <a:endParaRPr/>
          </a:p>
        </p:txBody>
      </p:sp>
      <p:sp>
        <p:nvSpPr>
          <p:cNvPr id="127" name="Google Shape;127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D'après cette vidéo : L'IA peut-elle aller trop loin ? Qu'en est-il de la relation avec la marque dans ce magasin ? Quels sont les avantages (réduction des frictions dans le parcours ?) et les inconvénients ?</a:t>
            </a:r>
            <a:endParaRPr/>
          </a:p>
        </p:txBody>
      </p:sp>
      <p:sp>
        <p:nvSpPr>
          <p:cNvPr id="167" name="Google Shape;167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Activité : Recherche et partage d'exemples pour chaque quadrant</a:t>
            </a:r>
            <a:endParaRPr/>
          </a:p>
        </p:txBody>
      </p:sp>
      <p:sp>
        <p:nvSpPr>
          <p:cNvPr id="174" name="Google Shape;17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3"/>
          <p:cNvSpPr txBox="1">
            <a:spLocks noGrp="1"/>
          </p:cNvSpPr>
          <p:nvPr>
            <p:ph type="body" idx="1"/>
          </p:nvPr>
        </p:nvSpPr>
        <p:spPr>
          <a:xfrm>
            <a:off x="838200" y="1223278"/>
            <a:ext cx="10515600" cy="516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/>
          </a:bodyPr>
          <a:lstStyle>
            <a:lvl1pPr marL="457200" lvl="0" indent="-406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2400"/>
              <a:buFont typeface="Noto Sans Symbols"/>
              <a:buChar char="▪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2000"/>
              <a:buFont typeface="Noto Sans Symbols"/>
              <a:buChar char="▪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1800"/>
              <a:buFont typeface="Noto Sans Symbols"/>
              <a:buChar char="▪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1800"/>
              <a:buFont typeface="Noto Sans Symbols"/>
              <a:buChar char="▪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ftr" idx="11"/>
          </p:nvPr>
        </p:nvSpPr>
        <p:spPr>
          <a:xfrm rot="-5400000">
            <a:off x="9046228" y="3312496"/>
            <a:ext cx="5943583" cy="208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3"/>
          <p:cNvSpPr/>
          <p:nvPr/>
        </p:nvSpPr>
        <p:spPr>
          <a:xfrm>
            <a:off x="0" y="6457950"/>
            <a:ext cx="12192000" cy="400050"/>
          </a:xfrm>
          <a:prstGeom prst="rect">
            <a:avLst/>
          </a:prstGeom>
          <a:solidFill>
            <a:srgbClr val="1A2B6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" name="Google Shape;18;p23"/>
          <p:cNvSpPr txBox="1"/>
          <p:nvPr/>
        </p:nvSpPr>
        <p:spPr>
          <a:xfrm>
            <a:off x="9803423" y="6527170"/>
            <a:ext cx="223990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EM Normandie Business School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3"/>
          <p:cNvSpPr txBox="1"/>
          <p:nvPr/>
        </p:nvSpPr>
        <p:spPr>
          <a:xfrm>
            <a:off x="87490" y="6538111"/>
            <a:ext cx="40732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© Tous droits réservés - All rights reserved - 2022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>
  <p:cSld name="Titre de section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B6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2" name="Google Shape;22;p27"/>
          <p:cNvSpPr txBox="1">
            <a:spLocks noGrp="1"/>
          </p:cNvSpPr>
          <p:nvPr>
            <p:ph type="title"/>
          </p:nvPr>
        </p:nvSpPr>
        <p:spPr>
          <a:xfrm>
            <a:off x="2130425" y="2496632"/>
            <a:ext cx="7918450" cy="186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7"/>
          <p:cNvSpPr txBox="1"/>
          <p:nvPr/>
        </p:nvSpPr>
        <p:spPr>
          <a:xfrm>
            <a:off x="9803423" y="6527170"/>
            <a:ext cx="223990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EM Normandie Business School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7"/>
          <p:cNvSpPr txBox="1">
            <a:spLocks noGrp="1"/>
          </p:cNvSpPr>
          <p:nvPr>
            <p:ph type="ftr" idx="11"/>
          </p:nvPr>
        </p:nvSpPr>
        <p:spPr>
          <a:xfrm rot="-5400000">
            <a:off x="9037436" y="3303704"/>
            <a:ext cx="5943583" cy="226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7"/>
          <p:cNvSpPr/>
          <p:nvPr/>
        </p:nvSpPr>
        <p:spPr>
          <a:xfrm rot="5400000" flipH="1">
            <a:off x="8042872" y="806127"/>
            <a:ext cx="185417" cy="6410739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0070C0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6" name="Google Shape;26;p27"/>
          <p:cNvSpPr txBox="1"/>
          <p:nvPr/>
        </p:nvSpPr>
        <p:spPr>
          <a:xfrm>
            <a:off x="87490" y="6538111"/>
            <a:ext cx="40732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© Tous droits réservés - All rights reserved - 2022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1"/>
          </p:nvPr>
        </p:nvSpPr>
        <p:spPr>
          <a:xfrm>
            <a:off x="838200" y="1137272"/>
            <a:ext cx="5181600" cy="5251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2400"/>
              <a:buFont typeface="Noto Sans Symbols"/>
              <a:buChar char="▪"/>
              <a:defRPr sz="2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2000"/>
              <a:buFont typeface="Noto Sans Symbols"/>
              <a:buChar char="▪"/>
              <a:defRPr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1600"/>
              <a:buFont typeface="Noto Sans Symbols"/>
              <a:buChar char="▪"/>
              <a:defRPr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8"/>
          <p:cNvSpPr txBox="1">
            <a:spLocks noGrp="1"/>
          </p:cNvSpPr>
          <p:nvPr>
            <p:ph type="body" idx="2"/>
          </p:nvPr>
        </p:nvSpPr>
        <p:spPr>
          <a:xfrm>
            <a:off x="6172200" y="1137273"/>
            <a:ext cx="5181600" cy="525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2400"/>
              <a:buFont typeface="Noto Sans Symbols"/>
              <a:buChar char="▪"/>
              <a:defRPr sz="2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2000"/>
              <a:buFont typeface="Noto Sans Symbols"/>
              <a:buChar char="▪"/>
              <a:defRPr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1600"/>
              <a:buFont typeface="Noto Sans Symbols"/>
              <a:buChar char="▪"/>
              <a:defRPr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ftr" idx="11"/>
          </p:nvPr>
        </p:nvSpPr>
        <p:spPr>
          <a:xfrm rot="-5400000">
            <a:off x="9033039" y="3299308"/>
            <a:ext cx="5943583" cy="23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8"/>
          <p:cNvSpPr/>
          <p:nvPr/>
        </p:nvSpPr>
        <p:spPr>
          <a:xfrm>
            <a:off x="0" y="6457950"/>
            <a:ext cx="12192000" cy="400050"/>
          </a:xfrm>
          <a:prstGeom prst="rect">
            <a:avLst/>
          </a:prstGeom>
          <a:solidFill>
            <a:srgbClr val="1A2B6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" name="Google Shape;33;p28"/>
          <p:cNvSpPr txBox="1"/>
          <p:nvPr/>
        </p:nvSpPr>
        <p:spPr>
          <a:xfrm>
            <a:off x="9803423" y="6527170"/>
            <a:ext cx="223990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EM Normandie Business School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8"/>
          <p:cNvSpPr txBox="1"/>
          <p:nvPr/>
        </p:nvSpPr>
        <p:spPr>
          <a:xfrm>
            <a:off x="87490" y="6538111"/>
            <a:ext cx="40732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© Tous droits réservés - All rights reserved - 2022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70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body" idx="1"/>
          </p:nvPr>
        </p:nvSpPr>
        <p:spPr>
          <a:xfrm>
            <a:off x="839788" y="1280054"/>
            <a:ext cx="5157787" cy="70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body" idx="2"/>
          </p:nvPr>
        </p:nvSpPr>
        <p:spPr>
          <a:xfrm>
            <a:off x="839788" y="1988655"/>
            <a:ext cx="5157787" cy="44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400"/>
              <a:buFont typeface="Noto Sans Symbols"/>
              <a:buChar char="▪"/>
              <a:defRPr sz="2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2000"/>
              <a:buFont typeface="Noto Sans Symbols"/>
              <a:buChar char="▪"/>
              <a:defRPr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1600"/>
              <a:buFont typeface="Noto Sans Symbols"/>
              <a:buChar char="▪"/>
              <a:defRPr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body" idx="3"/>
          </p:nvPr>
        </p:nvSpPr>
        <p:spPr>
          <a:xfrm>
            <a:off x="6172200" y="1280054"/>
            <a:ext cx="5183188" cy="70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body" idx="4"/>
          </p:nvPr>
        </p:nvSpPr>
        <p:spPr>
          <a:xfrm>
            <a:off x="6194427" y="1988655"/>
            <a:ext cx="5183188" cy="44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400"/>
              <a:buFont typeface="Noto Sans Symbols"/>
              <a:buChar char="▪"/>
              <a:defRPr sz="2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2000"/>
              <a:buFont typeface="Noto Sans Symbols"/>
              <a:buChar char="▪"/>
              <a:defRPr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1600"/>
              <a:buFont typeface="Noto Sans Symbols"/>
              <a:buChar char="▪"/>
              <a:defRPr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ftr" idx="11"/>
          </p:nvPr>
        </p:nvSpPr>
        <p:spPr>
          <a:xfrm rot="-5400000">
            <a:off x="9033039" y="3299308"/>
            <a:ext cx="5943583" cy="23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/>
          <p:nvPr/>
        </p:nvSpPr>
        <p:spPr>
          <a:xfrm>
            <a:off x="0" y="6457950"/>
            <a:ext cx="12192000" cy="400050"/>
          </a:xfrm>
          <a:prstGeom prst="rect">
            <a:avLst/>
          </a:prstGeom>
          <a:solidFill>
            <a:srgbClr val="1A2B6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3" name="Google Shape;43;p29"/>
          <p:cNvSpPr txBox="1"/>
          <p:nvPr/>
        </p:nvSpPr>
        <p:spPr>
          <a:xfrm>
            <a:off x="9803423" y="6527170"/>
            <a:ext cx="223990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EM Normandie Business School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9"/>
          <p:cNvSpPr txBox="1"/>
          <p:nvPr/>
        </p:nvSpPr>
        <p:spPr>
          <a:xfrm>
            <a:off x="87490" y="6538111"/>
            <a:ext cx="40732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© Tous droits réservés - All rights reserved - 2022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u avec légende" type="objTx">
  <p:cSld name="OBJECT_WITH_CAPTIO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771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body" idx="1"/>
          </p:nvPr>
        </p:nvSpPr>
        <p:spPr>
          <a:xfrm>
            <a:off x="5183188" y="441903"/>
            <a:ext cx="6172200" cy="5943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400"/>
              <a:buFont typeface="Noto Sans Symbols"/>
              <a:buChar char="▪"/>
              <a:defRPr sz="2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2400"/>
              <a:buFont typeface="Noto Sans Symbols"/>
              <a:buChar char="▪"/>
              <a:defRPr sz="2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2000"/>
              <a:buFont typeface="Noto Sans Symbols"/>
              <a:buChar char="▪"/>
              <a:defRPr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D31019"/>
              </a:buClr>
              <a:buSzPts val="1600"/>
              <a:buFont typeface="Noto Sans Symbols"/>
              <a:buChar char="▪"/>
              <a:defRPr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body" idx="2"/>
          </p:nvPr>
        </p:nvSpPr>
        <p:spPr>
          <a:xfrm>
            <a:off x="839788" y="1293091"/>
            <a:ext cx="3932237" cy="5095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9" name="Google Shape;49;p30"/>
          <p:cNvSpPr txBox="1">
            <a:spLocks noGrp="1"/>
          </p:cNvSpPr>
          <p:nvPr>
            <p:ph type="ftr" idx="11"/>
          </p:nvPr>
        </p:nvSpPr>
        <p:spPr>
          <a:xfrm rot="-5400000">
            <a:off x="9059416" y="3325685"/>
            <a:ext cx="5943583" cy="182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0"/>
          <p:cNvSpPr/>
          <p:nvPr/>
        </p:nvSpPr>
        <p:spPr>
          <a:xfrm>
            <a:off x="0" y="6457950"/>
            <a:ext cx="12192000" cy="400050"/>
          </a:xfrm>
          <a:prstGeom prst="rect">
            <a:avLst/>
          </a:prstGeom>
          <a:solidFill>
            <a:srgbClr val="1A2B6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1" name="Google Shape;51;p30"/>
          <p:cNvSpPr txBox="1"/>
          <p:nvPr/>
        </p:nvSpPr>
        <p:spPr>
          <a:xfrm>
            <a:off x="9803423" y="6527170"/>
            <a:ext cx="223990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EM Normandie Business School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0"/>
          <p:cNvSpPr txBox="1"/>
          <p:nvPr/>
        </p:nvSpPr>
        <p:spPr>
          <a:xfrm>
            <a:off x="87490" y="6538111"/>
            <a:ext cx="40732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© Tous droits réservés - All rights reserved - 2022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mage avec légende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1"/>
          <p:cNvSpPr>
            <a:spLocks noGrp="1"/>
          </p:cNvSpPr>
          <p:nvPr>
            <p:ph type="pic" idx="2"/>
          </p:nvPr>
        </p:nvSpPr>
        <p:spPr>
          <a:xfrm>
            <a:off x="5183188" y="441902"/>
            <a:ext cx="6172200" cy="5943583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31"/>
          <p:cNvSpPr txBox="1">
            <a:spLocks noGrp="1"/>
          </p:cNvSpPr>
          <p:nvPr>
            <p:ph type="body" idx="1"/>
          </p:nvPr>
        </p:nvSpPr>
        <p:spPr>
          <a:xfrm>
            <a:off x="839788" y="1283855"/>
            <a:ext cx="3932237" cy="51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ftr" idx="11"/>
          </p:nvPr>
        </p:nvSpPr>
        <p:spPr>
          <a:xfrm rot="-5400000">
            <a:off x="9046229" y="3312496"/>
            <a:ext cx="5943583" cy="208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1"/>
          <p:cNvSpPr/>
          <p:nvPr/>
        </p:nvSpPr>
        <p:spPr>
          <a:xfrm>
            <a:off x="0" y="6457950"/>
            <a:ext cx="12192000" cy="400050"/>
          </a:xfrm>
          <a:prstGeom prst="rect">
            <a:avLst/>
          </a:prstGeom>
          <a:solidFill>
            <a:srgbClr val="1A2B6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9" name="Google Shape;59;p31"/>
          <p:cNvSpPr txBox="1"/>
          <p:nvPr/>
        </p:nvSpPr>
        <p:spPr>
          <a:xfrm>
            <a:off x="9803423" y="6527170"/>
            <a:ext cx="223990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EM Normandie Business School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1"/>
          <p:cNvSpPr txBox="1"/>
          <p:nvPr/>
        </p:nvSpPr>
        <p:spPr>
          <a:xfrm>
            <a:off x="87490" y="6538111"/>
            <a:ext cx="40732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© Tous droits réservés - All rights reserved - 2022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937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body" idx="1"/>
          </p:nvPr>
        </p:nvSpPr>
        <p:spPr>
          <a:xfrm>
            <a:off x="5184000" y="457200"/>
            <a:ext cx="6172200" cy="593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D31019"/>
              </a:buClr>
              <a:buSzPts val="2400"/>
              <a:buFont typeface="Noto Sans Symbols"/>
              <a:buChar char="▪"/>
              <a:defRPr sz="2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D31019"/>
              </a:buClr>
              <a:buSzPts val="2400"/>
              <a:buFont typeface="Noto Sans Symbols"/>
              <a:buChar char="▪"/>
              <a:defRPr sz="2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D31019"/>
              </a:buClr>
              <a:buSzPts val="2000"/>
              <a:buFont typeface="Noto Sans Symbols"/>
              <a:buChar char="▪"/>
              <a:defRPr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D31019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D31019"/>
              </a:buClr>
              <a:buSzPts val="1600"/>
              <a:buFont typeface="Noto Sans Symbols"/>
              <a:buChar char="▪"/>
              <a:defRPr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body" idx="2"/>
          </p:nvPr>
        </p:nvSpPr>
        <p:spPr>
          <a:xfrm>
            <a:off x="839788" y="1524243"/>
            <a:ext cx="3932237" cy="486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ftr" idx="11"/>
          </p:nvPr>
        </p:nvSpPr>
        <p:spPr>
          <a:xfrm rot="-5400000">
            <a:off x="9033039" y="3299308"/>
            <a:ext cx="5943583" cy="23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2"/>
          <p:cNvSpPr/>
          <p:nvPr/>
        </p:nvSpPr>
        <p:spPr>
          <a:xfrm>
            <a:off x="0" y="6457950"/>
            <a:ext cx="12192000" cy="400050"/>
          </a:xfrm>
          <a:prstGeom prst="rect">
            <a:avLst/>
          </a:prstGeom>
          <a:solidFill>
            <a:srgbClr val="1A2B6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7" name="Google Shape;67;p32"/>
          <p:cNvSpPr txBox="1"/>
          <p:nvPr/>
        </p:nvSpPr>
        <p:spPr>
          <a:xfrm>
            <a:off x="9803423" y="6527170"/>
            <a:ext cx="223990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EM Normandie Business School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2"/>
          <p:cNvSpPr txBox="1"/>
          <p:nvPr/>
        </p:nvSpPr>
        <p:spPr>
          <a:xfrm>
            <a:off x="87490" y="6538111"/>
            <a:ext cx="40732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© Tous droits réservés - All rights reserved - 2022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rnière diapo">
  <p:cSld name="dernière diapo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sz="44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ftr" idx="11"/>
          </p:nvPr>
        </p:nvSpPr>
        <p:spPr>
          <a:xfrm rot="-5400000">
            <a:off x="9098512" y="3311768"/>
            <a:ext cx="5811837" cy="234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A9E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title"/>
          </p:nvPr>
        </p:nvSpPr>
        <p:spPr>
          <a:xfrm>
            <a:off x="2130425" y="2496632"/>
            <a:ext cx="7918450" cy="186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fr-FR"/>
              <a:t>Session 7 : Big Data, IA et marketing relationnel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fr-FR"/>
              <a:t>Agenda</a:t>
            </a:r>
            <a:endParaRPr/>
          </a:p>
        </p:txBody>
      </p:sp>
      <p:sp>
        <p:nvSpPr>
          <p:cNvPr id="81" name="Google Shape;81;p35"/>
          <p:cNvSpPr txBox="1">
            <a:spLocks noGrp="1"/>
          </p:cNvSpPr>
          <p:nvPr>
            <p:ph type="body" idx="1"/>
          </p:nvPr>
        </p:nvSpPr>
        <p:spPr>
          <a:xfrm>
            <a:off x="838200" y="1223278"/>
            <a:ext cx="10515600" cy="516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Introduction et concepts clés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L'intelligence collaborative : Humains + IA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L'IA dans le commerce de détail et la stratégie relationnelle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Nouvelles frontières : </a:t>
            </a:r>
            <a:endParaRPr/>
          </a:p>
          <a:p>
            <a:pPr marL="91440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fr-FR"/>
              <a:t>IA générative et agent</a:t>
            </a:r>
            <a:endParaRPr/>
          </a:p>
          <a:p>
            <a:pPr marL="91440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fr-FR"/>
              <a:t>Achat écologique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fr-FR"/>
              <a:t>Agenda</a:t>
            </a:r>
            <a:endParaRPr/>
          </a:p>
        </p:txBody>
      </p:sp>
      <p:sp>
        <p:nvSpPr>
          <p:cNvPr id="87" name="Google Shape;87;p36"/>
          <p:cNvSpPr txBox="1">
            <a:spLocks noGrp="1"/>
          </p:cNvSpPr>
          <p:nvPr>
            <p:ph type="body" idx="1"/>
          </p:nvPr>
        </p:nvSpPr>
        <p:spPr>
          <a:xfrm>
            <a:off x="838200" y="1223278"/>
            <a:ext cx="10515600" cy="516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b="1"/>
              <a:t>Introduction et concepts clés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L'intelligence collaborative : Humains + IA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L'IA dans le commerce de détail et la stratégie relationnelle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Nouvelles frontières : </a:t>
            </a:r>
            <a:endParaRPr/>
          </a:p>
          <a:p>
            <a:pPr marL="91440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fr-FR"/>
              <a:t>IA générative et agent</a:t>
            </a:r>
            <a:endParaRPr/>
          </a:p>
          <a:p>
            <a:pPr marL="91440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fr-FR"/>
              <a:t>Achat écologique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fr-FR"/>
              <a:t>L'importance de l'IA pour le marketing relationnel</a:t>
            </a:r>
            <a:endParaRPr/>
          </a:p>
        </p:txBody>
      </p:sp>
      <p:sp>
        <p:nvSpPr>
          <p:cNvPr id="93" name="Google Shape;93;p3"/>
          <p:cNvSpPr txBox="1">
            <a:spLocks noGrp="1"/>
          </p:cNvSpPr>
          <p:nvPr>
            <p:ph type="body" idx="1"/>
          </p:nvPr>
        </p:nvSpPr>
        <p:spPr>
          <a:xfrm>
            <a:off x="838200" y="1223278"/>
            <a:ext cx="10515600" cy="516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dirty="0"/>
              <a:t>L'essor du Big Data et de </a:t>
            </a:r>
            <a:r>
              <a:rPr lang="fr-FR" b="1" dirty="0"/>
              <a:t>l'IA dans la gestion de la relation client</a:t>
            </a:r>
            <a:endParaRPr b="1" dirty="0"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dirty="0"/>
              <a:t>Rôle croissant de la </a:t>
            </a:r>
            <a:r>
              <a:rPr lang="fr-FR" b="1" dirty="0"/>
              <a:t>personnalisation prédictive</a:t>
            </a:r>
            <a:r>
              <a:rPr lang="fr-FR" dirty="0"/>
              <a:t>, </a:t>
            </a:r>
            <a:r>
              <a:rPr lang="fr-FR" b="1" dirty="0"/>
              <a:t>automatisée et émotionnelle</a:t>
            </a:r>
            <a:endParaRPr b="1" dirty="0"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dirty="0"/>
              <a:t>Deux questions clés :</a:t>
            </a:r>
            <a:endParaRPr dirty="0"/>
          </a:p>
          <a:p>
            <a:pPr marL="91440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fr-FR" dirty="0"/>
              <a:t>L'IA peut-elle créer ou entretenir des relations émotionnelles ?</a:t>
            </a:r>
            <a:endParaRPr dirty="0"/>
          </a:p>
          <a:p>
            <a:pPr marL="91440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fr-FR" dirty="0"/>
              <a:t>Comment l'IA affecte-t-elle la fidélité, la confiance et l'expérience ?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fr-FR"/>
              <a:t>Comprendre l'IA mécanique, l'IA de la pensée et l'IA des sentiments</a:t>
            </a:r>
            <a:endParaRPr/>
          </a:p>
        </p:txBody>
      </p:sp>
      <p:sp>
        <p:nvSpPr>
          <p:cNvPr id="100" name="Google Shape;100;p4"/>
          <p:cNvSpPr txBox="1">
            <a:spLocks noGrp="1"/>
          </p:cNvSpPr>
          <p:nvPr>
            <p:ph type="body" idx="1"/>
          </p:nvPr>
        </p:nvSpPr>
        <p:spPr>
          <a:xfrm>
            <a:off x="838200" y="1223278"/>
            <a:ext cx="5591175" cy="516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 fontScale="77500" lnSpcReduction="20000"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ct val="129032"/>
              <a:buFont typeface="Noto Sans Symbols"/>
              <a:buChar char="▪"/>
            </a:pPr>
            <a:r>
              <a:rPr lang="fr-FR" b="1" dirty="0"/>
              <a:t>IA mécanique </a:t>
            </a:r>
            <a:r>
              <a:rPr lang="fr-FR" dirty="0"/>
              <a:t>: </a:t>
            </a:r>
            <a:r>
              <a:rPr lang="fr-FR" b="1" dirty="0"/>
              <a:t>exécution de tâches </a:t>
            </a:r>
            <a:r>
              <a:rPr lang="fr-FR" dirty="0"/>
              <a:t>(par exemple, </a:t>
            </a:r>
            <a:r>
              <a:rPr lang="fr-FR" dirty="0" err="1"/>
              <a:t>chatbots</a:t>
            </a:r>
            <a:r>
              <a:rPr lang="fr-FR" dirty="0"/>
              <a:t>, tarification dynamique)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ct val="129032"/>
              <a:buFont typeface="Noto Sans Symbols"/>
              <a:buChar char="▪"/>
            </a:pPr>
            <a:r>
              <a:rPr lang="fr-FR" b="1" dirty="0"/>
              <a:t>IA de réflexion </a:t>
            </a:r>
            <a:r>
              <a:rPr lang="fr-FR" dirty="0"/>
              <a:t>: </a:t>
            </a:r>
            <a:r>
              <a:rPr lang="fr-FR" b="1" dirty="0"/>
              <a:t>analyse des données </a:t>
            </a:r>
            <a:r>
              <a:rPr lang="fr-FR" dirty="0"/>
              <a:t>(par exemple, systèmes de recommandation, prédiction du taux de désabonnement).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ct val="129032"/>
              <a:buFont typeface="Noto Sans Symbols"/>
              <a:buChar char="▪"/>
            </a:pPr>
            <a:r>
              <a:rPr lang="fr-FR" b="1" dirty="0"/>
              <a:t>IA émotionnelle </a:t>
            </a:r>
            <a:r>
              <a:rPr lang="fr-FR" dirty="0"/>
              <a:t>: </a:t>
            </a:r>
            <a:r>
              <a:rPr lang="fr-FR" b="1" dirty="0"/>
              <a:t>reconnaît les émotions </a:t>
            </a:r>
            <a:r>
              <a:rPr lang="fr-FR" dirty="0"/>
              <a:t>(par exemple, analyse des sentiments, détection des émotions faciales).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ct val="129032"/>
              <a:buFont typeface="Noto Sans Symbols"/>
              <a:buChar char="▪"/>
            </a:pPr>
            <a:r>
              <a:rPr lang="fr-FR" dirty="0"/>
              <a:t>Exemple : L'outil </a:t>
            </a:r>
            <a:r>
              <a:rPr lang="fr-FR" dirty="0" err="1"/>
              <a:t>ColorIQ</a:t>
            </a:r>
            <a:r>
              <a:rPr lang="fr-FR" dirty="0"/>
              <a:t> de Sephora ou L'Oréal </a:t>
            </a:r>
            <a:r>
              <a:rPr lang="fr-FR" dirty="0" err="1"/>
              <a:t>Modiface</a:t>
            </a:r>
            <a:r>
              <a:rPr lang="fr-FR" dirty="0"/>
              <a:t> utilise l'IA pour offrir des recommandations de produits sur mesure.</a:t>
            </a:r>
            <a:endParaRPr dirty="0"/>
          </a:p>
        </p:txBody>
      </p:sp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77000" y="2297841"/>
            <a:ext cx="5576508" cy="226231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 txBox="1"/>
          <p:nvPr/>
        </p:nvSpPr>
        <p:spPr>
          <a:xfrm>
            <a:off x="6496050" y="4587363"/>
            <a:ext cx="53721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L'IA vient d'abord compléter puis remplacer l'IH à chaque niveau d'intelligence.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 Huang et al. (2023)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</p:txBody>
      </p:sp>
      <p:sp>
        <p:nvSpPr>
          <p:cNvPr id="109" name="Google Shape;109;p37"/>
          <p:cNvSpPr txBox="1">
            <a:spLocks noGrp="1"/>
          </p:cNvSpPr>
          <p:nvPr>
            <p:ph type="body" idx="1"/>
          </p:nvPr>
        </p:nvSpPr>
        <p:spPr>
          <a:xfrm>
            <a:off x="838200" y="1223278"/>
            <a:ext cx="10515600" cy="516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None/>
            </a:pPr>
            <a:endParaRPr/>
          </a:p>
        </p:txBody>
      </p:sp>
      <p:pic>
        <p:nvPicPr>
          <p:cNvPr id="110" name="Google Shape;110;p37" title="L'Oreal's augmented reality acquisition helps with online brand experience | Marketing Media Mone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000" y="558800"/>
            <a:ext cx="10160000" cy="574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fr-FR"/>
              <a:t>Agenda</a:t>
            </a:r>
            <a:endParaRPr/>
          </a:p>
        </p:txBody>
      </p:sp>
      <p:sp>
        <p:nvSpPr>
          <p:cNvPr id="116" name="Google Shape;116;p38"/>
          <p:cNvSpPr txBox="1">
            <a:spLocks noGrp="1"/>
          </p:cNvSpPr>
          <p:nvPr>
            <p:ph type="body" idx="1"/>
          </p:nvPr>
        </p:nvSpPr>
        <p:spPr>
          <a:xfrm>
            <a:off x="838200" y="1223278"/>
            <a:ext cx="10515600" cy="516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Introduction et concepts clés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b="1"/>
              <a:t>L'intelligence collaborative : Humains + IA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L'IA dans le commerce de détail et la stratégie relationnelle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Nouvelles frontières : </a:t>
            </a:r>
            <a:endParaRPr/>
          </a:p>
          <a:p>
            <a:pPr marL="91440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fr-FR"/>
              <a:t>IA générative et agent</a:t>
            </a:r>
            <a:endParaRPr/>
          </a:p>
          <a:p>
            <a:pPr marL="91440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fr-FR"/>
              <a:t>Achat écologique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fr-FR"/>
              <a:t>Humains + IA : travailler ensemble dans la gestion de la relation client</a:t>
            </a:r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body" idx="1"/>
          </p:nvPr>
        </p:nvSpPr>
        <p:spPr>
          <a:xfrm>
            <a:off x="838200" y="1223278"/>
            <a:ext cx="10515600" cy="516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b="1" dirty="0"/>
              <a:t>L'IA complète plutôt qu'elle ne remplace </a:t>
            </a:r>
            <a:r>
              <a:rPr lang="fr-FR" dirty="0"/>
              <a:t>l'intelligence humaine</a:t>
            </a:r>
            <a:endParaRPr dirty="0"/>
          </a:p>
          <a:p>
            <a:pPr lvl="1" indent="-406400">
              <a:lnSpc>
                <a:spcPct val="100000"/>
              </a:lnSpc>
              <a:spcBef>
                <a:spcPts val="1000"/>
              </a:spcBef>
              <a:buSzPts val="2800"/>
              <a:buFont typeface="Arial" panose="020B0604020202020204" pitchFamily="34" charset="0"/>
              <a:buChar char="•"/>
            </a:pPr>
            <a:r>
              <a:rPr lang="fr-FR" dirty="0"/>
              <a:t>Points forts de l'homme : empathie, contexte, intuition</a:t>
            </a:r>
            <a:endParaRPr dirty="0"/>
          </a:p>
          <a:p>
            <a:pPr lvl="1" indent="-406400">
              <a:lnSpc>
                <a:spcPct val="100000"/>
              </a:lnSpc>
              <a:spcBef>
                <a:spcPts val="1000"/>
              </a:spcBef>
              <a:buSzPts val="2800"/>
              <a:buFont typeface="Arial" panose="020B0604020202020204" pitchFamily="34" charset="0"/>
              <a:buChar char="•"/>
            </a:pPr>
            <a:r>
              <a:rPr lang="fr-FR" dirty="0"/>
              <a:t>Points forts de l'IA : vitesse, volume, reconnaissance des formes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endParaRPr dirty="0"/>
          </a:p>
          <a:p>
            <a:pPr marL="45720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dirty="0"/>
              <a:t>Exemple : Orange utilise des </a:t>
            </a:r>
            <a:r>
              <a:rPr lang="fr-FR" dirty="0" err="1"/>
              <a:t>chatbots</a:t>
            </a:r>
            <a:r>
              <a:rPr lang="fr-FR" dirty="0"/>
              <a:t> d'IA pour les tâches de routine et transfère de manière transparente les demandes complexes ou émotionnelles à des conseillers humains, combinant ainsi efficacité et empathie.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fr-FR"/>
              <a:t>Humains + IA : travailler ensemble dans la gestion de la relation client</a:t>
            </a:r>
            <a:endParaRPr/>
          </a:p>
        </p:txBody>
      </p:sp>
      <p:pic>
        <p:nvPicPr>
          <p:cNvPr id="130" name="Google Shape;130;p39" title="L’intelligence artificielle au service de la relation clien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3120" y="1173023"/>
            <a:ext cx="9072880" cy="5126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fr-FR"/>
              <a:t>Intelligence collaborative : Partenariat IA-HI</a:t>
            </a:r>
            <a:endParaRPr/>
          </a:p>
        </p:txBody>
      </p:sp>
      <p:sp>
        <p:nvSpPr>
          <p:cNvPr id="136" name="Google Shape;136;p6"/>
          <p:cNvSpPr txBox="1">
            <a:spLocks noGrp="1"/>
          </p:cNvSpPr>
          <p:nvPr>
            <p:ph type="body" idx="1"/>
          </p:nvPr>
        </p:nvSpPr>
        <p:spPr>
          <a:xfrm>
            <a:off x="838200" y="1223278"/>
            <a:ext cx="5151120" cy="516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L'IA complète les tâches mécaniques, analytiques et émotionnelles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Plus puissante lorsqu'elle est combinée aux forces émotionnelles et intuitives de l'homme</a:t>
            </a:r>
            <a:endParaRPr/>
          </a:p>
        </p:txBody>
      </p:sp>
      <p:pic>
        <p:nvPicPr>
          <p:cNvPr id="137" name="Google Shape;13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8426" y="936126"/>
            <a:ext cx="2798603" cy="498574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7932420" y="6000750"/>
            <a:ext cx="228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Huang et Rust (2022)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fr-FR"/>
              <a:t>Quand l'IA remplace-t-elle ou soutient-elle les tâches humaines ?</a:t>
            </a:r>
            <a:endParaRPr/>
          </a:p>
        </p:txBody>
      </p:sp>
      <p:sp>
        <p:nvSpPr>
          <p:cNvPr id="144" name="Google Shape;144;p7"/>
          <p:cNvSpPr txBox="1">
            <a:spLocks noGrp="1"/>
          </p:cNvSpPr>
          <p:nvPr>
            <p:ph type="body" idx="1"/>
          </p:nvPr>
        </p:nvSpPr>
        <p:spPr>
          <a:xfrm>
            <a:off x="2019487" y="3989070"/>
            <a:ext cx="9117330" cy="238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 fontScale="62500" lnSpcReduction="20000"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ct val="117647"/>
              <a:buFont typeface="Noto Sans Symbols"/>
              <a:buChar char="▪"/>
            </a:pPr>
            <a:r>
              <a:rPr lang="fr-FR" b="1" dirty="0"/>
              <a:t>Travail mécanique </a:t>
            </a:r>
            <a:r>
              <a:rPr lang="fr-FR" dirty="0"/>
              <a:t>: Généralement </a:t>
            </a:r>
            <a:r>
              <a:rPr lang="fr-FR" b="1" dirty="0"/>
              <a:t>remplaçable </a:t>
            </a:r>
            <a:r>
              <a:rPr lang="fr-FR" dirty="0"/>
              <a:t>(par exemple, les caisses enregistreuses).</a:t>
            </a:r>
            <a:endParaRPr dirty="0"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ct val="117647"/>
              <a:buFont typeface="Noto Sans Symbols"/>
              <a:buChar char="▪"/>
            </a:pPr>
            <a:r>
              <a:rPr lang="fr-FR" dirty="0"/>
              <a:t>Travail de </a:t>
            </a:r>
            <a:r>
              <a:rPr lang="fr-FR" b="1" dirty="0"/>
              <a:t>réflexion</a:t>
            </a:r>
            <a:r>
              <a:rPr lang="fr-FR" dirty="0"/>
              <a:t> : Augmenté (par exemple, les </a:t>
            </a:r>
            <a:r>
              <a:rPr lang="fr-FR" b="1" dirty="0"/>
              <a:t>analystes marketing</a:t>
            </a:r>
            <a:r>
              <a:rPr lang="fr-FR" dirty="0"/>
              <a:t>)</a:t>
            </a:r>
            <a:endParaRPr dirty="0"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ct val="117647"/>
              <a:buFont typeface="Noto Sans Symbols"/>
              <a:buChar char="▪"/>
            </a:pPr>
            <a:r>
              <a:rPr lang="fr-FR" dirty="0"/>
              <a:t>Travail </a:t>
            </a:r>
            <a:r>
              <a:rPr lang="fr-FR" b="1" dirty="0"/>
              <a:t>émotionnel</a:t>
            </a:r>
            <a:r>
              <a:rPr lang="fr-FR" dirty="0"/>
              <a:t> : Majoritairement augmenté (par exemple, l</a:t>
            </a:r>
            <a:r>
              <a:rPr lang="fr-FR" b="1" dirty="0"/>
              <a:t>es agents de service à la clientèle</a:t>
            </a:r>
            <a:r>
              <a:rPr lang="fr-FR" dirty="0"/>
              <a:t>)</a:t>
            </a:r>
            <a:endParaRPr dirty="0"/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4268" y="1258909"/>
            <a:ext cx="6967769" cy="2901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fr-FR"/>
              <a:t>Agenda</a:t>
            </a:r>
            <a:endParaRPr/>
          </a:p>
        </p:txBody>
      </p:sp>
      <p:sp>
        <p:nvSpPr>
          <p:cNvPr id="151" name="Google Shape;151;p40"/>
          <p:cNvSpPr txBox="1">
            <a:spLocks noGrp="1"/>
          </p:cNvSpPr>
          <p:nvPr>
            <p:ph type="body" idx="1"/>
          </p:nvPr>
        </p:nvSpPr>
        <p:spPr>
          <a:xfrm>
            <a:off x="838200" y="1223278"/>
            <a:ext cx="10515600" cy="516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Introduction et concepts clés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L'intelligence collaborative : Humains + IA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b="1"/>
              <a:t>L'IA dans le commerce de détail et la stratégie relationnelle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Nouvelles frontières : </a:t>
            </a:r>
            <a:endParaRPr/>
          </a:p>
          <a:p>
            <a:pPr marL="91440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fr-FR"/>
              <a:t>IA générative et agent</a:t>
            </a:r>
            <a:endParaRPr/>
          </a:p>
          <a:p>
            <a:pPr marL="91440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fr-FR"/>
              <a:t>Achat écologique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fr-FR"/>
              <a:t>Utiliser la technologie en magasin pour soutenir le marketing relationnel</a:t>
            </a:r>
            <a:endParaRPr/>
          </a:p>
        </p:txBody>
      </p:sp>
      <p:sp>
        <p:nvSpPr>
          <p:cNvPr id="157" name="Google Shape;157;p8"/>
          <p:cNvSpPr txBox="1">
            <a:spLocks noGrp="1"/>
          </p:cNvSpPr>
          <p:nvPr>
            <p:ph type="body" idx="1"/>
          </p:nvPr>
        </p:nvSpPr>
        <p:spPr>
          <a:xfrm>
            <a:off x="838200" y="1223278"/>
            <a:ext cx="10515600" cy="516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b="1" dirty="0"/>
              <a:t>Rayons intelligents</a:t>
            </a:r>
            <a:r>
              <a:rPr lang="fr-FR" dirty="0"/>
              <a:t> : déclenche des promotions et des </a:t>
            </a:r>
            <a:r>
              <a:rPr lang="fr-FR" b="1" dirty="0"/>
              <a:t>mises à jour des stocks</a:t>
            </a:r>
            <a:endParaRPr b="1" dirty="0"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b="1" dirty="0"/>
              <a:t>Caisse mobile </a:t>
            </a:r>
            <a:r>
              <a:rPr lang="fr-FR" dirty="0"/>
              <a:t>: </a:t>
            </a:r>
            <a:r>
              <a:rPr lang="fr-FR" b="1" dirty="0"/>
              <a:t>réduit les frictions </a:t>
            </a:r>
            <a:r>
              <a:rPr lang="fr-FR" dirty="0"/>
              <a:t>dans le processus d'achat</a:t>
            </a:r>
            <a:endParaRPr dirty="0"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b="1" dirty="0"/>
              <a:t>Réalité augmentée </a:t>
            </a:r>
            <a:r>
              <a:rPr lang="fr-FR" dirty="0"/>
              <a:t>: améliore la </a:t>
            </a:r>
            <a:r>
              <a:rPr lang="fr-FR" b="1" dirty="0"/>
              <a:t>visualisation des produits</a:t>
            </a:r>
            <a:endParaRPr b="1" dirty="0"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dirty="0"/>
              <a:t>Exemple : L'application Nike Fit aide à faire correspondre les tailles de chaussures en magasin à l'aide de l'IA.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63" name="Google Shape;163;p41" title="How Luxury Retailers are using Augmented Realit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000" y="558800"/>
            <a:ext cx="10160000" cy="574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70" name="Google Shape;170;p42" title="ITRI opens ‘grab and go’ cashierless store using smart shelf technolog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000" y="365125"/>
            <a:ext cx="10160000" cy="574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>
            <a:spLocks noGrp="1"/>
          </p:cNvSpPr>
          <p:nvPr>
            <p:ph type="title"/>
          </p:nvPr>
        </p:nvSpPr>
        <p:spPr>
          <a:xfrm>
            <a:off x="109728" y="1"/>
            <a:ext cx="12082272" cy="101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fr-FR" dirty="0"/>
              <a:t>Cartographie des technologies du commerce de détail </a:t>
            </a:r>
            <a:r>
              <a:rPr lang="fr-FR" sz="1200" dirty="0"/>
              <a:t>(Grewal et al.,2023)</a:t>
            </a:r>
            <a:endParaRPr sz="1200" dirty="0"/>
          </a:p>
        </p:txBody>
      </p:sp>
      <p:pic>
        <p:nvPicPr>
          <p:cNvPr id="177" name="Google Shape;17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5893" y="1058590"/>
            <a:ext cx="4736557" cy="474082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 txBox="1"/>
          <p:nvPr/>
        </p:nvSpPr>
        <p:spPr>
          <a:xfrm>
            <a:off x="9098280" y="5920740"/>
            <a:ext cx="19659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Grewal et al, 2023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fr-FR"/>
              <a:t>Le double impact de la technologie sur l'expérience</a:t>
            </a:r>
            <a:endParaRPr/>
          </a:p>
        </p:txBody>
      </p:sp>
      <p:sp>
        <p:nvSpPr>
          <p:cNvPr id="184" name="Google Shape;184;p10"/>
          <p:cNvSpPr txBox="1">
            <a:spLocks noGrp="1"/>
          </p:cNvSpPr>
          <p:nvPr>
            <p:ph type="body" idx="1"/>
          </p:nvPr>
        </p:nvSpPr>
        <p:spPr>
          <a:xfrm>
            <a:off x="838200" y="1223278"/>
            <a:ext cx="5996940" cy="516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dirty="0"/>
              <a:t>Employé : (Re)formation, outils d'efficacité</a:t>
            </a:r>
            <a:endParaRPr dirty="0"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dirty="0"/>
              <a:t>Le client : Technologie avant, pendant et après l'achat</a:t>
            </a:r>
            <a:endParaRPr dirty="0"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dirty="0"/>
              <a:t>Discussion : Que se passe-t-il si l'un des parcours s'améliore mais que l'autre se détériore ?</a:t>
            </a:r>
            <a:endParaRPr dirty="0"/>
          </a:p>
        </p:txBody>
      </p:sp>
      <p:pic>
        <p:nvPicPr>
          <p:cNvPr id="185" name="Google Shape;18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5140" y="1693845"/>
            <a:ext cx="4692127" cy="379255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0"/>
          <p:cNvSpPr txBox="1"/>
          <p:nvPr/>
        </p:nvSpPr>
        <p:spPr>
          <a:xfrm>
            <a:off x="9098280" y="5920740"/>
            <a:ext cx="19659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Grewal et al, 2023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fr-FR"/>
              <a:t>Aligner les objectifs technologiques et les parties prenantes</a:t>
            </a:r>
            <a:endParaRPr/>
          </a:p>
        </p:txBody>
      </p:sp>
      <p:sp>
        <p:nvSpPr>
          <p:cNvPr id="193" name="Google Shape;193;p11"/>
          <p:cNvSpPr txBox="1">
            <a:spLocks noGrp="1"/>
          </p:cNvSpPr>
          <p:nvPr>
            <p:ph type="body" idx="1"/>
          </p:nvPr>
        </p:nvSpPr>
        <p:spPr>
          <a:xfrm>
            <a:off x="369570" y="2057772"/>
            <a:ext cx="6991350" cy="357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La technologie doit viser à la fois l'efficacité et l'expérience</a:t>
            </a:r>
            <a:endParaRPr/>
          </a:p>
          <a:p>
            <a:pPr marL="91440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fr-FR"/>
              <a:t>Pour les clients et les employés</a:t>
            </a:r>
            <a:endParaRPr/>
          </a:p>
        </p:txBody>
      </p:sp>
      <p:pic>
        <p:nvPicPr>
          <p:cNvPr id="194" name="Google Shape;19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14313" y="1223278"/>
            <a:ext cx="4046141" cy="501777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1"/>
          <p:cNvSpPr txBox="1"/>
          <p:nvPr/>
        </p:nvSpPr>
        <p:spPr>
          <a:xfrm>
            <a:off x="9726930" y="5920740"/>
            <a:ext cx="19659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Grewal et al, 2023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fr-FR"/>
              <a:t>L'IA peut-elle créer de vraies relations ?</a:t>
            </a:r>
            <a:endParaRPr/>
          </a:p>
        </p:txBody>
      </p:sp>
      <p:sp>
        <p:nvSpPr>
          <p:cNvPr id="201" name="Google Shape;201;p12"/>
          <p:cNvSpPr txBox="1">
            <a:spLocks noGrp="1"/>
          </p:cNvSpPr>
          <p:nvPr>
            <p:ph type="body" idx="1"/>
          </p:nvPr>
        </p:nvSpPr>
        <p:spPr>
          <a:xfrm>
            <a:off x="838200" y="1223278"/>
            <a:ext cx="10515600" cy="516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dirty="0"/>
              <a:t>Atouts :</a:t>
            </a:r>
            <a:endParaRPr dirty="0"/>
          </a:p>
          <a:p>
            <a:pPr marL="91440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fr-FR" dirty="0"/>
              <a:t>Personnalisation évolutive</a:t>
            </a:r>
            <a:endParaRPr dirty="0"/>
          </a:p>
          <a:p>
            <a:pPr marL="91440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fr-FR" dirty="0"/>
              <a:t>Engagement permanent</a:t>
            </a:r>
            <a:endParaRPr dirty="0"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dirty="0"/>
              <a:t>Inconvénients :</a:t>
            </a:r>
            <a:endParaRPr dirty="0"/>
          </a:p>
          <a:p>
            <a:pPr marL="91440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fr-FR" dirty="0"/>
              <a:t>Manque d'empathie ou d'authenticité</a:t>
            </a:r>
            <a:endParaRPr dirty="0"/>
          </a:p>
          <a:p>
            <a:pPr marL="91440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fr-FR" dirty="0"/>
              <a:t>Perte potentielle de la confiance humaine</a:t>
            </a:r>
            <a:endParaRPr dirty="0"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dirty="0"/>
              <a:t>Discussion : Qu'est-ce qui rend une relation "réelle" ?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fr-FR"/>
              <a:t>Agenda</a:t>
            </a:r>
            <a:endParaRPr/>
          </a:p>
        </p:txBody>
      </p:sp>
      <p:sp>
        <p:nvSpPr>
          <p:cNvPr id="207" name="Google Shape;207;p43"/>
          <p:cNvSpPr txBox="1">
            <a:spLocks noGrp="1"/>
          </p:cNvSpPr>
          <p:nvPr>
            <p:ph type="body" idx="1"/>
          </p:nvPr>
        </p:nvSpPr>
        <p:spPr>
          <a:xfrm>
            <a:off x="838200" y="1223278"/>
            <a:ext cx="10515600" cy="516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Introduction et concepts clés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L'intelligence collaborative : Humains + IA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/>
              <a:t>L'IA dans le commerce de détail et la stratégie relationnelle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b="1"/>
              <a:t>Nouvelles frontières : </a:t>
            </a:r>
            <a:endParaRPr/>
          </a:p>
          <a:p>
            <a:pPr marL="91440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fr-FR" b="1"/>
              <a:t>IA générative et agent</a:t>
            </a:r>
            <a:endParaRPr/>
          </a:p>
          <a:p>
            <a:pPr marL="91440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fr-FR" b="1"/>
              <a:t>Achat écologique</a:t>
            </a: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fr-FR"/>
              <a:t>Développements en cours : IA générative et agents intelligents </a:t>
            </a:r>
            <a:endParaRPr/>
          </a:p>
        </p:txBody>
      </p:sp>
      <p:sp>
        <p:nvSpPr>
          <p:cNvPr id="213" name="Google Shape;213;p44"/>
          <p:cNvSpPr txBox="1">
            <a:spLocks noGrp="1"/>
          </p:cNvSpPr>
          <p:nvPr>
            <p:ph type="body" idx="1"/>
          </p:nvPr>
        </p:nvSpPr>
        <p:spPr>
          <a:xfrm>
            <a:off x="838200" y="1223278"/>
            <a:ext cx="10515600" cy="516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 fontScale="77500" lnSpcReduction="20000"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29032"/>
              <a:buNone/>
            </a:pPr>
            <a:r>
              <a:rPr lang="fr-FR"/>
              <a:t>Comment l'IA générative et les agents fonctionnent-ils dans le marketing ?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29032"/>
              <a:buFont typeface="Arial"/>
              <a:buChar char="•"/>
            </a:pPr>
            <a:r>
              <a:rPr lang="fr-FR"/>
              <a:t>IA générative = crée du contenu : texte, images, voix (ex : ChatGPT, MidJourney, Sora, Synthesia, Mistral, etc.)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29032"/>
              <a:buFont typeface="Arial"/>
              <a:buChar char="•"/>
            </a:pPr>
            <a:r>
              <a:rPr lang="fr-FR"/>
              <a:t>Agents intelligents = systèmes autonomes qui agissent (ex : chatbots, moteurs de recommandation)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29032"/>
              <a:buFont typeface="Arial"/>
              <a:buChar char="•"/>
            </a:pPr>
            <a:r>
              <a:rPr lang="fr-FR"/>
              <a:t>Les agents peuvent :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129032"/>
              <a:buFont typeface="Arial"/>
              <a:buChar char="•"/>
            </a:pPr>
            <a:r>
              <a:rPr lang="fr-FR"/>
              <a:t>Personnaliser les newsletters en temps réel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129032"/>
              <a:buFont typeface="Arial"/>
              <a:buChar char="•"/>
            </a:pPr>
            <a:r>
              <a:rPr lang="fr-FR"/>
              <a:t>Répondre aux questions des clients via l'IA conversationnelle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129032"/>
              <a:buFont typeface="Arial"/>
              <a:buChar char="•"/>
            </a:pPr>
            <a:r>
              <a:rPr lang="fr-FR"/>
              <a:t>Proposer de manière proactive une assistance ou des offres via des notifications push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29032"/>
              <a:buFont typeface="Arial"/>
              <a:buChar char="•"/>
            </a:pPr>
            <a:r>
              <a:rPr lang="fr-FR" i="1"/>
              <a:t>Exemple :</a:t>
            </a:r>
            <a:r>
              <a:rPr lang="fr-FR"/>
              <a:t> Monoprix utilise un chatbot génératif formé sur des données de FAQ + CRM.</a:t>
            </a:r>
            <a:endParaRPr/>
          </a:p>
          <a:p>
            <a:pPr marL="4572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ct val="129032"/>
              <a:buFont typeface="Noto Sans Symbols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5"/>
          <p:cNvSpPr txBox="1">
            <a:spLocks noGrp="1"/>
          </p:cNvSpPr>
          <p:nvPr>
            <p:ph type="body" idx="1"/>
          </p:nvPr>
        </p:nvSpPr>
        <p:spPr>
          <a:xfrm>
            <a:off x="838200" y="1223278"/>
            <a:ext cx="10515600" cy="516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fr-FR"/>
              <a:t>Applications de l'IA générative dans la relation client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fr-FR"/>
              <a:t>Marketing électronique hyperpersonnalisé (par exemple, lignes d'objet dynamiques, correspondance de ton)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fr-FR"/>
              <a:t>Réponses au service client générées par l'IA avec la mémoire des conversations passées</a:t>
            </a:r>
            <a:endParaRPr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fr-FR"/>
              <a:t>Agents vocaux pour les programmes de fidélisation (par exemple, "Alexa, quel est mon solde Carrefour ?").</a:t>
            </a:r>
            <a:endParaRPr/>
          </a:p>
          <a:p>
            <a:pPr marL="4572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None/>
            </a:pPr>
            <a:endParaRPr/>
          </a:p>
        </p:txBody>
      </p:sp>
      <p:sp>
        <p:nvSpPr>
          <p:cNvPr id="219" name="Google Shape;219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fr-FR"/>
              <a:t>Développements en cours : IA générative et agents intelligents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fr-FR"/>
              <a:t>Un exemple de Salesforce : IA + données + CRM </a:t>
            </a:r>
            <a:endParaRPr/>
          </a:p>
        </p:txBody>
      </p:sp>
      <p:pic>
        <p:nvPicPr>
          <p:cNvPr id="226" name="Google Shape;226;p46" title="AI Strategy 101: Everything You Need to Know About AI + Data + CRM | Salesforce Explain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8166" y="1124788"/>
            <a:ext cx="8478520" cy="4790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fr-FR"/>
              <a:t>Effets de l'IA dans le marketing relationnel (achat vert)</a:t>
            </a:r>
            <a:endParaRPr/>
          </a:p>
        </p:txBody>
      </p:sp>
      <p:sp>
        <p:nvSpPr>
          <p:cNvPr id="232" name="Google Shape;232;p47"/>
          <p:cNvSpPr txBox="1">
            <a:spLocks noGrp="1"/>
          </p:cNvSpPr>
          <p:nvPr>
            <p:ph type="body" idx="1"/>
          </p:nvPr>
        </p:nvSpPr>
        <p:spPr>
          <a:xfrm>
            <a:off x="838200" y="1223278"/>
            <a:ext cx="10515600" cy="516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 fontScale="92500" lnSpcReduction="20000"/>
          </a:bodyPr>
          <a:lstStyle/>
          <a:p>
            <a:pPr marL="508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29032"/>
              <a:buNone/>
            </a:pPr>
            <a:r>
              <a:rPr lang="fr-FR" dirty="0"/>
              <a:t>Étude de Choi &amp; Yi (2025) : Les agents d'IA sont-ils plus efficaces que les humains dans les achats écologiques ?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29032"/>
              <a:buFont typeface="Arial"/>
              <a:buChar char="•"/>
            </a:pPr>
            <a:r>
              <a:rPr lang="fr-FR" dirty="0"/>
              <a:t>Étude réalisée auprès de 766 participants : Les agents d'IA ont conduit à une </a:t>
            </a:r>
            <a:r>
              <a:rPr lang="fr-FR" b="1" dirty="0"/>
              <a:t>plus grande satisfaction </a:t>
            </a:r>
            <a:r>
              <a:rPr lang="fr-FR" dirty="0"/>
              <a:t>dans les achats de produits verts.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29032"/>
              <a:buFont typeface="Arial"/>
              <a:buChar char="•"/>
            </a:pPr>
            <a:r>
              <a:rPr lang="fr-FR" dirty="0"/>
              <a:t>Pourquoi ? L'IA a déclenché </a:t>
            </a:r>
            <a:r>
              <a:rPr lang="fr-FR" b="1" dirty="0"/>
              <a:t>un plus grand investissement personnel → </a:t>
            </a:r>
            <a:r>
              <a:rPr lang="fr-FR" dirty="0"/>
              <a:t>les consommateurs se sont sentis plus responsables et engagés.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29032"/>
              <a:buFont typeface="Arial"/>
              <a:buChar char="•"/>
            </a:pPr>
            <a:r>
              <a:rPr lang="fr-FR" dirty="0"/>
              <a:t>Modéré par la conscience environnementale :</a:t>
            </a:r>
            <a:endParaRPr dirty="0"/>
          </a:p>
          <a:p>
            <a:pPr marL="742950" lvl="1" indent="-2857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29032"/>
              <a:buFont typeface="Arial"/>
              <a:buChar char="•"/>
            </a:pPr>
            <a:r>
              <a:rPr lang="fr-FR" dirty="0"/>
              <a:t>Consommateurs peu sensibilisés : préfèrent les agents d'intelligence artificielle</a:t>
            </a:r>
            <a:endParaRPr dirty="0"/>
          </a:p>
          <a:p>
            <a:pPr marL="742950" lvl="1" indent="-2857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29032"/>
              <a:buFont typeface="Arial"/>
              <a:buChar char="•"/>
            </a:pPr>
            <a:r>
              <a:rPr lang="fr-FR" dirty="0"/>
              <a:t>Consommateurs très sensibilisés : indifférents au type d'agent</a:t>
            </a:r>
            <a:endParaRPr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29032"/>
              <a:buFont typeface="Arial"/>
              <a:buChar char="•"/>
            </a:pPr>
            <a:r>
              <a:rPr lang="fr-FR" i="1" dirty="0"/>
              <a:t>À retenir :</a:t>
            </a:r>
            <a:r>
              <a:rPr lang="fr-FR" dirty="0"/>
              <a:t> L'IA peut aider les consommateurs moins sensibilisés à l'environnement à prendre des décisions plus réfléchies.</a:t>
            </a:r>
            <a:endParaRPr dirty="0"/>
          </a:p>
          <a:p>
            <a: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ct val="129032"/>
              <a:buFont typeface="Noto Sans Symbols"/>
              <a:buNone/>
            </a:pP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fr-FR"/>
              <a:t>Ce que nous avons appris</a:t>
            </a:r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body" idx="1"/>
          </p:nvPr>
        </p:nvSpPr>
        <p:spPr>
          <a:xfrm>
            <a:off x="838200" y="1223278"/>
            <a:ext cx="10515600" cy="516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dirty="0"/>
              <a:t>L'IA transforme le marketing relationnel, mais ne remplace pas les humains.</a:t>
            </a:r>
            <a:endParaRPr dirty="0"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dirty="0"/>
              <a:t>La technologie doit être alignée sur le parcours du client ET de l'employé</a:t>
            </a:r>
            <a:endParaRPr dirty="0"/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31019"/>
              </a:buClr>
              <a:buSzPts val="2800"/>
              <a:buFont typeface="Noto Sans Symbols"/>
              <a:buChar char="▪"/>
            </a:pPr>
            <a:r>
              <a:rPr lang="fr-FR" dirty="0"/>
              <a:t>Les spécialistes du marketing relationnel doivent devenir des architectes de l'intelligence hybride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que1">
  <a:themeElements>
    <a:clrScheme name="Personnalisé 1">
      <a:dk1>
        <a:srgbClr val="002266"/>
      </a:dk1>
      <a:lt1>
        <a:srgbClr val="F8F8F8"/>
      </a:lt1>
      <a:dk2>
        <a:srgbClr val="000099"/>
      </a:dk2>
      <a:lt2>
        <a:srgbClr val="ABCFE5"/>
      </a:lt2>
      <a:accent1>
        <a:srgbClr val="E00016"/>
      </a:accent1>
      <a:accent2>
        <a:srgbClr val="EE754D"/>
      </a:accent2>
      <a:accent3>
        <a:srgbClr val="BFC3CC"/>
      </a:accent3>
      <a:accent4>
        <a:srgbClr val="FFC000"/>
      </a:accent4>
      <a:accent5>
        <a:srgbClr val="006699"/>
      </a:accent5>
      <a:accent6>
        <a:srgbClr val="A1C854"/>
      </a:accent6>
      <a:hlink>
        <a:srgbClr val="0563C1"/>
      </a:hlink>
      <a:folHlink>
        <a:srgbClr val="EA515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1251</Words>
  <Application>Microsoft Office PowerPoint</Application>
  <PresentationFormat>Grand écran</PresentationFormat>
  <Paragraphs>133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0" baseType="lpstr">
      <vt:lpstr>Arial</vt:lpstr>
      <vt:lpstr>Avenir</vt:lpstr>
      <vt:lpstr>Calibri</vt:lpstr>
      <vt:lpstr>Noto Sans Symbols</vt:lpstr>
      <vt:lpstr>masque1</vt:lpstr>
      <vt:lpstr>Session 7 : Big Data, IA et marketing relationnel</vt:lpstr>
      <vt:lpstr>Agenda</vt:lpstr>
      <vt:lpstr>Agenda</vt:lpstr>
      <vt:lpstr>L'importance de l'IA pour le marketing relationnel</vt:lpstr>
      <vt:lpstr>Comprendre l'IA mécanique, l'IA de la pensée et l'IA des sentiments</vt:lpstr>
      <vt:lpstr>Présentation PowerPoint</vt:lpstr>
      <vt:lpstr>Agenda</vt:lpstr>
      <vt:lpstr>Humains + IA : travailler ensemble dans la gestion de la relation client</vt:lpstr>
      <vt:lpstr>Humains + IA : travailler ensemble dans la gestion de la relation client</vt:lpstr>
      <vt:lpstr>Intelligence collaborative : Partenariat IA-HI</vt:lpstr>
      <vt:lpstr>Quand l'IA remplace-t-elle ou soutient-elle les tâches humaines ?</vt:lpstr>
      <vt:lpstr>Agenda</vt:lpstr>
      <vt:lpstr>Utiliser la technologie en magasin pour soutenir le marketing relationnel</vt:lpstr>
      <vt:lpstr>Présentation PowerPoint</vt:lpstr>
      <vt:lpstr>Présentation PowerPoint</vt:lpstr>
      <vt:lpstr>Cartographie des technologies du commerce de détail (Grewal et al.,2023)</vt:lpstr>
      <vt:lpstr>Le double impact de la technologie sur l'expérience</vt:lpstr>
      <vt:lpstr>Aligner les objectifs technologiques et les parties prenantes</vt:lpstr>
      <vt:lpstr>L'IA peut-elle créer de vraies relations ?</vt:lpstr>
      <vt:lpstr>Agenda</vt:lpstr>
      <vt:lpstr>Développements en cours : IA générative et agents intelligents </vt:lpstr>
      <vt:lpstr>Développements en cours : IA générative et agents intelligents </vt:lpstr>
      <vt:lpstr>Un exemple de Salesforce : IA + données + CRM </vt:lpstr>
      <vt:lpstr>Effets de l'IA dans le marketing relationnel (achat vert)</vt:lpstr>
      <vt:lpstr>Ce que nous avons appris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LAMOTTE Olivier</dc:creator>
  <cp:lastModifiedBy>BELAID Samy</cp:lastModifiedBy>
  <cp:revision>1</cp:revision>
  <dcterms:created xsi:type="dcterms:W3CDTF">2019-10-07T12:53:08Z</dcterms:created>
  <dcterms:modified xsi:type="dcterms:W3CDTF">2025-10-13T08:59:28Z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0x0101006EAC1D91D3C1584090C60C94649FF261</vt:lpwstr>
  </property>
</Properties>
</file>