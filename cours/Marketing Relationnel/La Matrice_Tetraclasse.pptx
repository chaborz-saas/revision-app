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AID Samy" userId="736cc5f9-46a0-4af7-bed7-d2831b5f1024" providerId="ADAL" clId="{3915C4EE-BA9F-4856-96A7-4460C4FDF735}"/>
    <pc:docChg chg="modSld">
      <pc:chgData name="BELAID Samy" userId="736cc5f9-46a0-4af7-bed7-d2831b5f1024" providerId="ADAL" clId="{3915C4EE-BA9F-4856-96A7-4460C4FDF735}" dt="2025-09-24T13:35:24.947" v="0" actId="123"/>
      <pc:docMkLst>
        <pc:docMk/>
      </pc:docMkLst>
      <pc:sldChg chg="modSp mod">
        <pc:chgData name="BELAID Samy" userId="736cc5f9-46a0-4af7-bed7-d2831b5f1024" providerId="ADAL" clId="{3915C4EE-BA9F-4856-96A7-4460C4FDF735}" dt="2025-09-24T13:35:24.947" v="0" actId="123"/>
        <pc:sldMkLst>
          <pc:docMk/>
          <pc:sldMk cId="0" sldId="257"/>
        </pc:sldMkLst>
        <pc:spChg chg="mod">
          <ac:chgData name="BELAID Samy" userId="736cc5f9-46a0-4af7-bed7-d2831b5f1024" providerId="ADAL" clId="{3915C4EE-BA9F-4856-96A7-4460C4FDF735}" dt="2025-09-24T13:35:24.947" v="0" actId="123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 Matrice Tétraclasse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D0DBCCEA-1AA6-B5EE-D2FB-C28BADE03E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et Définition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835" y="1166018"/>
            <a:ext cx="8552329" cy="4525963"/>
          </a:xfrm>
        </p:spPr>
        <p:txBody>
          <a:bodyPr/>
          <a:lstStyle/>
          <a:p>
            <a:r>
              <a:rPr dirty="0"/>
              <a:t>La </a:t>
            </a:r>
            <a:r>
              <a:rPr dirty="0" err="1"/>
              <a:t>matrice</a:t>
            </a:r>
            <a:r>
              <a:rPr dirty="0"/>
              <a:t> Tétraclasse </a:t>
            </a:r>
            <a:r>
              <a:rPr lang="fr-FR" dirty="0"/>
              <a:t>permet d’</a:t>
            </a:r>
            <a:r>
              <a:rPr dirty="0" err="1"/>
              <a:t>évaluer</a:t>
            </a:r>
            <a:r>
              <a:rPr dirty="0"/>
              <a:t> et </a:t>
            </a:r>
            <a:r>
              <a:rPr lang="fr-FR" dirty="0"/>
              <a:t>de </a:t>
            </a:r>
            <a:r>
              <a:rPr dirty="0"/>
              <a:t>classer les </a:t>
            </a:r>
            <a:r>
              <a:rPr dirty="0" err="1"/>
              <a:t>attributs</a:t>
            </a:r>
            <a:r>
              <a:rPr dirty="0"/>
              <a:t> d'un </a:t>
            </a:r>
            <a:r>
              <a:rPr dirty="0" err="1"/>
              <a:t>produit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service en </a:t>
            </a:r>
            <a:r>
              <a:rPr dirty="0" err="1"/>
              <a:t>fonction</a:t>
            </a:r>
            <a:r>
              <a:rPr dirty="0"/>
              <a:t> de </a:t>
            </a:r>
            <a:r>
              <a:rPr dirty="0" err="1"/>
              <a:t>leur</a:t>
            </a:r>
            <a:r>
              <a:rPr dirty="0"/>
              <a:t> impact sur la satisfaction des clients. </a:t>
            </a:r>
            <a:endParaRPr lang="fr-FR" dirty="0"/>
          </a:p>
          <a:p>
            <a:pPr algn="just"/>
            <a:r>
              <a:rPr dirty="0"/>
              <a:t>Elle </a:t>
            </a:r>
            <a:r>
              <a:rPr dirty="0" err="1"/>
              <a:t>s'appuie</a:t>
            </a:r>
            <a:r>
              <a:rPr dirty="0"/>
              <a:t> sur </a:t>
            </a:r>
            <a:r>
              <a:rPr b="1" dirty="0"/>
              <a:t>la </a:t>
            </a:r>
            <a:r>
              <a:rPr b="1" dirty="0" err="1"/>
              <a:t>qualité</a:t>
            </a:r>
            <a:r>
              <a:rPr b="1" dirty="0"/>
              <a:t> </a:t>
            </a:r>
            <a:r>
              <a:rPr b="1" dirty="0" err="1"/>
              <a:t>perçue</a:t>
            </a:r>
            <a:r>
              <a:rPr dirty="0"/>
              <a:t>, </a:t>
            </a:r>
            <a:r>
              <a:rPr dirty="0" err="1"/>
              <a:t>analysant</a:t>
            </a:r>
            <a:r>
              <a:rPr dirty="0"/>
              <a:t> la </a:t>
            </a:r>
            <a:r>
              <a:rPr b="1" dirty="0"/>
              <a:t>relation entre </a:t>
            </a:r>
            <a:r>
              <a:rPr b="1" dirty="0" err="1"/>
              <a:t>attentes</a:t>
            </a:r>
            <a:r>
              <a:rPr b="1" dirty="0"/>
              <a:t> et performances</a:t>
            </a:r>
            <a:r>
              <a:rPr lang="fr-FR" b="1" dirty="0"/>
              <a:t> </a:t>
            </a:r>
            <a:r>
              <a:rPr lang="fr-FR" dirty="0"/>
              <a:t>(Jean-Marc Ferrandi , 2000)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600" dirty="0"/>
              <a:t>Structure de la Matrice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600"/>
              <a:t>Division des attributs en quatre catégories :</a:t>
            </a:r>
          </a:p>
          <a:p>
            <a:pPr>
              <a:lnSpc>
                <a:spcPct val="90000"/>
              </a:lnSpc>
            </a:pPr>
            <a:r>
              <a:rPr lang="fr-FR" sz="1600"/>
              <a:t>1. Attributs de base (Essentiels)</a:t>
            </a:r>
          </a:p>
          <a:p>
            <a:pPr>
              <a:lnSpc>
                <a:spcPct val="90000"/>
              </a:lnSpc>
            </a:pPr>
            <a:r>
              <a:rPr lang="fr-FR" sz="1600"/>
              <a:t>2. Attributs de performance (Directeurs)</a:t>
            </a:r>
          </a:p>
          <a:p>
            <a:pPr>
              <a:lnSpc>
                <a:spcPct val="90000"/>
              </a:lnSpc>
            </a:pPr>
            <a:r>
              <a:rPr lang="fr-FR" sz="1600"/>
              <a:t>3. Attributs de charme (Enthousiasmants)</a:t>
            </a:r>
          </a:p>
          <a:p>
            <a:pPr>
              <a:lnSpc>
                <a:spcPct val="90000"/>
              </a:lnSpc>
            </a:pPr>
            <a:r>
              <a:rPr lang="fr-FR" sz="1600"/>
              <a:t>4. Attributs indifférents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395F500-A3F3-F151-CDB7-32AC02502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1293"/>
            <a:ext cx="9302480" cy="4907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C841CE-BC73-C2A4-BE55-D282F8BD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Mise en situation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CB2B74-5E02-FC05-FF74-11E121B0D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Exemple : Hôtellerie</a:t>
            </a:r>
          </a:p>
          <a:p>
            <a:r>
              <a:rPr lang="fr-FR" dirty="0"/>
              <a:t>Attributs de base ?</a:t>
            </a:r>
          </a:p>
          <a:p>
            <a:r>
              <a:rPr lang="fr-FR" dirty="0"/>
              <a:t>Attributs de performance ?</a:t>
            </a:r>
          </a:p>
          <a:p>
            <a:r>
              <a:rPr lang="fr-FR" dirty="0"/>
              <a:t>Attributs de charme ?</a:t>
            </a:r>
          </a:p>
          <a:p>
            <a:r>
              <a:rPr lang="fr-FR" dirty="0"/>
              <a:t>Attributs indifférents ?</a:t>
            </a:r>
          </a:p>
        </p:txBody>
      </p:sp>
    </p:spTree>
    <p:extLst>
      <p:ext uri="{BB962C8B-B14F-4D97-AF65-F5344CB8AC3E}">
        <p14:creationId xmlns:p14="http://schemas.microsoft.com/office/powerpoint/2010/main" val="498605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Exemple</a:t>
            </a:r>
            <a:r>
              <a:rPr dirty="0"/>
              <a:t> Pratique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Exemple</a:t>
            </a:r>
            <a:r>
              <a:rPr dirty="0"/>
              <a:t> : </a:t>
            </a:r>
            <a:r>
              <a:rPr dirty="0" err="1"/>
              <a:t>Hôtellerie</a:t>
            </a:r>
            <a:endParaRPr dirty="0"/>
          </a:p>
          <a:p>
            <a:r>
              <a:rPr dirty="0" err="1"/>
              <a:t>Attributs</a:t>
            </a:r>
            <a:r>
              <a:rPr dirty="0"/>
              <a:t> de base : </a:t>
            </a:r>
            <a:r>
              <a:rPr dirty="0" err="1"/>
              <a:t>Propreté</a:t>
            </a:r>
            <a:r>
              <a:rPr dirty="0"/>
              <a:t>, </a:t>
            </a:r>
            <a:r>
              <a:rPr dirty="0" err="1"/>
              <a:t>sécurité</a:t>
            </a:r>
            <a:endParaRPr dirty="0"/>
          </a:p>
          <a:p>
            <a:r>
              <a:rPr dirty="0" err="1"/>
              <a:t>Attributs</a:t>
            </a:r>
            <a:r>
              <a:rPr dirty="0"/>
              <a:t> de performance : </a:t>
            </a:r>
            <a:r>
              <a:rPr dirty="0" err="1"/>
              <a:t>Rapidité</a:t>
            </a:r>
            <a:r>
              <a:rPr dirty="0"/>
              <a:t> du service</a:t>
            </a:r>
          </a:p>
          <a:p>
            <a:r>
              <a:rPr dirty="0" err="1"/>
              <a:t>Attributs</a:t>
            </a:r>
            <a:r>
              <a:rPr dirty="0"/>
              <a:t> de </a:t>
            </a:r>
            <a:r>
              <a:rPr dirty="0" err="1"/>
              <a:t>charme</a:t>
            </a:r>
            <a:r>
              <a:rPr dirty="0"/>
              <a:t> : </a:t>
            </a:r>
            <a:r>
              <a:rPr dirty="0" err="1"/>
              <a:t>Cadeaux</a:t>
            </a:r>
            <a:r>
              <a:rPr dirty="0"/>
              <a:t> de </a:t>
            </a:r>
            <a:r>
              <a:rPr dirty="0" err="1"/>
              <a:t>bienvenue</a:t>
            </a:r>
            <a:endParaRPr dirty="0"/>
          </a:p>
          <a:p>
            <a:r>
              <a:rPr dirty="0" err="1"/>
              <a:t>Attributs</a:t>
            </a:r>
            <a:r>
              <a:rPr dirty="0"/>
              <a:t> </a:t>
            </a:r>
            <a:r>
              <a:rPr dirty="0" err="1"/>
              <a:t>indifférents</a:t>
            </a:r>
            <a:r>
              <a:rPr dirty="0"/>
              <a:t> : Couleur des serviettes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Méthodologie d’Évaluation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La </a:t>
            </a:r>
            <a:r>
              <a:rPr dirty="0" err="1"/>
              <a:t>matrice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utilisée</a:t>
            </a:r>
            <a:r>
              <a:rPr dirty="0"/>
              <a:t> pour </a:t>
            </a:r>
            <a:r>
              <a:rPr dirty="0" err="1"/>
              <a:t>hiérarchiser</a:t>
            </a:r>
            <a:r>
              <a:rPr dirty="0"/>
              <a:t> les </a:t>
            </a:r>
            <a:r>
              <a:rPr dirty="0" err="1"/>
              <a:t>priorités</a:t>
            </a:r>
            <a:r>
              <a:rPr dirty="0"/>
              <a:t> en se </a:t>
            </a:r>
            <a:r>
              <a:rPr dirty="0" err="1"/>
              <a:t>concentrant</a:t>
            </a:r>
            <a:r>
              <a:rPr dirty="0"/>
              <a:t> sur les </a:t>
            </a:r>
            <a:r>
              <a:rPr dirty="0" err="1"/>
              <a:t>attributs</a:t>
            </a:r>
            <a:r>
              <a:rPr dirty="0"/>
              <a:t> influents. Elle </a:t>
            </a:r>
            <a:r>
              <a:rPr dirty="0" err="1"/>
              <a:t>permet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</a:t>
            </a:r>
            <a:r>
              <a:rPr dirty="0" err="1"/>
              <a:t>d’allouer</a:t>
            </a:r>
            <a:r>
              <a:rPr dirty="0"/>
              <a:t> les </a:t>
            </a:r>
            <a:r>
              <a:rPr dirty="0" err="1"/>
              <a:t>ressources</a:t>
            </a:r>
            <a:r>
              <a:rPr dirty="0"/>
              <a:t> de manière </a:t>
            </a:r>
            <a:r>
              <a:rPr dirty="0" err="1"/>
              <a:t>optimale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Avantages et Limites de la Matrice Tétraclasse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Avantages</a:t>
            </a:r>
            <a:r>
              <a:rPr dirty="0"/>
              <a:t> :</a:t>
            </a:r>
          </a:p>
          <a:p>
            <a:pPr lvl="1"/>
            <a:r>
              <a:rPr dirty="0" err="1"/>
              <a:t>Simplicité</a:t>
            </a:r>
            <a:r>
              <a:rPr dirty="0"/>
              <a:t> et </a:t>
            </a:r>
            <a:r>
              <a:rPr dirty="0" err="1"/>
              <a:t>flexibilité</a:t>
            </a:r>
            <a:endParaRPr dirty="0"/>
          </a:p>
          <a:p>
            <a:pPr lvl="1"/>
            <a:r>
              <a:rPr dirty="0"/>
              <a:t>Identification des </a:t>
            </a:r>
            <a:r>
              <a:rPr dirty="0" err="1"/>
              <a:t>priorités</a:t>
            </a:r>
            <a:endParaRPr dirty="0"/>
          </a:p>
          <a:p>
            <a:r>
              <a:rPr dirty="0" err="1"/>
              <a:t>Limites</a:t>
            </a:r>
            <a:r>
              <a:rPr dirty="0"/>
              <a:t> :</a:t>
            </a:r>
          </a:p>
          <a:p>
            <a:pPr lvl="1"/>
            <a:r>
              <a:rPr dirty="0" err="1"/>
              <a:t>Subjectivité</a:t>
            </a:r>
            <a:r>
              <a:rPr dirty="0"/>
              <a:t> possible</a:t>
            </a:r>
          </a:p>
          <a:p>
            <a:pPr lvl="1"/>
            <a:r>
              <a:rPr dirty="0" err="1"/>
              <a:t>Nécessité</a:t>
            </a:r>
            <a:r>
              <a:rPr dirty="0"/>
              <a:t> de données clients </a:t>
            </a:r>
            <a:r>
              <a:rPr dirty="0" err="1"/>
              <a:t>fiables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et Recommandations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La </a:t>
            </a:r>
            <a:r>
              <a:rPr dirty="0" err="1"/>
              <a:t>matrice</a:t>
            </a:r>
            <a:r>
              <a:rPr dirty="0"/>
              <a:t> Tétraclasse aide à </a:t>
            </a:r>
            <a:r>
              <a:rPr dirty="0" err="1"/>
              <a:t>focaliser</a:t>
            </a:r>
            <a:r>
              <a:rPr dirty="0"/>
              <a:t> les efforts sur les </a:t>
            </a:r>
            <a:r>
              <a:rPr dirty="0" err="1"/>
              <a:t>attributs</a:t>
            </a:r>
            <a:r>
              <a:rPr dirty="0"/>
              <a:t> influents pour </a:t>
            </a:r>
            <a:r>
              <a:rPr dirty="0" err="1"/>
              <a:t>optimiser</a:t>
            </a:r>
            <a:r>
              <a:rPr dirty="0"/>
              <a:t> </a:t>
            </a:r>
            <a:r>
              <a:rPr dirty="0" err="1"/>
              <a:t>l'expérience</a:t>
            </a:r>
            <a:r>
              <a:rPr dirty="0"/>
              <a:t> client. </a:t>
            </a:r>
            <a:endParaRPr lang="fr-FR" dirty="0"/>
          </a:p>
          <a:p>
            <a:pPr algn="just"/>
            <a:r>
              <a:rPr dirty="0"/>
              <a:t>Il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recommandé</a:t>
            </a:r>
            <a:r>
              <a:rPr dirty="0"/>
              <a:t> de </a:t>
            </a:r>
            <a:r>
              <a:rPr dirty="0" err="1"/>
              <a:t>l’intégrer</a:t>
            </a:r>
            <a:r>
              <a:rPr dirty="0"/>
              <a:t> dans la </a:t>
            </a:r>
            <a:r>
              <a:rPr dirty="0" err="1"/>
              <a:t>stratégie</a:t>
            </a:r>
            <a:r>
              <a:rPr dirty="0"/>
              <a:t> de gestion de la </a:t>
            </a:r>
            <a:r>
              <a:rPr dirty="0" err="1"/>
              <a:t>qualité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231</Words>
  <Application>Microsoft Office PowerPoint</Application>
  <PresentationFormat>Affichage à l'écran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La Matrice Tétraclasse</vt:lpstr>
      <vt:lpstr>Contexte et Définition</vt:lpstr>
      <vt:lpstr>Structure de la Matrice</vt:lpstr>
      <vt:lpstr>Mise en situation</vt:lpstr>
      <vt:lpstr>Exemple Pratique</vt:lpstr>
      <vt:lpstr>Méthodologie d’Évaluation</vt:lpstr>
      <vt:lpstr>Avantages et Limites de la Matrice Tétraclasse</vt:lpstr>
      <vt:lpstr>Conclusion et Recommandations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BELAID Samy</dc:creator>
  <cp:keywords/>
  <dc:description>generated using python-pptx</dc:description>
  <cp:lastModifiedBy>BELAID Samy</cp:lastModifiedBy>
  <cp:revision>2</cp:revision>
  <dcterms:created xsi:type="dcterms:W3CDTF">2013-01-27T09:14:16Z</dcterms:created>
  <dcterms:modified xsi:type="dcterms:W3CDTF">2025-09-24T13:35:35Z</dcterms:modified>
  <cp:category/>
</cp:coreProperties>
</file>