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AID Samy" userId="736cc5f9-46a0-4af7-bed7-d2831b5f1024" providerId="ADAL" clId="{3915C4EE-BA9F-4856-96A7-4460C4FDF735}"/>
    <pc:docChg chg="modSld">
      <pc:chgData name="BELAID Samy" userId="736cc5f9-46a0-4af7-bed7-d2831b5f1024" providerId="ADAL" clId="{3915C4EE-BA9F-4856-96A7-4460C4FDF735}" dt="2025-11-19T10:01:25.784" v="1" actId="20577"/>
      <pc:docMkLst>
        <pc:docMk/>
      </pc:docMkLst>
      <pc:sldChg chg="modSp mod">
        <pc:chgData name="BELAID Samy" userId="736cc5f9-46a0-4af7-bed7-d2831b5f1024" providerId="ADAL" clId="{3915C4EE-BA9F-4856-96A7-4460C4FDF735}" dt="2025-11-19T10:01:25.784" v="1" actId="20577"/>
        <pc:sldMkLst>
          <pc:docMk/>
          <pc:sldMk cId="0" sldId="260"/>
        </pc:sldMkLst>
        <pc:spChg chg="mod">
          <ac:chgData name="BELAID Samy" userId="736cc5f9-46a0-4af7-bed7-d2831b5f1024" providerId="ADAL" clId="{3915C4EE-BA9F-4856-96A7-4460C4FDF735}" dt="2025-11-19T10:01:25.784" v="1" actId="20577"/>
          <ac:spMkLst>
            <pc:docMk/>
            <pc:sldMk cId="0" sldId="260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495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99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00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845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73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208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104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733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795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272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24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0DAF61AA-5A98-4049-A93E-477E5505141A}" type="datetimeFigureOut">
              <a:rPr lang="en-US" smtClean="0"/>
              <a:pPr/>
              <a:t>11/19/2025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187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6DFAFB-BCE1-4BEC-82FB-D574234DE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8CDD8D6-4370-8ABE-5BF0-CCDB8FF141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25" y="4098524"/>
            <a:ext cx="6974078" cy="2226076"/>
          </a:xfrm>
        </p:spPr>
        <p:txBody>
          <a:bodyPr anchor="ctr">
            <a:normAutofit/>
          </a:bodyPr>
          <a:lstStyle/>
          <a:p>
            <a:pPr algn="l"/>
            <a:r>
              <a:rPr lang="fr-FR" sz="4000" dirty="0"/>
              <a:t>La valeur vie client (Customer </a:t>
            </a:r>
            <a:r>
              <a:rPr lang="fr-FR" sz="4000" dirty="0" err="1"/>
              <a:t>Lifetime</a:t>
            </a:r>
            <a:r>
              <a:rPr lang="fr-FR" sz="4000" dirty="0"/>
              <a:t> Value – CLV)</a:t>
            </a:r>
          </a:p>
        </p:txBody>
      </p:sp>
      <p:grpSp>
        <p:nvGrpSpPr>
          <p:cNvPr id="13" name="Bottom Right">
            <a:extLst>
              <a:ext uri="{FF2B5EF4-FFF2-40B4-BE49-F238E27FC236}">
                <a16:creationId xmlns:a16="http://schemas.microsoft.com/office/drawing/2014/main" id="{F738262B-3960-4D04-92F3-C363584E9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657100-BDC2-4335-865E-8B822BC96B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15" name="Graphic 157">
              <a:extLst>
                <a:ext uri="{FF2B5EF4-FFF2-40B4-BE49-F238E27FC236}">
                  <a16:creationId xmlns:a16="http://schemas.microsoft.com/office/drawing/2014/main" id="{7C44F7A2-EC4A-484B-BE71-8B23C0F60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21590F86-76CD-4EB9-8741-34B0E1941D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FD6089F4-CD95-4D48-A805-34EA5F848D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8DB60A2-B18C-4F65-B0E6-66ED9CEFAF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048C6F4-614B-45FA-AB8F-25347B5441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F25FD66F-3D7B-4850-B481-5D51840D46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E393D591-D719-4C28-B8E5-3346363580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F0E41FB1-38F3-4037-B5F2-E4E3531100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8A8B4BF-5D23-4610-AD0E-B290C8D67D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F1ACF5CE-BD6C-1BDD-51E4-92BB5481E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5430" y="4085112"/>
            <a:ext cx="3997745" cy="2228758"/>
          </a:xfrm>
        </p:spPr>
        <p:txBody>
          <a:bodyPr anchor="ctr">
            <a:normAutofit/>
          </a:bodyPr>
          <a:lstStyle/>
          <a:p>
            <a:pPr algn="l"/>
            <a:endParaRPr lang="fr-FR" sz="2200"/>
          </a:p>
        </p:txBody>
      </p:sp>
      <p:pic>
        <p:nvPicPr>
          <p:cNvPr id="4" name="Picture 3" descr="Arrière-plan de technologies réseau">
            <a:extLst>
              <a:ext uri="{FF2B5EF4-FFF2-40B4-BE49-F238E27FC236}">
                <a16:creationId xmlns:a16="http://schemas.microsoft.com/office/drawing/2014/main" id="{CDF6D3F1-8166-5A9F-8248-884D4B0CAD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91" b="35441"/>
          <a:stretch>
            <a:fillRect/>
          </a:stretch>
        </p:blipFill>
        <p:spPr>
          <a:xfrm>
            <a:off x="198741" y="10"/>
            <a:ext cx="11812017" cy="3919684"/>
          </a:xfrm>
          <a:prstGeom prst="rect">
            <a:avLst/>
          </a:prstGeom>
        </p:spPr>
      </p:pic>
      <p:grpSp>
        <p:nvGrpSpPr>
          <p:cNvPr id="25" name="Top Left">
            <a:extLst>
              <a:ext uri="{FF2B5EF4-FFF2-40B4-BE49-F238E27FC236}">
                <a16:creationId xmlns:a16="http://schemas.microsoft.com/office/drawing/2014/main" id="{345A4508-88A7-4C04-9603-4F8CCFCDC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10849" y="15178"/>
            <a:chExt cx="2198951" cy="3331254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CBEBA10-A14A-4AE6-9F5B-84BDE565C0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6C86399-9706-4DD7-8917-E6DB392421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DDA7BC8-3D83-4235-80B9-97CB95E3D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A9C08E3-DA34-4386-990E-1CB4F68E7B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3CFB05D-200F-4880-92F6-8730C6DEBB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AB4525A-595A-4728-9298-A4DFEE991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30A4D64-630B-47EB-9255-66DEFA42D0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34" name="Cross">
            <a:extLst>
              <a:ext uri="{FF2B5EF4-FFF2-40B4-BE49-F238E27FC236}">
                <a16:creationId xmlns:a16="http://schemas.microsoft.com/office/drawing/2014/main" id="{2E2A24AE-1C03-4337-8529-C4233C56F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200" y="3919728"/>
            <a:ext cx="118872" cy="118872"/>
            <a:chOff x="1175347" y="3733800"/>
            <a:chExt cx="118872" cy="118872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6213D2F-99EA-48EA-AD3A-A55DC4F5F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4ADACBA-0EE9-4E11-B79A-F39D15CFE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8986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6F9853-D2AE-28C9-F486-0CDC62790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Objectifs pédagogiques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295F3A-B4FF-34C2-2DF8-006FE669F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Comprendre la logique de la valeur vie client en marketing relationnel</a:t>
            </a:r>
          </a:p>
          <a:p>
            <a:r>
              <a:rPr lang="fr-FR" dirty="0"/>
              <a:t>Distinguer la CLV des indicateurs transactionnels classiques (chiffre d’affaires, nombre de ventes, etc.)</a:t>
            </a:r>
          </a:p>
          <a:p>
            <a:r>
              <a:rPr lang="fr-FR" dirty="0"/>
              <a:t>Savoir calculer une CLV simple à partir de quelques données de base</a:t>
            </a:r>
          </a:p>
          <a:p>
            <a:r>
              <a:rPr lang="fr-FR" dirty="0"/>
              <a:t>Relier la CLV à la satisfaction, à la fidélisation, à l’</a:t>
            </a:r>
            <a:r>
              <a:rPr lang="fr-FR" dirty="0" err="1"/>
              <a:t>omnicanalité</a:t>
            </a:r>
            <a:r>
              <a:rPr lang="fr-FR" dirty="0"/>
              <a:t> et à l’usage de l’intelligence artificielle (IA)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18703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Pourquoi la CLV en marketing relationnel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Du marketing transactionnel (focus sur la vente d’aujourd’hui) au marketing relationnel (valeur de la relation dans le temps)</a:t>
            </a:r>
          </a:p>
          <a:p>
            <a:r>
              <a:t>La CLV = estimation de la valeur financière future d’un client sur toute la durée de la relation</a:t>
            </a:r>
          </a:p>
          <a:p>
            <a:r>
              <a:t>Permet de : prioriser les clients, allouer les budgets marketing, choisir les investissements relationnels (programme de fidélité, service client, application, etc.)</a:t>
            </a:r>
          </a:p>
          <a:p>
            <a:r>
              <a:t>Question pour la classe : préférez-vous 100 nouveaux clients qui achètent une fois ou 10 clients qui achètent régulièrement pendant 3 ans ? Pourquoi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CLV : mini-formule et exemple numérique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Formule</a:t>
            </a:r>
            <a:r>
              <a:rPr dirty="0"/>
              <a:t> </a:t>
            </a:r>
            <a:r>
              <a:rPr dirty="0" err="1"/>
              <a:t>simplifiée</a:t>
            </a:r>
            <a:r>
              <a:rPr dirty="0"/>
              <a:t> : CLV ≈ Marge par </a:t>
            </a:r>
            <a:r>
              <a:rPr dirty="0" err="1"/>
              <a:t>achat</a:t>
            </a:r>
            <a:r>
              <a:rPr dirty="0"/>
              <a:t> × Nombre </a:t>
            </a:r>
            <a:r>
              <a:rPr dirty="0" err="1"/>
              <a:t>d’achats</a:t>
            </a:r>
            <a:r>
              <a:rPr dirty="0"/>
              <a:t> par an × Durée de la relation − </a:t>
            </a:r>
            <a:r>
              <a:rPr dirty="0" err="1"/>
              <a:t>Coûts</a:t>
            </a:r>
            <a:r>
              <a:rPr dirty="0"/>
              <a:t> marketing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 err="1"/>
              <a:t>Exemple</a:t>
            </a:r>
            <a:r>
              <a:rPr dirty="0"/>
              <a:t> : Marge </a:t>
            </a:r>
            <a:r>
              <a:rPr dirty="0" err="1"/>
              <a:t>moyenne</a:t>
            </a:r>
            <a:r>
              <a:rPr dirty="0"/>
              <a:t> = 10 €, </a:t>
            </a:r>
            <a:r>
              <a:rPr dirty="0" err="1"/>
              <a:t>Achats</a:t>
            </a:r>
            <a:r>
              <a:rPr dirty="0"/>
              <a:t>/an = 4, Durée = 3 </a:t>
            </a:r>
            <a:r>
              <a:rPr dirty="0" err="1"/>
              <a:t>ans</a:t>
            </a:r>
            <a:r>
              <a:rPr dirty="0"/>
              <a:t>, </a:t>
            </a:r>
            <a:r>
              <a:rPr dirty="0" err="1"/>
              <a:t>Coût</a:t>
            </a:r>
            <a:r>
              <a:rPr dirty="0"/>
              <a:t> </a:t>
            </a:r>
            <a:r>
              <a:rPr dirty="0" err="1"/>
              <a:t>d’acquisition</a:t>
            </a:r>
            <a:r>
              <a:rPr dirty="0"/>
              <a:t> = 20 € → CLV ≈ 10 × 4 × 3 − 20 = 100 €</a:t>
            </a:r>
          </a:p>
          <a:p>
            <a:r>
              <a:rPr dirty="0"/>
              <a:t>Message </a:t>
            </a:r>
            <a:r>
              <a:rPr dirty="0" err="1"/>
              <a:t>clé</a:t>
            </a:r>
            <a:r>
              <a:rPr dirty="0"/>
              <a:t> : un client ne </a:t>
            </a:r>
            <a:r>
              <a:rPr dirty="0" err="1"/>
              <a:t>vaut</a:t>
            </a:r>
            <a:r>
              <a:rPr dirty="0"/>
              <a:t> pas </a:t>
            </a:r>
            <a:r>
              <a:rPr dirty="0" err="1"/>
              <a:t>une</a:t>
            </a:r>
            <a:r>
              <a:rPr dirty="0"/>
              <a:t> transaction </a:t>
            </a:r>
            <a:r>
              <a:rPr dirty="0" err="1"/>
              <a:t>isolée</a:t>
            </a:r>
            <a:r>
              <a:rPr dirty="0"/>
              <a:t>, il </a:t>
            </a:r>
            <a:r>
              <a:rPr dirty="0" err="1"/>
              <a:t>vaut</a:t>
            </a:r>
            <a:r>
              <a:rPr dirty="0"/>
              <a:t> un flux de </a:t>
            </a:r>
            <a:r>
              <a:rPr dirty="0" err="1"/>
              <a:t>marges</a:t>
            </a:r>
            <a:r>
              <a:rPr dirty="0"/>
              <a:t> dans le temps</a:t>
            </a:r>
          </a:p>
          <a:p>
            <a:r>
              <a:rPr dirty="0"/>
              <a:t>Mini-</a:t>
            </a:r>
            <a:r>
              <a:rPr dirty="0" err="1"/>
              <a:t>exercice</a:t>
            </a:r>
            <a:r>
              <a:rPr dirty="0"/>
              <a:t> : </a:t>
            </a:r>
            <a:r>
              <a:rPr dirty="0" err="1"/>
              <a:t>si</a:t>
            </a:r>
            <a:r>
              <a:rPr dirty="0"/>
              <a:t> la durée de la relation passe de 3 à 5 </a:t>
            </a:r>
            <a:r>
              <a:rPr dirty="0" err="1"/>
              <a:t>ans</a:t>
            </a:r>
            <a:r>
              <a:rPr dirty="0"/>
              <a:t> (avec les </a:t>
            </a:r>
            <a:r>
              <a:rPr dirty="0" err="1"/>
              <a:t>mêmes</a:t>
            </a:r>
            <a:r>
              <a:rPr dirty="0"/>
              <a:t> données),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devient</a:t>
            </a:r>
            <a:r>
              <a:rPr dirty="0"/>
              <a:t> la CLV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Cas pratique : </a:t>
            </a:r>
            <a:r>
              <a:rPr dirty="0" err="1"/>
              <a:t>quel</a:t>
            </a:r>
            <a:r>
              <a:rPr dirty="0"/>
              <a:t> client </a:t>
            </a:r>
            <a:r>
              <a:rPr dirty="0" err="1"/>
              <a:t>vaut</a:t>
            </a:r>
            <a:r>
              <a:rPr dirty="0"/>
              <a:t> le plus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 err="1"/>
              <a:t>Contexte</a:t>
            </a:r>
            <a:r>
              <a:rPr dirty="0"/>
              <a:t> : abonnement de streaming (musique, </a:t>
            </a:r>
            <a:r>
              <a:rPr dirty="0" err="1"/>
              <a:t>vidéo</a:t>
            </a:r>
            <a:r>
              <a:rPr dirty="0"/>
              <a:t>, etc.)</a:t>
            </a:r>
          </a:p>
          <a:p>
            <a:r>
              <a:rPr dirty="0"/>
              <a:t>Client A : Marge = 5 €/</a:t>
            </a:r>
            <a:r>
              <a:rPr dirty="0" err="1"/>
              <a:t>mois</a:t>
            </a:r>
            <a:r>
              <a:rPr dirty="0"/>
              <a:t>, Durée </a:t>
            </a:r>
            <a:r>
              <a:rPr dirty="0" err="1"/>
              <a:t>moyenne</a:t>
            </a:r>
            <a:r>
              <a:rPr dirty="0"/>
              <a:t> de la relation = 12 </a:t>
            </a:r>
            <a:r>
              <a:rPr dirty="0" err="1"/>
              <a:t>mois</a:t>
            </a:r>
            <a:r>
              <a:rPr dirty="0"/>
              <a:t>, </a:t>
            </a:r>
            <a:r>
              <a:rPr dirty="0" err="1"/>
              <a:t>Coût</a:t>
            </a:r>
            <a:r>
              <a:rPr dirty="0"/>
              <a:t> </a:t>
            </a:r>
            <a:r>
              <a:rPr dirty="0" err="1"/>
              <a:t>d’acquisition</a:t>
            </a:r>
            <a:r>
              <a:rPr dirty="0"/>
              <a:t> = 15 €</a:t>
            </a:r>
          </a:p>
          <a:p>
            <a:r>
              <a:rPr dirty="0"/>
              <a:t>Client B : Marge = 4 €/</a:t>
            </a:r>
            <a:r>
              <a:rPr dirty="0" err="1"/>
              <a:t>mois</a:t>
            </a:r>
            <a:r>
              <a:rPr dirty="0"/>
              <a:t>, Durée </a:t>
            </a:r>
            <a:r>
              <a:rPr dirty="0" err="1"/>
              <a:t>moyenne</a:t>
            </a:r>
            <a:r>
              <a:rPr dirty="0"/>
              <a:t> de la relation = 36 </a:t>
            </a:r>
            <a:r>
              <a:rPr dirty="0" err="1"/>
              <a:t>mois</a:t>
            </a:r>
            <a:r>
              <a:rPr dirty="0"/>
              <a:t>, </a:t>
            </a:r>
            <a:r>
              <a:rPr dirty="0" err="1"/>
              <a:t>Coût</a:t>
            </a:r>
            <a:r>
              <a:rPr dirty="0"/>
              <a:t> </a:t>
            </a:r>
            <a:r>
              <a:rPr dirty="0" err="1"/>
              <a:t>d’acquisition</a:t>
            </a:r>
            <a:r>
              <a:rPr dirty="0"/>
              <a:t> = 15 €</a:t>
            </a:r>
          </a:p>
          <a:p>
            <a:r>
              <a:rPr dirty="0" err="1"/>
              <a:t>Consignes</a:t>
            </a:r>
            <a:r>
              <a:rPr dirty="0"/>
              <a:t> : 1) </a:t>
            </a:r>
            <a:r>
              <a:rPr dirty="0" err="1"/>
              <a:t>Calculez</a:t>
            </a:r>
            <a:r>
              <a:rPr dirty="0"/>
              <a:t> la CLV simple de A et de B  2) Quel client est le </a:t>
            </a:r>
            <a:r>
              <a:rPr dirty="0" err="1"/>
              <a:t>plu</a:t>
            </a:r>
            <a:r>
              <a:rPr lang="fr-FR" dirty="0"/>
              <a:t>  </a:t>
            </a:r>
            <a:r>
              <a:rPr dirty="0"/>
              <a:t>s </a:t>
            </a:r>
            <a:r>
              <a:rPr dirty="0" err="1"/>
              <a:t>intéressant</a:t>
            </a:r>
            <a:r>
              <a:rPr dirty="0"/>
              <a:t> pour </a:t>
            </a:r>
            <a:r>
              <a:rPr dirty="0" err="1"/>
              <a:t>l’entreprise</a:t>
            </a:r>
            <a:r>
              <a:rPr dirty="0"/>
              <a:t> ?  3) Citez 2 actions de marketing </a:t>
            </a:r>
            <a:r>
              <a:rPr dirty="0" err="1"/>
              <a:t>relationnel</a:t>
            </a:r>
            <a:r>
              <a:rPr dirty="0"/>
              <a:t> pour augmenter encore la CLV du client 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CLV : erreurs à ne pas commettre (et questions de réflexion)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Confondre chiffre d’affaires (montant payé) et marge : la CLV doit être basée sur la marge, pas seulement sur les ventes</a:t>
            </a:r>
          </a:p>
          <a:p>
            <a:r>
              <a:t>Oublier les coûts (acquisition, service, fidélisation) dans le calcul de la CLV</a:t>
            </a:r>
          </a:p>
          <a:p>
            <a:r>
              <a:t>Croire que le client avec le panier moyen le plus élevé a toujours la CLV la plus forte (la durée et la fréquence de la relation comptent tout autant)</a:t>
            </a:r>
          </a:p>
          <a:p>
            <a:r>
              <a:t>Utiliser la CLV comme un outil purement comptable, sans lien avec la stratégie relationnelle et l’expérience client</a:t>
            </a:r>
          </a:p>
          <a:p>
            <a:r>
              <a:t>Négliger les enjeux éthiques : discriminer systématiquement les clients à « faible CLV » peut nuire à l’image de marque et au sentiment d’équité</a:t>
            </a:r>
          </a:p>
          <a:p>
            <a:r>
              <a:t>Question de réflexion : comment trouver un équilibre entre optimisation de la CLV et traitement équitable des différents segments de clients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Sagona Boo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543</Words>
  <Application>Microsoft Office PowerPoint</Application>
  <PresentationFormat>Grand écran</PresentationFormat>
  <Paragraphs>28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Avenir Next LT Pro</vt:lpstr>
      <vt:lpstr>AvenirNext LT Pro Medium</vt:lpstr>
      <vt:lpstr>Sagona Book</vt:lpstr>
      <vt:lpstr>ExploreVTI</vt:lpstr>
      <vt:lpstr>La valeur vie client (Customer Lifetime Value – CLV)</vt:lpstr>
      <vt:lpstr>Objectifs pédagogiques</vt:lpstr>
      <vt:lpstr>Pourquoi la CLV en marketing relationnel ?</vt:lpstr>
      <vt:lpstr>CLV : mini-formule et exemple numérique</vt:lpstr>
      <vt:lpstr>Cas pratique : quel client vaut le plus ?</vt:lpstr>
      <vt:lpstr>CLV : erreurs à ne pas commettre (et questions de réflexion)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BELAID Samy</dc:creator>
  <cp:lastModifiedBy>BELAID Samy</cp:lastModifiedBy>
  <cp:revision>1</cp:revision>
  <dcterms:created xsi:type="dcterms:W3CDTF">2025-11-19T07:51:30Z</dcterms:created>
  <dcterms:modified xsi:type="dcterms:W3CDTF">2025-11-19T10:01:34Z</dcterms:modified>
</cp:coreProperties>
</file>