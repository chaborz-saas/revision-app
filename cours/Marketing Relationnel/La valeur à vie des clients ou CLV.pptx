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1.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78" r:id="rId3"/>
    <p:sldId id="314" r:id="rId4"/>
    <p:sldId id="279" r:id="rId5"/>
    <p:sldId id="281" r:id="rId6"/>
    <p:sldId id="316" r:id="rId7"/>
    <p:sldId id="317" r:id="rId8"/>
    <p:sldId id="318" r:id="rId9"/>
    <p:sldId id="319" r:id="rId10"/>
    <p:sldId id="321"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6686E1-47CD-48C6-AFCD-9B28E0074D7D}" type="datetimeFigureOut">
              <a:rPr lang="fr-FR" smtClean="0"/>
              <a:t>19/11/2025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CD594B-EC1D-4F20-8B8A-F467799A9D2A}" type="slidenum">
              <a:rPr lang="fr-FR" smtClean="0"/>
              <a:t>‹N°›</a:t>
            </a:fld>
            <a:endParaRPr lang="fr-FR"/>
          </a:p>
        </p:txBody>
      </p:sp>
    </p:spTree>
    <p:extLst>
      <p:ext uri="{BB962C8B-B14F-4D97-AF65-F5344CB8AC3E}">
        <p14:creationId xmlns:p14="http://schemas.microsoft.com/office/powerpoint/2010/main" val="776412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cs typeface="Arial" panose="020B0604020202020204" pitchFamily="34" charset="0"/>
              </a:rPr>
              <a:t>McKinsey rapporte qu’entre 30% et 40% des revenus de l’entreprise sont générés par des clients qui ne seraient pas rentables si leur véritable coût était calculé</a:t>
            </a:r>
          </a:p>
          <a:p>
            <a:endParaRPr lang="fr-FR" dirty="0"/>
          </a:p>
        </p:txBody>
      </p:sp>
      <p:sp>
        <p:nvSpPr>
          <p:cNvPr id="4" name="Espace réservé du numéro de diapositive 3"/>
          <p:cNvSpPr>
            <a:spLocks noGrp="1"/>
          </p:cNvSpPr>
          <p:nvPr>
            <p:ph type="sldNum" sz="quarter" idx="5"/>
          </p:nvPr>
        </p:nvSpPr>
        <p:spPr/>
        <p:txBody>
          <a:bodyPr/>
          <a:lstStyle/>
          <a:p>
            <a:fld id="{789FC4A9-3AF5-4B97-8799-34263736C86A}" type="slidenum">
              <a:rPr lang="fr-FR" smtClean="0"/>
              <a:t>9</a:t>
            </a:fld>
            <a:endParaRPr lang="fr-FR"/>
          </a:p>
        </p:txBody>
      </p:sp>
    </p:spTree>
    <p:extLst>
      <p:ext uri="{BB962C8B-B14F-4D97-AF65-F5344CB8AC3E}">
        <p14:creationId xmlns:p14="http://schemas.microsoft.com/office/powerpoint/2010/main" val="2826249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Amazon Prime</a:t>
            </a:r>
            <a:r>
              <a:rPr lang="fr-FR" dirty="0"/>
              <a:t> a ajusté sa politique de livraison gratuite en augmentant le montant minimum pour les clients non abonnés à Prime, afin de les encourager à s'abonner. Cela permet de rendre les clients non rentables plus profitables.</a:t>
            </a:r>
          </a:p>
          <a:p>
            <a:endParaRPr lang="fr-FR" b="0" i="0" dirty="0">
              <a:solidFill>
                <a:srgbClr val="111111"/>
              </a:solidFill>
              <a:effectLst/>
              <a:latin typeface="Fira Sans" panose="020B0503050000020004" pitchFamily="34" charset="0"/>
            </a:endParaRPr>
          </a:p>
          <a:p>
            <a:r>
              <a:rPr lang="fr-FR" b="0" i="0" dirty="0">
                <a:solidFill>
                  <a:srgbClr val="111111"/>
                </a:solidFill>
                <a:effectLst/>
                <a:latin typeface="Fira Sans" panose="020B0503050000020004" pitchFamily="34" charset="0"/>
              </a:rPr>
              <a:t>Appelez AT&amp;T et posez-leur une question concernant le service longue distance : l’opérateur téléphonique vous dirige vers l’un de ses nombreux centraux. Son système informatique utilise alors votre code personnel pour identifier votre numéro de téléphone, puis vérifie votre facture mensuelle. Si celle-ci est élevée, vous bénéficiez de ce qu’AT&amp;T appelle un “service de serviette chaude”, à savoir une opératrice pour vous assister. Mais, si vous dépensez moins de 3 dollars par mois, vous serez privé d’une telle assistance et devrez vous contenter de messages préenregistrés.</a:t>
            </a:r>
            <a:endParaRPr lang="fr-FR" dirty="0"/>
          </a:p>
        </p:txBody>
      </p:sp>
      <p:sp>
        <p:nvSpPr>
          <p:cNvPr id="4" name="Espace réservé du numéro de diapositive 3"/>
          <p:cNvSpPr>
            <a:spLocks noGrp="1"/>
          </p:cNvSpPr>
          <p:nvPr>
            <p:ph type="sldNum" sz="quarter" idx="5"/>
          </p:nvPr>
        </p:nvSpPr>
        <p:spPr/>
        <p:txBody>
          <a:bodyPr/>
          <a:lstStyle/>
          <a:p>
            <a:fld id="{789FC4A9-3AF5-4B97-8799-34263736C86A}" type="slidenum">
              <a:rPr lang="fr-FR" smtClean="0"/>
              <a:t>10</a:t>
            </a:fld>
            <a:endParaRPr lang="fr-FR"/>
          </a:p>
        </p:txBody>
      </p:sp>
    </p:spTree>
    <p:extLst>
      <p:ext uri="{BB962C8B-B14F-4D97-AF65-F5344CB8AC3E}">
        <p14:creationId xmlns:p14="http://schemas.microsoft.com/office/powerpoint/2010/main" val="530996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E7034E-CFB4-9DF5-9641-F30F1A4F9B2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57B5163C-98B1-B794-92F2-9439B2B653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3BF0E80-D771-3CBF-8663-B6A605F2DEE6}"/>
              </a:ext>
            </a:extLst>
          </p:cNvPr>
          <p:cNvSpPr>
            <a:spLocks noGrp="1"/>
          </p:cNvSpPr>
          <p:nvPr>
            <p:ph type="dt" sz="half" idx="10"/>
          </p:nvPr>
        </p:nvSpPr>
        <p:spPr/>
        <p:txBody>
          <a:bodyPr/>
          <a:lstStyle/>
          <a:p>
            <a:fld id="{A26BE5F2-2416-4AE4-952C-DCB13342F7D0}" type="datetimeFigureOut">
              <a:rPr lang="fr-FR" smtClean="0"/>
              <a:t>19/11/2025</a:t>
            </a:fld>
            <a:endParaRPr lang="fr-FR"/>
          </a:p>
        </p:txBody>
      </p:sp>
      <p:sp>
        <p:nvSpPr>
          <p:cNvPr id="5" name="Espace réservé du pied de page 4">
            <a:extLst>
              <a:ext uri="{FF2B5EF4-FFF2-40B4-BE49-F238E27FC236}">
                <a16:creationId xmlns:a16="http://schemas.microsoft.com/office/drawing/2014/main" id="{10549BB9-4814-C1C7-94DB-4B86D1C64E2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5449264-D374-CCDB-E72E-A1B407E82F59}"/>
              </a:ext>
            </a:extLst>
          </p:cNvPr>
          <p:cNvSpPr>
            <a:spLocks noGrp="1"/>
          </p:cNvSpPr>
          <p:nvPr>
            <p:ph type="sldNum" sz="quarter" idx="12"/>
          </p:nvPr>
        </p:nvSpPr>
        <p:spPr/>
        <p:txBody>
          <a:bodyPr/>
          <a:lstStyle/>
          <a:p>
            <a:fld id="{6BD11AB3-7D2D-4D1A-B530-B8815F5F58E0}" type="slidenum">
              <a:rPr lang="fr-FR" smtClean="0"/>
              <a:t>‹N°›</a:t>
            </a:fld>
            <a:endParaRPr lang="fr-FR"/>
          </a:p>
        </p:txBody>
      </p:sp>
    </p:spTree>
    <p:extLst>
      <p:ext uri="{BB962C8B-B14F-4D97-AF65-F5344CB8AC3E}">
        <p14:creationId xmlns:p14="http://schemas.microsoft.com/office/powerpoint/2010/main" val="873934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2514B9-48FF-EF25-BE27-F9E5C290C58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EB32B4E-7B59-99F4-D4C6-1D0D14DA3AA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B51B403-01CF-70C2-EEB8-56A003EE1EC5}"/>
              </a:ext>
            </a:extLst>
          </p:cNvPr>
          <p:cNvSpPr>
            <a:spLocks noGrp="1"/>
          </p:cNvSpPr>
          <p:nvPr>
            <p:ph type="dt" sz="half" idx="10"/>
          </p:nvPr>
        </p:nvSpPr>
        <p:spPr/>
        <p:txBody>
          <a:bodyPr/>
          <a:lstStyle/>
          <a:p>
            <a:fld id="{A26BE5F2-2416-4AE4-952C-DCB13342F7D0}" type="datetimeFigureOut">
              <a:rPr lang="fr-FR" smtClean="0"/>
              <a:t>19/11/2025</a:t>
            </a:fld>
            <a:endParaRPr lang="fr-FR"/>
          </a:p>
        </p:txBody>
      </p:sp>
      <p:sp>
        <p:nvSpPr>
          <p:cNvPr id="5" name="Espace réservé du pied de page 4">
            <a:extLst>
              <a:ext uri="{FF2B5EF4-FFF2-40B4-BE49-F238E27FC236}">
                <a16:creationId xmlns:a16="http://schemas.microsoft.com/office/drawing/2014/main" id="{5120BEB1-8FF2-A7FA-6CCE-AC50A999C98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DAC81ED-75EB-8A51-68F1-6FAB47E40F9E}"/>
              </a:ext>
            </a:extLst>
          </p:cNvPr>
          <p:cNvSpPr>
            <a:spLocks noGrp="1"/>
          </p:cNvSpPr>
          <p:nvPr>
            <p:ph type="sldNum" sz="quarter" idx="12"/>
          </p:nvPr>
        </p:nvSpPr>
        <p:spPr/>
        <p:txBody>
          <a:bodyPr/>
          <a:lstStyle/>
          <a:p>
            <a:fld id="{6BD11AB3-7D2D-4D1A-B530-B8815F5F58E0}" type="slidenum">
              <a:rPr lang="fr-FR" smtClean="0"/>
              <a:t>‹N°›</a:t>
            </a:fld>
            <a:endParaRPr lang="fr-FR"/>
          </a:p>
        </p:txBody>
      </p:sp>
    </p:spTree>
    <p:extLst>
      <p:ext uri="{BB962C8B-B14F-4D97-AF65-F5344CB8AC3E}">
        <p14:creationId xmlns:p14="http://schemas.microsoft.com/office/powerpoint/2010/main" val="3172970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A56CA3-A0BE-4395-3487-F6498295A96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FD39288-5720-3E03-A03C-B30533C34F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ED461B62-4BC2-9AA6-BB90-CF3B90ABBF6C}"/>
              </a:ext>
            </a:extLst>
          </p:cNvPr>
          <p:cNvSpPr>
            <a:spLocks noGrp="1"/>
          </p:cNvSpPr>
          <p:nvPr>
            <p:ph type="dt" sz="half" idx="10"/>
          </p:nvPr>
        </p:nvSpPr>
        <p:spPr/>
        <p:txBody>
          <a:bodyPr/>
          <a:lstStyle/>
          <a:p>
            <a:fld id="{A26BE5F2-2416-4AE4-952C-DCB13342F7D0}" type="datetimeFigureOut">
              <a:rPr lang="fr-FR" smtClean="0"/>
              <a:t>19/11/2025</a:t>
            </a:fld>
            <a:endParaRPr lang="fr-FR"/>
          </a:p>
        </p:txBody>
      </p:sp>
      <p:sp>
        <p:nvSpPr>
          <p:cNvPr id="5" name="Espace réservé du pied de page 4">
            <a:extLst>
              <a:ext uri="{FF2B5EF4-FFF2-40B4-BE49-F238E27FC236}">
                <a16:creationId xmlns:a16="http://schemas.microsoft.com/office/drawing/2014/main" id="{0068E2FC-8E7D-8BBD-A92F-5EF6994D6A3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E41F23E-D373-2A2B-1CCA-9A2B3698F6F6}"/>
              </a:ext>
            </a:extLst>
          </p:cNvPr>
          <p:cNvSpPr>
            <a:spLocks noGrp="1"/>
          </p:cNvSpPr>
          <p:nvPr>
            <p:ph type="sldNum" sz="quarter" idx="12"/>
          </p:nvPr>
        </p:nvSpPr>
        <p:spPr/>
        <p:txBody>
          <a:bodyPr/>
          <a:lstStyle/>
          <a:p>
            <a:fld id="{6BD11AB3-7D2D-4D1A-B530-B8815F5F58E0}" type="slidenum">
              <a:rPr lang="fr-FR" smtClean="0"/>
              <a:t>‹N°›</a:t>
            </a:fld>
            <a:endParaRPr lang="fr-FR"/>
          </a:p>
        </p:txBody>
      </p:sp>
    </p:spTree>
    <p:extLst>
      <p:ext uri="{BB962C8B-B14F-4D97-AF65-F5344CB8AC3E}">
        <p14:creationId xmlns:p14="http://schemas.microsoft.com/office/powerpoint/2010/main" val="151474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FCAD8D-8E70-CC6E-E2E7-0B86AC196DE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FB7D139-AEB5-5DB6-DB10-916A954BBAD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2A2976B-CA6D-46CE-87BC-2B3B8EA1EE1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B231BD9F-C4AD-5F72-A938-3D5A351D7057}"/>
              </a:ext>
            </a:extLst>
          </p:cNvPr>
          <p:cNvSpPr>
            <a:spLocks noGrp="1"/>
          </p:cNvSpPr>
          <p:nvPr>
            <p:ph type="dt" sz="half" idx="10"/>
          </p:nvPr>
        </p:nvSpPr>
        <p:spPr/>
        <p:txBody>
          <a:bodyPr/>
          <a:lstStyle/>
          <a:p>
            <a:fld id="{A26BE5F2-2416-4AE4-952C-DCB13342F7D0}" type="datetimeFigureOut">
              <a:rPr lang="fr-FR" smtClean="0"/>
              <a:t>19/11/2025</a:t>
            </a:fld>
            <a:endParaRPr lang="fr-FR"/>
          </a:p>
        </p:txBody>
      </p:sp>
      <p:sp>
        <p:nvSpPr>
          <p:cNvPr id="6" name="Espace réservé du pied de page 5">
            <a:extLst>
              <a:ext uri="{FF2B5EF4-FFF2-40B4-BE49-F238E27FC236}">
                <a16:creationId xmlns:a16="http://schemas.microsoft.com/office/drawing/2014/main" id="{68FAACC7-538A-4D25-EABE-B237FB867E5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E76BFDD-0CE4-D4E2-00C8-8290A80236C4}"/>
              </a:ext>
            </a:extLst>
          </p:cNvPr>
          <p:cNvSpPr>
            <a:spLocks noGrp="1"/>
          </p:cNvSpPr>
          <p:nvPr>
            <p:ph type="sldNum" sz="quarter" idx="12"/>
          </p:nvPr>
        </p:nvSpPr>
        <p:spPr/>
        <p:txBody>
          <a:bodyPr/>
          <a:lstStyle/>
          <a:p>
            <a:fld id="{6BD11AB3-7D2D-4D1A-B530-B8815F5F58E0}" type="slidenum">
              <a:rPr lang="fr-FR" smtClean="0"/>
              <a:t>‹N°›</a:t>
            </a:fld>
            <a:endParaRPr lang="fr-FR"/>
          </a:p>
        </p:txBody>
      </p:sp>
    </p:spTree>
    <p:extLst>
      <p:ext uri="{BB962C8B-B14F-4D97-AF65-F5344CB8AC3E}">
        <p14:creationId xmlns:p14="http://schemas.microsoft.com/office/powerpoint/2010/main" val="3988156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6DE62C-9184-9E3D-3CA1-79D5255F8F50}"/>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4F47D2F-76D8-6CB9-CEE6-89BEDEC3E4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2588FBB-9475-7A95-4406-257034B60B8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48042B8-554B-AAE5-5730-C5E4DAA297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45B2420-85AB-C856-A096-10A4F450FE1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E4DA2B6-A1B8-67B9-0CB4-B16F79B6B23A}"/>
              </a:ext>
            </a:extLst>
          </p:cNvPr>
          <p:cNvSpPr>
            <a:spLocks noGrp="1"/>
          </p:cNvSpPr>
          <p:nvPr>
            <p:ph type="dt" sz="half" idx="10"/>
          </p:nvPr>
        </p:nvSpPr>
        <p:spPr/>
        <p:txBody>
          <a:bodyPr/>
          <a:lstStyle/>
          <a:p>
            <a:fld id="{A26BE5F2-2416-4AE4-952C-DCB13342F7D0}" type="datetimeFigureOut">
              <a:rPr lang="fr-FR" smtClean="0"/>
              <a:t>19/11/2025</a:t>
            </a:fld>
            <a:endParaRPr lang="fr-FR"/>
          </a:p>
        </p:txBody>
      </p:sp>
      <p:sp>
        <p:nvSpPr>
          <p:cNvPr id="8" name="Espace réservé du pied de page 7">
            <a:extLst>
              <a:ext uri="{FF2B5EF4-FFF2-40B4-BE49-F238E27FC236}">
                <a16:creationId xmlns:a16="http://schemas.microsoft.com/office/drawing/2014/main" id="{D3BC008F-8B52-72E9-4EF7-B996EDF9E1A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BF7E18FF-6848-9FD7-D8D3-EE1DD0F90B2B}"/>
              </a:ext>
            </a:extLst>
          </p:cNvPr>
          <p:cNvSpPr>
            <a:spLocks noGrp="1"/>
          </p:cNvSpPr>
          <p:nvPr>
            <p:ph type="sldNum" sz="quarter" idx="12"/>
          </p:nvPr>
        </p:nvSpPr>
        <p:spPr/>
        <p:txBody>
          <a:bodyPr/>
          <a:lstStyle/>
          <a:p>
            <a:fld id="{6BD11AB3-7D2D-4D1A-B530-B8815F5F58E0}" type="slidenum">
              <a:rPr lang="fr-FR" smtClean="0"/>
              <a:t>‹N°›</a:t>
            </a:fld>
            <a:endParaRPr lang="fr-FR"/>
          </a:p>
        </p:txBody>
      </p:sp>
    </p:spTree>
    <p:extLst>
      <p:ext uri="{BB962C8B-B14F-4D97-AF65-F5344CB8AC3E}">
        <p14:creationId xmlns:p14="http://schemas.microsoft.com/office/powerpoint/2010/main" val="1326233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848520-2CA5-0D9C-DB44-BC0F3EE447D9}"/>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BBA5B9B-7E1E-4C03-E922-A5D3E9986606}"/>
              </a:ext>
            </a:extLst>
          </p:cNvPr>
          <p:cNvSpPr>
            <a:spLocks noGrp="1"/>
          </p:cNvSpPr>
          <p:nvPr>
            <p:ph type="dt" sz="half" idx="10"/>
          </p:nvPr>
        </p:nvSpPr>
        <p:spPr/>
        <p:txBody>
          <a:bodyPr/>
          <a:lstStyle/>
          <a:p>
            <a:fld id="{A26BE5F2-2416-4AE4-952C-DCB13342F7D0}" type="datetimeFigureOut">
              <a:rPr lang="fr-FR" smtClean="0"/>
              <a:t>19/11/2025</a:t>
            </a:fld>
            <a:endParaRPr lang="fr-FR"/>
          </a:p>
        </p:txBody>
      </p:sp>
      <p:sp>
        <p:nvSpPr>
          <p:cNvPr id="4" name="Espace réservé du pied de page 3">
            <a:extLst>
              <a:ext uri="{FF2B5EF4-FFF2-40B4-BE49-F238E27FC236}">
                <a16:creationId xmlns:a16="http://schemas.microsoft.com/office/drawing/2014/main" id="{E9B166C0-5102-2A70-8B86-319E13E6DAAE}"/>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BFFB05E-266B-CB44-4E25-513896CCAE92}"/>
              </a:ext>
            </a:extLst>
          </p:cNvPr>
          <p:cNvSpPr>
            <a:spLocks noGrp="1"/>
          </p:cNvSpPr>
          <p:nvPr>
            <p:ph type="sldNum" sz="quarter" idx="12"/>
          </p:nvPr>
        </p:nvSpPr>
        <p:spPr/>
        <p:txBody>
          <a:bodyPr/>
          <a:lstStyle/>
          <a:p>
            <a:fld id="{6BD11AB3-7D2D-4D1A-B530-B8815F5F58E0}" type="slidenum">
              <a:rPr lang="fr-FR" smtClean="0"/>
              <a:t>‹N°›</a:t>
            </a:fld>
            <a:endParaRPr lang="fr-FR"/>
          </a:p>
        </p:txBody>
      </p:sp>
    </p:spTree>
    <p:extLst>
      <p:ext uri="{BB962C8B-B14F-4D97-AF65-F5344CB8AC3E}">
        <p14:creationId xmlns:p14="http://schemas.microsoft.com/office/powerpoint/2010/main" val="894742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3EE85BB-0CE8-5A37-FA14-1F3BB8D201D2}"/>
              </a:ext>
            </a:extLst>
          </p:cNvPr>
          <p:cNvSpPr>
            <a:spLocks noGrp="1"/>
          </p:cNvSpPr>
          <p:nvPr>
            <p:ph type="dt" sz="half" idx="10"/>
          </p:nvPr>
        </p:nvSpPr>
        <p:spPr/>
        <p:txBody>
          <a:bodyPr/>
          <a:lstStyle/>
          <a:p>
            <a:fld id="{A26BE5F2-2416-4AE4-952C-DCB13342F7D0}" type="datetimeFigureOut">
              <a:rPr lang="fr-FR" smtClean="0"/>
              <a:t>19/11/2025</a:t>
            </a:fld>
            <a:endParaRPr lang="fr-FR"/>
          </a:p>
        </p:txBody>
      </p:sp>
      <p:sp>
        <p:nvSpPr>
          <p:cNvPr id="3" name="Espace réservé du pied de page 2">
            <a:extLst>
              <a:ext uri="{FF2B5EF4-FFF2-40B4-BE49-F238E27FC236}">
                <a16:creationId xmlns:a16="http://schemas.microsoft.com/office/drawing/2014/main" id="{365000DB-2640-63AD-B519-22103A149F76}"/>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ED1F44B-7AF8-B9AB-9A68-F81FA1CD8CC5}"/>
              </a:ext>
            </a:extLst>
          </p:cNvPr>
          <p:cNvSpPr>
            <a:spLocks noGrp="1"/>
          </p:cNvSpPr>
          <p:nvPr>
            <p:ph type="sldNum" sz="quarter" idx="12"/>
          </p:nvPr>
        </p:nvSpPr>
        <p:spPr/>
        <p:txBody>
          <a:bodyPr/>
          <a:lstStyle/>
          <a:p>
            <a:fld id="{6BD11AB3-7D2D-4D1A-B530-B8815F5F58E0}" type="slidenum">
              <a:rPr lang="fr-FR" smtClean="0"/>
              <a:t>‹N°›</a:t>
            </a:fld>
            <a:endParaRPr lang="fr-FR"/>
          </a:p>
        </p:txBody>
      </p:sp>
    </p:spTree>
    <p:extLst>
      <p:ext uri="{BB962C8B-B14F-4D97-AF65-F5344CB8AC3E}">
        <p14:creationId xmlns:p14="http://schemas.microsoft.com/office/powerpoint/2010/main" val="3054759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FECD39-1A6F-A9AB-364F-4303D52669E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BE6136E4-DA63-C165-107D-E4B069C54A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E2084C54-44F1-2A8B-ED22-D32CF89FE2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228D660-6466-94D0-779E-62238E25CF21}"/>
              </a:ext>
            </a:extLst>
          </p:cNvPr>
          <p:cNvSpPr>
            <a:spLocks noGrp="1"/>
          </p:cNvSpPr>
          <p:nvPr>
            <p:ph type="dt" sz="half" idx="10"/>
          </p:nvPr>
        </p:nvSpPr>
        <p:spPr/>
        <p:txBody>
          <a:bodyPr/>
          <a:lstStyle/>
          <a:p>
            <a:fld id="{A26BE5F2-2416-4AE4-952C-DCB13342F7D0}" type="datetimeFigureOut">
              <a:rPr lang="fr-FR" smtClean="0"/>
              <a:t>19/11/2025</a:t>
            </a:fld>
            <a:endParaRPr lang="fr-FR"/>
          </a:p>
        </p:txBody>
      </p:sp>
      <p:sp>
        <p:nvSpPr>
          <p:cNvPr id="6" name="Espace réservé du pied de page 5">
            <a:extLst>
              <a:ext uri="{FF2B5EF4-FFF2-40B4-BE49-F238E27FC236}">
                <a16:creationId xmlns:a16="http://schemas.microsoft.com/office/drawing/2014/main" id="{C253CDC8-67B7-A060-195E-BAA6E315F56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D0C6002-355F-7BCC-3588-1CFD12AC1488}"/>
              </a:ext>
            </a:extLst>
          </p:cNvPr>
          <p:cNvSpPr>
            <a:spLocks noGrp="1"/>
          </p:cNvSpPr>
          <p:nvPr>
            <p:ph type="sldNum" sz="quarter" idx="12"/>
          </p:nvPr>
        </p:nvSpPr>
        <p:spPr/>
        <p:txBody>
          <a:bodyPr/>
          <a:lstStyle/>
          <a:p>
            <a:fld id="{6BD11AB3-7D2D-4D1A-B530-B8815F5F58E0}" type="slidenum">
              <a:rPr lang="fr-FR" smtClean="0"/>
              <a:t>‹N°›</a:t>
            </a:fld>
            <a:endParaRPr lang="fr-FR"/>
          </a:p>
        </p:txBody>
      </p:sp>
    </p:spTree>
    <p:extLst>
      <p:ext uri="{BB962C8B-B14F-4D97-AF65-F5344CB8AC3E}">
        <p14:creationId xmlns:p14="http://schemas.microsoft.com/office/powerpoint/2010/main" val="1548653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E9C80C-D332-4755-21BD-191996A6C29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9749A1C-55AF-959B-165A-20259406B1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A9DC543-AC0F-6438-B99D-DEBCD93CB8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CFCFA24-9DE4-8708-3598-57A5E581BF02}"/>
              </a:ext>
            </a:extLst>
          </p:cNvPr>
          <p:cNvSpPr>
            <a:spLocks noGrp="1"/>
          </p:cNvSpPr>
          <p:nvPr>
            <p:ph type="dt" sz="half" idx="10"/>
          </p:nvPr>
        </p:nvSpPr>
        <p:spPr/>
        <p:txBody>
          <a:bodyPr/>
          <a:lstStyle/>
          <a:p>
            <a:fld id="{A26BE5F2-2416-4AE4-952C-DCB13342F7D0}" type="datetimeFigureOut">
              <a:rPr lang="fr-FR" smtClean="0"/>
              <a:t>19/11/2025</a:t>
            </a:fld>
            <a:endParaRPr lang="fr-FR"/>
          </a:p>
        </p:txBody>
      </p:sp>
      <p:sp>
        <p:nvSpPr>
          <p:cNvPr id="6" name="Espace réservé du pied de page 5">
            <a:extLst>
              <a:ext uri="{FF2B5EF4-FFF2-40B4-BE49-F238E27FC236}">
                <a16:creationId xmlns:a16="http://schemas.microsoft.com/office/drawing/2014/main" id="{28BC2EB8-58CF-34B1-59E0-F9097E0BABD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366D97C-C39A-55EC-17FC-5B2B75F5AC92}"/>
              </a:ext>
            </a:extLst>
          </p:cNvPr>
          <p:cNvSpPr>
            <a:spLocks noGrp="1"/>
          </p:cNvSpPr>
          <p:nvPr>
            <p:ph type="sldNum" sz="quarter" idx="12"/>
          </p:nvPr>
        </p:nvSpPr>
        <p:spPr/>
        <p:txBody>
          <a:bodyPr/>
          <a:lstStyle/>
          <a:p>
            <a:fld id="{6BD11AB3-7D2D-4D1A-B530-B8815F5F58E0}" type="slidenum">
              <a:rPr lang="fr-FR" smtClean="0"/>
              <a:t>‹N°›</a:t>
            </a:fld>
            <a:endParaRPr lang="fr-FR"/>
          </a:p>
        </p:txBody>
      </p:sp>
    </p:spTree>
    <p:extLst>
      <p:ext uri="{BB962C8B-B14F-4D97-AF65-F5344CB8AC3E}">
        <p14:creationId xmlns:p14="http://schemas.microsoft.com/office/powerpoint/2010/main" val="3343456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FEB4F4-F39B-0686-72DC-2784B61A26A5}"/>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18BDBF66-8FA2-8415-54EA-428790DEA796}"/>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D65962D-21E1-6633-D6B5-87DCA7B147E9}"/>
              </a:ext>
            </a:extLst>
          </p:cNvPr>
          <p:cNvSpPr>
            <a:spLocks noGrp="1"/>
          </p:cNvSpPr>
          <p:nvPr>
            <p:ph type="dt" sz="half" idx="10"/>
          </p:nvPr>
        </p:nvSpPr>
        <p:spPr/>
        <p:txBody>
          <a:bodyPr/>
          <a:lstStyle/>
          <a:p>
            <a:fld id="{A26BE5F2-2416-4AE4-952C-DCB13342F7D0}" type="datetimeFigureOut">
              <a:rPr lang="fr-FR" smtClean="0"/>
              <a:t>19/11/2025</a:t>
            </a:fld>
            <a:endParaRPr lang="fr-FR"/>
          </a:p>
        </p:txBody>
      </p:sp>
      <p:sp>
        <p:nvSpPr>
          <p:cNvPr id="5" name="Espace réservé du pied de page 4">
            <a:extLst>
              <a:ext uri="{FF2B5EF4-FFF2-40B4-BE49-F238E27FC236}">
                <a16:creationId xmlns:a16="http://schemas.microsoft.com/office/drawing/2014/main" id="{7E7B7033-91D1-F0C7-8003-8F842F13088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AF9D415-9831-8A81-9D7A-30BF2EE4D785}"/>
              </a:ext>
            </a:extLst>
          </p:cNvPr>
          <p:cNvSpPr>
            <a:spLocks noGrp="1"/>
          </p:cNvSpPr>
          <p:nvPr>
            <p:ph type="sldNum" sz="quarter" idx="12"/>
          </p:nvPr>
        </p:nvSpPr>
        <p:spPr/>
        <p:txBody>
          <a:bodyPr/>
          <a:lstStyle/>
          <a:p>
            <a:fld id="{6BD11AB3-7D2D-4D1A-B530-B8815F5F58E0}" type="slidenum">
              <a:rPr lang="fr-FR" smtClean="0"/>
              <a:t>‹N°›</a:t>
            </a:fld>
            <a:endParaRPr lang="fr-FR"/>
          </a:p>
        </p:txBody>
      </p:sp>
    </p:spTree>
    <p:extLst>
      <p:ext uri="{BB962C8B-B14F-4D97-AF65-F5344CB8AC3E}">
        <p14:creationId xmlns:p14="http://schemas.microsoft.com/office/powerpoint/2010/main" val="197218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E278B6F-9DD9-859A-E9E0-AB98E5F500F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4060BF6-2F65-6890-0554-2093E4B4DC8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CDAEDD8-D17C-EAE7-83CE-770ECC4FB4FB}"/>
              </a:ext>
            </a:extLst>
          </p:cNvPr>
          <p:cNvSpPr>
            <a:spLocks noGrp="1"/>
          </p:cNvSpPr>
          <p:nvPr>
            <p:ph type="dt" sz="half" idx="10"/>
          </p:nvPr>
        </p:nvSpPr>
        <p:spPr/>
        <p:txBody>
          <a:bodyPr/>
          <a:lstStyle/>
          <a:p>
            <a:fld id="{A26BE5F2-2416-4AE4-952C-DCB13342F7D0}" type="datetimeFigureOut">
              <a:rPr lang="fr-FR" smtClean="0"/>
              <a:t>19/11/2025</a:t>
            </a:fld>
            <a:endParaRPr lang="fr-FR"/>
          </a:p>
        </p:txBody>
      </p:sp>
      <p:sp>
        <p:nvSpPr>
          <p:cNvPr id="5" name="Espace réservé du pied de page 4">
            <a:extLst>
              <a:ext uri="{FF2B5EF4-FFF2-40B4-BE49-F238E27FC236}">
                <a16:creationId xmlns:a16="http://schemas.microsoft.com/office/drawing/2014/main" id="{09E60D26-B097-0C19-97E4-9FC0E2A081E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AC76ED0-0A65-38FE-9B20-EF5C2FB6B95A}"/>
              </a:ext>
            </a:extLst>
          </p:cNvPr>
          <p:cNvSpPr>
            <a:spLocks noGrp="1"/>
          </p:cNvSpPr>
          <p:nvPr>
            <p:ph type="sldNum" sz="quarter" idx="12"/>
          </p:nvPr>
        </p:nvSpPr>
        <p:spPr/>
        <p:txBody>
          <a:bodyPr/>
          <a:lstStyle/>
          <a:p>
            <a:fld id="{6BD11AB3-7D2D-4D1A-B530-B8815F5F58E0}" type="slidenum">
              <a:rPr lang="fr-FR" smtClean="0"/>
              <a:t>‹N°›</a:t>
            </a:fld>
            <a:endParaRPr lang="fr-FR"/>
          </a:p>
        </p:txBody>
      </p:sp>
    </p:spTree>
    <p:extLst>
      <p:ext uri="{BB962C8B-B14F-4D97-AF65-F5344CB8AC3E}">
        <p14:creationId xmlns:p14="http://schemas.microsoft.com/office/powerpoint/2010/main" val="1744601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D583307-0887-F778-8B0E-04F9241F0F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66BDA94A-1768-9AE6-33CC-D4F163157A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1FCE6E4-9EFA-D78C-25B3-83C048600F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26BE5F2-2416-4AE4-952C-DCB13342F7D0}" type="datetimeFigureOut">
              <a:rPr lang="fr-FR" smtClean="0"/>
              <a:t>19/11/2025</a:t>
            </a:fld>
            <a:endParaRPr lang="fr-FR"/>
          </a:p>
        </p:txBody>
      </p:sp>
      <p:sp>
        <p:nvSpPr>
          <p:cNvPr id="5" name="Espace réservé du pied de page 4">
            <a:extLst>
              <a:ext uri="{FF2B5EF4-FFF2-40B4-BE49-F238E27FC236}">
                <a16:creationId xmlns:a16="http://schemas.microsoft.com/office/drawing/2014/main" id="{BABCD0B6-309C-CF7B-44CA-3EAD462ED7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7CFED20-79AF-3754-FB64-E6E9531F33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D11AB3-7D2D-4D1A-B530-B8815F5F58E0}" type="slidenum">
              <a:rPr lang="fr-FR" smtClean="0"/>
              <a:t>‹N°›</a:t>
            </a:fld>
            <a:endParaRPr lang="fr-FR"/>
          </a:p>
        </p:txBody>
      </p:sp>
    </p:spTree>
    <p:extLst>
      <p:ext uri="{BB962C8B-B14F-4D97-AF65-F5344CB8AC3E}">
        <p14:creationId xmlns:p14="http://schemas.microsoft.com/office/powerpoint/2010/main" val="1233082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xml"/><Relationship Id="rId7" Type="http://schemas.openxmlformats.org/officeDocument/2006/relationships/image" Target="../media/image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8.xml"/><Relationship Id="rId7" Type="http://schemas.openxmlformats.org/officeDocument/2006/relationships/image" Target="../media/image1.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slideLayout" Target="../slideLayouts/slideLayout6.xml"/><Relationship Id="rId5" Type="http://schemas.openxmlformats.org/officeDocument/2006/relationships/tags" Target="../tags/tag10.xml"/><Relationship Id="rId4" Type="http://schemas.openxmlformats.org/officeDocument/2006/relationships/tags" Target="../tags/tag9.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3.xml"/><Relationship Id="rId7" Type="http://schemas.openxmlformats.org/officeDocument/2006/relationships/image" Target="../media/image1.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slideLayout" Target="../slideLayouts/slideLayout6.xml"/><Relationship Id="rId5" Type="http://schemas.openxmlformats.org/officeDocument/2006/relationships/tags" Target="../tags/tag15.xml"/><Relationship Id="rId10" Type="http://schemas.openxmlformats.org/officeDocument/2006/relationships/image" Target="../media/image4.jpeg"/><Relationship Id="rId4" Type="http://schemas.openxmlformats.org/officeDocument/2006/relationships/tags" Target="../tags/tag14.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8.xml"/><Relationship Id="rId7" Type="http://schemas.openxmlformats.org/officeDocument/2006/relationships/image" Target="../media/image1.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Layout" Target="../slideLayouts/slideLayout6.xml"/><Relationship Id="rId5" Type="http://schemas.openxmlformats.org/officeDocument/2006/relationships/tags" Target="../tags/tag20.xml"/><Relationship Id="rId4" Type="http://schemas.openxmlformats.org/officeDocument/2006/relationships/tags" Target="../tags/tag19.xml"/><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3.xml"/><Relationship Id="rId7" Type="http://schemas.openxmlformats.org/officeDocument/2006/relationships/image" Target="../media/image1.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Layout" Target="../slideLayouts/slideLayout6.xml"/><Relationship Id="rId5" Type="http://schemas.openxmlformats.org/officeDocument/2006/relationships/tags" Target="../tags/tag25.xml"/><Relationship Id="rId4" Type="http://schemas.openxmlformats.org/officeDocument/2006/relationships/tags" Target="../tags/tag24.xml"/><Relationship Id="rId9"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8.xml"/><Relationship Id="rId7" Type="http://schemas.openxmlformats.org/officeDocument/2006/relationships/image" Target="../media/image1.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Layout" Target="../slideLayouts/slideLayout6.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3.xml"/><Relationship Id="rId7" Type="http://schemas.openxmlformats.org/officeDocument/2006/relationships/image" Target="../media/image1.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slideLayout" Target="../slideLayouts/slideLayout6.xml"/><Relationship Id="rId5" Type="http://schemas.openxmlformats.org/officeDocument/2006/relationships/tags" Target="../tags/tag35.xml"/><Relationship Id="rId4" Type="http://schemas.openxmlformats.org/officeDocument/2006/relationships/tags" Target="../tags/tag34.xml"/><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38.xml"/><Relationship Id="rId7" Type="http://schemas.openxmlformats.org/officeDocument/2006/relationships/notesSlide" Target="../notesSlides/notesSlide1.xml"/><Relationship Id="rId12" Type="http://schemas.openxmlformats.org/officeDocument/2006/relationships/image" Target="../media/image6.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slideLayout" Target="../slideLayouts/slideLayout6.xml"/><Relationship Id="rId11" Type="http://schemas.openxmlformats.org/officeDocument/2006/relationships/image" Target="../media/image5.png"/><Relationship Id="rId5" Type="http://schemas.openxmlformats.org/officeDocument/2006/relationships/tags" Target="../tags/tag40.xml"/><Relationship Id="rId10" Type="http://schemas.openxmlformats.org/officeDocument/2006/relationships/image" Target="../media/image3.png"/><Relationship Id="rId4" Type="http://schemas.openxmlformats.org/officeDocument/2006/relationships/tags" Target="../tags/tag39.xml"/><Relationship Id="rId9"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9.jpeg"/><Relationship Id="rId3" Type="http://schemas.openxmlformats.org/officeDocument/2006/relationships/tags" Target="../tags/tag43.xml"/><Relationship Id="rId7" Type="http://schemas.openxmlformats.org/officeDocument/2006/relationships/notesSlide" Target="../notesSlides/notesSlide2.xml"/><Relationship Id="rId12" Type="http://schemas.openxmlformats.org/officeDocument/2006/relationships/image" Target="../media/image8.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slideLayout" Target="../slideLayouts/slideLayout6.xml"/><Relationship Id="rId11" Type="http://schemas.openxmlformats.org/officeDocument/2006/relationships/image" Target="../media/image7.jpeg"/><Relationship Id="rId5" Type="http://schemas.openxmlformats.org/officeDocument/2006/relationships/tags" Target="../tags/tag45.xml"/><Relationship Id="rId10" Type="http://schemas.openxmlformats.org/officeDocument/2006/relationships/image" Target="../media/image3.png"/><Relationship Id="rId4" Type="http://schemas.openxmlformats.org/officeDocument/2006/relationships/tags" Target="../tags/tag44.xml"/><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DAC10E-32F6-0C08-C108-845CA2714F3E}"/>
              </a:ext>
            </a:extLst>
          </p:cNvPr>
          <p:cNvSpPr>
            <a:spLocks noGrp="1"/>
          </p:cNvSpPr>
          <p:nvPr>
            <p:ph type="ctrTitle"/>
          </p:nvPr>
        </p:nvSpPr>
        <p:spPr/>
        <p:txBody>
          <a:bodyPr/>
          <a:lstStyle/>
          <a:p>
            <a:r>
              <a:rPr lang="fr-FR" dirty="0">
                <a:latin typeface="Arial" panose="020B0604020202020204" pitchFamily="34" charset="0"/>
                <a:cs typeface="Arial" panose="020B0604020202020204" pitchFamily="34" charset="0"/>
              </a:rPr>
              <a:t>La valeur à vie des clients</a:t>
            </a:r>
            <a:br>
              <a:rPr lang="fr-FR" dirty="0">
                <a:latin typeface="Arial" panose="020B0604020202020204" pitchFamily="34" charset="0"/>
                <a:cs typeface="Arial" panose="020B0604020202020204" pitchFamily="34" charset="0"/>
              </a:rPr>
            </a:br>
            <a:r>
              <a:rPr lang="fr-FR" dirty="0">
                <a:latin typeface="Arial" panose="020B0604020202020204" pitchFamily="34" charset="0"/>
                <a:cs typeface="Arial" panose="020B0604020202020204" pitchFamily="34" charset="0"/>
              </a:rPr>
              <a:t>( Customer Life Value)</a:t>
            </a:r>
            <a:endParaRPr lang="fr-FR" dirty="0"/>
          </a:p>
        </p:txBody>
      </p:sp>
      <p:sp>
        <p:nvSpPr>
          <p:cNvPr id="3" name="Sous-titre 2">
            <a:extLst>
              <a:ext uri="{FF2B5EF4-FFF2-40B4-BE49-F238E27FC236}">
                <a16:creationId xmlns:a16="http://schemas.microsoft.com/office/drawing/2014/main" id="{26D4903F-D1AC-B82C-914B-6E34BC99CA2C}"/>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2387077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p:cNvSpPr/>
          <p:nvPr>
            <p:custDataLst>
              <p:tags r:id="rId2"/>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Image 3"/>
          <p:cNvPicPr>
            <a:picLocks noChangeAspect="1"/>
          </p:cNvPicPr>
          <p:nvPr>
            <p:custDataLst>
              <p:tags r:id="rId3"/>
            </p:custDataLst>
          </p:nvPr>
        </p:nvPicPr>
        <p:blipFill>
          <a:blip r:embed="rId7" cstate="email">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4"/>
            </p:custDataLst>
          </p:nvPr>
        </p:nvPicPr>
        <p:blipFill>
          <a:blip r:embed="rId8" cstate="email">
            <a:extLst>
              <a:ext uri="{28A0092B-C50C-407E-A947-70E740481C1C}">
                <a14:useLocalDpi xmlns:a14="http://schemas.microsoft.com/office/drawing/2010/main"/>
              </a:ext>
            </a:extLst>
          </a:blip>
          <a:stretch>
            <a:fillRect/>
          </a:stretch>
        </p:blipFill>
        <p:spPr>
          <a:xfrm>
            <a:off x="4472489" y="4092210"/>
            <a:ext cx="5796349" cy="912925"/>
          </a:xfrm>
          <a:prstGeom prst="rect">
            <a:avLst/>
          </a:prstGeom>
          <a:effectLst/>
        </p:spPr>
      </p:pic>
      <p:cxnSp>
        <p:nvCxnSpPr>
          <p:cNvPr id="16" name="Connecteur droit 15"/>
          <p:cNvCxnSpPr/>
          <p:nvPr>
            <p:custDataLst>
              <p:tags r:id="rId5"/>
            </p:custDataLst>
          </p:nvPr>
        </p:nvCxnSpPr>
        <p:spPr>
          <a:xfrm flipV="1">
            <a:off x="948134" y="1287517"/>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a:xfrm>
            <a:off x="978195" y="87042"/>
            <a:ext cx="10079490" cy="1102626"/>
          </a:xfrm>
        </p:spPr>
        <p:txBody>
          <a:bodyPr>
            <a:normAutofit/>
          </a:bodyPr>
          <a:lstStyle/>
          <a:p>
            <a:r>
              <a:rPr lang="fr-FR" sz="4400" dirty="0">
                <a:latin typeface="Arial" panose="020B0604020202020204" pitchFamily="34" charset="0"/>
                <a:cs typeface="Arial" panose="020B0604020202020204" pitchFamily="34" charset="0"/>
              </a:rPr>
              <a:t>1. Au-delà des KPI’s</a:t>
            </a:r>
          </a:p>
        </p:txBody>
      </p:sp>
      <p:sp>
        <p:nvSpPr>
          <p:cNvPr id="11" name="Espace réservé du contenu 10"/>
          <p:cNvSpPr>
            <a:spLocks noGrp="1"/>
          </p:cNvSpPr>
          <p:nvPr>
            <p:ph type="subTitle" idx="4294967295"/>
          </p:nvPr>
        </p:nvSpPr>
        <p:spPr>
          <a:xfrm>
            <a:off x="948134" y="1395368"/>
            <a:ext cx="10295732" cy="4222935"/>
          </a:xfrm>
        </p:spPr>
        <p:txBody>
          <a:bodyPr>
            <a:normAutofit/>
          </a:bodyPr>
          <a:lstStyle/>
          <a:p>
            <a:pPr>
              <a:buFont typeface="Wingdings" panose="05000000000000000000" pitchFamily="2" charset="2"/>
              <a:buChar char="§"/>
            </a:pPr>
            <a:r>
              <a:rPr lang="fr-FR" dirty="0">
                <a:latin typeface="Arial" panose="020B0604020202020204" pitchFamily="34" charset="0"/>
                <a:cs typeface="Arial" panose="020B0604020202020204" pitchFamily="34" charset="0"/>
              </a:rPr>
              <a:t>Ces </a:t>
            </a:r>
            <a:r>
              <a:rPr lang="fr-FR" dirty="0" err="1">
                <a:latin typeface="Arial" panose="020B0604020202020204" pitchFamily="34" charset="0"/>
                <a:cs typeface="Arial" panose="020B0604020202020204" pitchFamily="34" charset="0"/>
              </a:rPr>
              <a:t>KPI’s</a:t>
            </a:r>
            <a:r>
              <a:rPr lang="fr-FR" dirty="0">
                <a:latin typeface="Arial" panose="020B0604020202020204" pitchFamily="34" charset="0"/>
                <a:cs typeface="Arial" panose="020B0604020202020204" pitchFamily="34" charset="0"/>
              </a:rPr>
              <a:t> donnent des informations très utiles aux entreprises….</a:t>
            </a:r>
          </a:p>
          <a:p>
            <a:pPr>
              <a:buFont typeface="Wingdings" panose="05000000000000000000" pitchFamily="2" charset="2"/>
              <a:buChar char="§"/>
            </a:pPr>
            <a:r>
              <a:rPr lang="fr-FR" dirty="0">
                <a:latin typeface="Arial" panose="020B0604020202020204" pitchFamily="34" charset="0"/>
                <a:cs typeface="Arial" panose="020B0604020202020204" pitchFamily="34" charset="0"/>
              </a:rPr>
              <a:t>…. Mais ne tiennent pas compte des investissements</a:t>
            </a:r>
          </a:p>
          <a:p>
            <a:pPr marL="0" indent="0">
              <a:buNone/>
            </a:pPr>
            <a:r>
              <a:rPr lang="fr-FR" dirty="0">
                <a:latin typeface="Arial" panose="020B0604020202020204" pitchFamily="34" charset="0"/>
                <a:cs typeface="Arial" panose="020B0604020202020204" pitchFamily="34" charset="0"/>
                <a:sym typeface="Wingdings" panose="05000000000000000000" pitchFamily="2" charset="2"/>
              </a:rPr>
              <a:t> Besoin de s’intéresser à la rentabilité des clients</a:t>
            </a:r>
            <a:endParaRPr lang="fr-FR" dirty="0">
              <a:latin typeface="Arial" panose="020B0604020202020204" pitchFamily="34" charset="0"/>
              <a:cs typeface="Arial" panose="020B0604020202020204" pitchFamily="34" charset="0"/>
            </a:endParaRPr>
          </a:p>
        </p:txBody>
      </p:sp>
      <p:pic>
        <p:nvPicPr>
          <p:cNvPr id="5" name="Image 4"/>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394202" y="5595521"/>
            <a:ext cx="5797798" cy="914479"/>
          </a:xfrm>
          <a:prstGeom prst="rect">
            <a:avLst/>
          </a:prstGeom>
        </p:spPr>
      </p:pic>
    </p:spTree>
    <p:extLst>
      <p:ext uri="{BB962C8B-B14F-4D97-AF65-F5344CB8AC3E}">
        <p14:creationId xmlns:p14="http://schemas.microsoft.com/office/powerpoint/2010/main" val="4027936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arn(inVertic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arn(inVertical)">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barn(inVertical)">
                                      <p:cBhvr>
                                        <p:cTn id="17"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p:cNvSpPr/>
          <p:nvPr>
            <p:custDataLst>
              <p:tags r:id="rId2"/>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Image 3"/>
          <p:cNvPicPr>
            <a:picLocks noChangeAspect="1"/>
          </p:cNvPicPr>
          <p:nvPr>
            <p:custDataLst>
              <p:tags r:id="rId3"/>
            </p:custDataLst>
          </p:nvPr>
        </p:nvPicPr>
        <p:blipFill>
          <a:blip r:embed="rId7" cstate="email">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4"/>
            </p:custDataLst>
          </p:nvPr>
        </p:nvPicPr>
        <p:blipFill>
          <a:blip r:embed="rId8" cstate="email">
            <a:extLst>
              <a:ext uri="{28A0092B-C50C-407E-A947-70E740481C1C}">
                <a14:useLocalDpi xmlns:a14="http://schemas.microsoft.com/office/drawing/2010/main"/>
              </a:ext>
            </a:extLst>
          </a:blip>
          <a:stretch>
            <a:fillRect/>
          </a:stretch>
        </p:blipFill>
        <p:spPr>
          <a:xfrm>
            <a:off x="4472489" y="4092210"/>
            <a:ext cx="5796349" cy="912925"/>
          </a:xfrm>
          <a:prstGeom prst="rect">
            <a:avLst/>
          </a:prstGeom>
          <a:effectLst/>
        </p:spPr>
      </p:pic>
      <p:cxnSp>
        <p:nvCxnSpPr>
          <p:cNvPr id="16" name="Connecteur droit 15"/>
          <p:cNvCxnSpPr/>
          <p:nvPr>
            <p:custDataLst>
              <p:tags r:id="rId5"/>
            </p:custDataLst>
          </p:nvPr>
        </p:nvCxnSpPr>
        <p:spPr>
          <a:xfrm flipV="1">
            <a:off x="948134" y="1287517"/>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a:xfrm>
            <a:off x="713657" y="44602"/>
            <a:ext cx="10526057" cy="1102626"/>
          </a:xfrm>
        </p:spPr>
        <p:txBody>
          <a:bodyPr>
            <a:normAutofit/>
          </a:bodyPr>
          <a:lstStyle/>
          <a:p>
            <a:r>
              <a:rPr lang="fr-FR" sz="3600" dirty="0">
                <a:latin typeface="Arial" panose="020B0604020202020204" pitchFamily="34" charset="0"/>
                <a:cs typeface="Arial" panose="020B0604020202020204" pitchFamily="34" charset="0"/>
              </a:rPr>
              <a:t>2. La rentabilité et valeur à vie des clients </a:t>
            </a:r>
          </a:p>
        </p:txBody>
      </p:sp>
      <p:sp>
        <p:nvSpPr>
          <p:cNvPr id="11" name="Espace réservé du contenu 10"/>
          <p:cNvSpPr>
            <a:spLocks noGrp="1"/>
          </p:cNvSpPr>
          <p:nvPr>
            <p:ph type="subTitle" idx="4294967295"/>
          </p:nvPr>
        </p:nvSpPr>
        <p:spPr>
          <a:xfrm>
            <a:off x="948134" y="1493216"/>
            <a:ext cx="10295732" cy="4100293"/>
          </a:xfrm>
        </p:spPr>
        <p:txBody>
          <a:bodyPr>
            <a:normAutofit/>
          </a:bodyPr>
          <a:lstStyle/>
          <a:p>
            <a:pPr>
              <a:buFont typeface="Wingdings" panose="05000000000000000000" pitchFamily="2" charset="2"/>
              <a:buChar char="§"/>
            </a:pPr>
            <a:r>
              <a:rPr lang="fr-FR" dirty="0"/>
              <a:t>Marketing relationnel = conquérir et fidéliser des clients rentables</a:t>
            </a:r>
          </a:p>
          <a:p>
            <a:pPr>
              <a:buFont typeface="Wingdings" panose="05000000000000000000" pitchFamily="2" charset="2"/>
              <a:buChar char="§"/>
            </a:pPr>
            <a:endParaRPr lang="fr-FR" dirty="0"/>
          </a:p>
          <a:p>
            <a:pPr>
              <a:buFont typeface="Wingdings" panose="05000000000000000000" pitchFamily="2" charset="2"/>
              <a:buChar char="§"/>
            </a:pPr>
            <a:r>
              <a:rPr lang="fr-FR" dirty="0"/>
              <a:t>Or </a:t>
            </a:r>
            <a:r>
              <a:rPr lang="fr-FR" dirty="0" err="1"/>
              <a:t>Sherden</a:t>
            </a:r>
            <a:r>
              <a:rPr lang="fr-FR" dirty="0"/>
              <a:t> (1994) propose: </a:t>
            </a:r>
          </a:p>
          <a:p>
            <a:pPr lvl="1">
              <a:buFont typeface="Wingdings" panose="05000000000000000000" pitchFamily="2" charset="2"/>
              <a:buChar char="§"/>
            </a:pPr>
            <a:r>
              <a:rPr lang="fr-FR" dirty="0"/>
              <a:t>De passer de la loi de Pareto 20/80</a:t>
            </a:r>
          </a:p>
          <a:p>
            <a:pPr lvl="2">
              <a:buFont typeface="Wingdings" panose="05000000000000000000" pitchFamily="2" charset="2"/>
              <a:buChar char="§"/>
            </a:pPr>
            <a:r>
              <a:rPr lang="fr-FR" dirty="0"/>
              <a:t>20% des clients apportent 80% des revenus de l’entreprise</a:t>
            </a:r>
          </a:p>
          <a:p>
            <a:pPr lvl="1">
              <a:buFont typeface="Wingdings" panose="05000000000000000000" pitchFamily="2" charset="2"/>
              <a:buChar char="§"/>
            </a:pPr>
            <a:r>
              <a:rPr lang="fr-FR" dirty="0"/>
              <a:t>À la loi 80/20/30</a:t>
            </a:r>
          </a:p>
          <a:p>
            <a:pPr lvl="2">
              <a:buFont typeface="Wingdings" panose="05000000000000000000" pitchFamily="2" charset="2"/>
              <a:buChar char="§"/>
            </a:pPr>
            <a:r>
              <a:rPr lang="fr-FR" dirty="0"/>
              <a:t>20% des clients apportent 80% des revenus de l’entreprise…</a:t>
            </a:r>
          </a:p>
          <a:p>
            <a:pPr lvl="2">
              <a:buFont typeface="Wingdings" panose="05000000000000000000" pitchFamily="2" charset="2"/>
              <a:buChar char="§"/>
            </a:pPr>
            <a:r>
              <a:rPr lang="fr-FR" dirty="0"/>
              <a:t>…la moitié étant perdu en raison de 30% de clients non rentables</a:t>
            </a:r>
          </a:p>
        </p:txBody>
      </p:sp>
      <p:pic>
        <p:nvPicPr>
          <p:cNvPr id="5" name="Image 4"/>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394202" y="5595521"/>
            <a:ext cx="5797798" cy="914479"/>
          </a:xfrm>
          <a:prstGeom prst="rect">
            <a:avLst/>
          </a:prstGeom>
        </p:spPr>
      </p:pic>
    </p:spTree>
    <p:extLst>
      <p:ext uri="{BB962C8B-B14F-4D97-AF65-F5344CB8AC3E}">
        <p14:creationId xmlns:p14="http://schemas.microsoft.com/office/powerpoint/2010/main" val="3544918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arn(inVertic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barn(inVertical)">
                                      <p:cBhvr>
                                        <p:cTn id="12" dur="500"/>
                                        <p:tgtEl>
                                          <p:spTgt spid="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animEffect transition="in" filter="barn(inVertical)">
                                      <p:cBhvr>
                                        <p:cTn id="17" dur="500"/>
                                        <p:tgtEl>
                                          <p:spTgt spid="1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1">
                                            <p:txEl>
                                              <p:pRg st="4" end="4"/>
                                            </p:txEl>
                                          </p:spTgt>
                                        </p:tgtEl>
                                        <p:attrNameLst>
                                          <p:attrName>style.visibility</p:attrName>
                                        </p:attrNameLst>
                                      </p:cBhvr>
                                      <p:to>
                                        <p:strVal val="visible"/>
                                      </p:to>
                                    </p:set>
                                    <p:animEffect transition="in" filter="barn(inVertical)">
                                      <p:cBhvr>
                                        <p:cTn id="22" dur="500"/>
                                        <p:tgtEl>
                                          <p:spTgt spid="1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1">
                                            <p:txEl>
                                              <p:pRg st="5" end="5"/>
                                            </p:txEl>
                                          </p:spTgt>
                                        </p:tgtEl>
                                        <p:attrNameLst>
                                          <p:attrName>style.visibility</p:attrName>
                                        </p:attrNameLst>
                                      </p:cBhvr>
                                      <p:to>
                                        <p:strVal val="visible"/>
                                      </p:to>
                                    </p:set>
                                    <p:animEffect transition="in" filter="barn(inVertical)">
                                      <p:cBhvr>
                                        <p:cTn id="27" dur="500"/>
                                        <p:tgtEl>
                                          <p:spTgt spid="1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1">
                                            <p:txEl>
                                              <p:pRg st="6" end="6"/>
                                            </p:txEl>
                                          </p:spTgt>
                                        </p:tgtEl>
                                        <p:attrNameLst>
                                          <p:attrName>style.visibility</p:attrName>
                                        </p:attrNameLst>
                                      </p:cBhvr>
                                      <p:to>
                                        <p:strVal val="visible"/>
                                      </p:to>
                                    </p:set>
                                    <p:animEffect transition="in" filter="barn(inVertical)">
                                      <p:cBhvr>
                                        <p:cTn id="32" dur="500"/>
                                        <p:tgtEl>
                                          <p:spTgt spid="11">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11">
                                            <p:txEl>
                                              <p:pRg st="7" end="7"/>
                                            </p:txEl>
                                          </p:spTgt>
                                        </p:tgtEl>
                                        <p:attrNameLst>
                                          <p:attrName>style.visibility</p:attrName>
                                        </p:attrNameLst>
                                      </p:cBhvr>
                                      <p:to>
                                        <p:strVal val="visible"/>
                                      </p:to>
                                    </p:set>
                                    <p:animEffect transition="in" filter="barn(inVertical)">
                                      <p:cBhvr>
                                        <p:cTn id="37"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p:cNvSpPr/>
          <p:nvPr>
            <p:custDataLst>
              <p:tags r:id="rId2"/>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Image 3"/>
          <p:cNvPicPr>
            <a:picLocks noChangeAspect="1"/>
          </p:cNvPicPr>
          <p:nvPr>
            <p:custDataLst>
              <p:tags r:id="rId3"/>
            </p:custDataLst>
          </p:nvPr>
        </p:nvPicPr>
        <p:blipFill>
          <a:blip r:embed="rId7" cstate="email">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4"/>
            </p:custDataLst>
          </p:nvPr>
        </p:nvPicPr>
        <p:blipFill>
          <a:blip r:embed="rId8" cstate="email">
            <a:extLst>
              <a:ext uri="{28A0092B-C50C-407E-A947-70E740481C1C}">
                <a14:useLocalDpi xmlns:a14="http://schemas.microsoft.com/office/drawing/2010/main"/>
              </a:ext>
            </a:extLst>
          </a:blip>
          <a:stretch>
            <a:fillRect/>
          </a:stretch>
        </p:blipFill>
        <p:spPr>
          <a:xfrm>
            <a:off x="4472489" y="4092210"/>
            <a:ext cx="5796349" cy="912925"/>
          </a:xfrm>
          <a:prstGeom prst="rect">
            <a:avLst/>
          </a:prstGeom>
          <a:effectLst/>
        </p:spPr>
      </p:pic>
      <p:cxnSp>
        <p:nvCxnSpPr>
          <p:cNvPr id="16" name="Connecteur droit 15"/>
          <p:cNvCxnSpPr/>
          <p:nvPr>
            <p:custDataLst>
              <p:tags r:id="rId5"/>
            </p:custDataLst>
          </p:nvPr>
        </p:nvCxnSpPr>
        <p:spPr>
          <a:xfrm flipV="1">
            <a:off x="948134" y="1287517"/>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a:xfrm>
            <a:off x="713657" y="44602"/>
            <a:ext cx="10526057" cy="1102626"/>
          </a:xfrm>
        </p:spPr>
        <p:txBody>
          <a:bodyPr>
            <a:normAutofit/>
          </a:bodyPr>
          <a:lstStyle/>
          <a:p>
            <a:r>
              <a:rPr lang="fr-FR" sz="3600" dirty="0">
                <a:latin typeface="Arial" panose="020B0604020202020204" pitchFamily="34" charset="0"/>
                <a:cs typeface="Arial" panose="020B0604020202020204" pitchFamily="34" charset="0"/>
              </a:rPr>
              <a:t>2. La rentabilité et valeur à vie des clients </a:t>
            </a:r>
          </a:p>
        </p:txBody>
      </p:sp>
      <p:sp>
        <p:nvSpPr>
          <p:cNvPr id="11" name="Espace réservé du contenu 10"/>
          <p:cNvSpPr>
            <a:spLocks noGrp="1"/>
          </p:cNvSpPr>
          <p:nvPr>
            <p:ph type="subTitle" idx="4294967295"/>
          </p:nvPr>
        </p:nvSpPr>
        <p:spPr>
          <a:xfrm>
            <a:off x="948134" y="1493216"/>
            <a:ext cx="10295732" cy="4100293"/>
          </a:xfrm>
        </p:spPr>
        <p:txBody>
          <a:bodyPr>
            <a:normAutofit/>
          </a:bodyPr>
          <a:lstStyle/>
          <a:p>
            <a:r>
              <a:rPr lang="fr-FR" sz="2500" dirty="0">
                <a:latin typeface="Arial" panose="020B0604020202020204" pitchFamily="34" charset="0"/>
                <a:cs typeface="Arial" panose="020B0604020202020204" pitchFamily="34" charset="0"/>
              </a:rPr>
              <a:t>Notion de valeur à vie des clients (Customer </a:t>
            </a:r>
            <a:r>
              <a:rPr lang="fr-FR" sz="2500" dirty="0" err="1">
                <a:latin typeface="Arial" panose="020B0604020202020204" pitchFamily="34" charset="0"/>
                <a:cs typeface="Arial" panose="020B0604020202020204" pitchFamily="34" charset="0"/>
              </a:rPr>
              <a:t>lifetime</a:t>
            </a:r>
            <a:r>
              <a:rPr lang="fr-FR" sz="2500" dirty="0">
                <a:latin typeface="Arial" panose="020B0604020202020204" pitchFamily="34" charset="0"/>
                <a:cs typeface="Arial" panose="020B0604020202020204" pitchFamily="34" charset="0"/>
              </a:rPr>
              <a:t> value): </a:t>
            </a:r>
          </a:p>
          <a:p>
            <a:pPr lvl="1"/>
            <a:r>
              <a:rPr lang="fr-FR" sz="2500" dirty="0">
                <a:latin typeface="Arial" panose="020B0604020202020204" pitchFamily="34" charset="0"/>
                <a:cs typeface="Arial" panose="020B0604020202020204" pitchFamily="34" charset="0"/>
              </a:rPr>
              <a:t>Pour une entreprise, il est important de savoir quel bénéfice net elle peut attendre d’un client  ou d’un groupe de clients </a:t>
            </a:r>
          </a:p>
          <a:p>
            <a:pPr lvl="1"/>
            <a:r>
              <a:rPr lang="fr-FR" sz="2800" b="1" dirty="0">
                <a:latin typeface="Arial" panose="020B0604020202020204" pitchFamily="34" charset="0"/>
                <a:cs typeface="Arial" panose="020B0604020202020204" pitchFamily="34" charset="0"/>
              </a:rPr>
              <a:t>Valeur actualisée du flux de profit futur attendu</a:t>
            </a:r>
            <a:r>
              <a:rPr lang="fr-FR" sz="2800" dirty="0">
                <a:latin typeface="Arial" panose="020B0604020202020204" pitchFamily="34" charset="0"/>
                <a:cs typeface="Arial" panose="020B0604020202020204" pitchFamily="34" charset="0"/>
              </a:rPr>
              <a:t> issu des transactions avec le client tout au long de sa vie</a:t>
            </a:r>
            <a:r>
              <a:rPr lang="fr-FR" sz="2000" dirty="0">
                <a:latin typeface="Arial" panose="020B0604020202020204" pitchFamily="34" charset="0"/>
                <a:cs typeface="Arial" panose="020B0604020202020204" pitchFamily="34" charset="0"/>
              </a:rPr>
              <a:t> </a:t>
            </a:r>
          </a:p>
          <a:p>
            <a:pPr lvl="1"/>
            <a:endParaRPr lang="fr-FR" sz="2500" dirty="0">
              <a:latin typeface="Arial" panose="020B0604020202020204" pitchFamily="34" charset="0"/>
              <a:cs typeface="Arial" panose="020B0604020202020204" pitchFamily="34" charset="0"/>
            </a:endParaRPr>
          </a:p>
          <a:p>
            <a:pPr>
              <a:buFont typeface="Wingdings" panose="05000000000000000000" pitchFamily="2" charset="2"/>
              <a:buChar char="§"/>
            </a:pPr>
            <a:endParaRPr lang="fr-FR" dirty="0"/>
          </a:p>
        </p:txBody>
      </p:sp>
      <p:pic>
        <p:nvPicPr>
          <p:cNvPr id="5" name="Image 4"/>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394202" y="5595521"/>
            <a:ext cx="5797798" cy="914479"/>
          </a:xfrm>
          <a:prstGeom prst="rect">
            <a:avLst/>
          </a:prstGeom>
        </p:spPr>
      </p:pic>
      <p:pic>
        <p:nvPicPr>
          <p:cNvPr id="2050" name="Picture 2" descr="Qu'est-ce que la Customer Lifetime Value (CLV / LTV) ?">
            <a:extLst>
              <a:ext uri="{FF2B5EF4-FFF2-40B4-BE49-F238E27FC236}">
                <a16:creationId xmlns:a16="http://schemas.microsoft.com/office/drawing/2014/main" id="{F006A6BF-2783-44E8-81C7-294A101E36E3}"/>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3776267" y="3783394"/>
            <a:ext cx="4978400" cy="2819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353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arn(inVertical)">
                                      <p:cBhvr>
                                        <p:cTn id="7" dur="500"/>
                                        <p:tgtEl>
                                          <p:spTgt spid="11">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050"/>
                                        </p:tgtEl>
                                        <p:attrNameLst>
                                          <p:attrName>style.visibility</p:attrName>
                                        </p:attrNameLst>
                                      </p:cBhvr>
                                      <p:to>
                                        <p:strVal val="visible"/>
                                      </p:to>
                                    </p:set>
                                    <p:animEffect transition="in" filter="barn(inVertical)">
                                      <p:cBhvr>
                                        <p:cTn id="10" dur="500"/>
                                        <p:tgtEl>
                                          <p:spTgt spid="205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animEffect transition="in" filter="barn(inVertical)">
                                      <p:cBhvr>
                                        <p:cTn id="15" dur="500"/>
                                        <p:tgtEl>
                                          <p:spTgt spid="11">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11">
                                            <p:txEl>
                                              <p:pRg st="2" end="2"/>
                                            </p:txEl>
                                          </p:spTgt>
                                        </p:tgtEl>
                                        <p:attrNameLst>
                                          <p:attrName>style.visibility</p:attrName>
                                        </p:attrNameLst>
                                      </p:cBhvr>
                                      <p:to>
                                        <p:strVal val="visible"/>
                                      </p:to>
                                    </p:set>
                                    <p:animEffect transition="in" filter="barn(inVertical)">
                                      <p:cBhvr>
                                        <p:cTn id="20"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p:cNvSpPr/>
          <p:nvPr>
            <p:custDataLst>
              <p:tags r:id="rId2"/>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Image 3"/>
          <p:cNvPicPr>
            <a:picLocks noChangeAspect="1"/>
          </p:cNvPicPr>
          <p:nvPr>
            <p:custDataLst>
              <p:tags r:id="rId3"/>
            </p:custDataLst>
          </p:nvPr>
        </p:nvPicPr>
        <p:blipFill>
          <a:blip r:embed="rId7" cstate="email">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4"/>
            </p:custDataLst>
          </p:nvPr>
        </p:nvPicPr>
        <p:blipFill>
          <a:blip r:embed="rId8" cstate="email">
            <a:extLst>
              <a:ext uri="{28A0092B-C50C-407E-A947-70E740481C1C}">
                <a14:useLocalDpi xmlns:a14="http://schemas.microsoft.com/office/drawing/2010/main"/>
              </a:ext>
            </a:extLst>
          </a:blip>
          <a:stretch>
            <a:fillRect/>
          </a:stretch>
        </p:blipFill>
        <p:spPr>
          <a:xfrm>
            <a:off x="4472489" y="4092210"/>
            <a:ext cx="5796349" cy="912925"/>
          </a:xfrm>
          <a:prstGeom prst="rect">
            <a:avLst/>
          </a:prstGeom>
          <a:effectLst/>
        </p:spPr>
      </p:pic>
      <p:cxnSp>
        <p:nvCxnSpPr>
          <p:cNvPr id="16" name="Connecteur droit 15"/>
          <p:cNvCxnSpPr/>
          <p:nvPr>
            <p:custDataLst>
              <p:tags r:id="rId5"/>
            </p:custDataLst>
          </p:nvPr>
        </p:nvCxnSpPr>
        <p:spPr>
          <a:xfrm flipV="1">
            <a:off x="948134" y="1287517"/>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a:xfrm>
            <a:off x="713656" y="87042"/>
            <a:ext cx="10610017" cy="1102626"/>
          </a:xfrm>
        </p:spPr>
        <p:txBody>
          <a:bodyPr>
            <a:normAutofit fontScale="90000"/>
          </a:bodyPr>
          <a:lstStyle/>
          <a:p>
            <a:br>
              <a:rPr lang="fr-FR" dirty="0">
                <a:latin typeface="Arial" panose="020B0604020202020204" pitchFamily="34" charset="0"/>
                <a:cs typeface="Arial" panose="020B0604020202020204" pitchFamily="34" charset="0"/>
              </a:rPr>
            </a:br>
            <a:r>
              <a:rPr lang="fr-FR" dirty="0">
                <a:latin typeface="Arial" panose="020B0604020202020204" pitchFamily="34" charset="0"/>
                <a:cs typeface="Arial" panose="020B0604020202020204" pitchFamily="34" charset="0"/>
              </a:rPr>
              <a:t>2. L’apport de la valeur à vie du client à la stratégie marketing</a:t>
            </a:r>
            <a:br>
              <a:rPr lang="fr-FR" dirty="0">
                <a:latin typeface="Arial" panose="020B0604020202020204" pitchFamily="34" charset="0"/>
                <a:cs typeface="Arial" panose="020B0604020202020204" pitchFamily="34" charset="0"/>
              </a:rPr>
            </a:br>
            <a:endParaRPr lang="fr-FR" sz="4400" dirty="0">
              <a:latin typeface="Arial" panose="020B0604020202020204" pitchFamily="34" charset="0"/>
              <a:cs typeface="Arial" panose="020B0604020202020204" pitchFamily="34" charset="0"/>
            </a:endParaRPr>
          </a:p>
        </p:txBody>
      </p:sp>
      <p:sp>
        <p:nvSpPr>
          <p:cNvPr id="11" name="Espace réservé du contenu 10"/>
          <p:cNvSpPr>
            <a:spLocks noGrp="1"/>
          </p:cNvSpPr>
          <p:nvPr>
            <p:ph type="subTitle" idx="4294967295"/>
          </p:nvPr>
        </p:nvSpPr>
        <p:spPr>
          <a:xfrm>
            <a:off x="948134" y="1493217"/>
            <a:ext cx="10295732" cy="3955616"/>
          </a:xfrm>
        </p:spPr>
        <p:txBody>
          <a:bodyPr>
            <a:normAutofit/>
          </a:bodyPr>
          <a:lstStyle/>
          <a:p>
            <a:pPr algn="just"/>
            <a:r>
              <a:rPr lang="fr-FR" dirty="0"/>
              <a:t>C’est un indicateur permettant la mise en place de stratégies d’acquisition et de rétention rentables compte tenu de la limite des coûts d’acquisition </a:t>
            </a:r>
          </a:p>
          <a:p>
            <a:pPr lvl="1" algn="just"/>
            <a:r>
              <a:rPr lang="fr-FR" dirty="0"/>
              <a:t>Si la valeur à vie moyenne des clients d’une entreprise est de 1 000€ et que le </a:t>
            </a:r>
            <a:r>
              <a:rPr lang="fr-FR"/>
              <a:t>coût d’acquisition </a:t>
            </a:r>
            <a:r>
              <a:rPr lang="fr-FR" dirty="0"/>
              <a:t>d’un nouveau client est de plus de 1 200 € (publicité, marketing, avantages, etc.), il y a un risque de perdre de l’argent</a:t>
            </a:r>
          </a:p>
          <a:p>
            <a:pPr algn="just"/>
            <a:r>
              <a:rPr lang="fr-FR" b="1" dirty="0"/>
              <a:t>Dans ce cas, que doit-on faire?</a:t>
            </a:r>
          </a:p>
          <a:p>
            <a:pPr lvl="1" algn="just"/>
            <a:r>
              <a:rPr lang="fr-FR" dirty="0"/>
              <a:t>Mener des ajustements stratégiques de manière optimale, en matière de réduction des coûts d’acquisition et/ou de fidélisation de la clientèle</a:t>
            </a:r>
          </a:p>
          <a:p>
            <a:pPr>
              <a:buFont typeface="Wingdings" panose="05000000000000000000" pitchFamily="2" charset="2"/>
              <a:buChar char="§"/>
            </a:pPr>
            <a:endParaRPr lang="fr-FR" dirty="0"/>
          </a:p>
        </p:txBody>
      </p:sp>
      <p:pic>
        <p:nvPicPr>
          <p:cNvPr id="5" name="Image 4"/>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394202" y="5595521"/>
            <a:ext cx="5797798" cy="914479"/>
          </a:xfrm>
          <a:prstGeom prst="rect">
            <a:avLst/>
          </a:prstGeom>
        </p:spPr>
      </p:pic>
    </p:spTree>
    <p:extLst>
      <p:ext uri="{BB962C8B-B14F-4D97-AF65-F5344CB8AC3E}">
        <p14:creationId xmlns:p14="http://schemas.microsoft.com/office/powerpoint/2010/main" val="344565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arn(inVertic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arn(inVertical)">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barn(inVertical)">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barn(inVertical)">
                                      <p:cBhvr>
                                        <p:cTn id="22"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p:cNvSpPr/>
          <p:nvPr>
            <p:custDataLst>
              <p:tags r:id="rId2"/>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Image 3"/>
          <p:cNvPicPr>
            <a:picLocks noChangeAspect="1"/>
          </p:cNvPicPr>
          <p:nvPr>
            <p:custDataLst>
              <p:tags r:id="rId3"/>
            </p:custDataLst>
          </p:nvPr>
        </p:nvPicPr>
        <p:blipFill>
          <a:blip r:embed="rId7" cstate="email">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4"/>
            </p:custDataLst>
          </p:nvPr>
        </p:nvPicPr>
        <p:blipFill>
          <a:blip r:embed="rId8" cstate="email">
            <a:extLst>
              <a:ext uri="{28A0092B-C50C-407E-A947-70E740481C1C}">
                <a14:useLocalDpi xmlns:a14="http://schemas.microsoft.com/office/drawing/2010/main"/>
              </a:ext>
            </a:extLst>
          </a:blip>
          <a:stretch>
            <a:fillRect/>
          </a:stretch>
        </p:blipFill>
        <p:spPr>
          <a:xfrm>
            <a:off x="4472489" y="4092210"/>
            <a:ext cx="5796349" cy="912925"/>
          </a:xfrm>
          <a:prstGeom prst="rect">
            <a:avLst/>
          </a:prstGeom>
          <a:effectLst/>
        </p:spPr>
      </p:pic>
      <p:cxnSp>
        <p:nvCxnSpPr>
          <p:cNvPr id="16" name="Connecteur droit 15"/>
          <p:cNvCxnSpPr/>
          <p:nvPr>
            <p:custDataLst>
              <p:tags r:id="rId5"/>
            </p:custDataLst>
          </p:nvPr>
        </p:nvCxnSpPr>
        <p:spPr>
          <a:xfrm flipV="1">
            <a:off x="948134" y="1287517"/>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a:xfrm>
            <a:off x="999285" y="87042"/>
            <a:ext cx="10058400" cy="1102626"/>
          </a:xfrm>
        </p:spPr>
        <p:txBody>
          <a:bodyPr>
            <a:normAutofit fontScale="90000"/>
          </a:bodyPr>
          <a:lstStyle/>
          <a:p>
            <a:br>
              <a:rPr lang="fr-FR" dirty="0">
                <a:latin typeface="Arial" panose="020B0604020202020204" pitchFamily="34" charset="0"/>
                <a:cs typeface="Arial" panose="020B0604020202020204" pitchFamily="34" charset="0"/>
              </a:rPr>
            </a:br>
            <a:r>
              <a:rPr lang="fr-FR" dirty="0">
                <a:latin typeface="Arial" panose="020B0604020202020204" pitchFamily="34" charset="0"/>
                <a:cs typeface="Arial" panose="020B0604020202020204" pitchFamily="34" charset="0"/>
              </a:rPr>
              <a:t>4. Calculer la valeur à vie du client </a:t>
            </a:r>
            <a:endParaRPr lang="fr-FR" sz="4400" dirty="0">
              <a:latin typeface="Arial" panose="020B0604020202020204" pitchFamily="34" charset="0"/>
              <a:cs typeface="Arial" panose="020B0604020202020204" pitchFamily="34" charset="0"/>
            </a:endParaRPr>
          </a:p>
        </p:txBody>
      </p:sp>
      <p:sp>
        <p:nvSpPr>
          <p:cNvPr id="11" name="Espace réservé du contenu 10"/>
          <p:cNvSpPr>
            <a:spLocks noGrp="1"/>
          </p:cNvSpPr>
          <p:nvPr>
            <p:ph type="subTitle" idx="4294967295"/>
          </p:nvPr>
        </p:nvSpPr>
        <p:spPr>
          <a:xfrm>
            <a:off x="948134" y="1397380"/>
            <a:ext cx="10295732" cy="3124964"/>
          </a:xfrm>
        </p:spPr>
        <p:txBody>
          <a:bodyPr>
            <a:normAutofit/>
          </a:bodyPr>
          <a:lstStyle/>
          <a:p>
            <a:r>
              <a:rPr lang="fr-FR" dirty="0">
                <a:cs typeface="Arial" panose="020B0604020202020204" pitchFamily="34" charset="0"/>
              </a:rPr>
              <a:t>Deux méthodes: </a:t>
            </a:r>
          </a:p>
          <a:p>
            <a:pPr lvl="1"/>
            <a:r>
              <a:rPr lang="fr-FR" dirty="0">
                <a:cs typeface="Arial" panose="020B0604020202020204" pitchFamily="34" charset="0"/>
              </a:rPr>
              <a:t>Une simplifiée </a:t>
            </a:r>
          </a:p>
          <a:p>
            <a:pPr lvl="1"/>
            <a:r>
              <a:rPr lang="fr-FR" dirty="0">
                <a:cs typeface="Arial" panose="020B0604020202020204" pitchFamily="34" charset="0"/>
              </a:rPr>
              <a:t>Une complexe</a:t>
            </a:r>
          </a:p>
          <a:p>
            <a:pPr>
              <a:buFont typeface="Wingdings" panose="05000000000000000000" pitchFamily="2" charset="2"/>
              <a:buChar char="§"/>
            </a:pPr>
            <a:endParaRPr lang="fr-FR" dirty="0"/>
          </a:p>
        </p:txBody>
      </p:sp>
      <p:pic>
        <p:nvPicPr>
          <p:cNvPr id="5" name="Image 4"/>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394202" y="5595521"/>
            <a:ext cx="5797798" cy="914479"/>
          </a:xfrm>
          <a:prstGeom prst="rect">
            <a:avLst/>
          </a:prstGeom>
        </p:spPr>
      </p:pic>
    </p:spTree>
    <p:extLst>
      <p:ext uri="{BB962C8B-B14F-4D97-AF65-F5344CB8AC3E}">
        <p14:creationId xmlns:p14="http://schemas.microsoft.com/office/powerpoint/2010/main" val="2221688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arn(inVertical)">
                                      <p:cBhvr>
                                        <p:cTn id="7" dur="500"/>
                                        <p:tgtEl>
                                          <p:spTgt spid="11">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barn(inVertical)">
                                      <p:cBhvr>
                                        <p:cTn id="10" dur="500"/>
                                        <p:tgtEl>
                                          <p:spTgt spid="11">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animEffect transition="in" filter="barn(inVertical)">
                                      <p:cBhvr>
                                        <p:cTn id="13"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p:cNvSpPr/>
          <p:nvPr>
            <p:custDataLst>
              <p:tags r:id="rId2"/>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Image 3"/>
          <p:cNvPicPr>
            <a:picLocks noChangeAspect="1"/>
          </p:cNvPicPr>
          <p:nvPr>
            <p:custDataLst>
              <p:tags r:id="rId3"/>
            </p:custDataLst>
          </p:nvPr>
        </p:nvPicPr>
        <p:blipFill>
          <a:blip r:embed="rId7" cstate="email">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4"/>
            </p:custDataLst>
          </p:nvPr>
        </p:nvPicPr>
        <p:blipFill>
          <a:blip r:embed="rId8" cstate="email">
            <a:extLst>
              <a:ext uri="{28A0092B-C50C-407E-A947-70E740481C1C}">
                <a14:useLocalDpi xmlns:a14="http://schemas.microsoft.com/office/drawing/2010/main"/>
              </a:ext>
            </a:extLst>
          </a:blip>
          <a:stretch>
            <a:fillRect/>
          </a:stretch>
        </p:blipFill>
        <p:spPr>
          <a:xfrm>
            <a:off x="4472489" y="4092210"/>
            <a:ext cx="5796349" cy="912925"/>
          </a:xfrm>
          <a:prstGeom prst="rect">
            <a:avLst/>
          </a:prstGeom>
          <a:effectLst/>
        </p:spPr>
      </p:pic>
      <p:cxnSp>
        <p:nvCxnSpPr>
          <p:cNvPr id="16" name="Connecteur droit 15"/>
          <p:cNvCxnSpPr/>
          <p:nvPr>
            <p:custDataLst>
              <p:tags r:id="rId5"/>
            </p:custDataLst>
          </p:nvPr>
        </p:nvCxnSpPr>
        <p:spPr>
          <a:xfrm flipV="1">
            <a:off x="948134" y="1287517"/>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a:xfrm>
            <a:off x="999285" y="87042"/>
            <a:ext cx="10058400" cy="1102626"/>
          </a:xfrm>
        </p:spPr>
        <p:txBody>
          <a:bodyPr>
            <a:normAutofit fontScale="90000"/>
          </a:bodyPr>
          <a:lstStyle/>
          <a:p>
            <a:br>
              <a:rPr lang="fr-FR" dirty="0">
                <a:latin typeface="Arial" panose="020B0604020202020204" pitchFamily="34" charset="0"/>
                <a:cs typeface="Arial" panose="020B0604020202020204" pitchFamily="34" charset="0"/>
              </a:rPr>
            </a:br>
            <a:r>
              <a:rPr lang="fr-FR" dirty="0">
                <a:latin typeface="Arial" panose="020B0604020202020204" pitchFamily="34" charset="0"/>
                <a:cs typeface="Arial" panose="020B0604020202020204" pitchFamily="34" charset="0"/>
              </a:rPr>
              <a:t>3. Calculer la valeur à vie du client </a:t>
            </a:r>
            <a:endParaRPr lang="fr-FR" sz="4400" dirty="0">
              <a:latin typeface="Arial" panose="020B0604020202020204" pitchFamily="34" charset="0"/>
              <a:cs typeface="Arial" panose="020B0604020202020204" pitchFamily="34" charset="0"/>
            </a:endParaRPr>
          </a:p>
        </p:txBody>
      </p:sp>
      <p:sp>
        <p:nvSpPr>
          <p:cNvPr id="11" name="Espace réservé du contenu 10"/>
          <p:cNvSpPr>
            <a:spLocks noGrp="1"/>
          </p:cNvSpPr>
          <p:nvPr>
            <p:ph type="subTitle" idx="4294967295"/>
          </p:nvPr>
        </p:nvSpPr>
        <p:spPr>
          <a:xfrm>
            <a:off x="948134" y="1397380"/>
            <a:ext cx="10295732" cy="4025226"/>
          </a:xfrm>
        </p:spPr>
        <p:txBody>
          <a:bodyPr>
            <a:normAutofit lnSpcReduction="10000"/>
          </a:bodyPr>
          <a:lstStyle/>
          <a:p>
            <a:r>
              <a:rPr lang="fr-FR" dirty="0">
                <a:cs typeface="Arial" panose="020B0604020202020204" pitchFamily="34" charset="0"/>
              </a:rPr>
              <a:t>Méthode simplifiée: </a:t>
            </a:r>
          </a:p>
          <a:p>
            <a:pPr lvl="1"/>
            <a:r>
              <a:rPr lang="fr-FR" dirty="0">
                <a:cs typeface="Arial" panose="020B0604020202020204" pitchFamily="34" charset="0"/>
              </a:rPr>
              <a:t>Chiffre d’affaires moyen par client sur le mois X 12 mois X durée de vie moyenne en années</a:t>
            </a:r>
          </a:p>
          <a:p>
            <a:pPr>
              <a:buFont typeface="Wingdings" panose="05000000000000000000" pitchFamily="2" charset="2"/>
              <a:buChar char="§"/>
            </a:pPr>
            <a:endParaRPr lang="fr-FR" dirty="0"/>
          </a:p>
          <a:p>
            <a:pPr>
              <a:buFont typeface="Wingdings" panose="05000000000000000000" pitchFamily="2" charset="2"/>
              <a:buChar char="§"/>
            </a:pPr>
            <a:r>
              <a:rPr lang="fr-FR" dirty="0"/>
              <a:t>Exemple de calcul de la valeur à vie du client pour une boulangerie :</a:t>
            </a:r>
          </a:p>
          <a:p>
            <a:pPr lvl="1">
              <a:buFont typeface="Wingdings" panose="05000000000000000000" pitchFamily="2" charset="2"/>
              <a:buChar char="§"/>
            </a:pPr>
            <a:r>
              <a:rPr lang="fr-FR" dirty="0"/>
              <a:t>Chiffre d’affaires moyen HT par client : 5 €</a:t>
            </a:r>
          </a:p>
          <a:p>
            <a:pPr lvl="1">
              <a:buFont typeface="Wingdings" panose="05000000000000000000" pitchFamily="2" charset="2"/>
              <a:buChar char="§"/>
            </a:pPr>
            <a:r>
              <a:rPr lang="fr-FR" dirty="0"/>
              <a:t>Nombre de passages moyen par semaine : 3</a:t>
            </a:r>
          </a:p>
          <a:p>
            <a:pPr lvl="1">
              <a:buFont typeface="Wingdings" panose="05000000000000000000" pitchFamily="2" charset="2"/>
              <a:buChar char="§"/>
            </a:pPr>
            <a:r>
              <a:rPr lang="fr-FR" dirty="0"/>
              <a:t>Durée de vie moyenne du client en années : 8</a:t>
            </a:r>
          </a:p>
          <a:p>
            <a:pPr lvl="1">
              <a:buFont typeface="Wingdings" panose="05000000000000000000" pitchFamily="2" charset="2"/>
              <a:buChar char="§"/>
            </a:pPr>
            <a:r>
              <a:rPr lang="fr-FR" dirty="0"/>
              <a:t>VVC = 5 € X 3 X 52 X 8 = 6240 €</a:t>
            </a:r>
          </a:p>
        </p:txBody>
      </p:sp>
      <p:pic>
        <p:nvPicPr>
          <p:cNvPr id="5" name="Image 4"/>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394202" y="5595521"/>
            <a:ext cx="5797798" cy="914479"/>
          </a:xfrm>
          <a:prstGeom prst="rect">
            <a:avLst/>
          </a:prstGeom>
        </p:spPr>
      </p:pic>
    </p:spTree>
    <p:extLst>
      <p:ext uri="{BB962C8B-B14F-4D97-AF65-F5344CB8AC3E}">
        <p14:creationId xmlns:p14="http://schemas.microsoft.com/office/powerpoint/2010/main" val="2513142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barn(inVertical)">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xEl>
                                              <p:pRg st="3" end="3"/>
                                            </p:txEl>
                                          </p:spTgt>
                                        </p:tgtEl>
                                        <p:attrNameLst>
                                          <p:attrName>style.visibility</p:attrName>
                                        </p:attrNameLst>
                                      </p:cBhvr>
                                      <p:to>
                                        <p:strVal val="visible"/>
                                      </p:to>
                                    </p:set>
                                    <p:animEffect transition="in" filter="barn(inVertical)">
                                      <p:cBhvr>
                                        <p:cTn id="12" dur="500"/>
                                        <p:tgtEl>
                                          <p:spTgt spid="11">
                                            <p:txEl>
                                              <p:pRg st="3" end="3"/>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animEffect transition="in" filter="barn(inVertical)">
                                      <p:cBhvr>
                                        <p:cTn id="15" dur="500"/>
                                        <p:tgtEl>
                                          <p:spTgt spid="11">
                                            <p:txEl>
                                              <p:pRg st="4" end="4"/>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11">
                                            <p:txEl>
                                              <p:pRg st="5" end="5"/>
                                            </p:txEl>
                                          </p:spTgt>
                                        </p:tgtEl>
                                        <p:attrNameLst>
                                          <p:attrName>style.visibility</p:attrName>
                                        </p:attrNameLst>
                                      </p:cBhvr>
                                      <p:to>
                                        <p:strVal val="visible"/>
                                      </p:to>
                                    </p:set>
                                    <p:animEffect transition="in" filter="barn(inVertical)">
                                      <p:cBhvr>
                                        <p:cTn id="18" dur="500"/>
                                        <p:tgtEl>
                                          <p:spTgt spid="11">
                                            <p:txEl>
                                              <p:pRg st="5" end="5"/>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11">
                                            <p:txEl>
                                              <p:pRg st="6" end="6"/>
                                            </p:txEl>
                                          </p:spTgt>
                                        </p:tgtEl>
                                        <p:attrNameLst>
                                          <p:attrName>style.visibility</p:attrName>
                                        </p:attrNameLst>
                                      </p:cBhvr>
                                      <p:to>
                                        <p:strVal val="visible"/>
                                      </p:to>
                                    </p:set>
                                    <p:animEffect transition="in" filter="barn(inVertical)">
                                      <p:cBhvr>
                                        <p:cTn id="21" dur="500"/>
                                        <p:tgtEl>
                                          <p:spTgt spid="11">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11">
                                            <p:txEl>
                                              <p:pRg st="7" end="7"/>
                                            </p:txEl>
                                          </p:spTgt>
                                        </p:tgtEl>
                                        <p:attrNameLst>
                                          <p:attrName>style.visibility</p:attrName>
                                        </p:attrNameLst>
                                      </p:cBhvr>
                                      <p:to>
                                        <p:strVal val="visible"/>
                                      </p:to>
                                    </p:set>
                                    <p:animEffect transition="in" filter="barn(inVertical)">
                                      <p:cBhvr>
                                        <p:cTn id="26"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p:cNvSpPr/>
          <p:nvPr>
            <p:custDataLst>
              <p:tags r:id="rId2"/>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Image 3"/>
          <p:cNvPicPr>
            <a:picLocks noChangeAspect="1"/>
          </p:cNvPicPr>
          <p:nvPr>
            <p:custDataLst>
              <p:tags r:id="rId3"/>
            </p:custDataLst>
          </p:nvPr>
        </p:nvPicPr>
        <p:blipFill>
          <a:blip r:embed="rId7" cstate="email">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4"/>
            </p:custDataLst>
          </p:nvPr>
        </p:nvPicPr>
        <p:blipFill>
          <a:blip r:embed="rId8" cstate="email">
            <a:extLst>
              <a:ext uri="{28A0092B-C50C-407E-A947-70E740481C1C}">
                <a14:useLocalDpi xmlns:a14="http://schemas.microsoft.com/office/drawing/2010/main"/>
              </a:ext>
            </a:extLst>
          </a:blip>
          <a:stretch>
            <a:fillRect/>
          </a:stretch>
        </p:blipFill>
        <p:spPr>
          <a:xfrm>
            <a:off x="4472489" y="4092210"/>
            <a:ext cx="5796349" cy="912925"/>
          </a:xfrm>
          <a:prstGeom prst="rect">
            <a:avLst/>
          </a:prstGeom>
          <a:effectLst/>
        </p:spPr>
      </p:pic>
      <p:cxnSp>
        <p:nvCxnSpPr>
          <p:cNvPr id="16" name="Connecteur droit 15"/>
          <p:cNvCxnSpPr/>
          <p:nvPr>
            <p:custDataLst>
              <p:tags r:id="rId5"/>
            </p:custDataLst>
          </p:nvPr>
        </p:nvCxnSpPr>
        <p:spPr>
          <a:xfrm flipV="1">
            <a:off x="948134" y="1287517"/>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a:xfrm>
            <a:off x="999285" y="87042"/>
            <a:ext cx="10058400" cy="1102626"/>
          </a:xfrm>
        </p:spPr>
        <p:txBody>
          <a:bodyPr>
            <a:normAutofit fontScale="90000"/>
          </a:bodyPr>
          <a:lstStyle/>
          <a:p>
            <a:br>
              <a:rPr lang="fr-FR" dirty="0">
                <a:latin typeface="Arial" panose="020B0604020202020204" pitchFamily="34" charset="0"/>
                <a:cs typeface="Arial" panose="020B0604020202020204" pitchFamily="34" charset="0"/>
              </a:rPr>
            </a:br>
            <a:r>
              <a:rPr lang="fr-FR" dirty="0">
                <a:latin typeface="Arial" panose="020B0604020202020204" pitchFamily="34" charset="0"/>
                <a:cs typeface="Arial" panose="020B0604020202020204" pitchFamily="34" charset="0"/>
              </a:rPr>
              <a:t>3. Calculer la valeur à vie du client </a:t>
            </a:r>
            <a:endParaRPr lang="fr-FR" sz="4400" dirty="0">
              <a:latin typeface="Arial" panose="020B0604020202020204" pitchFamily="34" charset="0"/>
              <a:cs typeface="Arial" panose="020B0604020202020204" pitchFamily="34" charset="0"/>
            </a:endParaRPr>
          </a:p>
        </p:txBody>
      </p:sp>
      <p:sp>
        <p:nvSpPr>
          <p:cNvPr id="11" name="Espace réservé du contenu 10"/>
          <p:cNvSpPr>
            <a:spLocks noGrp="1"/>
          </p:cNvSpPr>
          <p:nvPr>
            <p:ph type="subTitle" idx="4294967295"/>
          </p:nvPr>
        </p:nvSpPr>
        <p:spPr>
          <a:xfrm>
            <a:off x="948134" y="1397380"/>
            <a:ext cx="10295732" cy="4025226"/>
          </a:xfrm>
        </p:spPr>
        <p:txBody>
          <a:bodyPr>
            <a:normAutofit/>
          </a:bodyPr>
          <a:lstStyle/>
          <a:p>
            <a:r>
              <a:rPr lang="fr-FR" dirty="0">
                <a:cs typeface="Arial" panose="020B0604020202020204" pitchFamily="34" charset="0"/>
              </a:rPr>
              <a:t>Méthode complexe: </a:t>
            </a:r>
          </a:p>
          <a:p>
            <a:pPr lvl="1"/>
            <a:r>
              <a:rPr lang="fr-FR" dirty="0">
                <a:solidFill>
                  <a:srgbClr val="222222"/>
                </a:solidFill>
                <a:latin typeface="arial" panose="020B0604020202020204" pitchFamily="34" charset="0"/>
              </a:rPr>
              <a:t>Inclusion du </a:t>
            </a:r>
            <a:r>
              <a:rPr lang="fr-FR" b="1" dirty="0">
                <a:solidFill>
                  <a:srgbClr val="222222"/>
                </a:solidFill>
                <a:latin typeface="arial" panose="020B0604020202020204" pitchFamily="34" charset="0"/>
              </a:rPr>
              <a:t>taux d'actualisation</a:t>
            </a:r>
            <a:r>
              <a:rPr lang="fr-FR" dirty="0">
                <a:solidFill>
                  <a:srgbClr val="222222"/>
                </a:solidFill>
                <a:latin typeface="arial" panose="020B0604020202020204" pitchFamily="34" charset="0"/>
              </a:rPr>
              <a:t> </a:t>
            </a:r>
          </a:p>
          <a:p>
            <a:pPr lvl="1"/>
            <a:r>
              <a:rPr lang="fr-FR" b="0" i="0" dirty="0">
                <a:solidFill>
                  <a:srgbClr val="000000"/>
                </a:solidFill>
                <a:effectLst/>
                <a:latin typeface="Arial" panose="020B0604020202020204" pitchFamily="34" charset="0"/>
              </a:rPr>
              <a:t>4 </a:t>
            </a:r>
            <a:r>
              <a:rPr lang="fr-FR" dirty="0">
                <a:solidFill>
                  <a:srgbClr val="000000"/>
                </a:solidFill>
                <a:latin typeface="Arial" panose="020B0604020202020204" pitchFamily="34" charset="0"/>
              </a:rPr>
              <a:t>étapes: </a:t>
            </a:r>
          </a:p>
          <a:p>
            <a:pPr lvl="2"/>
            <a:r>
              <a:rPr lang="fr-FR" b="0" i="0" dirty="0">
                <a:solidFill>
                  <a:srgbClr val="000000"/>
                </a:solidFill>
                <a:effectLst/>
                <a:latin typeface="Arial" panose="020B0604020202020204" pitchFamily="34" charset="0"/>
              </a:rPr>
              <a:t>prévision de la durée de vie restante du client (le plus souvent en années)</a:t>
            </a:r>
          </a:p>
          <a:p>
            <a:pPr lvl="2"/>
            <a:r>
              <a:rPr lang="fr-FR" b="0" i="0" dirty="0">
                <a:solidFill>
                  <a:srgbClr val="000000"/>
                </a:solidFill>
                <a:effectLst/>
                <a:latin typeface="Arial" panose="020B0604020202020204" pitchFamily="34" charset="0"/>
              </a:rPr>
              <a:t>prévision des revenus futurs (le plus souvent d'année en année), basée sur une estimation des futurs produits achetés et du prix payé</a:t>
            </a:r>
          </a:p>
          <a:p>
            <a:pPr lvl="2"/>
            <a:r>
              <a:rPr lang="fr-FR" dirty="0">
                <a:solidFill>
                  <a:srgbClr val="000000"/>
                </a:solidFill>
                <a:latin typeface="Arial" panose="020B0604020202020204" pitchFamily="34" charset="0"/>
              </a:rPr>
              <a:t>e</a:t>
            </a:r>
            <a:r>
              <a:rPr lang="fr-FR" b="0" i="0" dirty="0">
                <a:solidFill>
                  <a:srgbClr val="000000"/>
                </a:solidFill>
                <a:effectLst/>
                <a:latin typeface="Arial" panose="020B0604020202020204" pitchFamily="34" charset="0"/>
              </a:rPr>
              <a:t>stimation des coûts liés à ces produits </a:t>
            </a:r>
          </a:p>
          <a:p>
            <a:pPr lvl="2"/>
            <a:r>
              <a:rPr lang="fr-FR" b="0" i="0" dirty="0">
                <a:solidFill>
                  <a:srgbClr val="000000"/>
                </a:solidFill>
                <a:effectLst/>
                <a:latin typeface="Arial" panose="020B0604020202020204" pitchFamily="34" charset="0"/>
              </a:rPr>
              <a:t>calcul de la valeur actuelle nette de ces montants futurs </a:t>
            </a:r>
            <a:endParaRPr lang="fr-FR" b="0" i="0" dirty="0">
              <a:solidFill>
                <a:srgbClr val="222222"/>
              </a:solidFill>
              <a:effectLst/>
              <a:latin typeface="arial" panose="020B0604020202020204" pitchFamily="34" charset="0"/>
            </a:endParaRPr>
          </a:p>
        </p:txBody>
      </p:sp>
      <p:pic>
        <p:nvPicPr>
          <p:cNvPr id="5" name="Image 4"/>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394202" y="5595521"/>
            <a:ext cx="5797798" cy="914479"/>
          </a:xfrm>
          <a:prstGeom prst="rect">
            <a:avLst/>
          </a:prstGeom>
        </p:spPr>
      </p:pic>
    </p:spTree>
    <p:extLst>
      <p:ext uri="{BB962C8B-B14F-4D97-AF65-F5344CB8AC3E}">
        <p14:creationId xmlns:p14="http://schemas.microsoft.com/office/powerpoint/2010/main" val="702286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barn(inVertical)">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barn(inVertical)">
                                      <p:cBhvr>
                                        <p:cTn id="12" dur="500"/>
                                        <p:tgtEl>
                                          <p:spTgt spid="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animEffect transition="in" filter="barn(inVertical)">
                                      <p:cBhvr>
                                        <p:cTn id="17" dur="500"/>
                                        <p:tgtEl>
                                          <p:spTgt spid="1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1">
                                            <p:txEl>
                                              <p:pRg st="4" end="4"/>
                                            </p:txEl>
                                          </p:spTgt>
                                        </p:tgtEl>
                                        <p:attrNameLst>
                                          <p:attrName>style.visibility</p:attrName>
                                        </p:attrNameLst>
                                      </p:cBhvr>
                                      <p:to>
                                        <p:strVal val="visible"/>
                                      </p:to>
                                    </p:set>
                                    <p:animEffect transition="in" filter="barn(inVertical)">
                                      <p:cBhvr>
                                        <p:cTn id="22" dur="500"/>
                                        <p:tgtEl>
                                          <p:spTgt spid="1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1">
                                            <p:txEl>
                                              <p:pRg st="5" end="5"/>
                                            </p:txEl>
                                          </p:spTgt>
                                        </p:tgtEl>
                                        <p:attrNameLst>
                                          <p:attrName>style.visibility</p:attrName>
                                        </p:attrNameLst>
                                      </p:cBhvr>
                                      <p:to>
                                        <p:strVal val="visible"/>
                                      </p:to>
                                    </p:set>
                                    <p:animEffect transition="in" filter="barn(inVertical)">
                                      <p:cBhvr>
                                        <p:cTn id="27" dur="500"/>
                                        <p:tgtEl>
                                          <p:spTgt spid="1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1">
                                            <p:txEl>
                                              <p:pRg st="6" end="6"/>
                                            </p:txEl>
                                          </p:spTgt>
                                        </p:tgtEl>
                                        <p:attrNameLst>
                                          <p:attrName>style.visibility</p:attrName>
                                        </p:attrNameLst>
                                      </p:cBhvr>
                                      <p:to>
                                        <p:strVal val="visible"/>
                                      </p:to>
                                    </p:set>
                                    <p:animEffect transition="in" filter="barn(inVertical)">
                                      <p:cBhvr>
                                        <p:cTn id="32"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p:cNvSpPr/>
          <p:nvPr>
            <p:custDataLst>
              <p:tags r:id="rId2"/>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Image 3"/>
          <p:cNvPicPr>
            <a:picLocks noChangeAspect="1"/>
          </p:cNvPicPr>
          <p:nvPr>
            <p:custDataLst>
              <p:tags r:id="rId3"/>
            </p:custDataLst>
          </p:nvPr>
        </p:nvPicPr>
        <p:blipFill>
          <a:blip r:embed="rId8" cstate="email">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4"/>
            </p:custDataLst>
          </p:nvPr>
        </p:nvPicPr>
        <p:blipFill>
          <a:blip r:embed="rId9" cstate="email">
            <a:extLst>
              <a:ext uri="{28A0092B-C50C-407E-A947-70E740481C1C}">
                <a14:useLocalDpi xmlns:a14="http://schemas.microsoft.com/office/drawing/2010/main"/>
              </a:ext>
            </a:extLst>
          </a:blip>
          <a:stretch>
            <a:fillRect/>
          </a:stretch>
        </p:blipFill>
        <p:spPr>
          <a:xfrm>
            <a:off x="4472489" y="4092210"/>
            <a:ext cx="5796349" cy="912925"/>
          </a:xfrm>
          <a:prstGeom prst="rect">
            <a:avLst/>
          </a:prstGeom>
          <a:effectLst/>
        </p:spPr>
      </p:pic>
      <p:cxnSp>
        <p:nvCxnSpPr>
          <p:cNvPr id="16" name="Connecteur droit 15"/>
          <p:cNvCxnSpPr/>
          <p:nvPr>
            <p:custDataLst>
              <p:tags r:id="rId5"/>
            </p:custDataLst>
          </p:nvPr>
        </p:nvCxnSpPr>
        <p:spPr>
          <a:xfrm flipV="1">
            <a:off x="948134" y="1287517"/>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a:xfrm>
            <a:off x="999285" y="-14558"/>
            <a:ext cx="10058400" cy="1102626"/>
          </a:xfrm>
        </p:spPr>
        <p:txBody>
          <a:bodyPr>
            <a:normAutofit fontScale="90000"/>
          </a:bodyPr>
          <a:lstStyle/>
          <a:p>
            <a:br>
              <a:rPr lang="fr-FR" dirty="0">
                <a:latin typeface="Arial" panose="020B0604020202020204" pitchFamily="34" charset="0"/>
                <a:cs typeface="Arial" panose="020B0604020202020204" pitchFamily="34" charset="0"/>
              </a:rPr>
            </a:br>
            <a:r>
              <a:rPr lang="fr-FR" dirty="0">
                <a:latin typeface="Arial" panose="020B0604020202020204" pitchFamily="34" charset="0"/>
                <a:cs typeface="Arial" panose="020B0604020202020204" pitchFamily="34" charset="0"/>
              </a:rPr>
              <a:t>3. Quid des clients non rentables? </a:t>
            </a:r>
            <a:endParaRPr lang="fr-FR" sz="4400" dirty="0">
              <a:latin typeface="Arial" panose="020B0604020202020204" pitchFamily="34" charset="0"/>
              <a:cs typeface="Arial" panose="020B0604020202020204" pitchFamily="34" charset="0"/>
            </a:endParaRPr>
          </a:p>
        </p:txBody>
      </p:sp>
      <p:sp>
        <p:nvSpPr>
          <p:cNvPr id="11" name="Espace réservé du contenu 10"/>
          <p:cNvSpPr>
            <a:spLocks noGrp="1"/>
          </p:cNvSpPr>
          <p:nvPr>
            <p:ph type="subTitle" idx="4294967295"/>
          </p:nvPr>
        </p:nvSpPr>
        <p:spPr>
          <a:xfrm>
            <a:off x="948134" y="1397380"/>
            <a:ext cx="10295732" cy="4025226"/>
          </a:xfrm>
        </p:spPr>
        <p:txBody>
          <a:bodyPr>
            <a:normAutofit/>
          </a:bodyPr>
          <a:lstStyle/>
          <a:p>
            <a:r>
              <a:rPr lang="fr-FR" dirty="0">
                <a:cs typeface="Arial" panose="020B0604020202020204" pitchFamily="34" charset="0"/>
              </a:rPr>
              <a:t>Les entreprises n’hésitent pas à se séparer de salariés qui n’apportent pas/plus de valeur</a:t>
            </a:r>
          </a:p>
          <a:p>
            <a:r>
              <a:rPr lang="fr-FR" dirty="0">
                <a:cs typeface="Arial" panose="020B0604020202020204" pitchFamily="34" charset="0"/>
              </a:rPr>
              <a:t>Quid des clients qui n’apportent pas de valeur ?</a:t>
            </a:r>
          </a:p>
        </p:txBody>
      </p:sp>
      <p:pic>
        <p:nvPicPr>
          <p:cNvPr id="5" name="Image 4"/>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6394202" y="5595521"/>
            <a:ext cx="5797798" cy="914479"/>
          </a:xfrm>
          <a:prstGeom prst="rect">
            <a:avLst/>
          </a:prstGeom>
        </p:spPr>
      </p:pic>
      <p:pic>
        <p:nvPicPr>
          <p:cNvPr id="2" name="Image 1">
            <a:extLst>
              <a:ext uri="{FF2B5EF4-FFF2-40B4-BE49-F238E27FC236}">
                <a16:creationId xmlns:a16="http://schemas.microsoft.com/office/drawing/2014/main" id="{C1F2ED13-BFF6-D17B-44E3-AA5DE0F8C83E}"/>
              </a:ext>
            </a:extLst>
          </p:cNvPr>
          <p:cNvPicPr>
            <a:picLocks noChangeAspect="1"/>
          </p:cNvPicPr>
          <p:nvPr/>
        </p:nvPicPr>
        <p:blipFill rotWithShape="1">
          <a:blip r:embed="rId11" cstate="email">
            <a:extLst>
              <a:ext uri="{28A0092B-C50C-407E-A947-70E740481C1C}">
                <a14:useLocalDpi xmlns:a14="http://schemas.microsoft.com/office/drawing/2010/main"/>
              </a:ext>
            </a:extLst>
          </a:blip>
          <a:srcRect/>
          <a:stretch/>
        </p:blipFill>
        <p:spPr>
          <a:xfrm>
            <a:off x="0" y="3065585"/>
            <a:ext cx="5253107" cy="3634236"/>
          </a:xfrm>
          <a:prstGeom prst="rect">
            <a:avLst/>
          </a:prstGeom>
        </p:spPr>
      </p:pic>
      <p:pic>
        <p:nvPicPr>
          <p:cNvPr id="7" name="Image 6">
            <a:extLst>
              <a:ext uri="{FF2B5EF4-FFF2-40B4-BE49-F238E27FC236}">
                <a16:creationId xmlns:a16="http://schemas.microsoft.com/office/drawing/2014/main" id="{73665E74-F57C-6544-A102-6FB20264F31A}"/>
              </a:ext>
            </a:extLst>
          </p:cNvPr>
          <p:cNvPicPr>
            <a:picLocks noChangeAspect="1"/>
          </p:cNvPicPr>
          <p:nvPr/>
        </p:nvPicPr>
        <p:blipFill rotWithShape="1">
          <a:blip r:embed="rId12" cstate="email">
            <a:extLst>
              <a:ext uri="{28A0092B-C50C-407E-A947-70E740481C1C}">
                <a14:useLocalDpi xmlns:a14="http://schemas.microsoft.com/office/drawing/2010/main"/>
              </a:ext>
            </a:extLst>
          </a:blip>
          <a:srcRect/>
          <a:stretch/>
        </p:blipFill>
        <p:spPr>
          <a:xfrm>
            <a:off x="5570462" y="3065585"/>
            <a:ext cx="6414000" cy="2965938"/>
          </a:xfrm>
          <a:prstGeom prst="rect">
            <a:avLst/>
          </a:prstGeom>
        </p:spPr>
      </p:pic>
    </p:spTree>
    <p:extLst>
      <p:ext uri="{BB962C8B-B14F-4D97-AF65-F5344CB8AC3E}">
        <p14:creationId xmlns:p14="http://schemas.microsoft.com/office/powerpoint/2010/main" val="2802016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arn(inVertic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arn(inVertical)">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ircle(in)">
                                      <p:cBhvr>
                                        <p:cTn id="17" dur="2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ircle(in)">
                                      <p:cBhvr>
                                        <p:cTn id="2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p:cNvSpPr/>
          <p:nvPr>
            <p:custDataLst>
              <p:tags r:id="rId2"/>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Image 3"/>
          <p:cNvPicPr>
            <a:picLocks noChangeAspect="1"/>
          </p:cNvPicPr>
          <p:nvPr>
            <p:custDataLst>
              <p:tags r:id="rId3"/>
            </p:custDataLst>
          </p:nvPr>
        </p:nvPicPr>
        <p:blipFill>
          <a:blip r:embed="rId8" cstate="email">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4"/>
            </p:custDataLst>
          </p:nvPr>
        </p:nvPicPr>
        <p:blipFill>
          <a:blip r:embed="rId9" cstate="email">
            <a:extLst>
              <a:ext uri="{28A0092B-C50C-407E-A947-70E740481C1C}">
                <a14:useLocalDpi xmlns:a14="http://schemas.microsoft.com/office/drawing/2010/main"/>
              </a:ext>
            </a:extLst>
          </a:blip>
          <a:stretch>
            <a:fillRect/>
          </a:stretch>
        </p:blipFill>
        <p:spPr>
          <a:xfrm>
            <a:off x="4472489" y="4092210"/>
            <a:ext cx="5796349" cy="912925"/>
          </a:xfrm>
          <a:prstGeom prst="rect">
            <a:avLst/>
          </a:prstGeom>
          <a:effectLst/>
        </p:spPr>
      </p:pic>
      <p:cxnSp>
        <p:nvCxnSpPr>
          <p:cNvPr id="16" name="Connecteur droit 15"/>
          <p:cNvCxnSpPr/>
          <p:nvPr>
            <p:custDataLst>
              <p:tags r:id="rId5"/>
            </p:custDataLst>
          </p:nvPr>
        </p:nvCxnSpPr>
        <p:spPr>
          <a:xfrm flipV="1">
            <a:off x="948134" y="1287517"/>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a:xfrm>
            <a:off x="999285" y="-14558"/>
            <a:ext cx="10058400" cy="1102626"/>
          </a:xfrm>
        </p:spPr>
        <p:txBody>
          <a:bodyPr>
            <a:normAutofit fontScale="90000"/>
          </a:bodyPr>
          <a:lstStyle/>
          <a:p>
            <a:br>
              <a:rPr lang="fr-FR" dirty="0">
                <a:latin typeface="Arial" panose="020B0604020202020204" pitchFamily="34" charset="0"/>
                <a:cs typeface="Arial" panose="020B0604020202020204" pitchFamily="34" charset="0"/>
              </a:rPr>
            </a:br>
            <a:r>
              <a:rPr lang="fr-FR" dirty="0">
                <a:latin typeface="Arial" panose="020B0604020202020204" pitchFamily="34" charset="0"/>
                <a:cs typeface="Arial" panose="020B0604020202020204" pitchFamily="34" charset="0"/>
              </a:rPr>
              <a:t>3. Quid des clients non rentables? </a:t>
            </a:r>
            <a:endParaRPr lang="fr-FR" sz="4400" dirty="0">
              <a:latin typeface="Arial" panose="020B0604020202020204" pitchFamily="34" charset="0"/>
              <a:cs typeface="Arial" panose="020B0604020202020204" pitchFamily="34" charset="0"/>
            </a:endParaRPr>
          </a:p>
        </p:txBody>
      </p:sp>
      <p:sp>
        <p:nvSpPr>
          <p:cNvPr id="11" name="Espace réservé du contenu 10"/>
          <p:cNvSpPr>
            <a:spLocks noGrp="1"/>
          </p:cNvSpPr>
          <p:nvPr>
            <p:ph type="subTitle" idx="4294967295"/>
          </p:nvPr>
        </p:nvSpPr>
        <p:spPr>
          <a:xfrm>
            <a:off x="948134" y="1397380"/>
            <a:ext cx="10295732" cy="4025226"/>
          </a:xfrm>
        </p:spPr>
        <p:txBody>
          <a:bodyPr>
            <a:normAutofit/>
          </a:bodyPr>
          <a:lstStyle/>
          <a:p>
            <a:pPr lvl="1"/>
            <a:r>
              <a:rPr lang="fr-FR" sz="2200" dirty="0">
                <a:cs typeface="Arial" panose="020B0604020202020204" pitchFamily="34" charset="0"/>
              </a:rPr>
              <a:t>Plusieurs stratégies: </a:t>
            </a:r>
          </a:p>
          <a:p>
            <a:pPr lvl="2"/>
            <a:r>
              <a:rPr lang="fr-FR" sz="2200" dirty="0">
                <a:cs typeface="Arial" panose="020B0604020202020204" pitchFamily="34" charset="0"/>
              </a:rPr>
              <a:t>Les transformer en clients rentables en augmentant les prix ou en imposant des frais supplémentaires</a:t>
            </a:r>
          </a:p>
          <a:p>
            <a:pPr lvl="2"/>
            <a:r>
              <a:rPr lang="fr-FR" sz="2200" dirty="0">
                <a:cs typeface="Arial" panose="020B0604020202020204" pitchFamily="34" charset="0"/>
              </a:rPr>
              <a:t> Ajuster l’offre </a:t>
            </a:r>
          </a:p>
          <a:p>
            <a:pPr lvl="2"/>
            <a:r>
              <a:rPr lang="fr-FR" sz="2200" dirty="0">
                <a:cs typeface="Arial" panose="020B0604020202020204" pitchFamily="34" charset="0"/>
              </a:rPr>
              <a:t>Différencier les niveaux de service </a:t>
            </a:r>
          </a:p>
          <a:p>
            <a:endParaRPr lang="fr-FR" dirty="0">
              <a:cs typeface="Arial" panose="020B0604020202020204" pitchFamily="34" charset="0"/>
            </a:endParaRPr>
          </a:p>
        </p:txBody>
      </p:sp>
      <p:pic>
        <p:nvPicPr>
          <p:cNvPr id="5" name="Image 4"/>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6394202" y="5595521"/>
            <a:ext cx="5797798" cy="914479"/>
          </a:xfrm>
          <a:prstGeom prst="rect">
            <a:avLst/>
          </a:prstGeom>
        </p:spPr>
      </p:pic>
      <p:pic>
        <p:nvPicPr>
          <p:cNvPr id="1026" name="Picture 2" descr="AT&amp;T Official Site | Our Best Wireless &amp; Internet Service">
            <a:extLst>
              <a:ext uri="{FF2B5EF4-FFF2-40B4-BE49-F238E27FC236}">
                <a16:creationId xmlns:a16="http://schemas.microsoft.com/office/drawing/2014/main" id="{91EA2399-F009-72D7-5607-48A498742257}"/>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132900" y="3743692"/>
            <a:ext cx="2942492" cy="294249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ogo Bank Of America">
            <a:extLst>
              <a:ext uri="{FF2B5EF4-FFF2-40B4-BE49-F238E27FC236}">
                <a16:creationId xmlns:a16="http://schemas.microsoft.com/office/drawing/2014/main" id="{1A5BE92B-5859-EE01-1F11-9279D8D04321}"/>
              </a:ext>
            </a:extLst>
          </p:cNvPr>
          <p:cNvPicPr>
            <a:picLocks noChangeAspect="1" noChangeArrowheads="1"/>
          </p:cNvPicPr>
          <p:nvPr/>
        </p:nvPicPr>
        <p:blipFill>
          <a:blip r:embed="rId12">
            <a:extLst>
              <a:ext uri="{28A0092B-C50C-407E-A947-70E740481C1C}">
                <a14:useLocalDpi xmlns:a14="http://schemas.microsoft.com/office/drawing/2010/main"/>
              </a:ext>
            </a:extLst>
          </a:blip>
          <a:srcRect/>
          <a:stretch>
            <a:fillRect/>
          </a:stretch>
        </p:blipFill>
        <p:spPr bwMode="auto">
          <a:xfrm>
            <a:off x="8505890" y="2513907"/>
            <a:ext cx="2944084" cy="131502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mazon Prime Video Türkiye’nin Şubat 2021 takvimi açıklandı">
            <a:extLst>
              <a:ext uri="{FF2B5EF4-FFF2-40B4-BE49-F238E27FC236}">
                <a16:creationId xmlns:a16="http://schemas.microsoft.com/office/drawing/2014/main" id="{780FE4DF-3BB6-179F-1292-97547D84F36B}"/>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5434192" y="4287905"/>
            <a:ext cx="3937636" cy="1968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7552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arn(inVertic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arn(inVertical)">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28"/>
                                        </p:tgtEl>
                                        <p:attrNameLst>
                                          <p:attrName>style.visibility</p:attrName>
                                        </p:attrNameLst>
                                      </p:cBhvr>
                                      <p:to>
                                        <p:strVal val="visible"/>
                                      </p:to>
                                    </p:set>
                                    <p:animEffect transition="in" filter="barn(inVertical)">
                                      <p:cBhvr>
                                        <p:cTn id="17" dur="500"/>
                                        <p:tgtEl>
                                          <p:spTgt spid="102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1">
                                            <p:txEl>
                                              <p:pRg st="2" end="2"/>
                                            </p:txEl>
                                          </p:spTgt>
                                        </p:tgtEl>
                                        <p:attrNameLst>
                                          <p:attrName>style.visibility</p:attrName>
                                        </p:attrNameLst>
                                      </p:cBhvr>
                                      <p:to>
                                        <p:strVal val="visible"/>
                                      </p:to>
                                    </p:set>
                                    <p:animEffect transition="in" filter="barn(inVertical)">
                                      <p:cBhvr>
                                        <p:cTn id="22" dur="500"/>
                                        <p:tgtEl>
                                          <p:spTgt spid="1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030"/>
                                        </p:tgtEl>
                                        <p:attrNameLst>
                                          <p:attrName>style.visibility</p:attrName>
                                        </p:attrNameLst>
                                      </p:cBhvr>
                                      <p:to>
                                        <p:strVal val="visible"/>
                                      </p:to>
                                    </p:set>
                                    <p:animEffect transition="in" filter="barn(inVertical)">
                                      <p:cBhvr>
                                        <p:cTn id="27" dur="500"/>
                                        <p:tgtEl>
                                          <p:spTgt spid="1030"/>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1">
                                            <p:txEl>
                                              <p:pRg st="3" end="3"/>
                                            </p:txEl>
                                          </p:spTgt>
                                        </p:tgtEl>
                                        <p:attrNameLst>
                                          <p:attrName>style.visibility</p:attrName>
                                        </p:attrNameLst>
                                      </p:cBhvr>
                                      <p:to>
                                        <p:strVal val="visible"/>
                                      </p:to>
                                    </p:set>
                                    <p:animEffect transition="in" filter="barn(inVertical)">
                                      <p:cBhvr>
                                        <p:cTn id="32" dur="500"/>
                                        <p:tgtEl>
                                          <p:spTgt spid="11">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1026"/>
                                        </p:tgtEl>
                                        <p:attrNameLst>
                                          <p:attrName>style.visibility</p:attrName>
                                        </p:attrNameLst>
                                      </p:cBhvr>
                                      <p:to>
                                        <p:strVal val="visible"/>
                                      </p:to>
                                    </p:set>
                                    <p:animEffect transition="in" filter="barn(inVertical)">
                                      <p:cBhvr>
                                        <p:cTn id="3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7"/>
</p:tagLst>
</file>

<file path=ppt/tags/tag5.xml><?xml version="1.0" encoding="utf-8"?>
<p:tagLst xmlns:a="http://schemas.openxmlformats.org/drawingml/2006/main" xmlns:r="http://schemas.openxmlformats.org/officeDocument/2006/relationships" xmlns:p="http://schemas.openxmlformats.org/presentationml/2006/main">
  <p:tag name="NUM" val="8"/>
</p:tagLst>
</file>

<file path=ppt/tags/tag6.xml><?xml version="1.0" encoding="utf-8"?>
<p:tagLst xmlns:a="http://schemas.openxmlformats.org/drawingml/2006/main" xmlns:r="http://schemas.openxmlformats.org/officeDocument/2006/relationships" xmlns:p="http://schemas.openxmlformats.org/presentationml/2006/main">
  <p:tag name="NUM" val="1"/>
</p:tagLst>
</file>

<file path=ppt/tags/tag7.xml><?xml version="1.0" encoding="utf-8"?>
<p:tagLst xmlns:a="http://schemas.openxmlformats.org/drawingml/2006/main" xmlns:r="http://schemas.openxmlformats.org/officeDocument/2006/relationships" xmlns:p="http://schemas.openxmlformats.org/presentationml/2006/main">
  <p:tag name="NUM" val="2"/>
</p:tagLst>
</file>

<file path=ppt/tags/tag8.xml><?xml version="1.0" encoding="utf-8"?>
<p:tagLst xmlns:a="http://schemas.openxmlformats.org/drawingml/2006/main" xmlns:r="http://schemas.openxmlformats.org/officeDocument/2006/relationships" xmlns:p="http://schemas.openxmlformats.org/presentationml/2006/main">
  <p:tag name="NUM" val="3"/>
</p:tagLst>
</file>

<file path=ppt/tags/tag9.xml><?xml version="1.0" encoding="utf-8"?>
<p:tagLst xmlns:a="http://schemas.openxmlformats.org/drawingml/2006/main" xmlns:r="http://schemas.openxmlformats.org/officeDocument/2006/relationships" xmlns:p="http://schemas.openxmlformats.org/presentationml/2006/main">
  <p:tag name="NUM" val="7"/>
</p:tagLst>
</file>

<file path=ppt/tags/tag10.xml><?xml version="1.0" encoding="utf-8"?>
<p:tagLst xmlns:a="http://schemas.openxmlformats.org/drawingml/2006/main" xmlns:r="http://schemas.openxmlformats.org/officeDocument/2006/relationships" xmlns:p="http://schemas.openxmlformats.org/presentationml/2006/main">
  <p:tag name="NUM" val="8"/>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3"/>
</p:tagLst>
</file>

<file path=ppt/tags/tag14.xml><?xml version="1.0" encoding="utf-8"?>
<p:tagLst xmlns:a="http://schemas.openxmlformats.org/drawingml/2006/main" xmlns:r="http://schemas.openxmlformats.org/officeDocument/2006/relationships" xmlns:p="http://schemas.openxmlformats.org/presentationml/2006/main">
  <p:tag name="NUM" val="7"/>
</p:tagLst>
</file>

<file path=ppt/tags/tag15.xml><?xml version="1.0" encoding="utf-8"?>
<p:tagLst xmlns:a="http://schemas.openxmlformats.org/drawingml/2006/main" xmlns:r="http://schemas.openxmlformats.org/officeDocument/2006/relationships" xmlns:p="http://schemas.openxmlformats.org/presentationml/2006/main">
  <p:tag name="NUM" val="8"/>
</p:tagLst>
</file>

<file path=ppt/tags/tag16.xml><?xml version="1.0" encoding="utf-8"?>
<p:tagLst xmlns:a="http://schemas.openxmlformats.org/drawingml/2006/main" xmlns:r="http://schemas.openxmlformats.org/officeDocument/2006/relationships" xmlns:p="http://schemas.openxmlformats.org/presentationml/2006/main">
  <p:tag name="NUM" val="1"/>
</p:tagLst>
</file>

<file path=ppt/tags/tag17.xml><?xml version="1.0" encoding="utf-8"?>
<p:tagLst xmlns:a="http://schemas.openxmlformats.org/drawingml/2006/main" xmlns:r="http://schemas.openxmlformats.org/officeDocument/2006/relationships" xmlns:p="http://schemas.openxmlformats.org/presentationml/2006/main">
  <p:tag name="NUM" val="2"/>
</p:tagLst>
</file>

<file path=ppt/tags/tag18.xml><?xml version="1.0" encoding="utf-8"?>
<p:tagLst xmlns:a="http://schemas.openxmlformats.org/drawingml/2006/main" xmlns:r="http://schemas.openxmlformats.org/officeDocument/2006/relationships" xmlns:p="http://schemas.openxmlformats.org/presentationml/2006/main">
  <p:tag name="NUM" val="3"/>
</p:tagLst>
</file>

<file path=ppt/tags/tag19.xml><?xml version="1.0" encoding="utf-8"?>
<p:tagLst xmlns:a="http://schemas.openxmlformats.org/drawingml/2006/main" xmlns:r="http://schemas.openxmlformats.org/officeDocument/2006/relationships" xmlns:p="http://schemas.openxmlformats.org/presentationml/2006/main">
  <p:tag name="NUM" val="7"/>
</p:tagLst>
</file>

<file path=ppt/tags/tag20.xml><?xml version="1.0" encoding="utf-8"?>
<p:tagLst xmlns:a="http://schemas.openxmlformats.org/drawingml/2006/main" xmlns:r="http://schemas.openxmlformats.org/officeDocument/2006/relationships" xmlns:p="http://schemas.openxmlformats.org/presentationml/2006/main">
  <p:tag name="NUM" val="8"/>
</p:tagLst>
</file>

<file path=ppt/tags/tag21.xml><?xml version="1.0" encoding="utf-8"?>
<p:tagLst xmlns:a="http://schemas.openxmlformats.org/drawingml/2006/main" xmlns:r="http://schemas.openxmlformats.org/officeDocument/2006/relationships" xmlns:p="http://schemas.openxmlformats.org/presentationml/2006/main">
  <p:tag name="NUM" val="1"/>
</p:tagLst>
</file>

<file path=ppt/tags/tag22.xml><?xml version="1.0" encoding="utf-8"?>
<p:tagLst xmlns:a="http://schemas.openxmlformats.org/drawingml/2006/main" xmlns:r="http://schemas.openxmlformats.org/officeDocument/2006/relationships" xmlns:p="http://schemas.openxmlformats.org/presentationml/2006/main">
  <p:tag name="NUM" val="2"/>
</p:tagLst>
</file>

<file path=ppt/tags/tag23.xml><?xml version="1.0" encoding="utf-8"?>
<p:tagLst xmlns:a="http://schemas.openxmlformats.org/drawingml/2006/main" xmlns:r="http://schemas.openxmlformats.org/officeDocument/2006/relationships" xmlns:p="http://schemas.openxmlformats.org/presentationml/2006/main">
  <p:tag name="NUM" val="3"/>
</p:tagLst>
</file>

<file path=ppt/tags/tag24.xml><?xml version="1.0" encoding="utf-8"?>
<p:tagLst xmlns:a="http://schemas.openxmlformats.org/drawingml/2006/main" xmlns:r="http://schemas.openxmlformats.org/officeDocument/2006/relationships" xmlns:p="http://schemas.openxmlformats.org/presentationml/2006/main">
  <p:tag name="NUM" val="7"/>
</p:tagLst>
</file>

<file path=ppt/tags/tag25.xml><?xml version="1.0" encoding="utf-8"?>
<p:tagLst xmlns:a="http://schemas.openxmlformats.org/drawingml/2006/main" xmlns:r="http://schemas.openxmlformats.org/officeDocument/2006/relationships" xmlns:p="http://schemas.openxmlformats.org/presentationml/2006/main">
  <p:tag name="NUM" val="8"/>
</p:tagLst>
</file>

<file path=ppt/tags/tag26.xml><?xml version="1.0" encoding="utf-8"?>
<p:tagLst xmlns:a="http://schemas.openxmlformats.org/drawingml/2006/main" xmlns:r="http://schemas.openxmlformats.org/officeDocument/2006/relationships" xmlns:p="http://schemas.openxmlformats.org/presentationml/2006/main">
  <p:tag name="NUM" val="1"/>
</p:tagLst>
</file>

<file path=ppt/tags/tag27.xml><?xml version="1.0" encoding="utf-8"?>
<p:tagLst xmlns:a="http://schemas.openxmlformats.org/drawingml/2006/main" xmlns:r="http://schemas.openxmlformats.org/officeDocument/2006/relationships" xmlns:p="http://schemas.openxmlformats.org/presentationml/2006/main">
  <p:tag name="NUM" val="2"/>
</p:tagLst>
</file>

<file path=ppt/tags/tag28.xml><?xml version="1.0" encoding="utf-8"?>
<p:tagLst xmlns:a="http://schemas.openxmlformats.org/drawingml/2006/main" xmlns:r="http://schemas.openxmlformats.org/officeDocument/2006/relationships" xmlns:p="http://schemas.openxmlformats.org/presentationml/2006/main">
  <p:tag name="NUM" val="3"/>
</p:tagLst>
</file>

<file path=ppt/tags/tag29.xml><?xml version="1.0" encoding="utf-8"?>
<p:tagLst xmlns:a="http://schemas.openxmlformats.org/drawingml/2006/main" xmlns:r="http://schemas.openxmlformats.org/officeDocument/2006/relationships" xmlns:p="http://schemas.openxmlformats.org/presentationml/2006/main">
  <p:tag name="NUM" val="7"/>
</p:tagLst>
</file>

<file path=ppt/tags/tag30.xml><?xml version="1.0" encoding="utf-8"?>
<p:tagLst xmlns:a="http://schemas.openxmlformats.org/drawingml/2006/main" xmlns:r="http://schemas.openxmlformats.org/officeDocument/2006/relationships" xmlns:p="http://schemas.openxmlformats.org/presentationml/2006/main">
  <p:tag name="NUM" val="8"/>
</p:tagLst>
</file>

<file path=ppt/tags/tag31.xml><?xml version="1.0" encoding="utf-8"?>
<p:tagLst xmlns:a="http://schemas.openxmlformats.org/drawingml/2006/main" xmlns:r="http://schemas.openxmlformats.org/officeDocument/2006/relationships" xmlns:p="http://schemas.openxmlformats.org/presentationml/2006/main">
  <p:tag name="NUM" val="1"/>
</p:tagLst>
</file>

<file path=ppt/tags/tag32.xml><?xml version="1.0" encoding="utf-8"?>
<p:tagLst xmlns:a="http://schemas.openxmlformats.org/drawingml/2006/main" xmlns:r="http://schemas.openxmlformats.org/officeDocument/2006/relationships" xmlns:p="http://schemas.openxmlformats.org/presentationml/2006/main">
  <p:tag name="NUM" val="2"/>
</p:tagLst>
</file>

<file path=ppt/tags/tag33.xml><?xml version="1.0" encoding="utf-8"?>
<p:tagLst xmlns:a="http://schemas.openxmlformats.org/drawingml/2006/main" xmlns:r="http://schemas.openxmlformats.org/officeDocument/2006/relationships" xmlns:p="http://schemas.openxmlformats.org/presentationml/2006/main">
  <p:tag name="NUM" val="3"/>
</p:tagLst>
</file>

<file path=ppt/tags/tag34.xml><?xml version="1.0" encoding="utf-8"?>
<p:tagLst xmlns:a="http://schemas.openxmlformats.org/drawingml/2006/main" xmlns:r="http://schemas.openxmlformats.org/officeDocument/2006/relationships" xmlns:p="http://schemas.openxmlformats.org/presentationml/2006/main">
  <p:tag name="NUM" val="7"/>
</p:tagLst>
</file>

<file path=ppt/tags/tag35.xml><?xml version="1.0" encoding="utf-8"?>
<p:tagLst xmlns:a="http://schemas.openxmlformats.org/drawingml/2006/main" xmlns:r="http://schemas.openxmlformats.org/officeDocument/2006/relationships" xmlns:p="http://schemas.openxmlformats.org/presentationml/2006/main">
  <p:tag name="NUM" val="8"/>
</p:tagLst>
</file>

<file path=ppt/tags/tag36.xml><?xml version="1.0" encoding="utf-8"?>
<p:tagLst xmlns:a="http://schemas.openxmlformats.org/drawingml/2006/main" xmlns:r="http://schemas.openxmlformats.org/officeDocument/2006/relationships" xmlns:p="http://schemas.openxmlformats.org/presentationml/2006/main">
  <p:tag name="NUM" val="1"/>
</p:tagLst>
</file>

<file path=ppt/tags/tag37.xml><?xml version="1.0" encoding="utf-8"?>
<p:tagLst xmlns:a="http://schemas.openxmlformats.org/drawingml/2006/main" xmlns:r="http://schemas.openxmlformats.org/officeDocument/2006/relationships" xmlns:p="http://schemas.openxmlformats.org/presentationml/2006/main">
  <p:tag name="NUM" val="2"/>
</p:tagLst>
</file>

<file path=ppt/tags/tag38.xml><?xml version="1.0" encoding="utf-8"?>
<p:tagLst xmlns:a="http://schemas.openxmlformats.org/drawingml/2006/main" xmlns:r="http://schemas.openxmlformats.org/officeDocument/2006/relationships" xmlns:p="http://schemas.openxmlformats.org/presentationml/2006/main">
  <p:tag name="NUM" val="3"/>
</p:tagLst>
</file>

<file path=ppt/tags/tag39.xml><?xml version="1.0" encoding="utf-8"?>
<p:tagLst xmlns:a="http://schemas.openxmlformats.org/drawingml/2006/main" xmlns:r="http://schemas.openxmlformats.org/officeDocument/2006/relationships" xmlns:p="http://schemas.openxmlformats.org/presentationml/2006/main">
  <p:tag name="NUM" val="7"/>
</p:tagLst>
</file>

<file path=ppt/tags/tag40.xml><?xml version="1.0" encoding="utf-8"?>
<p:tagLst xmlns:a="http://schemas.openxmlformats.org/drawingml/2006/main" xmlns:r="http://schemas.openxmlformats.org/officeDocument/2006/relationships" xmlns:p="http://schemas.openxmlformats.org/presentationml/2006/main">
  <p:tag name="NUM" val="8"/>
</p:tagLst>
</file>

<file path=ppt/tags/tag41.xml><?xml version="1.0" encoding="utf-8"?>
<p:tagLst xmlns:a="http://schemas.openxmlformats.org/drawingml/2006/main" xmlns:r="http://schemas.openxmlformats.org/officeDocument/2006/relationships" xmlns:p="http://schemas.openxmlformats.org/presentationml/2006/main">
  <p:tag name="NUM" val="1"/>
</p:tagLst>
</file>

<file path=ppt/tags/tag42.xml><?xml version="1.0" encoding="utf-8"?>
<p:tagLst xmlns:a="http://schemas.openxmlformats.org/drawingml/2006/main" xmlns:r="http://schemas.openxmlformats.org/officeDocument/2006/relationships" xmlns:p="http://schemas.openxmlformats.org/presentationml/2006/main">
  <p:tag name="NUM" val="2"/>
</p:tagLst>
</file>

<file path=ppt/tags/tag43.xml><?xml version="1.0" encoding="utf-8"?>
<p:tagLst xmlns:a="http://schemas.openxmlformats.org/drawingml/2006/main" xmlns:r="http://schemas.openxmlformats.org/officeDocument/2006/relationships" xmlns:p="http://schemas.openxmlformats.org/presentationml/2006/main">
  <p:tag name="NUM" val="3"/>
</p:tagLst>
</file>

<file path=ppt/tags/tag44.xml><?xml version="1.0" encoding="utf-8"?>
<p:tagLst xmlns:a="http://schemas.openxmlformats.org/drawingml/2006/main" xmlns:r="http://schemas.openxmlformats.org/officeDocument/2006/relationships" xmlns:p="http://schemas.openxmlformats.org/presentationml/2006/main">
  <p:tag name="NUM" val="7"/>
</p:tagLst>
</file>

<file path=ppt/tags/tag45.xml><?xml version="1.0" encoding="utf-8"?>
<p:tagLst xmlns:a="http://schemas.openxmlformats.org/drawingml/2006/main" xmlns:r="http://schemas.openxmlformats.org/officeDocument/2006/relationships" xmlns:p="http://schemas.openxmlformats.org/presentationml/2006/main">
  <p:tag name="NUM" val="8"/>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719</Words>
  <Application>Microsoft Office PowerPoint</Application>
  <PresentationFormat>Grand écran</PresentationFormat>
  <Paragraphs>58</Paragraphs>
  <Slides>10</Slides>
  <Notes>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10</vt:i4>
      </vt:variant>
    </vt:vector>
  </HeadingPairs>
  <TitlesOfParts>
    <vt:vector size="18" baseType="lpstr">
      <vt:lpstr>Aptos</vt:lpstr>
      <vt:lpstr>Aptos Display</vt:lpstr>
      <vt:lpstr>Arial</vt:lpstr>
      <vt:lpstr>Arial</vt:lpstr>
      <vt:lpstr>Calibri</vt:lpstr>
      <vt:lpstr>Fira Sans</vt:lpstr>
      <vt:lpstr>Wingdings</vt:lpstr>
      <vt:lpstr>Thème Office</vt:lpstr>
      <vt:lpstr>La valeur à vie des clients ( Customer Life Value)</vt:lpstr>
      <vt:lpstr>1. Au-delà des KPI’s</vt:lpstr>
      <vt:lpstr>2. La rentabilité et valeur à vie des clients </vt:lpstr>
      <vt:lpstr>2. La rentabilité et valeur à vie des clients </vt:lpstr>
      <vt:lpstr> 2. L’apport de la valeur à vie du client à la stratégie marketing </vt:lpstr>
      <vt:lpstr> 4. Calculer la valeur à vie du client </vt:lpstr>
      <vt:lpstr> 3. Calculer la valeur à vie du client </vt:lpstr>
      <vt:lpstr> 3. Calculer la valeur à vie du client </vt:lpstr>
      <vt:lpstr> 3. Quid des clients non rentables? </vt:lpstr>
      <vt:lpstr> 3. Quid des clients non rentables?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BELAID Samy</dc:creator>
  <cp:lastModifiedBy>BELAID Samy</cp:lastModifiedBy>
  <cp:revision>1</cp:revision>
  <dcterms:created xsi:type="dcterms:W3CDTF">2025-11-19T10:48:46Z</dcterms:created>
  <dcterms:modified xsi:type="dcterms:W3CDTF">2025-11-19T10:52:43Z</dcterms:modified>
</cp:coreProperties>
</file>